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84C7"/>
                </a:solidFill>
                <a:latin typeface="Calibri"/>
              </a:defRPr>
            </a:pPr>
            <a:r>
              <a:t>SDLC to ADLC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AI-Driven Lifecycle</a:t>
            </a:r>
            <a:br/>
            <a:r>
              <a:t>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  <a:latin typeface="Calibri"/>
              </a:defRPr>
            </a:pPr>
            <a:r>
              <a:t>From 42-Day Lead Times to Continuous Delivery — Powered by the STUMP Multi-Agent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1371600" cy="82296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FDBFE"/>
                </a:solidFill>
                <a:latin typeface="Calibri"/>
              </a:defRPr>
            </a:pPr>
            <a:r>
              <a:t>Platform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3840480"/>
            <a:ext cx="1371600" cy="82296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FDBFE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840480"/>
            <a:ext cx="1371600" cy="82296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FDBFE"/>
                </a:solidFill>
                <a:latin typeface="Calibri"/>
              </a:defRPr>
            </a:pPr>
            <a:r>
              <a:t>PDLC Phases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1371600" cy="82296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FDBFE"/>
                </a:solidFill>
                <a:latin typeface="Calibri"/>
              </a:defRPr>
            </a:pPr>
            <a:r>
              <a:t>Activities Mapped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840480"/>
            <a:ext cx="1371600" cy="82296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FDBFE"/>
                </a:solidFill>
                <a:latin typeface="Calibri"/>
              </a:defRPr>
            </a:pPr>
            <a:r>
              <a:t>Platform Choices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3840480"/>
            <a:ext cx="1371600" cy="82296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FDBFE"/>
                </a:solidFill>
                <a:latin typeface="Calibri"/>
              </a:defRPr>
            </a:pPr>
            <a:r>
              <a:t>Maturity Levels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Cognizant  · 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2D5E"/>
                </a:solidFill>
                <a:latin typeface="Calibri"/>
              </a:defRPr>
            </a:pPr>
            <a:r>
              <a:t>Our Consulting Offering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Three phases — from diagnosis to transformation in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4754880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  <a:br/>
            <a:r>
              <a:t>DIAGNOSE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234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2–4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AI-generated Current State VSM from your Jira / ADO data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Lead time, flow efficiency &amp; waste quantified per PDLC phase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Top 5 bottlenecks: speed / productivity / quality impact scored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DORA assessment + DevOps maturity scoring (73 questions)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Sector benchmark comparison (12 peer organisations)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33832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Deliverable: VSM Dashboard + Bottleneck Impact Report + DORA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566160" cy="4754880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35661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  <a:br/>
            <a: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234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2–3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Three AI transformation options modelled on your actual data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Option A: AI-Augmented  |  Option B: Hybrid  |  Option C: AI-Native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Business case: editable cost model with 8 token optimisation levers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Target State Studio: L1–L5 maturity path with interim roadmap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7 platform choices compared (Homegrown, STUMP, BMAD, Copilot, Devin, Cursor, Flowsource)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5029200"/>
            <a:ext cx="33832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5074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Deliverable: Options Paper + Business Case (3 scenarios) + Target State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188720"/>
            <a:ext cx="3566160" cy="4754880"/>
          </a:xfrm>
          <a:prstGeom prst="round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188720"/>
            <a:ext cx="356616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34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  <a:br/>
            <a: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1234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148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Week-by-week implementation playbook for chosen option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Outcome Dashboard: AI Adoption, PDLC Performance, AI Ops perspectives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Productivity economics: SP → Effort → Cost chain with J-Curve modelling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Governance &amp; AI Assurance framework with guardrails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Continuous DORA maturity improvement programme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5029200"/>
            <a:ext cx="33832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074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Deliverable: Playbook + Governance Model + Live Outcome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Platform Advantage:  STUMP compresses Phase 1 from 3 months → 2 weeks, Phase 2 from 6 weeks → 3 weeks, and makes Phase 3 continuous — turning a one-off consulting project into a live operating capability.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2D5E"/>
                </a:solidFill>
                <a:latin typeface="Calibri"/>
              </a:defRPr>
            </a:pPr>
            <a:r>
              <a:t>ADLC Maturity Roadmap — L1 to L5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Continuous delivery transformation — from assisted prompting to autonomous ADLC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40280" cy="4572000"/>
          </a:xfrm>
          <a:prstGeom prst="roundRect">
            <a:avLst/>
          </a:prstGeom>
          <a:solidFill>
            <a:srgbClr val="BFDB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Assisted</a:t>
            </a:r>
            <a:br/>
            <a:r>
              <a:t>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ML1 — 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40280"/>
            <a:ext cx="19659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240280"/>
            <a:ext cx="393192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Automation: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97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Agent role: none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HITL: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2057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Dev &amp; Testing only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8 human roles retained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AI suggests; humans do the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1280160"/>
            <a:ext cx="2240280" cy="4572000"/>
          </a:xfrm>
          <a:prstGeom prst="roundRect">
            <a:avLst/>
          </a:prstGeom>
          <a:solidFill>
            <a:srgbClr val="BFDB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80" y="137160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3898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Agent</a:t>
            </a:r>
            <a:br/>
            <a:r>
              <a:t>Co-pilots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920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ML2 — Augmentation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240280"/>
            <a:ext cx="19659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2240280"/>
            <a:ext cx="786384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4231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Automation: 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697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Agent role: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HITL: 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200400"/>
            <a:ext cx="2057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5 of 7 phases covered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7 human roles retained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Agents draft; humans approve 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1280160"/>
            <a:ext cx="2240280" cy="45720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0" y="1371600"/>
            <a:ext cx="54864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3898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Supervised</a:t>
            </a:r>
            <a:br/>
            <a:r>
              <a:t>Independent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1920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ML3 —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2240280"/>
            <a:ext cx="19659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2240280"/>
            <a:ext cx="1218895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24231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Automation: 62%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697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Agent role: independent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HITL: exceptions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200400"/>
            <a:ext cx="2057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6 of 7 phases covered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5 human roles retained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Multi-agent hand-offs begin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1280160"/>
            <a:ext cx="2240280" cy="45720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60920" y="1371600"/>
            <a:ext cx="54864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13898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Orchestrated</a:t>
            </a:r>
            <a:br/>
            <a:r>
              <a:t>Agents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1920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ML4 — Transformation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240280"/>
            <a:ext cx="19659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06640" y="2240280"/>
            <a:ext cx="1533448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20" y="24231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Automation: 78%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2697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Agent role: orchestrated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HITL: gates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3200400"/>
            <a:ext cx="2057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All 7 phases covered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4 roles: Definer + Builder + Arch + Gov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Autonomous agent coordination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01200" y="1280160"/>
            <a:ext cx="2240280" cy="4572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92640" y="1371600"/>
            <a:ext cx="54864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13898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Autonomous</a:t>
            </a:r>
            <a:br/>
            <a:r>
              <a:t>ADLC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1920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97316"/>
                </a:solidFill>
                <a:latin typeface="Calibri"/>
              </a:defRPr>
            </a:pPr>
            <a:r>
              <a:t>ML5 — Reinvention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38360" y="2240280"/>
            <a:ext cx="19659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38360" y="2240280"/>
            <a:ext cx="1769364" cy="182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4231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97316"/>
                </a:solidFill>
                <a:latin typeface="Calibri"/>
              </a:defRPr>
            </a:pPr>
            <a:r>
              <a:t>Automation: 90%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2697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Agent role: orchestrated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HITL: strategic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200400"/>
            <a:ext cx="2057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All 7 phases — full fleet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3 roles: Definer + Builder + Arch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Human strategic oversight only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As you climb L1 → L5, the team mix inverts: from 95% human / 5% tools to 15% human / 85% agents. Target State Studio auto-generates the interim roadmap with business case per step.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D5E"/>
                </a:solidFill>
                <a:latin typeface="Calibri"/>
              </a:defRPr>
            </a:pPr>
            <a:r>
              <a:t>Phase 1: Diagnose — Current State Value Stream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From ALM data to board-ready baseline in 2 weeks, not 3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572768" cy="2286000"/>
          </a:xfrm>
          <a:prstGeom prst="round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57276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PT: 24h</a:t>
            </a:r>
            <a:br/>
            <a:r>
              <a:t>WT: 108h</a:t>
            </a:r>
            <a:br/>
            <a:r>
              <a:t>FE: 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1188720"/>
            <a:ext cx="1572768" cy="2286000"/>
          </a:xfrm>
          <a:prstGeom prst="round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38528" y="1188720"/>
            <a:ext cx="157276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120700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Design &amp;</a:t>
            </a:r>
            <a:br/>
            <a:r>
              <a:t>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1737360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PT: 31h</a:t>
            </a:r>
            <a:br/>
            <a:r>
              <a:t>WT: 176h</a:t>
            </a:r>
            <a:br/>
            <a:r>
              <a:t>FE: 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2736" y="1188720"/>
            <a:ext cx="1572768" cy="2286000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2736" y="1188720"/>
            <a:ext cx="1572768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120700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1737360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PT: 62h</a:t>
            </a:r>
            <a:br/>
            <a:r>
              <a:t>WT: 48h</a:t>
            </a:r>
            <a:br/>
            <a:r>
              <a:t>FE: 56%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1188720"/>
            <a:ext cx="1572768" cy="2286000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4" y="1188720"/>
            <a:ext cx="1572768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120700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Code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1737360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PT: 16h</a:t>
            </a:r>
            <a:br/>
            <a:r>
              <a:t>WT: 32h</a:t>
            </a:r>
            <a:br/>
            <a:r>
              <a:t>FE: 33%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1188720"/>
            <a:ext cx="1572768" cy="2286000"/>
          </a:xfrm>
          <a:prstGeom prst="round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31152" y="1188720"/>
            <a:ext cx="157276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120700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Cont.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1737360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PT: 31h</a:t>
            </a:r>
            <a:br/>
            <a:r>
              <a:t>WT: 240h</a:t>
            </a:r>
            <a:br/>
            <a:r>
              <a:t>FE: 11%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188720"/>
            <a:ext cx="1572768" cy="2286000"/>
          </a:xfrm>
          <a:prstGeom prst="round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188720"/>
            <a:ext cx="157276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120700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Deploy Prep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1737360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PT: 8h</a:t>
            </a:r>
            <a:br/>
            <a:r>
              <a:t>WT: 88h</a:t>
            </a:r>
            <a:br/>
            <a:r>
              <a:t>FE: 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59568" y="1188720"/>
            <a:ext cx="1572768" cy="2286000"/>
          </a:xfrm>
          <a:prstGeom prst="roundRect">
            <a:avLst/>
          </a:prstGeom>
          <a:noFill/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59568" y="1188720"/>
            <a:ext cx="1572768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05288" y="120700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Release &amp;</a:t>
            </a:r>
            <a:br/>
            <a:r>
              <a:t>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05288" y="1737360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PT: 6h</a:t>
            </a:r>
            <a:br/>
            <a:r>
              <a:t>WT: 32h</a:t>
            </a:r>
            <a:br/>
            <a:r>
              <a:t>FE: 16%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57600"/>
            <a:ext cx="11521440" cy="4572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67588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 LEAD TIME: 42 DAYS  |  FLOW EFFICIENCY: 17.8%  |  PROCESS TIME: 178h  |  WAIT TIME: 724h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6177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Manual SIT/UAT: 240h wait per feature = 30 days additional LT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Architecture Review Gate: 176h wait = 22 days per feature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Combined: 48% of total lead time is two bottlenecks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6177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Dev teams blocked 30% of sprint time waiting for test environments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Peer review queue averages 4 days — bottleneck for 78% of tickets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$2.1M/yr in engineering time sitting in queues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6177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Testing phase FE = 11% — 89% is scheduling overhead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Late defect discovery costs 5–10× more than early catch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• Only 42% automated test coverage — critical risk exposure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D5E"/>
                </a:solidFill>
                <a:latin typeface="Calibri"/>
              </a:defRPr>
            </a:pPr>
            <a:r>
              <a:t>Top 5 Bottlenecks — Speed, Productivity &amp; Quality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Ranked by annual waste cost — with peer benchmark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868680"/>
          </a:xfrm>
          <a:prstGeom prst="round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D5E"/>
                </a:solidFill>
                <a:latin typeface="Calibri"/>
              </a:defRPr>
            </a:pPr>
            <a:r>
              <a:t>Manual SIT / UAT (Phase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Impact: Speed +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25880"/>
            <a:ext cx="91440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344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240h WT/feature  |  $1.4M/yr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Peer benchmark: 48h WT  |  Gap: 192h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48840"/>
            <a:ext cx="11247120" cy="868680"/>
          </a:xfrm>
          <a:prstGeom prst="round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D5E"/>
                </a:solidFill>
                <a:latin typeface="Calibri"/>
              </a:defRPr>
            </a:pPr>
            <a:r>
              <a:t>Architecture Review Gate (Phase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Impact: Speed + Productivity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286000"/>
            <a:ext cx="91440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304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40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176h WT/feature  |  $960K/yr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Peer benchmark: 24h WT  |  Gap: 152h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47120" cy="868680"/>
          </a:xfrm>
          <a:prstGeom prst="roundRect">
            <a:avLst/>
          </a:prstGeom>
          <a:noFill/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D5E"/>
                </a:solidFill>
                <a:latin typeface="Calibri"/>
              </a:defRPr>
            </a:pPr>
            <a:r>
              <a:t>CAB Release Approval (Phase 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Impact: Speed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246120"/>
            <a:ext cx="91440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264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88h WT/feature  |  $480K/yr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Peer benchmark: 8h WT  |  Gap: 80h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69080"/>
            <a:ext cx="11247120" cy="868680"/>
          </a:xfrm>
          <a:prstGeom prst="roundRect">
            <a:avLst/>
          </a:prstGeom>
          <a:noFill/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D5E"/>
                </a:solidFill>
                <a:latin typeface="Calibri"/>
              </a:defRPr>
            </a:pPr>
            <a:r>
              <a:t>Peer Code Review Queue (Phase 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Impact: Productivity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206240"/>
            <a:ext cx="91440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224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32h WT/feature  |  $175K/yr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526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Peer benchmark: 12h WT  |  Gap: 20h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29200"/>
            <a:ext cx="11247120" cy="868680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D5E"/>
                </a:solidFill>
                <a:latin typeface="Calibri"/>
              </a:defRPr>
            </a:pPr>
            <a:r>
              <a:t>Test Environment Provisioning (Phase 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949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Impact: Productivity + Quality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5166360"/>
            <a:ext cx="91440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184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24h WT/feature  |  $130K/yr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48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Peer benchmark: 1h WT  |  Gap: 23h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Total identified waste:  $3.1M/yr  |  Fully recoverable with Options A–C  |  Partial recovery in 90 days with Quick Wins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D5E"/>
                </a:solidFill>
                <a:latin typeface="Calibri"/>
              </a:defRPr>
            </a:pPr>
            <a:r>
              <a:t>Phase 2: Design — Three AI Transformation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Choose the pathway that matches your risk appetite, investment capacity, and transformation ambition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4754880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AI-Augmented PDLC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Human IN the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8 FTE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Per Pod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AI copilots embedded in each phase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All 8 human roles retained — AI assists, humans decide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No process redesign required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Investment: $300K–$600K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ROI: 2.5–3×  |  Payback: 6–9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94960"/>
            <a:ext cx="3749039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4132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Speed +25% · Productivity +20% · Quality +15%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59" y="1188720"/>
            <a:ext cx="3749039" cy="4754880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1188720"/>
            <a:ext cx="3749039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19" y="120700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OPTION B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19" y="14813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Agents + Human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1965960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Human ON the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19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19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19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  <a:latin typeface="Calibri"/>
              </a:defRPr>
            </a:pPr>
            <a:r>
              <a:t>~4.7 FTE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19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Per Pod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19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19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19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3063240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AI agents execute; humans approve at gates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4 dedicated + 0.7 fractional FTE per pod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40–60% effort reduction possible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Investment: $1.2M–$2.0M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ROI: 4–6×  |  Payback: 10–14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5394960"/>
            <a:ext cx="3749039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399" y="54132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Speed +55% · Productivity +50% · Quality +35%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598" y="1188720"/>
            <a:ext cx="3749039" cy="4754880"/>
          </a:xfrm>
          <a:prstGeom prst="round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598" y="1188720"/>
            <a:ext cx="3749039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58" y="120700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OPTION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58" y="14813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AI-Native ADLC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58" y="1965960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Human ABOVE the Loop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66758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58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58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8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58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Calibri"/>
              </a:defRPr>
            </a:pPr>
            <a:r>
              <a:t>2.2 FTE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58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Per Pod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52758" y="2286000"/>
            <a:ext cx="105156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52758" y="24231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52758" y="2788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8" y="3063240"/>
            <a:ext cx="35661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Full 21-agent fleet runs PDLC end-to-end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Product Definer + Product Builder + Architect only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7 platform choices (Homegrown, STUMP, BMAD, etc.)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Investment: $3.0M–$5.0M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Calibri"/>
              </a:rPr>
              <a:t>• ROI: 8–12×  |  Payback: 14–20 months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598" y="5394960"/>
            <a:ext cx="3749039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38" y="54132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Speed +80% · Productivity +75% · Quality +60%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  <a:latin typeface="Calibri"/>
              </a:defRPr>
            </a:pPr>
            <a:r>
              <a:t>Option B: AI Agents with Human Gates — Human ON the Loop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 executes tasks; engineered approval gates keep humans accountable — without slowing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749808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Requirements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Auto-generates acceptance criteria, user stories, and DoD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Calibri"/>
              </a:defRPr>
            </a:pPr>
            <a:r>
              <a:t>Human gate: Product Owner approves before dev starts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3392"/>
            <a:ext cx="5303520" cy="749808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Architecture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Automated risk scoring + dependency mapping + ADR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Calibri"/>
              </a:defRPr>
            </a:pPr>
            <a:r>
              <a:t>Human gate: Architect reviews flag list (not full doc)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98064"/>
            <a:ext cx="5303520" cy="749808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437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Development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18104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AI writes boilerplate; human engineers own logic +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00984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Calibri"/>
              </a:defRPr>
            </a:pPr>
            <a:r>
              <a:t>Human gate: Code review of AI-generated sections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02736"/>
            <a:ext cx="5303520" cy="749808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48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QA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2277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AI generates and runs full regression suite; raises defects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0565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Calibri"/>
              </a:defRPr>
            </a:pPr>
            <a:r>
              <a:t>Human gate: Engineer validates Critical/High defects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07408"/>
            <a:ext cx="5303520" cy="749808"/>
          </a:xfrm>
          <a:prstGeom prst="round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Release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AI assembles release package + change record + rollback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1032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46E5"/>
                </a:solidFill>
                <a:latin typeface="Calibri"/>
              </a:defRPr>
            </a:pPr>
            <a:r>
              <a:t>Human gate: Change Manager approves risk score &gt; threshold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5303520" cy="749808"/>
          </a:xfrm>
          <a:prstGeom prst="round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D5E"/>
                </a:solidFill>
                <a:latin typeface="Calibri"/>
              </a:defRPr>
            </a:pPr>
            <a:r>
              <a:t>Ops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321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AI monitors, correlates incidents, auto-remediates known 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46E5"/>
                </a:solidFill>
                <a:latin typeface="Calibri"/>
              </a:defRPr>
            </a:pPr>
            <a:r>
              <a:t>Human gate: SRE reviews auto-remediation above P2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188720"/>
            <a:ext cx="530352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D5E"/>
                </a:solidFill>
                <a:latin typeface="Calibri"/>
              </a:defRPr>
            </a:pPr>
            <a:r>
              <a:t>Option B Business Case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6916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6916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$1.2–2.0M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6916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One-time migration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9842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People per pod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9842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~4.7 FTE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19842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4 dedicated + 0.7 fractional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2768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2768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$5.5M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2768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vs current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5694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ROI Multiple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5694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4–6×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25694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Risk-adjusted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8620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Payback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8620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10–14 months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28620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From business case approval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1546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5-Year NPV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154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$28–35M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3154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Conservative estimate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447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FE improvement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3447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17% → 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3447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Flow efficiency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7398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Lead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37398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42 → 18 days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37398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57% reduction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0325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DORA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40325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+1.0–1.5 levels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40325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Band improvement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4325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Token cost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3251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$8K–$18K/mo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43251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Per pod LLM spend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Option C: AI-Native ADLC — Full 21-Agent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Humans set objectives and govern. AI agents own execution end-to-end. 7 platform choices.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554480" cy="630936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07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Define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184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Roadmap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188720"/>
            <a:ext cx="1554480" cy="832104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207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Architecture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184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UX/Design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196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DesignDoc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188720"/>
            <a:ext cx="1554480" cy="832104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207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59669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CodeGen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6184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TestGen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196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Review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188720"/>
            <a:ext cx="1554480" cy="832104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207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59669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Build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6184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Security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8196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Deploy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188720"/>
            <a:ext cx="1554480" cy="832104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207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QA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6184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Performance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8196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DataGen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1188720"/>
            <a:ext cx="1554480" cy="630936"/>
          </a:xfrm>
          <a:prstGeom prst="round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1207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F46E5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IaC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6184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Release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1188720"/>
            <a:ext cx="1554480" cy="1435608"/>
          </a:xfrm>
          <a:prstGeom prst="roundRect">
            <a:avLst/>
          </a:prstGeom>
          <a:noFill/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1207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333EA"/>
                </a:solidFill>
                <a:latin typeface="Calibri"/>
              </a:defRPr>
            </a:pPr>
            <a:r>
              <a:t>Ops &amp; Gov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APM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16184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Incident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18196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Feedback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0208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Compliance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22219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MRM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423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Governance Controller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D5E"/>
                </a:solidFill>
                <a:latin typeface="Calibri"/>
              </a:defRPr>
            </a:pPr>
            <a:r>
              <a:t>7 Platform Delivery Choices for Option 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886200"/>
            <a:ext cx="1554480" cy="1828800"/>
          </a:xfrm>
          <a:prstGeom prst="roundRect">
            <a:avLst/>
          </a:prstGeom>
          <a:noFill/>
          <a:ln w="19050">
            <a:solidFill>
              <a:srgbClr val="0F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886200"/>
            <a:ext cx="1554480" cy="365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9044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Homegrown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4343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2D5E"/>
                </a:solidFill>
                <a:latin typeface="Calibri"/>
              </a:defRPr>
            </a:pPr>
            <a:r>
              <a:t>26 wks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4572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6–8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4846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Full control, no lock-in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38528" y="3886200"/>
            <a:ext cx="1554480" cy="1828800"/>
          </a:xfrm>
          <a:prstGeom prst="round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38528" y="3886200"/>
            <a:ext cx="1554480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84248" y="39044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STUMP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84248" y="4343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18 wks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84248" y="4572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2–3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84248" y="4846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Pre-wired, fastest path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02736" y="3886200"/>
            <a:ext cx="1554480" cy="1828800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02736" y="3886200"/>
            <a:ext cx="15544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48456" y="39044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BMAD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48456" y="4343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22 wks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8456" y="4572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4–5 team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48456" y="4846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Open-source, LLM-agnostic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66944" y="3886200"/>
            <a:ext cx="1554480" cy="1828800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66944" y="3886200"/>
            <a:ext cx="155448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12664" y="39044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Copilot WS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12664" y="4343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16 wks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4572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 team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12664" y="4846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Vendor-managed, fast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931152" y="3886200"/>
            <a:ext cx="1554480" cy="1828800"/>
          </a:xfrm>
          <a:prstGeom prst="round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31152" y="3886200"/>
            <a:ext cx="155448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76872" y="39044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Devin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76872" y="4343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16 wks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76872" y="4572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2–3 team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76872" y="4846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Autonomous SWE agent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95360" y="3886200"/>
            <a:ext cx="1554480" cy="1828800"/>
          </a:xfrm>
          <a:prstGeom prst="roundRect">
            <a:avLst/>
          </a:prstGeom>
          <a:noFill/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95360" y="3886200"/>
            <a:ext cx="1554480" cy="365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41080" y="39044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1080" y="4343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333EA"/>
                </a:solidFill>
                <a:latin typeface="Calibri"/>
              </a:defRPr>
            </a:pPr>
            <a:r>
              <a:t>20 wks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80" y="4572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2–3 team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41080" y="4846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AI-native IDE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59568" y="3886200"/>
            <a:ext cx="1554480" cy="1828800"/>
          </a:xfrm>
          <a:prstGeom prst="roundRect">
            <a:avLst/>
          </a:prstGeom>
          <a:noFill/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59568" y="3886200"/>
            <a:ext cx="155448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05288" y="39044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Flowsource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05288" y="4343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16 wks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05288" y="4572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2–4 client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05288" y="4846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Cognizant managed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D5E"/>
                </a:solidFill>
                <a:latin typeface="Calibri"/>
              </a:defRPr>
            </a:pPr>
            <a:r>
              <a:t>Business Case Comparison — Three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All three options modelled on your actual ALM data and DORA scores. Editable cost model with 8 token optimisation levers.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188720"/>
            <a:ext cx="22860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12070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OPTION A</a:t>
            </a:r>
            <a:br/>
            <a:r>
              <a:t>AI-Augmented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188720"/>
            <a:ext cx="22860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070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OPTION B ★</a:t>
            </a:r>
            <a:br/>
            <a:r>
              <a:t>Agents + Gates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188720"/>
            <a:ext cx="228600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2070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OPTION C</a:t>
            </a:r>
            <a:br/>
            <a:r>
              <a:t>AI-Native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201168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73736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737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$350–600K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73736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$1.2–2.0M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173736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737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$3.0–5.0M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Annual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$2.1M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$5.5M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$18–30M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86000"/>
            <a:ext cx="201168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286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ROI Multiple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228600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2286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2.5–3×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28600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4–6×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228600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2286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8–12×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560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Payback Period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2560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6–9 months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560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10–14 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560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14–20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34640"/>
            <a:ext cx="201168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28346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5-Year NPV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80" y="283464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0520" y="2834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$9–11M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283464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834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$28–35M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283464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2834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$80–130M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108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Lead Time Reduction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3108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25–35%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108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55–70%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3108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80–95%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383280"/>
            <a:ext cx="201168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3832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Flow Efficiency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69080" y="338328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0520" y="3383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38328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3383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15400" y="338328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3383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75–85%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657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FTE per Pod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60520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8 (all roles)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~4.7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~2.2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931920"/>
            <a:ext cx="201168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3931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Agent Count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69080" y="393192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60520" y="3931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393192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3931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15400" y="393192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06840" y="3931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4206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4206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06840" y="4206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480560"/>
            <a:ext cx="201168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4480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DORA Improvement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69080" y="448056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60520" y="4480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+0.5 levels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448056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4480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+1.0–1.5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15400" y="448056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06840" y="4480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+2.0 levels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754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Deploy Frequency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60520" y="4754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3×/week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83680" y="4754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6840" y="4754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Continuous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029200"/>
            <a:ext cx="201168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5029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Token Cost (monthly)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69080" y="502920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60520" y="50292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$2K–$5K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92240" y="502920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83680" y="50292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$8K–$18K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15400" y="5029200"/>
            <a:ext cx="2286000" cy="274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06840" y="50292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$20K–$45K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5303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D5E"/>
                </a:solidFill>
                <a:latin typeface="Calibri"/>
              </a:defRPr>
            </a:pPr>
            <a:r>
              <a:t>Risk Level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60520" y="53035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83680" y="53035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06840" y="53035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 figures from the STUMP Business Case Builder agent. The cost model is fully editable per-project with line-level overrides, custom lines, and 8 LLM token optimisation levers (model tiering, caching, batch API, PTU, prompt compression, rule-based pre-filter, agent consolidation, fine-tuned OSS).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D5E"/>
                </a:solidFill>
                <a:latin typeface="Calibri"/>
              </a:defRPr>
            </a:pPr>
            <a:r>
              <a:t>STUMP Platform — Full Capability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24 pages, 13 AI agents, 11 routers — the complete multi-agent PDLC transformation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828800" cy="859536"/>
          </a:xfrm>
          <a:prstGeom prst="round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828800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72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Dashboard — Project summary &amp;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653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Outcome Dashboard — 3 perspectives, J-Curve, productivity economics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1188720"/>
            <a:ext cx="1828800" cy="1737360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12848" y="1188720"/>
            <a:ext cx="18288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1207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Setup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1572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ALM Connect — Jira / ADO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18653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DORA Assessment — 4 DORA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57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DevOps Maturity — 73-question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24505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Legacy Modernisation — System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VSM Editor — Override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376" y="1188720"/>
            <a:ext cx="1828800" cy="1444752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51376" y="1188720"/>
            <a:ext cx="18288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7096" y="1207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7096" y="1572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Current State VSM — 7 phases, 36 activities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6" y="18653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Bottleneck Analysis — Speed / Productivity /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2157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Improvements — AI agent recommendations per bottleneck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7096" y="24505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Operations Intelligence — Operational monitoring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1188720"/>
            <a:ext cx="1828800" cy="1444752"/>
          </a:xfrm>
          <a:prstGeom prst="round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9904" y="1188720"/>
            <a:ext cx="18288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1207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Future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5624" y="1572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Target State Studio — 4-step wizard, L1–L5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5624" y="18653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Future State VSM — Options A / B / C with per-phase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5624" y="2157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Business Case — Editable cost model, 7 platforms, 8 token levers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624" y="24505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Transformation Readiness — Readiness scoring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2" y="1188720"/>
            <a:ext cx="1828800" cy="1737360"/>
          </a:xfrm>
          <a:prstGeom prst="roundRect">
            <a:avLst/>
          </a:prstGeom>
          <a:noFill/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28432" y="1188720"/>
            <a:ext cx="1828800" cy="3200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4152" y="1207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AI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1572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Accuracy &amp; RAG — 8-step pipeline scoring (A+ to 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18653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Recommendations — Consolidated AI 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2157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AI Agents — Agent catalog &amp;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24505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Playbook — Personalised implementation playbook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2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Role Responsibilities — Role-based slides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1188720"/>
            <a:ext cx="1828800" cy="859536"/>
          </a:xfrm>
          <a:prstGeom prst="roundRect">
            <a:avLst/>
          </a:prstGeom>
          <a:noFill/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66960" y="1188720"/>
            <a:ext cx="18288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1207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1572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Governance &amp; Guardrails — Framework &amp; policies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18653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4155"/>
                </a:solidFill>
                <a:latin typeface="Calibri"/>
              </a:defRPr>
            </a:pPr>
            <a:r>
              <a:t>• AI Assurance — Model risk &amp; assurance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D5E"/>
                </a:solidFill>
                <a:latin typeface="Calibri"/>
              </a:defRPr>
            </a:pPr>
            <a:r>
              <a:t>Backend AI Agents (LangGraph Pipeline)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029200"/>
            <a:ext cx="16459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047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ALM Connector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4560" y="5029200"/>
            <a:ext cx="16459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0280" y="5047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VSM Analyzer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31920" y="5029200"/>
            <a:ext cx="16459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77640" y="5047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Benchmark Agent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0" y="5029200"/>
            <a:ext cx="16459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5047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Bottleneck Analyzer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06640" y="5029200"/>
            <a:ext cx="21031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50474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Improvement Generator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01200" y="5029200"/>
            <a:ext cx="21031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20" y="50474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Future State Designer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376672"/>
            <a:ext cx="21031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Business Case Builder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51760" y="5376672"/>
            <a:ext cx="16459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97480" y="5394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Accuracy Scorer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89120" y="5376672"/>
            <a:ext cx="21031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484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Playbook Contextualizer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0" y="5376672"/>
            <a:ext cx="21031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DevOps Maturity Agent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78240" y="5376672"/>
            <a:ext cx="21031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2396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Target State (catalog + compare + roadmap + progress)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724144"/>
            <a:ext cx="21031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5742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Outcome Metrics (6 modules)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651760" y="5724144"/>
            <a:ext cx="164592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97480" y="57424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F2D5E"/>
                </a:solidFill>
                <a:latin typeface="Calibri"/>
              </a:defRPr>
            </a:pPr>
            <a:r>
              <a:t>RAG Engine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D5E"/>
                </a:solidFill>
                <a:latin typeface="Calibri"/>
              </a:defRPr>
            </a:pPr>
            <a:r>
              <a:t>Implementation Playbook — Option B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Week-by-week programme from business case approval to first Quick Win — AI-generated, grounded in your VSM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4572000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QUICK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0–90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234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$350K → $1.4M/yr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Deploy AI UAT Agent — eliminate 192h/feature testing queue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Implement AI Architecture Review Board — reduce 152h gate to 24h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AI Release Risk Classifier — CAB approval automated for 85%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First VSM re-run: validate 10-day lead time reduction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Expected: LT 42 → 32 days, FE 17% → 28%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188720"/>
            <a:ext cx="3749039" cy="4572000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749039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207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14813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3–6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1234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$600K → $2.1M/yr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011680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AI Development Agents — code review automation for boilerplate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Requirements Agent — auto-generate AC from PRDs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Ops Agent — 24/7 monitoring + auto-remediation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Process redesign: define human gates at phase boundaries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Expected: LT 32 → 18 days, FE 28% → 45%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1188720"/>
            <a:ext cx="3749039" cy="4572000"/>
          </a:xfrm>
          <a:prstGeom prst="round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1188720"/>
            <a:ext cx="3749039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8" y="1207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14813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6–12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598" y="1234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$1.0M → $2.0M/yr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2011680"/>
            <a:ext cx="35661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Full agent orchestration across all 7 PDLC phases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Human gate governance model: defined approval thresholds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DORA maturity: WALK → RUN (score 2.1 → 3.5)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Outcome Dashboard live with all 3 perspectives + productivity economics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Expected: LT 18 → 8 days, FE 45% → 61%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D5E"/>
                </a:solidFill>
                <a:latin typeface="Calibri"/>
              </a:defRPr>
            </a:pPr>
            <a:r>
              <a:t>Full playbook with week-by-week actions, owners, and expected metrics is generated by the STUMP Playbook Contextualizer agent from your Jira data and team context. No generic templates — every action is grounded in your actual bottleneck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D5E"/>
                </a:solidFill>
                <a:latin typeface="Calibri"/>
              </a:defRPr>
            </a:pPr>
            <a:r>
              <a:t>The Frontier Pod — Post-ADLC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When ADLC is achieved: 1–3 FTE per pod, 80%+ digital workforce, every FTE a Frontier Engineer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777240"/>
          </a:xfrm>
          <a:prstGeom prst="roundRect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Product Definer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61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1 FTE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727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Frames the problem, sets OKRs, directs Define Agent, owns customer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29968"/>
            <a:ext cx="5029200" cy="777240"/>
          </a:xfrm>
          <a:prstGeom prst="roundRect">
            <a:avLst/>
          </a:prstGeom>
          <a:noFill/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21408"/>
            <a:ext cx="54864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Product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1 FTE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14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Directs Dev/QA/Deploy agents, reviews code, clears exceptions, owns 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71216"/>
            <a:ext cx="5029200" cy="777240"/>
          </a:xfrm>
          <a:prstGeom prst="roundRect">
            <a:avLst/>
          </a:prstGeom>
          <a:noFill/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962656"/>
            <a:ext cx="548640" cy="5486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083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D5E"/>
                </a:solidFill>
                <a:latin typeface="Calibri"/>
              </a:defRPr>
            </a:pPr>
            <a:r>
              <a:t>Frontier Principal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944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0.2 FTE</a:t>
            </a:r>
            <a:br/>
            <a:r>
              <a:t>(shared)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2552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Architecture policy, governs fleet, dual mastery, earned not assigned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2D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486400" cy="2377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D5E"/>
                </a:solidFill>
                <a:latin typeface="Calibri"/>
              </a:defRPr>
            </a:pPr>
            <a:r>
              <a:t>🤖  Digital Workforce — 21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645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Calibri"/>
              </a:defRPr>
            </a:pPr>
            <a:r>
              <a:t>Discovery &amp;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645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Calibri"/>
              </a:defRPr>
            </a:pPr>
            <a:r>
              <a:t>5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019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19019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Calibri"/>
              </a:defRPr>
            </a:pPr>
            <a:r>
              <a:t>3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15798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Calibri"/>
              </a:defRPr>
            </a:pPr>
            <a:r>
              <a:t>CI/CD &amp;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1579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Calibri"/>
              </a:defRPr>
            </a:pPr>
            <a:r>
              <a:t>6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4140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Calibri"/>
              </a:defRPr>
            </a:pPr>
            <a:r>
              <a:t>Delivery &amp;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4140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Calibri"/>
              </a:defRPr>
            </a:pPr>
            <a:r>
              <a:t>4 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670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6700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Calibri"/>
              </a:defRPr>
            </a:pPr>
            <a:r>
              <a:t>3 agents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16459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D5E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Team Reduction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19" y="3931920"/>
            <a:ext cx="16459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19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D5E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19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Digital Workforce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38" y="3931920"/>
            <a:ext cx="16459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38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D5E"/>
                </a:solidFill>
                <a:latin typeface="Calibri"/>
              </a:defRPr>
            </a:pPr>
            <a:r>
              <a:t>$400/SP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38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Cost per SP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0757" y="3931920"/>
            <a:ext cx="16459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57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D5E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57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Flow Efficiency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76" y="3931920"/>
            <a:ext cx="16459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76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D5E"/>
                </a:solidFill>
                <a:latin typeface="Calibri"/>
              </a:defRPr>
            </a:pPr>
            <a:r>
              <a:t>3 days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6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Lead Time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29795" y="3931920"/>
            <a:ext cx="16459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9795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D5E"/>
                </a:solidFill>
                <a:latin typeface="Calibri"/>
              </a:defRPr>
            </a:pPr>
            <a:r>
              <a:t>4.4×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5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Revenue/FTE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D5E"/>
                </a:solidFill>
                <a:latin typeface="Calibri"/>
              </a:defRPr>
            </a:pPr>
            <a:r>
              <a:t>The New Literacy — No Programming Language Required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394960"/>
            <a:ext cx="3474720" cy="6400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4132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1. Understand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669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Deep domain knowledge is your moat. The bridge from AI to production value is built by people who understand the business.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06239" y="5394960"/>
            <a:ext cx="3474720" cy="6400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79" y="54132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2. Direct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5669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Prompting is the new management. The quality of agent output is proportional to the quality of your direction.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5278" y="5394960"/>
            <a:ext cx="3474720" cy="6400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8" y="54132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3. Judge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8" y="5669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Know what "good" looks like. Spot when the machine is confidently wrong. Own the outcome.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STUMP Platform  |  SDLC to ADLC Transformation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