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73152" cy="68580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566928" cy="5669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530352"/>
            <a:ext cx="530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48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STUMP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80467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A8D8"/>
                </a:solidFill>
              </a:rPr>
              <a:t>Strategic Transformation Unified Mapping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AI-Powered
Value Stream
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632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A8D8"/>
                </a:solidFill>
              </a:rPr>
              <a:t>for Enterprise Software Delivery Transformation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93008"/>
            <a:ext cx="4023360" cy="3657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D1F0"/>
                </a:solidFill>
              </a:rPr>
              <a:t>Measure  ·  Model  ·  Optimise  ·  Govern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24528"/>
            <a:ext cx="1371600" cy="53035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4279392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7 PDLC Phases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498848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A8D8"/>
                </a:solidFill>
              </a:rPr>
              <a:t>End-to-end coverage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01184"/>
            <a:ext cx="1371600" cy="53035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4956048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13 AI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175504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A8D8"/>
                </a:solidFill>
              </a:rPr>
              <a:t>LangGraph orchestration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77840"/>
            <a:ext cx="1371600" cy="53035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5632704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36 Activities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5852160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A8D8"/>
                </a:solidFill>
              </a:rPr>
              <a:t>Structured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68580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85E"/>
                </a:solidFill>
              </a:rPr>
              <a:t>What STUMP Delivers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1170432"/>
            <a:ext cx="7040880" cy="3657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46320" y="1325880"/>
            <a:ext cx="54864" cy="7315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1362456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Live ALM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167335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A8A"/>
                </a:solidFill>
              </a:rPr>
              <a:t>Connect Jira and Azure DevOps in minutes — real metrics, not estimates.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2276856"/>
            <a:ext cx="54864" cy="7315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2313432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AI Current State VSM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62432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A8A"/>
                </a:solidFill>
              </a:rPr>
              <a:t>Auto-build value stream maps enriched with bottleneck intelligence.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227832"/>
            <a:ext cx="54864" cy="7315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0" y="3264408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Three Future State Options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57530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A8A"/>
                </a:solidFill>
              </a:rPr>
              <a:t>AI generates A/B/C pathways calibrated to your DORA maturity score.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4178808"/>
            <a:ext cx="54864" cy="7315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0" y="4215384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Business Case &amp; ROI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52628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A8A"/>
                </a:solidFill>
              </a:rPr>
              <a:t>NPV, payback period, and sensitivity analysis — ready for the CFO.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5129784"/>
            <a:ext cx="54864" cy="7315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0" y="516636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Audited AI Governance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47725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6A8A"/>
                </a:solidFill>
              </a:rPr>
              <a:t>Every AI recommendation is traceable, explainable, and MRM-compliant.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6144768"/>
            <a:ext cx="7040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A8A"/>
                </a:solidFill>
              </a:rPr>
              <a:t>Cognizant  ·  Internal  ·  April 2026  ·  Confidential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2608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A8D8"/>
                </a:solidFill>
              </a:rPr>
              <a:t>© 2026 Cognizant  ·  Confidential  ·  STUMP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STUMP  ·  Strategic Transformation Unified Mapping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01  Vision &amp; Positioning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5897880" cy="1664208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" y="1106424"/>
            <a:ext cx="329184" cy="329184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" y="11064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08813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E"/>
                </a:solidFill>
              </a:rPr>
              <a:t>Invisible Bottlenecks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472184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Teams cannot see where value stops flowing — wait times, handoffs, and rework loops stay opaque until a release slips.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60120"/>
            <a:ext cx="5897880" cy="1664208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1106424"/>
            <a:ext cx="329184" cy="329184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1064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108813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E"/>
                </a:solidFill>
              </a:rPr>
              <a:t>Static VSM Workshops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472184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Traditional mapping produces point-in-time diagrams disconnected from live ALM data, stale within weeks.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2743200"/>
            <a:ext cx="5897880" cy="1664208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8328" y="2889504"/>
            <a:ext cx="329184" cy="329184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" y="288950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287121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E"/>
                </a:solidFill>
              </a:rPr>
              <a:t>No Data-Driven Future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255264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Future state design relies on intuition. There is no AI-assisted path from current DORA scores to an evidence-based target.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743200"/>
            <a:ext cx="5897880" cy="1664208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2889504"/>
            <a:ext cx="329184" cy="329184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288950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287121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E"/>
                </a:solidFill>
              </a:rPr>
              <a:t>AI Governance Gaps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255264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AI recommendations generated without audit trails, model risk management, or guardrails block enterprise adoption.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4526280"/>
            <a:ext cx="5897880" cy="1664208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8328" y="4672584"/>
            <a:ext cx="329184" cy="329184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8328" y="467258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E"/>
                </a:solidFill>
              </a:rPr>
              <a:t>Fragmented Tool Landscape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038344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DORA, DevOps maturity, VSM, and business case tools exist in silos with no shared data model or common reporting.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526280"/>
            <a:ext cx="5897880" cy="1664208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55080" y="4672584"/>
            <a:ext cx="329184" cy="329184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467258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65429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E"/>
                </a:solidFill>
              </a:rPr>
              <a:t>Immature Productivity Measurement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5038344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Organisations lack consistent metrics for AI-assisted development, feature cycle time, and vulnerability trends across squads.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What is STUMP?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STUMP  ·  Strategic Transformation Unified Mapping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01  Vision &amp; Positioning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5897880" cy="5486400"/>
          </a:xfrm>
          <a:prstGeom prst="rect">
            <a:avLst/>
          </a:prstGeom>
          <a:solidFill>
            <a:srgbClr val="00285E"/>
          </a:solidFill>
          <a:ln w="9525">
            <a:solidFill>
              <a:srgbClr val="12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060704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544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A8D8"/>
                </a:solidFill>
              </a:rPr>
              <a:t>Strategic Transformation Unified Mapping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901952"/>
            <a:ext cx="5897880" cy="3657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1993392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D1F0"/>
                </a:solidFill>
              </a:rPr>
              <a:t>STUMP is an AI-powered, end-to-end transformation intelligence platform that connects live ALM data to value stream models, bottleneck analysis, DORA metrics, and future state design — generating audited, explainable AI recommendations aligned to enterprise governance standards.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914400" cy="5669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3101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255264"/>
            <a:ext cx="4480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Instrument your delivery pipeline with DORA metrics, lead time, cycle time, and VSM wait times.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68496"/>
            <a:ext cx="914400" cy="5669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40782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023360"/>
            <a:ext cx="4480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Build AI-assisted current and future state value stream maps from live Jira / ADO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36592"/>
            <a:ext cx="914400" cy="5669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8463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OPTIMISE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791456"/>
            <a:ext cx="4480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Receive ranked, scored improvement recommendations with effort/impact analysis and ROI projections.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04688"/>
            <a:ext cx="914400" cy="5669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56144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GOVERN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5559552"/>
            <a:ext cx="4480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Every AI output is traceable — model risk logs, compliance checks, and audit trails built-in.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960120"/>
            <a:ext cx="1901952" cy="171907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36208" y="960120"/>
            <a:ext cx="1901952" cy="29260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27648" y="1014984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ALM Connect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1344168"/>
            <a:ext cx="17190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Live Jira &amp; ADO ingestion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960120"/>
            <a:ext cx="1901952" cy="171907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0456" y="960120"/>
            <a:ext cx="1901952" cy="29260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11896" y="1014984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DORA 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1344168"/>
            <a:ext cx="17190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Four-key metrics scoring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04704" y="960120"/>
            <a:ext cx="1901952" cy="171907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204704" y="960120"/>
            <a:ext cx="1901952" cy="29260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96144" y="1014984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DevOps Maturity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6144" y="1344168"/>
            <a:ext cx="17190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8-domain capability matrix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8" y="2807208"/>
            <a:ext cx="1901952" cy="171907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36208" y="2807208"/>
            <a:ext cx="190195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27648" y="286207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VSM Editor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3191256"/>
            <a:ext cx="17190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AI-assisted map authoring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0456" y="2807208"/>
            <a:ext cx="1901952" cy="171907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20456" y="2807208"/>
            <a:ext cx="190195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11896" y="286207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Bottleneck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1896" y="3191256"/>
            <a:ext cx="17190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AI constraint ranking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04704" y="2807208"/>
            <a:ext cx="1901952" cy="171907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204704" y="2807208"/>
            <a:ext cx="190195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96144" y="286207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Future State Design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96144" y="3191256"/>
            <a:ext cx="17190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3 pathway options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6208" y="4654296"/>
            <a:ext cx="1901952" cy="171907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36208" y="4654296"/>
            <a:ext cx="1901952" cy="292608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4709160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Business Case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7648" y="5038344"/>
            <a:ext cx="17190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ROI / NPV projections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0456" y="4654296"/>
            <a:ext cx="1901952" cy="171907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220456" y="4654296"/>
            <a:ext cx="1901952" cy="292608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11896" y="4709160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 Governance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11896" y="5038344"/>
            <a:ext cx="17190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MRM, explainability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04704" y="4654296"/>
            <a:ext cx="1901952" cy="171907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0204704" y="4654296"/>
            <a:ext cx="1901952" cy="292608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296144" y="4709160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Transformation Readiness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96144" y="5038344"/>
            <a:ext cx="17190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Org change scoring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7-Phase PDLC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Every phase of the Product Delivery Lifecycle — instrumented and AI-assisted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02  Platform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60120"/>
            <a:ext cx="1627632" cy="5468112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92" y="960120"/>
            <a:ext cx="1627632" cy="292608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" y="9875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Phase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298448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Setup &amp;
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2048256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" y="2075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0285E"/>
                </a:solidFill>
              </a:rPr>
              <a:t>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098" y="2267712"/>
            <a:ext cx="1627632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Connect Jira / ADO via API token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Import epics, sprints &amp; board data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Configure DORA baseline metrics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Run DevOps maturity survey (8 domains)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Legacy </a:t>
            </a:r>
            <a:r>
              <a:rPr sz="900" dirty="0" err="1">
                <a:solidFill>
                  <a:srgbClr val="1A2B3C"/>
                </a:solidFill>
              </a:rPr>
              <a:t>modernisation</a:t>
            </a:r>
            <a:r>
              <a:rPr sz="900" dirty="0">
                <a:solidFill>
                  <a:srgbClr val="1A2B3C"/>
                </a:solidFill>
              </a:rPr>
              <a:t> assessment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Upload playbook &amp; standards docs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4434840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" y="44622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0285E"/>
                </a:solidFill>
              </a:rPr>
              <a:t>KEY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" y="46634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Live ALM data pipeline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DORA current-state scores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Maturity scorecard (0–5 scale)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5669280"/>
            <a:ext cx="162763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" y="56875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</a:rPr>
              <a:t>ALM Connector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" y="5943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4A6A8A"/>
                </a:solidFill>
              </a:rPr>
              <a:t>ALM Connect · DORA · Maturity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1368" y="2377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47088" y="960120"/>
            <a:ext cx="1627632" cy="5468112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847088" y="960120"/>
            <a:ext cx="1627632" cy="29260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9384" y="9875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Phase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9384" y="1298448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VSM
Authoring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9384" y="2048256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29384" y="2075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24F9C"/>
                </a:solidFill>
              </a:rPr>
              <a:t>ACTIVITIES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5594" y="2267712"/>
            <a:ext cx="1627632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Import process steps from ALM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Set process time per step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Capture wait time &amp; queue depth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Define handoff owners &amp; SLAs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Mark rework loops &amp; re-entries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Team review &amp; baseline sign-off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9384" y="4434840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29384" y="44622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24F9C"/>
                </a:solidFill>
              </a:rPr>
              <a:t>KEY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9384" y="46634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Current state VSM (draft)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Step-level time metrics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Flow efficiency % ratio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47088" y="5669280"/>
            <a:ext cx="1627632" cy="237744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29384" y="56875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</a:rPr>
              <a:t>VSM Analyzer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9384" y="5943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4A6A8A"/>
                </a:solidFill>
              </a:rPr>
              <a:t>VSM Editor · Current State VSM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83864" y="2377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9584" y="960120"/>
            <a:ext cx="1627632" cy="5468112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529584" y="960120"/>
            <a:ext cx="1627632" cy="29260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9875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Phase 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1298448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Current State
Analysis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2048256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11880" y="2075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24F9C"/>
                </a:solidFill>
              </a:rPr>
              <a:t>ACTIVITIES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58090" y="2267712"/>
            <a:ext cx="1627632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Run AI bottleneck scoring engine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Map wait-time heatmap overlay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Compare against DORA benchmarks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Identify root cause hypotheses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Score each step (R / A / G)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Generate improvement catalogue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11880" y="4434840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11880" y="44622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24F9C"/>
                </a:solidFill>
              </a:rPr>
              <a:t>KEY OUTPUTS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46634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Ranked bottleneck list (top 8)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Benchmark vs industry report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Improvement opportunity log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9584" y="5669280"/>
            <a:ext cx="1627632" cy="237744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11880" y="56875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</a:rPr>
              <a:t>Bottleneck Analyzer · Benchmark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11880" y="5943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4A6A8A"/>
                </a:solidFill>
              </a:rPr>
              <a:t>Bottlenecks · Improvements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2377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960120"/>
            <a:ext cx="1627632" cy="5468112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212080" y="960120"/>
            <a:ext cx="16276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94376" y="9875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Phase 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94376" y="1298448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Ops
Intelligence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94376" y="2048256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94376" y="2075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F78C4"/>
                </a:solidFill>
              </a:rPr>
              <a:t>ACTIVITIES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40586" y="2267712"/>
            <a:ext cx="1627632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Connect live telemetry feeds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Monitor deploy frequency daily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Track MTTR &amp; CFR in real-time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Configure anomaly alert thresholds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Detect metric drift vs VSM baseline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Review sprint health KPIs weekly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94376" y="4434840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294376" y="44622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F78C4"/>
                </a:solidFill>
              </a:rPr>
              <a:t>KEY OUTPUTS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94376" y="46634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Live KPI monitoring dashboard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Anomaly &amp; drift alert log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Sprint health &amp; velocity trends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12080" y="5669280"/>
            <a:ext cx="1627632" cy="23774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94376" y="56875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</a:rPr>
              <a:t>Telemetry Sentinel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94376" y="5943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4A6A8A"/>
                </a:solidFill>
              </a:rPr>
              <a:t>Operations Intelligence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48856" y="2377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›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94576" y="960120"/>
            <a:ext cx="1627632" cy="5468112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894576" y="960120"/>
            <a:ext cx="16276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976872" y="9875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Phase 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76872" y="1298448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Future State
Design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76872" y="2048256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976872" y="2075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F78C4"/>
                </a:solidFill>
              </a:rPr>
              <a:t>ACTIVITIES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23082" y="2267712"/>
            <a:ext cx="1627632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Generate 3 AI pathway options (A/B/C)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Set target capability levels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Map future state VSM per option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Score transformation readiness gaps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AI-rank improvements by impact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Align options to stakeholder goals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76872" y="4434840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976872" y="44622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F78C4"/>
                </a:solidFill>
              </a:rPr>
              <a:t>KEY OUTPUTS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76872" y="46634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Future state VSM × 3 options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Capability gap analysis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AI-ranked improvement roadmap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94576" y="5669280"/>
            <a:ext cx="1627632" cy="23774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976872" y="56875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</a:rPr>
              <a:t>Future State Designer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76872" y="5943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4A6A8A"/>
                </a:solidFill>
              </a:rPr>
              <a:t>Future State · Transformation Readiness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31352" y="2377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77072" y="960120"/>
            <a:ext cx="1627632" cy="5468112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577072" y="960120"/>
            <a:ext cx="1627632" cy="292608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659368" y="9875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Phase 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59368" y="1298448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Financial
&amp; Change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59368" y="2048256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659368" y="2075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AA8D8"/>
                </a:solidFill>
              </a:rPr>
              <a:t>ACTIVITIES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05578" y="2267712"/>
            <a:ext cx="1627632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Build investment &amp; cost model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Calculate NPV, ROI &amp; payback period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Run 3-scenario sensitivity analysis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Score organisational readiness (8 dims)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Identify change management risks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A2B3C"/>
                </a:solidFill>
              </a:rPr>
              <a:t>·  Draft executive business case deck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659368" y="4434840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659368" y="44622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AA8D8"/>
                </a:solidFill>
              </a:rPr>
              <a:t>KEY OUTPUTS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59368" y="46634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CFO-ready business case deck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ROI &amp; NPV financial model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Org readiness scorecard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77072" y="5669280"/>
            <a:ext cx="1627632" cy="237744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659368" y="56875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</a:rPr>
              <a:t>Business Case Builder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59368" y="5943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4A6A8A"/>
                </a:solidFill>
              </a:rPr>
              <a:t>Business Case · Readiness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13848" y="2377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›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259568" y="960120"/>
            <a:ext cx="1627632" cy="5468112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0259568" y="960120"/>
            <a:ext cx="1627632" cy="292608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341864" y="9875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Phase 07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41864" y="1298448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AI Insights
&amp; Governance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341864" y="2048256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341864" y="2075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AA8D8"/>
                </a:solidFill>
              </a:rPr>
              <a:t>ACTIVITIES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88074" y="2267712"/>
            <a:ext cx="1627632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Review AI recommendation accuracy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Validate RAG scores &amp; evidence trail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Run model risk management checks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Verify OWASP &amp; compliance gates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Publish AI assurance report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A2B3C"/>
                </a:solidFill>
              </a:rPr>
              <a:t>·  Export full audit log (GDPR/SOC2)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341864" y="4434840"/>
            <a:ext cx="1463040" cy="2286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341864" y="44622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AA8D8"/>
                </a:solidFill>
              </a:rPr>
              <a:t>KEY OUTPUTS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41864" y="46634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AI accuracy &amp; RAG dashboard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Governance assurance report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24F9C"/>
                </a:solidFill>
              </a:rPr>
              <a:t>✓  Audit log export (immutable)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259568" y="5669280"/>
            <a:ext cx="1627632" cy="237744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341864" y="56875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</a:rPr>
              <a:t>Model Risk Manager · Governance Controller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41864" y="5943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4A6A8A"/>
                </a:solidFill>
              </a:rPr>
              <a:t>AI Assurance · Governance · Playbook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1168" y="6355080"/>
            <a:ext cx="11768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6A8A"/>
                </a:solidFill>
              </a:rPr>
              <a:t>Each phase feeds the next — STUMP maintains a live data model across all 36 activities, enabling cross-phase AI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DORA Assessment &amp; VSM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Establish your current delivery health before modelling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03  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5897880" cy="5486400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DORA Assessment — Four Key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35331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Performance band: Elite / High / Medium / 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627632"/>
            <a:ext cx="5897880" cy="27432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" y="1737360"/>
            <a:ext cx="73152" cy="74980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178308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285E"/>
                </a:solidFill>
              </a:rPr>
              <a:t>Deployment 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057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How often code reaches 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029968"/>
            <a:ext cx="1417320" cy="23774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2048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Elite: on-demand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2779776"/>
            <a:ext cx="73152" cy="74980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282549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285E"/>
                </a:solidFill>
              </a:rPr>
              <a:t>Lead Time for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30998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Commit to live deployment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072384"/>
            <a:ext cx="1417320" cy="23774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09067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Elite: &lt; 1 hour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3822191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3867911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285E"/>
                </a:solidFill>
              </a:rPr>
              <a:t>Change Failure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414223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% of deploys causing incidents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114799"/>
            <a:ext cx="1417320" cy="23774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4133087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Elite: 0–5%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4864608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2064" y="491032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285E"/>
                </a:solidFill>
              </a:rPr>
              <a:t>Time to Restore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5184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Mean time to recover from incident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157216"/>
            <a:ext cx="1417320" cy="23774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89120" y="517550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Elite: &lt; 1 hour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58704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6A8A"/>
                </a:solidFill>
              </a:rPr>
              <a:t>AI scores each metric, assigns maturity band, and feeds the recommendations engine automatically.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960120"/>
            <a:ext cx="5897880" cy="5486400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8251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Value Stream Map — Current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135331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Live ALM data  ·  Step-by-step instrumentation  ·  AI-enriched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1627632"/>
            <a:ext cx="5897880" cy="27432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1755648"/>
            <a:ext cx="5623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Auto-import process steps from Jira epics / ADO board columns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Capture process time, wait time, % complete &amp; accurate per step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AI identifies rework loops and implicit wait states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Efficiency ratio = Process Time ÷ (Process Time + Wait Time)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STUMP baseline: Lead Time 18d, Efficiency 34%, 7 handoffs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Benchmarked against DORA State of DevOps industry percentiles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Export as PowerPoint or PDF for executive review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559552"/>
            <a:ext cx="676656" cy="43891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5614416"/>
            <a:ext cx="676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3176" y="5650992"/>
            <a:ext cx="73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F78C4"/>
                </a:solidFill>
              </a:rPr>
              <a:t>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59752" y="5559552"/>
            <a:ext cx="676656" cy="43891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59752" y="5614416"/>
            <a:ext cx="676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Backlog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36408" y="5650992"/>
            <a:ext cx="73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F78C4"/>
                </a:solidFill>
              </a:rPr>
              <a:t>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72983" y="5559552"/>
            <a:ext cx="676656" cy="43891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72983" y="5614416"/>
            <a:ext cx="676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Sprint Plan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39" y="5650992"/>
            <a:ext cx="73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F78C4"/>
                </a:solidFill>
              </a:rPr>
              <a:t>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86216" y="5559552"/>
            <a:ext cx="676656" cy="43891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86216" y="5614416"/>
            <a:ext cx="676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62872" y="5650992"/>
            <a:ext cx="73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F78C4"/>
                </a:solidFill>
              </a:rPr>
              <a:t>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99448" y="5559552"/>
            <a:ext cx="676656" cy="43891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99448" y="5614416"/>
            <a:ext cx="676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Code 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76104" y="5650992"/>
            <a:ext cx="73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F78C4"/>
                </a:solidFill>
              </a:rPr>
              <a:t>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12680" y="5559552"/>
            <a:ext cx="676656" cy="43891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012680" y="5614416"/>
            <a:ext cx="676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89336" y="5650992"/>
            <a:ext cx="73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F78C4"/>
                </a:solidFill>
              </a:rPr>
              <a:t>▶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725912" y="5559552"/>
            <a:ext cx="676656" cy="438912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725912" y="5614416"/>
            <a:ext cx="676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 Bottleneck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Automatically detect and rank flow constraints using LangGraph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03  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5897880" cy="5486400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How Bottleneck Analysis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444752"/>
            <a:ext cx="960120" cy="5852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55448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 · 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1517904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Load VSM step data: process times, wait times, WIP counts, error rates from ALM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221992"/>
            <a:ext cx="960120" cy="5852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233172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 ·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295144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AI calculates constraint score = wait% × WIP × (1 − accuracy)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2999232"/>
            <a:ext cx="960120" cy="5852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310896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 · 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072384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Steps ranked by total flow disruption index (severity × frequency)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776472"/>
            <a:ext cx="960120" cy="5852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88620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4 · 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849624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LLM generates 3–5 root cause hypotheses per bottleneck using playbook 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4553712"/>
            <a:ext cx="960120" cy="5852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466344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5 · Recommend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626864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Each bottleneck linked to ranked improvement actions with effort/impact scoring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5330952"/>
            <a:ext cx="960120" cy="5852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544068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6 · Visualise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5404104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Heatmap overlay on VSM canvas — red / amber / green per process step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960120"/>
            <a:ext cx="5897880" cy="5486400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Sample Analysis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1417320"/>
            <a:ext cx="55778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002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82512" y="1417320"/>
            <a:ext cx="128016" cy="1115568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65392" y="15087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E"/>
                </a:solidFill>
              </a:rPr>
              <a:t>#1  Code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180136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A8A"/>
                </a:solidFill>
              </a:rPr>
              <a:t>Wait Time: 4.2 days  ·  Severity: CRITICAL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2057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Root cause: Insufficient reviewer capacity. Recommendation: Implement async review SLA + pairing rotation.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2512" y="2679191"/>
            <a:ext cx="55778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12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82512" y="2679191"/>
            <a:ext cx="128016" cy="111556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65392" y="2770631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E"/>
                </a:solidFill>
              </a:rPr>
              <a:t>#2  Sprint Planning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3063239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A8A"/>
                </a:solidFill>
              </a:rPr>
              <a:t>WIP overflow 3×  ·  Severity: 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331927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Root cause: Insufficient reviewer capacity. Recommendation: Implement async review SLA + pairing rotation.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3941063"/>
            <a:ext cx="55778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82512" y="3941063"/>
            <a:ext cx="128016" cy="111556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65392" y="403250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E"/>
                </a:solidFill>
              </a:rPr>
              <a:t>#3  UAT / Approval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4325111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A8A"/>
                </a:solidFill>
              </a:rPr>
              <a:t>Avg wait 2.8 days  ·  Severity: MEDIUM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458114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Root cause: Insufficient reviewer capacity. Recommendation: Implement async review SLA + pairing rotation.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5230368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24F9C"/>
                </a:solidFill>
              </a:rPr>
              <a:t>AI Insight: "Code Review consumes 23% of total lead time. Introducing a 4-hour async review SLA and two additional reviewers could reduce lead time by 3.4 days (19%) within one sprint cycle."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Improvements Catalogue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AI-ranked, scored improvement actions across process, tooling, and people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03  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1176832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02412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Improvement Scoring Matrix — Effort vs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1371600"/>
            <a:ext cx="11768328" cy="27432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1168" y="1417320"/>
            <a:ext cx="11768328" cy="34747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1453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5389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Improvement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4538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4538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Effort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453896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145389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14538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1783080"/>
            <a:ext cx="11768328" cy="47548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" y="18745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87452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Implement async code-review SLA (4-hour turnaround)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18745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8745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A8D8"/>
                </a:solidFill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187452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4F9C"/>
                </a:solidFill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187452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9.1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8745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Now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2286000"/>
            <a:ext cx="1176832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032" y="23774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237744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Automate regression test suite (80% coverage target)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3774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Tooling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3774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78C4"/>
                </a:solidFill>
              </a:rPr>
              <a:t>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632" y="237744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4F9C"/>
                </a:solidFill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1472" y="237744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8.7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23774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Q2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" y="2788920"/>
            <a:ext cx="11768328" cy="47548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6032" y="28803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88036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Introduce trunk-based development &amp; feature flags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28803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Process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28803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78C4"/>
                </a:solidFill>
              </a:rPr>
              <a:t>MED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288036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4F9C"/>
                </a:solidFill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1472" y="288036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8.4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28803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Q2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3291840"/>
            <a:ext cx="1176832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6032" y="33832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8328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Deploy AI code review assistant (Copilot / Amazon Q)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33832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3832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A8D8"/>
                </a:solidFill>
              </a:rPr>
              <a:t>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338328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4F9C"/>
                </a:solidFill>
              </a:rPr>
              <a:t>HIGH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91472" y="338328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8.2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61320" y="33832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Now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" y="3794760"/>
            <a:ext cx="11768328" cy="47548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56032" y="38862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388620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Shift-left security scanning in CI pipeline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38862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Tooling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38862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A8D8"/>
                </a:solidFill>
              </a:rPr>
              <a:t>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5632" y="388620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78C4"/>
                </a:solidFill>
              </a:rPr>
              <a:t>MED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388620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7.8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61320" y="38862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Now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" y="4297680"/>
            <a:ext cx="1176832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56032" y="43891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438912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Value stream WIP limits per board column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74920" y="43891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Process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43800" y="43891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A8D8"/>
                </a:solidFill>
              </a:rPr>
              <a:t>LOW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85632" y="438912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78C4"/>
                </a:solidFill>
              </a:rPr>
              <a:t>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91472" y="438912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7.5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43891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Now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1168" y="4800600"/>
            <a:ext cx="11768328" cy="47548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56032" y="48920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07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489204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Pair programming rotation for knowledge transfer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74920" y="48920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People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43800" y="48920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78C4"/>
                </a:solidFill>
              </a:rPr>
              <a:t>MED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85632" y="489204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78C4"/>
                </a:solidFill>
              </a:rPr>
              <a:t>MED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91472" y="489204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7.0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1320" y="48920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Q3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1168" y="5303520"/>
            <a:ext cx="1176832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56032" y="5394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08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539496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Incident review retrospective to backlog automation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74920" y="53949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Process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43800" y="5394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A8D8"/>
                </a:solidFill>
              </a:rPr>
              <a:t>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85632" y="539496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F78C4"/>
                </a:solidFill>
              </a:rPr>
              <a:t>MED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91472" y="539496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6.9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61320" y="53949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Q2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7472" y="605332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6A8A"/>
                </a:solidFill>
              </a:rPr>
              <a:t>Scores weighted: Impact × 0.6 + Effort(inverted) × 0.4  ·  Filtered by DORA maturity band  ·  Playbook-grounded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Future State Design — Three Transformation Pathways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AI generates three options calibrated to cost, speed, and depth of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04  Future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385876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" y="960120"/>
            <a:ext cx="3858768" cy="475488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" y="1005840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Option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1188720"/>
            <a:ext cx="3602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Optimise in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1554480"/>
            <a:ext cx="360273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Lean process improvements within current toolchain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Quick wins on code review, WIP limits, testing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Lead time reduction: 25–35%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Cost: £150–300K  ·  Timeline: 3–6 months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Risk: LOW  ·  Effort: 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5029200"/>
            <a:ext cx="3858768" cy="12618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" y="5120640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Est.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534009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£200K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5120640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Lead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056" y="534009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-30%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5120640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534009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3-6 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960120"/>
            <a:ext cx="385876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06240" y="960120"/>
            <a:ext cx="3858768" cy="47548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34256" y="1005840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Option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1188720"/>
            <a:ext cx="3602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Modernise &amp; Accelerate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1554480"/>
            <a:ext cx="360273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CI/CD pipeline uplift + platform engineering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AI code assist + shift-left security adoption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Lead time reduction: 45–55%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Cost: £500K–1.2M  ·  Timeline: 6–12 months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Risk: MEDIUM  ·  Effort: MEDIUM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029200"/>
            <a:ext cx="3858768" cy="126187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34256" y="5120640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Est.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6" y="534009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£850K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5120640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Lead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96128" y="534009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-50%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120640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34009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6-12 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11312" y="960120"/>
            <a:ext cx="385876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11312" y="960120"/>
            <a:ext cx="3858768" cy="47548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39328" y="1005840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Option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8" y="1188720"/>
            <a:ext cx="3602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Full Platform Transformation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1554480"/>
            <a:ext cx="360273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Cloud-native re-architecture + internal developer platform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Autonomous testing, AI-driven ops, golden path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Lead time reduction: 65–75%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Cost: £2–4M  ·  Timeline: 12–18 months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1A2B3C"/>
                </a:solidFill>
              </a:rPr>
              <a:t>▸  Risk: HIGH  ·  Effort: HIGH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11312" y="5029200"/>
            <a:ext cx="3858768" cy="126187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39328" y="5120640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Est.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8" y="534009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£3M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120640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Lead 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34009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-70%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63072" y="5120640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63072" y="534009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12-18 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" y="6080760"/>
            <a:ext cx="11768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6A8A"/>
                </a:solidFill>
              </a:rPr>
              <a:t>STUMP uses RAG over DORA State of DevOps benchmarks and industry case studies to calibrate each option. All projections carry confidence bands.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Business Case &amp; ROI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Evidence-based financial projection — NPV, payback period, and sensitivity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04  Future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5897880" cy="5486400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Value Drivers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444752"/>
            <a:ext cx="73152" cy="6766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14813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Faster Time to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17373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35–70% lead time reduction enables earlier revenue realisation. 1-day improvement = approx. 0.3% revenue uplift (Puppet SoD 2024).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295144"/>
            <a:ext cx="73152" cy="6766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233172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Reduced Incident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587752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50% MTTR improvement saves £2–4M/yr in P1 resolution costs (avg P1 cost: £45K/hour for a 500-dev organisation).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145536"/>
            <a:ext cx="73152" cy="6766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318211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Engineering Productivity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438144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AI code assist drives 20–35% developer throughput increase. Story throughput +30% without additional headcount spend.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995928"/>
            <a:ext cx="73152" cy="6766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" y="403250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Quality &amp; Rework Reduction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4288536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Shift-left testing reduces defect escape rate by 40%. Rework is 15–25% of sprint capacity — directly recoverable.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4846320"/>
            <a:ext cx="73152" cy="6766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488289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Talent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" y="513892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High DevEx score correlates to 12% lower attrition. Replacing a senior engineer costs 1.5–2x annual salary.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960120"/>
            <a:ext cx="5897880" cy="5486400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Indicative Financial Model  (Option B, 200-dev org)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1371600"/>
            <a:ext cx="5897880" cy="27432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82512" y="1481328"/>
            <a:ext cx="54406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3952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Investment (Year 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57276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285E"/>
                </a:solidFill>
              </a:rPr>
              <a:t>£850,000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1975104"/>
            <a:ext cx="5440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20665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Revenue Acceleration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06654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2F78C4"/>
                </a:solidFill>
              </a:rPr>
              <a:t>+£1.4M / yr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2468880"/>
            <a:ext cx="54406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2" y="25603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Incident Cost Savings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256032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2F78C4"/>
                </a:solidFill>
              </a:rPr>
              <a:t>+£600K / yr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2962656"/>
            <a:ext cx="5440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305409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Productivity Gains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305409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2F78C4"/>
                </a:solidFill>
              </a:rPr>
              <a:t>+£380K / yr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3456432"/>
            <a:ext cx="54406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73952" y="35478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Gross Annual Benefit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354787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24F9C"/>
                </a:solidFill>
              </a:rPr>
              <a:t>£2.38M / yr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82512" y="3950208"/>
            <a:ext cx="5440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73952" y="40416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Net Benefit (Year 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40416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24F9C"/>
                </a:solidFill>
              </a:rPr>
              <a:t>+£1.53M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82512" y="4443984"/>
            <a:ext cx="54406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3952" y="45354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Payback Period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453542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2F78C4"/>
                </a:solidFill>
              </a:rPr>
              <a:t>&lt; 5 months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82512" y="4937760"/>
            <a:ext cx="5440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73952" y="50292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3-Year NPV (10% DR)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502920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285E"/>
                </a:solidFill>
              </a:rPr>
              <a:t>£4.8M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82512" y="5431536"/>
            <a:ext cx="54406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73952" y="5522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ROI (3 Year)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2680" y="552297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2F78C4"/>
                </a:solidFill>
              </a:rPr>
              <a:t>565%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2512" y="60350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6A8A"/>
                </a:solidFill>
              </a:rPr>
              <a:t>Assumptions in appendix. Indicative — base case 200-dev organisation.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Transformation Readiness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People, process, and technology readiness scored before committing to a transformation pathway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04  Future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1176832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024128"/>
            <a:ext cx="7772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Readiness Scorecard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005840"/>
            <a:ext cx="1783080" cy="65836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102412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61 /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37160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AMBER: Ready with Conditions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1371600"/>
            <a:ext cx="11768328" cy="27432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1168" y="1481328"/>
            <a:ext cx="11768328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1572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Leadership Alignment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1609344"/>
            <a:ext cx="4572000" cy="2011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749039" y="1609344"/>
            <a:ext cx="3566160" cy="20116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5727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F78C4"/>
                </a:solidFill>
              </a:rPr>
              <a:t>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5727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A8A"/>
                </a:solidFill>
              </a:rPr>
              <a:t>Senior sponsorship confirmed; roadmap communicated to L2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1993392"/>
            <a:ext cx="11768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2084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Engineering Culture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2121408"/>
            <a:ext cx="4572000" cy="2011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749039" y="2121408"/>
            <a:ext cx="2834640" cy="201168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208483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A8D8"/>
                </a:solidFill>
              </a:rPr>
              <a:t>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084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A8A"/>
                </a:solidFill>
              </a:rPr>
              <a:t>Growth mindset present; psychological safety needs investment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2505456"/>
            <a:ext cx="11768328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2596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Toolchain Maturity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633472"/>
            <a:ext cx="4572000" cy="2011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749039" y="2633472"/>
            <a:ext cx="2514600" cy="201168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58200" y="25968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A8D8"/>
                </a:solidFill>
              </a:rPr>
              <a:t>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25968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A8A"/>
                </a:solidFill>
              </a:rPr>
              <a:t>Jira + ADO in use; IDP and platform engineering embryonic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" y="3017520"/>
            <a:ext cx="11768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DevOps Practice Adoption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3145536"/>
            <a:ext cx="4572000" cy="2011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749039" y="3145536"/>
            <a:ext cx="3200400" cy="20116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58200" y="3108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F78C4"/>
                </a:solidFill>
              </a:rPr>
              <a:t>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A8A"/>
                </a:solidFill>
              </a:rPr>
              <a:t>CI/CD partial; CD and feature flags not yet standardised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" y="3529584"/>
            <a:ext cx="11768328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" y="36210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Security &amp; Compliance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3657600"/>
            <a:ext cx="4572000" cy="2011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749039" y="3657600"/>
            <a:ext cx="3108960" cy="201168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200" y="362102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A8D8"/>
                </a:solidFill>
              </a:rPr>
              <a:t>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36210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A8A"/>
                </a:solidFill>
              </a:rPr>
              <a:t>SAST in place; DAST and supply-chain scanning gaps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" y="4041648"/>
            <a:ext cx="11768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7472" y="41330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Data &amp; Observability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4169664"/>
            <a:ext cx="4572000" cy="2011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749039" y="4169664"/>
            <a:ext cx="2194560" cy="201168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58200" y="413308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8D1F0"/>
                </a:solidFill>
              </a:rPr>
              <a:t>48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41330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A8A"/>
                </a:solidFill>
              </a:rPr>
              <a:t>Logs centralised; traces and synthetic monitoring absent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1168" y="4553712"/>
            <a:ext cx="11768328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7472" y="4645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AI Readiness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49039" y="4681728"/>
            <a:ext cx="4572000" cy="2011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749039" y="4681728"/>
            <a:ext cx="1920240" cy="201168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458200" y="464515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8D1F0"/>
                </a:solidFill>
              </a:rPr>
              <a:t>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6451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A8A"/>
                </a:solidFill>
              </a:rPr>
              <a:t>AI code assist piloted one team; no governance framework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1168" y="5065776"/>
            <a:ext cx="11768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" y="5157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Change Management Capacity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39" y="5193792"/>
            <a:ext cx="4572000" cy="20116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749039" y="5193792"/>
            <a:ext cx="2971800" cy="201168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58200" y="515721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A8D8"/>
                </a:solidFill>
              </a:rPr>
              <a:t>65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51572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A8A"/>
                </a:solidFill>
              </a:rPr>
              <a:t>Agile coaches available; transformation fatigue risk medium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 Agent Architecture — LangGraph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13 specialised AI agents across 5 layers, governed by a Model Risk Management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05  AI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87552"/>
            <a:ext cx="11768328" cy="841247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" y="10424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280160"/>
            <a:ext cx="11228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1362456"/>
            <a:ext cx="11045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ALM Connector Agent — Jira / Azure DevOps live ingestion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1874519"/>
            <a:ext cx="11768328" cy="1975103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" y="192938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ANALYSIS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167127"/>
            <a:ext cx="3669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2249423"/>
            <a:ext cx="3486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VSM Analyzer — step extraction &amp; efficiency calculation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26992" y="2167127"/>
            <a:ext cx="3669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18432" y="2249423"/>
            <a:ext cx="3486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Bottleneck Analyzer — constraint scoring &amp; ranking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6512" y="2167127"/>
            <a:ext cx="3669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97952" y="2249423"/>
            <a:ext cx="3486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Benchmark Agent — DORA percentile &amp; industry comparison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3895342"/>
            <a:ext cx="11768328" cy="25420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" y="395020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OUTPUT LAYER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4187950"/>
            <a:ext cx="2724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" y="4270246"/>
            <a:ext cx="2542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Improvement Generator — ranked action catalogue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2112" y="4187950"/>
            <a:ext cx="2724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73552" y="4270246"/>
            <a:ext cx="2542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Future State Designer — 3 pathway option builder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16752" y="4187950"/>
            <a:ext cx="2724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08192" y="4270246"/>
            <a:ext cx="2542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Business Case Builder — ROI, NPV, payback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51392" y="4187950"/>
            <a:ext cx="2724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42832" y="4270246"/>
            <a:ext cx="2542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Telemetry Sentinel — live anomaly &amp; drift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6483094"/>
            <a:ext cx="11768328" cy="1975103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9184" y="653795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GOVERNANCE LAYER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6775702"/>
            <a:ext cx="3669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" y="6857998"/>
            <a:ext cx="3486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Secure-by-Design Agent — OWASP, secrets, compliance checks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26992" y="6775702"/>
            <a:ext cx="3669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18432" y="6857998"/>
            <a:ext cx="3486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Config-as-Code Agent — IaC drift &amp; policy enforcement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06512" y="6775702"/>
            <a:ext cx="3669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97952" y="6857998"/>
            <a:ext cx="3486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Model Risk Manager — explainability &amp; confidence scoring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" y="8503917"/>
            <a:ext cx="11768328" cy="1408176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9184" y="8558781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ORCHESTRATION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8796525"/>
            <a:ext cx="5559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8912" y="8878821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Orchestrator Agent — state graph, phase routing, retry logic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16752" y="8796525"/>
            <a:ext cx="5559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08192" y="8878821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Governance Controller — approval gates, audit trail, HITL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" y="6291072"/>
            <a:ext cx="11768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6A8A"/>
                </a:solidFill>
              </a:rPr>
              <a:t>Stack: LangGraph 0.2 (Python)  ·  Claude 3.5 Sonnet / GPT-4o  ·  ChromaDB vector store  ·  FastAPI async  ·  React 18 streaming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Functional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From ALM data sources through core platform to transformation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05  AI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385876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" y="960120"/>
            <a:ext cx="3858768" cy="36576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" y="1014984"/>
            <a:ext cx="3602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 INPUTS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26464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" y="1517904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Jira Cloud /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" y="1993392"/>
            <a:ext cx="3602736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" y="2084832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Azure DevOps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" y="2560320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" y="2651760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GitHub / GitLab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127248"/>
            <a:ext cx="3602736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" y="3218688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ServiceNow ITSM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" y="3694176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" y="378561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CI/CD Pipeline APIs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" y="4261104"/>
            <a:ext cx="3602736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" y="4352544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DORA Benchmark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" y="4828031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0624" y="4919471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Industry Playbooks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960120"/>
            <a:ext cx="385876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06240" y="960120"/>
            <a:ext cx="3858768" cy="36576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34256" y="1014984"/>
            <a:ext cx="3602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CORE PLATFORM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34256" y="1426464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25696" y="1517904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ALM Connector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34256" y="1993392"/>
            <a:ext cx="3602736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25696" y="2084832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VSM Editor &amp; Canvas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4256" y="2560320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25696" y="2651760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AI Analysis Engine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3127248"/>
            <a:ext cx="3602736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25696" y="3218688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Future State Designer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34256" y="3694176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25696" y="378561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Business Case Builder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34256" y="4261104"/>
            <a:ext cx="3602736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25696" y="4352544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RAG / Vector Store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34256" y="4828031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25696" y="4919471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Governance &amp; MRM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34256" y="5394960"/>
            <a:ext cx="3602736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25696" y="5486400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Audit &amp; Explainability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11312" y="960120"/>
            <a:ext cx="385876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211312" y="960120"/>
            <a:ext cx="3858768" cy="36576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39328" y="1014984"/>
            <a:ext cx="3602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TRANSFORMATION OUTPUTS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39328" y="1426464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30768" y="1517904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Current State VSM Report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39328" y="1993392"/>
            <a:ext cx="3602736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30768" y="2084832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Bottleneck Heat Map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39328" y="2560320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30768" y="2651760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Improvements Catalogue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39328" y="3127248"/>
            <a:ext cx="3602736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430768" y="3218688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Future State Roadmap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39328" y="3694176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30768" y="378561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Business Case Deck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9328" y="4261104"/>
            <a:ext cx="3602736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430768" y="4352544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DORA Scorecard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39328" y="4828031"/>
            <a:ext cx="3602736" cy="49377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30768" y="4919471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Jira / ADO Epics (export)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39328" y="5394960"/>
            <a:ext cx="3602736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0768" y="5486400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Executive Summary PDF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59936" y="31089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F78C4"/>
                </a:solidFill>
              </a:rPr>
              <a:t>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65008" y="31089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F78C4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React 18 + FastAPI + LangGraph + PostgreSQL — cloud-native, containerised, extensible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05  AI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5897880" cy="5486400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Frontend 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444752"/>
            <a:ext cx="73152" cy="54864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148132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React 18 + Vite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173736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Component rendering + HMR dev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157984"/>
            <a:ext cx="73152" cy="54864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219456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Tailwind CSS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45059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Utility-first responsive design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2871216"/>
            <a:ext cx="73152" cy="54864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" y="290779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React Router v6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3163824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SPA client-side routing (20 routes)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584448"/>
            <a:ext cx="73152" cy="54864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" y="362102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Recharts / Lucide React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877056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Data visualisation + icon library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4297680"/>
            <a:ext cx="73152" cy="54864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33425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React Context (AppContext)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459028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Global project state + notification bus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5010912"/>
            <a:ext cx="73152" cy="54864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504748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Streaming SSE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530352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Real-time agent progress events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960120"/>
            <a:ext cx="5897880" cy="5486400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Backend &amp; AI Stack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1444752"/>
            <a:ext cx="73152" cy="47548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148132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FastAPI 0.115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171907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Async Python API with OpenAPI docs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2048256"/>
            <a:ext cx="73152" cy="47548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208483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LangGraph 0.2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2322576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Stateful multi-agent graph orchestration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2651760"/>
            <a:ext cx="73152" cy="47548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2688336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PostgreSQL 16 + pgvector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292608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Relational store + semantic vector 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2512" y="3255264"/>
            <a:ext cx="73152" cy="47548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329184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ChromaDB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52958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Lightweight in-process vector store for RAG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3858768"/>
            <a:ext cx="73152" cy="47548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37960" y="3895344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Claude 3.5 Sonnet / GPT-4o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13308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Interchangeable LLM backends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82512" y="4462272"/>
            <a:ext cx="73152" cy="47548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37960" y="449884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Docker + docker-compose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73659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Containerised local + cloud deployment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82512" y="5065776"/>
            <a:ext cx="73152" cy="47548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37960" y="510235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Alembic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5340096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DB schema migrations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82512" y="5669280"/>
            <a:ext cx="73152" cy="475488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37960" y="5705856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Pytest + httpx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594360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Async API test suite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End-to-End Sequence — ALM Data to Transformation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From data ingestion through AI analysis to audited recommendation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05  AI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1298448" cy="53035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" y="987552"/>
            <a:ext cx="11887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User /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490472"/>
            <a:ext cx="18288" cy="489204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92224" y="960120"/>
            <a:ext cx="1298448" cy="53035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47088" y="987552"/>
            <a:ext cx="11887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32304" y="1490472"/>
            <a:ext cx="18288" cy="489204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3280" y="960120"/>
            <a:ext cx="1298448" cy="53035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38144" y="987552"/>
            <a:ext cx="11887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490472"/>
            <a:ext cx="18288" cy="489204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74336" y="960120"/>
            <a:ext cx="1298448" cy="53035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987552"/>
            <a:ext cx="11887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ALM Connector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14416" y="1490472"/>
            <a:ext cx="18288" cy="489204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65392" y="960120"/>
            <a:ext cx="1298448" cy="53035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0255" y="987552"/>
            <a:ext cx="11887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VSM Analyzer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5472" y="1490472"/>
            <a:ext cx="18288" cy="489204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90688" y="960120"/>
            <a:ext cx="1298448" cy="53035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45552" y="987552"/>
            <a:ext cx="11887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Bottleneck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1490472"/>
            <a:ext cx="18288" cy="489204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15984" y="960120"/>
            <a:ext cx="1298448" cy="53035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70848" y="987552"/>
            <a:ext cx="11887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Future 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56064" y="1490472"/>
            <a:ext cx="18288" cy="489204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515600" y="960120"/>
            <a:ext cx="1298448" cy="530352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70464" y="987552"/>
            <a:ext cx="11887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55680" y="1490472"/>
            <a:ext cx="18288" cy="489204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0392" y="1627632"/>
            <a:ext cx="1591056" cy="137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76856" y="1499616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4F9C"/>
                </a:solidFill>
              </a:rPr>
              <a:t>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59" y="138988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POST /api/analysis/run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41448" y="1920240"/>
            <a:ext cx="1591056" cy="137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67912" y="1792224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4F9C"/>
                </a:solidFill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85416" y="168249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invoke_orchestrator(project_data)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32504" y="2212848"/>
            <a:ext cx="1591056" cy="137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58968" y="2084831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4F9C"/>
                </a:solidFill>
              </a:rPr>
              <a:t>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6472" y="19751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fetch_alm_data(jira_token)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2505456"/>
            <a:ext cx="1591056" cy="13716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032504" y="2377440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A8D8"/>
                </a:solidFill>
              </a:rPr>
              <a:t>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76472" y="226771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return: issues, sprints, metrics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32504" y="2798064"/>
            <a:ext cx="3182111" cy="137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050024" y="267004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4F9C"/>
                </a:solidFill>
              </a:rPr>
              <a:t>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25603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analyse_vsm(steps, times)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3090672"/>
            <a:ext cx="3182111" cy="13716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032504" y="2962656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A8D8"/>
                </a:solidFill>
              </a:rPr>
              <a:t>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28529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return: efficiency_score, waits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32504" y="3383280"/>
            <a:ext cx="4407408" cy="137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75320" y="3255264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4F9C"/>
                </a:solidFill>
              </a:rPr>
              <a:t>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4648" y="31455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find_bottlenecks(vsm_model)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32504" y="3675887"/>
            <a:ext cx="4407408" cy="13716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032504" y="3547871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A8D8"/>
                </a:solidFill>
              </a:rPr>
              <a:t>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84648" y="343814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return: ranked_constraints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32504" y="3968496"/>
            <a:ext cx="5632704" cy="137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500616" y="3840480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4F9C"/>
                </a:solidFill>
              </a:rPr>
              <a:t>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97296" y="37307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design_future_state(constraints, goals)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65208" y="4261104"/>
            <a:ext cx="1499616" cy="1371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000232" y="413308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4F9C"/>
                </a:solidFill>
              </a:rPr>
              <a:t>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63456" y="402336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validate_governance(outputs)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65208" y="4553712"/>
            <a:ext cx="1499616" cy="13716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65208" y="4425696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A8D8"/>
                </a:solidFill>
              </a:rPr>
              <a:t>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3456" y="43159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return: approval_status, audit_log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32504" y="4846320"/>
            <a:ext cx="5632704" cy="13716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032504" y="4718304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A8D8"/>
                </a:solidFill>
              </a:rPr>
              <a:t>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97296" y="460857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return: options[A,B,C] + projections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41448" y="5138928"/>
            <a:ext cx="1591056" cy="13716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441448" y="5010912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A8D8"/>
                </a:solidFill>
              </a:rPr>
              <a:t>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85416" y="490118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persist_results(db)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0392" y="5431536"/>
            <a:ext cx="1591056" cy="13716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50392" y="5303520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A8D8"/>
                </a:solidFill>
              </a:rPr>
              <a:t>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59" y="51937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A2B3C"/>
                </a:solidFill>
              </a:rPr>
              <a:t>SSE stream: analysis complete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 Governance, Assurance &amp; Model 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Every AI recommendation is explainable, audited, and compliant with enterprise AI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06  Governance &amp; Safety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5897880" cy="5486400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Governance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444752"/>
            <a:ext cx="73152" cy="73152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14813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Model Risk Management (MRM)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1737360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Each agent has a model card: purpose, training data, limitations, confidence thresholds. MRM agent validates outputs before persistence.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359152"/>
            <a:ext cx="73152" cy="73152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23957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Explainability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651760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Every recommendation shows: evidence sources, RAG retrieval scores, confidence band, and full reasoning chain. No black-box outputs.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273552"/>
            <a:ext cx="73152" cy="73152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33101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566160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Immutable append-only log of every AI call, input payload, output, agent version, and approval status. GDPR / SOC2 ready.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187952"/>
            <a:ext cx="73152" cy="73152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" y="42245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Human-in-the-Loop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4480560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Configurable approval gates between PDLC phases. Approvers see AI rationale before authorising progression to the next phase.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102352"/>
            <a:ext cx="73152" cy="73152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51389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Secure-by-Design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" y="5394960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Scans every recommendation for OWASP Top 10, secrets exposure, and policy compliance before surfacing to users.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960120"/>
            <a:ext cx="5897880" cy="5486400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AI Assurance Compliance Matrix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1389888"/>
            <a:ext cx="5897880" cy="329184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82512" y="14356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14356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4512" y="14356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1755648"/>
            <a:ext cx="5897880" cy="42062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82512" y="18379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EU AI Act (High-Risk AI)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183794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Conformance checks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54512" y="1856232"/>
            <a:ext cx="1005840" cy="219456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54512" y="18562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2212848"/>
            <a:ext cx="5897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22951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NIST AI RMF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229514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Map / Measure / Manage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54512" y="2313432"/>
            <a:ext cx="1005840" cy="2194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954512" y="23134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8" y="2670048"/>
            <a:ext cx="5897880" cy="42062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82512" y="2752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ISO/IEC 42001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7152" y="275234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AI Management System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54512" y="2770632"/>
            <a:ext cx="1005840" cy="219456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954512" y="27706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6208" y="3127248"/>
            <a:ext cx="5897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82512" y="32095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GDPR Article 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7152" y="320954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Automated decision rights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54512" y="3227832"/>
            <a:ext cx="1005840" cy="2194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954512" y="32278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Full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36208" y="3584448"/>
            <a:ext cx="5897880" cy="42062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82512" y="36667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SOC 2 Type II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17152" y="366674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Audit log evidence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954512" y="3685032"/>
            <a:ext cx="1005840" cy="2194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954512" y="36850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Full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36208" y="4041648"/>
            <a:ext cx="5897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82512" y="41239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OWASP LLM Top 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7152" y="412394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Prompt injection guards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954512" y="4142232"/>
            <a:ext cx="1005840" cy="2194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954512" y="41422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Full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36208" y="4498848"/>
            <a:ext cx="5897880" cy="42062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82512" y="45811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DORA Compliance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17152" y="458114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Change approval trail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54512" y="4599432"/>
            <a:ext cx="1005840" cy="2194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954512" y="45994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Full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4956048"/>
            <a:ext cx="5897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82512" y="5038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</a:rPr>
              <a:t>Cognizant AI Policy v3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17152" y="503834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Internal governance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54512" y="5056632"/>
            <a:ext cx="1005840" cy="2194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954512" y="50566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Full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DevOps Maturity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8-domain capability maturity model — from Initial to Optimised, mapped to DORA performance bands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03  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1176832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" y="1024128"/>
            <a:ext cx="2103120" cy="27432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04241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 Initial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5184" y="1024128"/>
            <a:ext cx="2103120" cy="274320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15184" y="104241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 Repeat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82896" y="1024128"/>
            <a:ext cx="2103120" cy="2743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82896" y="104241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 Defined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50607" y="1024128"/>
            <a:ext cx="2103120" cy="27432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0607" y="104241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4 Managed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1024128"/>
            <a:ext cx="2103120" cy="27432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0" y="104241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5 Optimised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1353312"/>
            <a:ext cx="11768328" cy="27432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1168" y="1444752"/>
            <a:ext cx="11768328" cy="47548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15361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Source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536192"/>
            <a:ext cx="1316736" cy="27432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63240" y="1554480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71416" y="1536192"/>
            <a:ext cx="1316736" cy="274320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71416" y="1554480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79592" y="1536192"/>
            <a:ext cx="1316736" cy="2743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79592" y="1554480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87768" y="1536192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87768" y="1554480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5944" y="1536192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95944" y="1554480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1536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A8A"/>
                </a:solidFill>
              </a:rPr>
              <a:t>Git flow adopted; branch protection; trunk-based partial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" y="1965960"/>
            <a:ext cx="1176832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7472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CI / Build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2057400"/>
            <a:ext cx="1316736" cy="27432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63240" y="207568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71416" y="2057400"/>
            <a:ext cx="1316736" cy="274320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71416" y="207568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79592" y="2057400"/>
            <a:ext cx="1316736" cy="2743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79592" y="207568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87768" y="2057400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87768" y="207568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95944" y="2057400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95944" y="207568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2057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A8A"/>
                </a:solidFill>
              </a:rPr>
              <a:t>GitHub Actions; avg build 8 min; flaky tests 12%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2487168"/>
            <a:ext cx="11768328" cy="47548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2578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Automated Testing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63240" y="2578608"/>
            <a:ext cx="1316736" cy="27432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63240" y="259689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71416" y="2578608"/>
            <a:ext cx="1316736" cy="274320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471416" y="259689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9592" y="2578608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79592" y="259689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87768" y="2578608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287768" y="259689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95944" y="2578608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95944" y="259689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25786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A8A"/>
                </a:solidFill>
              </a:rPr>
              <a:t>Unit tests 45% coverage; E2E patchy; no contract testing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" y="3008376"/>
            <a:ext cx="1176832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7472" y="30998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Continuous Delivery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3099816"/>
            <a:ext cx="1316736" cy="27432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63240" y="3118104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71416" y="3099816"/>
            <a:ext cx="1316736" cy="274320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71416" y="3118104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79592" y="3099816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879592" y="3118104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87768" y="3099816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287768" y="3118104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95944" y="3099816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95944" y="3118104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0" y="30998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A8A"/>
                </a:solidFill>
              </a:rPr>
              <a:t>Staging auto-deploy; prod deploy manual + 3-day approval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1168" y="3529584"/>
            <a:ext cx="11768328" cy="47548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47472" y="36210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Infrastructure as Code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63240" y="3621024"/>
            <a:ext cx="1316736" cy="27432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063240" y="3639312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71416" y="3621024"/>
            <a:ext cx="1316736" cy="274320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71416" y="3639312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79592" y="3621024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879592" y="3639312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87768" y="3621024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287768" y="3639312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95944" y="3621024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695944" y="3639312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49840" y="3621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A8A"/>
                </a:solidFill>
              </a:rPr>
              <a:t>Terraform partial; drift detection absent; no policy engine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1168" y="4050791"/>
            <a:ext cx="1176832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47472" y="41422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Monitoring &amp; Alerting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063240" y="4142231"/>
            <a:ext cx="1316736" cy="27432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063240" y="4160519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71416" y="4142231"/>
            <a:ext cx="1316736" cy="274320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471416" y="4160519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79592" y="4142231"/>
            <a:ext cx="1316736" cy="2743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879592" y="4160519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287768" y="4142231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287768" y="4160519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695944" y="4142231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695944" y="4160519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149840" y="414223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A8A"/>
                </a:solidFill>
              </a:rPr>
              <a:t>Datadog + PagerDuty; MTTD 22 min; synthetic absent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01168" y="4572000"/>
            <a:ext cx="11768328" cy="47548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47472" y="4663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Security (DevSecOps)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063240" y="4663440"/>
            <a:ext cx="1316736" cy="27432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063240" y="468172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71416" y="4663440"/>
            <a:ext cx="1316736" cy="274320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471416" y="468172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879592" y="4663440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879592" y="468172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287768" y="4663440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287768" y="468172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695944" y="4663440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695944" y="468172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149840" y="4663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A8A"/>
                </a:solidFill>
              </a:rPr>
              <a:t>SAST in CI; DAST absent; SCA quarterly not per-commit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01168" y="5093208"/>
            <a:ext cx="1176832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47472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B3C"/>
                </a:solidFill>
              </a:rPr>
              <a:t>Culture &amp; Collaboration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063240" y="5184648"/>
            <a:ext cx="1316736" cy="274320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063240" y="520293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471416" y="5184648"/>
            <a:ext cx="1316736" cy="274320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471416" y="520293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879592" y="5184648"/>
            <a:ext cx="1316736" cy="2743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879592" y="520293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87768" y="5184648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87768" y="520293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695944" y="5184648"/>
            <a:ext cx="1316736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695944" y="5202936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49840" y="51846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A8A"/>
                </a:solidFill>
              </a:rPr>
              <a:t>Fortnightly retros; DORA tracked; blameless culture partial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Operations Intelligence &amp; Live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Continuous signal monitoring — deployment pulse, anomaly detection, drift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03  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5897880" cy="5486400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What Operations Intelligence Provides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444752"/>
            <a:ext cx="73152" cy="6766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14813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Deployment Pulse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1737360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Real-time deploy frequency charted against DORA elite threshold. Instant visibility when cadence drops below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304288"/>
            <a:ext cx="73152" cy="6766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234086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Anomaly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596896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Telemetry Sentinel monitors lead time, cycle time, and CFR. Raises alerts when the 7-day rolling average breaches 1.5 sigma.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163824"/>
            <a:ext cx="73152" cy="6766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320040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Error Budget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456432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SLO/SLA error budget remaining per service, linked to incident tickets.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023360"/>
            <a:ext cx="73152" cy="6766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" y="405993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Drift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431596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Compares current DORA metrics against VSM baseline. Flags regression before it becomes a release crisis.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4882896"/>
            <a:ext cx="73152" cy="6766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491947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E"/>
                </a:solidFill>
              </a:rPr>
              <a:t>Sprint Health KPIs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" y="5175504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Story throughput, planned vs actual velocity, carry-over rate, and blocked item age per team.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960120"/>
            <a:ext cx="5897880" cy="5486400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10241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85E"/>
                </a:solidFill>
              </a:rPr>
              <a:t>Sample KPI Dashboard — Live 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1389888"/>
            <a:ext cx="5897880" cy="27432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82512" y="1536192"/>
            <a:ext cx="269748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82512" y="1536192"/>
            <a:ext cx="2697480" cy="27432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158191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Deploy Freq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1883664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4F9C"/>
                </a:solidFill>
              </a:rPr>
              <a:t>4.2/day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2359152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Elite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1536192"/>
            <a:ext cx="269748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35440" y="1536192"/>
            <a:ext cx="2697480" cy="2743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0" y="158191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Lead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1883664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F78C4"/>
                </a:solidFill>
              </a:rPr>
              <a:t>11.4 days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2359152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High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2926080"/>
            <a:ext cx="269748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82512" y="2926080"/>
            <a:ext cx="2697480" cy="27432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73952" y="297180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CFR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3273552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4F9C"/>
                </a:solidFill>
              </a:rPr>
              <a:t>3.2%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374904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Elite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2926080"/>
            <a:ext cx="269748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235440" y="2926080"/>
            <a:ext cx="2697480" cy="27432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26880" y="297180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MTTR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3273552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4F9C"/>
                </a:solidFill>
              </a:rPr>
              <a:t>48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374904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Elite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82512" y="4315968"/>
            <a:ext cx="269748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82512" y="4315968"/>
            <a:ext cx="2697480" cy="2743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73952" y="436168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Sprint Velocity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4663440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F78C4"/>
                </a:solidFill>
              </a:rPr>
              <a:t>87 pts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2" y="513892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On track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4315968"/>
            <a:ext cx="269748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235440" y="4315968"/>
            <a:ext cx="2697480" cy="27432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26880" y="436168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Error Budget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4663440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4F9C"/>
                </a:solidFill>
              </a:rPr>
              <a:t>72%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513892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Healthy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Engineering Productivity Metrics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Speed, AI Adoption, Quality, and Governance clusters — Seetha Srinivasan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03  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1176832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" y="1371600"/>
            <a:ext cx="11768328" cy="27432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7744" y="1417320"/>
            <a:ext cx="2834640" cy="3474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" y="148132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1819656"/>
            <a:ext cx="2651760" cy="1389888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" y="19110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Feature Cycle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220370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Work start to deployed to prod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2715768"/>
            <a:ext cx="2468880" cy="25603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" y="2734056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&lt; 5 days (elite)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31927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" y="3410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Story Throughput / Sprint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Stories closed per sprint per dev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" y="4215384"/>
            <a:ext cx="2468880" cy="25603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0624" y="423367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&gt; 2.5 stories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" y="4818888"/>
            <a:ext cx="2651760" cy="1389888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0624" y="49103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Deployment Frequency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520293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Prod deploys per team per 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" y="5715000"/>
            <a:ext cx="2468880" cy="25603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624" y="57332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&gt; 1/day (elite)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82112" y="1417320"/>
            <a:ext cx="2834640" cy="34747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3552" y="148132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AI ADOPTION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2" y="1819656"/>
            <a:ext cx="2651760" cy="1389888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64992" y="19110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AI-Assisted Code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2" y="220370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% commits with AI tool contribution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4992" y="2715768"/>
            <a:ext cx="2468880" cy="25603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64992" y="2734056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&gt; 40% target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73552" y="331927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64992" y="3410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AI Review Acceptance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% AI suggestions accepted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64992" y="4215384"/>
            <a:ext cx="2468880" cy="25603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992" y="423367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&gt; 60%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73552" y="4818888"/>
            <a:ext cx="2651760" cy="1389888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64992" y="49103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Prompt-to-PR 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2" y="520293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AI prompt to PR raised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64992" y="5715000"/>
            <a:ext cx="2468880" cy="256032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64992" y="57332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&lt; 2 hours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417320"/>
            <a:ext cx="2834640" cy="34747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17920" y="148132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QUALITY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1819656"/>
            <a:ext cx="2651760" cy="1389888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09360" y="19110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Vulnerability Density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220370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Vulns per 1K lines of new code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2715768"/>
            <a:ext cx="2468880" cy="2560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60" y="2734056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&lt; 0.5 (elite)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331927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09360" y="3410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Defect Escape Rate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Bugs found in prod vs total defects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4215384"/>
            <a:ext cx="2468880" cy="2560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09360" y="423367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&lt; 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4818888"/>
            <a:ext cx="2651760" cy="1389888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09360" y="49103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Test Coverage Delta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520293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Coverage change per sprint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5715000"/>
            <a:ext cx="2468880" cy="2560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09360" y="57332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+2%/sprint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70848" y="1417320"/>
            <a:ext cx="2834640" cy="347472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162288" y="148132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62288" y="1819656"/>
            <a:ext cx="2651760" cy="1389888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253728" y="19110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DORA CFR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53728" y="220370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Change failure rate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53728" y="2715768"/>
            <a:ext cx="2468880" cy="256032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53728" y="2734056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&lt; 5% (elite)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62288" y="331927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53728" y="3410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SLO Compliance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53728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Error budget remaining (30-day)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53728" y="4215384"/>
            <a:ext cx="2468880" cy="256032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53728" y="423367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&gt; 70%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62288" y="4818888"/>
            <a:ext cx="2651760" cy="1389888"/>
          </a:xfrm>
          <a:prstGeom prst="rect">
            <a:avLst/>
          </a:prstGeom>
          <a:solidFill>
            <a:srgbClr val="F0F7FF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253728" y="49103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85E"/>
                </a:solidFill>
              </a:rPr>
              <a:t>Audit Trail Completeness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53728" y="520293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% AI decisions with audit record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53728" y="5715000"/>
            <a:ext cx="2468880" cy="256032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253728" y="573328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Target: 100%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Benefits &amp; 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Quantified improvements across Delivery, Quality, Cost, and Culture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07  Value Realisation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2880360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" y="960120"/>
            <a:ext cx="2880360" cy="4572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" y="1014984"/>
            <a:ext cx="2624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Delivery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1536192"/>
            <a:ext cx="262432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25–70% reduction in lead time (pathway-dependent)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Deployment frequency increase 2–5x within 6 months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Sprint velocity +15–30% through WIP discipline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Feature Cycle Time: 18 days to 5–8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960120"/>
            <a:ext cx="2880360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960120"/>
            <a:ext cx="2880360" cy="45720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28416" y="1014984"/>
            <a:ext cx="2624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Engineering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1536192"/>
            <a:ext cx="262432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Change Failure Rate: 12% down to 3–5%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MTTR: 48 min to under 20 min (elite band)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Defect escape rate -40% via shift-left testing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Vulnerability density &lt; 0.5 per 1K lines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1" y="960120"/>
            <a:ext cx="2880360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1" y="960120"/>
            <a:ext cx="2880360" cy="4572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7" y="1014984"/>
            <a:ext cx="2624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Cost &amp; Productivity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7" y="1536192"/>
            <a:ext cx="262432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3-Year NPV: £4.8M (Option B base case)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ROI 565% over 3 years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AI code assist: +20–35% developer throughput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Rework reduction frees 15–25% sprint capacity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8864" y="960120"/>
            <a:ext cx="2880360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98864" y="960120"/>
            <a:ext cx="2880360" cy="457200"/>
          </a:xfrm>
          <a:prstGeom prst="rect">
            <a:avLst/>
          </a:prstGeom>
          <a:solidFill>
            <a:srgbClr val="5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014984"/>
            <a:ext cx="2624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Culture &amp;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536192"/>
            <a:ext cx="262432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Full AI audit trail — MRM and SOC2 compliant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HITL approval gates at each PDLC phase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Explainable AI: every recommendation sourced</a:t>
            </a:r>
          </a:p>
          <a:p>
            <a:pPr algn="l">
              <a:spcAft>
                <a:spcPts val="900"/>
              </a:spcAft>
            </a:pPr>
            <a:r>
              <a:rPr sz="950">
                <a:solidFill>
                  <a:srgbClr val="1A2B3C"/>
                </a:solidFill>
              </a:rPr>
              <a:t>▸  12% attrition improvement via DevEx uplift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Recommended Roadmap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Three-phase adoption path — from pilot to enterprise roll-out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07  Value Realisation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385876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" y="960120"/>
            <a:ext cx="3858768" cy="4572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" y="1005840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1207008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Pilot  (0–3 months)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1536192"/>
            <a:ext cx="36027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Select 1 value stream team (15–25 engineers)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Connect Jira / ADO via ALM Connector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Run DORA baseline — establish current scores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Author current state VSM — identify top 3 bottlenecks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Generate Option A improvement catalogue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Present business case to leadership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KPI: Lead time baseline within 30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960120"/>
            <a:ext cx="385876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6240" y="960120"/>
            <a:ext cx="3858768" cy="45720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34256" y="1005840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1207008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Scale  (3–9 months)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1536192"/>
            <a:ext cx="36027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Onboard 3–5 additional value streams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Implement top-ranked improvements per stream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Activate Ops Intelligence continuous monitoring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Run DevOps Maturity Assessment across all streams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Design future state (Option B) with AI roadmap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Establish Transformation Readiness score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KPI: Lead time -30%, Deployment Freq x2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11312" y="960120"/>
            <a:ext cx="385876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11312" y="960120"/>
            <a:ext cx="3858768" cy="4572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8" y="1005840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1207008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Enterprise  (9–18 months)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1536192"/>
            <a:ext cx="36027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Full roll-out across all delivery squads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AI Governance framework certified (MRM complete)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Ops Intelligence feeding executive dashboards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AI code assist adoption &gt; 40% of teams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DORA High or Elite across 80% of streams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Business case realised — ROI measured</a:t>
            </a:r>
          </a:p>
          <a:p>
            <a:pPr algn="l">
              <a:spcAft>
                <a:spcPts val="700"/>
              </a:spcAft>
            </a:pPr>
            <a:r>
              <a:rPr sz="950">
                <a:solidFill>
                  <a:srgbClr val="1A2B3C"/>
                </a:solidFill>
              </a:rPr>
              <a:t>▸  KPI: Elite DORA band, £4.8M+ NPV tracked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566928" cy="5669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530352"/>
            <a:ext cx="530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Ready to Transform
Your Delivery
Pipeline?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A8D8"/>
                </a:solidFill>
              </a:rPr>
              <a:t>STUMP gives your organisation a single,
AI-powered view from raw ALM data
to audited transformation roadmap.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06240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1F0"/>
                </a:solidFill>
              </a:rPr>
              <a:t>Cognizant  ·  Internal  ·  April 2026  ·  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188720"/>
            <a:ext cx="2240280" cy="219456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75504" y="129844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Book a Pilot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504" y="1755648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Connect Jira / ADO. Generate a live DORA
baseline in 2 hours.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88352" y="1188720"/>
            <a:ext cx="2240280" cy="2194560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34656" y="129844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Request a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6" y="1755648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See STUMP analyse a real value stream
and generate future state options.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47504" y="1188720"/>
            <a:ext cx="2240280" cy="219456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93808" y="129844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Download the Playbook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3808" y="1755648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Access the STUMP Transformation Playbook
with 36 activity templates.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749039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85E"/>
                </a:solidFill>
              </a:rPr>
              <a:t>Contact: STUMP Product Team  ·  Cognizant Engineering Excellence Practice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114800"/>
            <a:ext cx="6858000" cy="3657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4297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4F9C"/>
                </a:solidFill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77316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PDLC Phases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297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4F9C"/>
                </a:solidFill>
              </a:rPr>
              <a:t>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77316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Activities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297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4F9C"/>
                </a:solidFill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77316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AI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297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4F9C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477316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A8A"/>
                </a:solidFill>
              </a:rPr>
              <a:t>Pathways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A8D8"/>
                </a:solidFill>
              </a:rPr>
              <a:t>© 2026 Cognizant  ·  Confidential  ·  STUMP v1.0  ·  Strategic Transformation Unified Mapping Platform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Appendix — Abbreviations &amp; 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21207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1F0"/>
                </a:solidFill>
              </a:rPr>
              <a:t>STUMP  ·  Strategic Transformation Unified Mapping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822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A8D8"/>
                </a:solidFill>
              </a:rPr>
              <a:t>Appendix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6647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A8D8"/>
                </a:solidFill>
              </a:rPr>
              <a:t>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47688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AA8D8"/>
                </a:solidFill>
              </a:rPr>
              <a:t>STUMP v1.0  ·  7 Phases  ·  36 Activities  ·  13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960120"/>
            <a:ext cx="11768328" cy="5468112"/>
          </a:xfrm>
          <a:prstGeom prst="rect">
            <a:avLst/>
          </a:prstGeom>
          <a:solidFill>
            <a:srgbClr val="D6EAF8"/>
          </a:solidFill>
          <a:ln w="9525">
            <a:solidFill>
              <a:srgbClr val="A8D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0241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285E"/>
                </a:solidFill>
              </a:rPr>
              <a:t>Abbreviations used throughout this 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1353312"/>
            <a:ext cx="11768328" cy="27432"/>
          </a:xfrm>
          <a:prstGeom prst="rect">
            <a:avLst/>
          </a:prstGeom>
          <a:solidFill>
            <a:srgbClr val="A8D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7744" y="1444752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744" y="1444752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149961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14996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Application Lifecycle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" y="1783080"/>
            <a:ext cx="5852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7744" y="1783080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183794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CFR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183794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Change Failure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" y="2121408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37744" y="2121408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217627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CI/CD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217627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Continuous Integration / Continuous Delivery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" y="2459736"/>
            <a:ext cx="5852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37744" y="2459736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251460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" y="251460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DevOps Research and Assessment (Google)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" y="2798064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7744" y="2798064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8" y="285292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DevEx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" y="285292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Developer Experience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" y="3136392"/>
            <a:ext cx="5852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37744" y="3136392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" y="319125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HITL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" y="31912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Human-in-the-Loop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" y="3474720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37744" y="3474720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2608" y="352958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IaC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" y="352958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Infrastructure as Code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" y="3813048"/>
            <a:ext cx="5852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37744" y="3813048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2608" y="386791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IDP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" y="38679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Internal Developer Platform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" y="4151376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37744" y="4151376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2608" y="420624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KPI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" y="420624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Key Performance Indicator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" y="4489704"/>
            <a:ext cx="5852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37744" y="4489704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2608" y="454456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6" y="45445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Large Language Model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" y="4828032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37744" y="4828032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2608" y="488289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MRM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" y="488289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Model Risk Management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7744" y="5166360"/>
            <a:ext cx="5852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37744" y="5166360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92608" y="522122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MTTR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" y="52212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Mean Time to Restore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99631" y="1444752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199631" y="1444752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54495" y="149961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NPV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04303" y="14996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Net Present Value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9631" y="1783080"/>
            <a:ext cx="5852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99631" y="1783080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54495" y="183794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PDLC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04303" y="183794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Product Delivery Lifecycle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99631" y="2121408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199631" y="2121408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254495" y="217627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RAG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04303" y="217627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Retrieval-Augmented Generation (AI context injection)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99631" y="2459736"/>
            <a:ext cx="5852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99631" y="2459736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54495" y="251460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RAG*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04303" y="251460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Red / Amber / Green status indicator (context-dependent)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99631" y="2798064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199631" y="2798064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54495" y="285292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ROI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04303" y="285292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Return on Investment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99631" y="3136392"/>
            <a:ext cx="5852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199631" y="3136392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54495" y="319125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SAST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04303" y="31912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Static Application Security Testing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99631" y="3474720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199631" y="3474720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54495" y="3529584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SLO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04303" y="352958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Service Level Objective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99631" y="3813048"/>
            <a:ext cx="5852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199631" y="3813048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254495" y="3867912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04303" y="38679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Server-Sent Events (streaming)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99631" y="4151376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99631" y="4151376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254495" y="4206240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STUMP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04303" y="420624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Strategic Transformation Unified Mapping Platform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99631" y="4489704"/>
            <a:ext cx="5852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199631" y="4489704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254495" y="4544568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VSM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04303" y="45445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Value Stream Map / Mapping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99631" y="4828032"/>
            <a:ext cx="585216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199631" y="4828032"/>
            <a:ext cx="713232" cy="310896"/>
          </a:xfrm>
          <a:prstGeom prst="rect">
            <a:avLst/>
          </a:prstGeom>
          <a:solidFill>
            <a:srgbClr val="12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254495" y="4882896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WIP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004303" y="488289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B3C"/>
                </a:solidFill>
              </a:rPr>
              <a:t>Work in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4535</Words>
  <Application>Microsoft Macintosh PowerPoint</Application>
  <PresentationFormat>Custom</PresentationFormat>
  <Paragraphs>905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Elangovan, Porkkovan (Cognizant)</cp:lastModifiedBy>
  <cp:revision>2</cp:revision>
  <dcterms:created xsi:type="dcterms:W3CDTF">2013-01-27T09:14:16Z</dcterms:created>
  <dcterms:modified xsi:type="dcterms:W3CDTF">2026-04-26T05:53:25Z</dcterms:modified>
  <cp:category/>
</cp:coreProperties>
</file>