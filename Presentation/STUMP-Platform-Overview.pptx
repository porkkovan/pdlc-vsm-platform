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0"/>
            <a:ext cx="7315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6072" y="1463040"/>
            <a:ext cx="11612880" cy="36576"/>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6072" y="5897880"/>
            <a:ext cx="11612880" cy="36576"/>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10058400" cy="1188720"/>
          </a:xfrm>
          <a:prstGeom prst="rect">
            <a:avLst/>
          </a:prstGeom>
          <a:noFill/>
        </p:spPr>
        <p:txBody>
          <a:bodyPr wrap="square">
            <a:spAutoFit/>
          </a:bodyPr>
          <a:lstStyle/>
          <a:p>
            <a:pPr algn="l"/>
            <a:r>
              <a:rPr sz="6800" b="1" i="0">
                <a:solidFill>
                  <a:srgbClr val="1E3A8A"/>
                </a:solidFill>
              </a:rPr>
              <a:t>STUMP</a:t>
            </a:r>
          </a:p>
        </p:txBody>
      </p:sp>
      <p:sp>
        <p:nvSpPr>
          <p:cNvPr id="8" name="TextBox 7"/>
          <p:cNvSpPr txBox="1"/>
          <p:nvPr/>
        </p:nvSpPr>
        <p:spPr>
          <a:xfrm>
            <a:off x="822960" y="2697480"/>
            <a:ext cx="10515600" cy="457200"/>
          </a:xfrm>
          <a:prstGeom prst="rect">
            <a:avLst/>
          </a:prstGeom>
          <a:noFill/>
        </p:spPr>
        <p:txBody>
          <a:bodyPr wrap="square">
            <a:spAutoFit/>
          </a:bodyPr>
          <a:lstStyle/>
          <a:p>
            <a:pPr algn="l"/>
            <a:r>
              <a:rPr sz="1800" b="0" i="0">
                <a:solidFill>
                  <a:srgbClr val="1D4ED8"/>
                </a:solidFill>
              </a:rPr>
              <a:t>Strategic Transformation Unified Mapping Platform</a:t>
            </a:r>
          </a:p>
        </p:txBody>
      </p:sp>
      <p:sp>
        <p:nvSpPr>
          <p:cNvPr id="9" name="TextBox 8"/>
          <p:cNvSpPr txBox="1"/>
          <p:nvPr/>
        </p:nvSpPr>
        <p:spPr>
          <a:xfrm>
            <a:off x="822960" y="3218688"/>
            <a:ext cx="10515600" cy="384048"/>
          </a:xfrm>
          <a:prstGeom prst="rect">
            <a:avLst/>
          </a:prstGeom>
          <a:noFill/>
        </p:spPr>
        <p:txBody>
          <a:bodyPr wrap="square">
            <a:spAutoFit/>
          </a:bodyPr>
          <a:lstStyle/>
          <a:p>
            <a:pPr algn="l"/>
            <a:r>
              <a:rPr sz="1300" b="0" i="1">
                <a:solidFill>
                  <a:srgbClr val="6B7280"/>
                </a:solidFill>
              </a:rPr>
              <a:t>AI-Powered PDLC Value Stream Mapping &amp; Digital Transformation Intelligence</a:t>
            </a:r>
          </a:p>
        </p:txBody>
      </p:sp>
      <p:sp>
        <p:nvSpPr>
          <p:cNvPr id="10" name="Rectangle 9"/>
          <p:cNvSpPr/>
          <p:nvPr/>
        </p:nvSpPr>
        <p:spPr>
          <a:xfrm>
            <a:off x="822960" y="3840480"/>
            <a:ext cx="2103120" cy="804672"/>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886200"/>
            <a:ext cx="2103120" cy="438912"/>
          </a:xfrm>
          <a:prstGeom prst="rect">
            <a:avLst/>
          </a:prstGeom>
          <a:noFill/>
        </p:spPr>
        <p:txBody>
          <a:bodyPr wrap="square">
            <a:spAutoFit/>
          </a:bodyPr>
          <a:lstStyle/>
          <a:p>
            <a:pPr algn="ctr"/>
            <a:r>
              <a:rPr sz="2600" b="1" i="0">
                <a:solidFill>
                  <a:srgbClr val="1E3A8A"/>
                </a:solidFill>
              </a:rPr>
              <a:t>8</a:t>
            </a:r>
          </a:p>
        </p:txBody>
      </p:sp>
      <p:sp>
        <p:nvSpPr>
          <p:cNvPr id="12" name="TextBox 11"/>
          <p:cNvSpPr txBox="1"/>
          <p:nvPr/>
        </p:nvSpPr>
        <p:spPr>
          <a:xfrm>
            <a:off x="822960" y="4315968"/>
            <a:ext cx="2103120" cy="274320"/>
          </a:xfrm>
          <a:prstGeom prst="rect">
            <a:avLst/>
          </a:prstGeom>
          <a:noFill/>
        </p:spPr>
        <p:txBody>
          <a:bodyPr wrap="square">
            <a:spAutoFit/>
          </a:bodyPr>
          <a:lstStyle/>
          <a:p>
            <a:pPr algn="ctr"/>
            <a:r>
              <a:rPr sz="900" b="0" i="0">
                <a:solidFill>
                  <a:srgbClr val="6B7280"/>
                </a:solidFill>
              </a:rPr>
              <a:t>AI Agents</a:t>
            </a:r>
          </a:p>
        </p:txBody>
      </p:sp>
      <p:sp>
        <p:nvSpPr>
          <p:cNvPr id="13" name="Rectangle 12"/>
          <p:cNvSpPr/>
          <p:nvPr/>
        </p:nvSpPr>
        <p:spPr>
          <a:xfrm>
            <a:off x="3063240" y="3840480"/>
            <a:ext cx="2103120" cy="804672"/>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63240" y="3886200"/>
            <a:ext cx="2103120" cy="438912"/>
          </a:xfrm>
          <a:prstGeom prst="rect">
            <a:avLst/>
          </a:prstGeom>
          <a:noFill/>
        </p:spPr>
        <p:txBody>
          <a:bodyPr wrap="square">
            <a:spAutoFit/>
          </a:bodyPr>
          <a:lstStyle/>
          <a:p>
            <a:pPr algn="ctr"/>
            <a:r>
              <a:rPr sz="2600" b="1" i="0">
                <a:solidFill>
                  <a:srgbClr val="1E3A8A"/>
                </a:solidFill>
              </a:rPr>
              <a:t>7</a:t>
            </a:r>
          </a:p>
        </p:txBody>
      </p:sp>
      <p:sp>
        <p:nvSpPr>
          <p:cNvPr id="15" name="TextBox 14"/>
          <p:cNvSpPr txBox="1"/>
          <p:nvPr/>
        </p:nvSpPr>
        <p:spPr>
          <a:xfrm>
            <a:off x="3063240" y="4315968"/>
            <a:ext cx="2103120" cy="274320"/>
          </a:xfrm>
          <a:prstGeom prst="rect">
            <a:avLst/>
          </a:prstGeom>
          <a:noFill/>
        </p:spPr>
        <p:txBody>
          <a:bodyPr wrap="square">
            <a:spAutoFit/>
          </a:bodyPr>
          <a:lstStyle/>
          <a:p>
            <a:pPr algn="ctr"/>
            <a:r>
              <a:rPr sz="900" b="0" i="0">
                <a:solidFill>
                  <a:srgbClr val="6B7280"/>
                </a:solidFill>
              </a:rPr>
              <a:t>PDLC Phases</a:t>
            </a:r>
          </a:p>
        </p:txBody>
      </p:sp>
      <p:sp>
        <p:nvSpPr>
          <p:cNvPr id="16" name="Rectangle 15"/>
          <p:cNvSpPr/>
          <p:nvPr/>
        </p:nvSpPr>
        <p:spPr>
          <a:xfrm>
            <a:off x="5303520" y="3840480"/>
            <a:ext cx="2103120" cy="804672"/>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0" y="3886200"/>
            <a:ext cx="2103120" cy="438912"/>
          </a:xfrm>
          <a:prstGeom prst="rect">
            <a:avLst/>
          </a:prstGeom>
          <a:noFill/>
        </p:spPr>
        <p:txBody>
          <a:bodyPr wrap="square">
            <a:spAutoFit/>
          </a:bodyPr>
          <a:lstStyle/>
          <a:p>
            <a:pPr algn="ctr"/>
            <a:r>
              <a:rPr sz="2600" b="1" i="0">
                <a:solidFill>
                  <a:srgbClr val="1E3A8A"/>
                </a:solidFill>
              </a:rPr>
              <a:t>3</a:t>
            </a:r>
          </a:p>
        </p:txBody>
      </p:sp>
      <p:sp>
        <p:nvSpPr>
          <p:cNvPr id="18" name="TextBox 17"/>
          <p:cNvSpPr txBox="1"/>
          <p:nvPr/>
        </p:nvSpPr>
        <p:spPr>
          <a:xfrm>
            <a:off x="5303520" y="4315968"/>
            <a:ext cx="2103120" cy="274320"/>
          </a:xfrm>
          <a:prstGeom prst="rect">
            <a:avLst/>
          </a:prstGeom>
          <a:noFill/>
        </p:spPr>
        <p:txBody>
          <a:bodyPr wrap="square">
            <a:spAutoFit/>
          </a:bodyPr>
          <a:lstStyle/>
          <a:p>
            <a:pPr algn="ctr"/>
            <a:r>
              <a:rPr sz="900" b="0" i="0">
                <a:solidFill>
                  <a:srgbClr val="6B7280"/>
                </a:solidFill>
              </a:rPr>
              <a:t>Future-State Scenarios</a:t>
            </a:r>
          </a:p>
        </p:txBody>
      </p:sp>
      <p:sp>
        <p:nvSpPr>
          <p:cNvPr id="19" name="Rectangle 18"/>
          <p:cNvSpPr/>
          <p:nvPr/>
        </p:nvSpPr>
        <p:spPr>
          <a:xfrm>
            <a:off x="7543800" y="3840480"/>
            <a:ext cx="2103120" cy="804672"/>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43800" y="3886200"/>
            <a:ext cx="2103120" cy="438912"/>
          </a:xfrm>
          <a:prstGeom prst="rect">
            <a:avLst/>
          </a:prstGeom>
          <a:noFill/>
        </p:spPr>
        <p:txBody>
          <a:bodyPr wrap="square">
            <a:spAutoFit/>
          </a:bodyPr>
          <a:lstStyle/>
          <a:p>
            <a:pPr algn="ctr"/>
            <a:r>
              <a:rPr sz="2600" b="1" i="0">
                <a:solidFill>
                  <a:srgbClr val="1E3A8A"/>
                </a:solidFill>
              </a:rPr>
              <a:t>5.5×</a:t>
            </a:r>
          </a:p>
        </p:txBody>
      </p:sp>
      <p:sp>
        <p:nvSpPr>
          <p:cNvPr id="21" name="TextBox 20"/>
          <p:cNvSpPr txBox="1"/>
          <p:nvPr/>
        </p:nvSpPr>
        <p:spPr>
          <a:xfrm>
            <a:off x="7543800" y="4315968"/>
            <a:ext cx="2103120" cy="274320"/>
          </a:xfrm>
          <a:prstGeom prst="rect">
            <a:avLst/>
          </a:prstGeom>
          <a:noFill/>
        </p:spPr>
        <p:txBody>
          <a:bodyPr wrap="square">
            <a:spAutoFit/>
          </a:bodyPr>
          <a:lstStyle/>
          <a:p>
            <a:pPr algn="ctr"/>
            <a:r>
              <a:rPr sz="900" b="0" i="0">
                <a:solidFill>
                  <a:srgbClr val="6B7280"/>
                </a:solidFill>
              </a:rPr>
              <a:t>Max ROI Multiple</a:t>
            </a:r>
          </a:p>
        </p:txBody>
      </p:sp>
      <p:sp>
        <p:nvSpPr>
          <p:cNvPr id="22" name="Rectangle 21"/>
          <p:cNvSpPr/>
          <p:nvPr/>
        </p:nvSpPr>
        <p:spPr>
          <a:xfrm>
            <a:off x="9784080" y="3840480"/>
            <a:ext cx="2103120" cy="804672"/>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0" y="3886200"/>
            <a:ext cx="2103120" cy="438912"/>
          </a:xfrm>
          <a:prstGeom prst="rect">
            <a:avLst/>
          </a:prstGeom>
          <a:noFill/>
        </p:spPr>
        <p:txBody>
          <a:bodyPr wrap="square">
            <a:spAutoFit/>
          </a:bodyPr>
          <a:lstStyle/>
          <a:p>
            <a:pPr algn="ctr"/>
            <a:r>
              <a:rPr sz="2600" b="1" i="0">
                <a:solidFill>
                  <a:srgbClr val="1E3A8A"/>
                </a:solidFill>
              </a:rPr>
              <a:t>88%</a:t>
            </a:r>
          </a:p>
        </p:txBody>
      </p:sp>
      <p:sp>
        <p:nvSpPr>
          <p:cNvPr id="24" name="TextBox 23"/>
          <p:cNvSpPr txBox="1"/>
          <p:nvPr/>
        </p:nvSpPr>
        <p:spPr>
          <a:xfrm>
            <a:off x="9784080" y="4315968"/>
            <a:ext cx="2103120" cy="274320"/>
          </a:xfrm>
          <a:prstGeom prst="rect">
            <a:avLst/>
          </a:prstGeom>
          <a:noFill/>
        </p:spPr>
        <p:txBody>
          <a:bodyPr wrap="square">
            <a:spAutoFit/>
          </a:bodyPr>
          <a:lstStyle/>
          <a:p>
            <a:pPr algn="ctr"/>
            <a:r>
              <a:rPr sz="900" b="0" i="0">
                <a:solidFill>
                  <a:srgbClr val="6B7280"/>
                </a:solidFill>
              </a:rPr>
              <a:t>Max WT Reduction</a:t>
            </a:r>
          </a:p>
        </p:txBody>
      </p:sp>
      <p:sp>
        <p:nvSpPr>
          <p:cNvPr id="25" name="TextBox 24"/>
          <p:cNvSpPr txBox="1"/>
          <p:nvPr/>
        </p:nvSpPr>
        <p:spPr>
          <a:xfrm>
            <a:off x="822960" y="6035040"/>
            <a:ext cx="5486400" cy="274320"/>
          </a:xfrm>
          <a:prstGeom prst="rect">
            <a:avLst/>
          </a:prstGeom>
          <a:noFill/>
        </p:spPr>
        <p:txBody>
          <a:bodyPr wrap="square">
            <a:spAutoFit/>
          </a:bodyPr>
          <a:lstStyle/>
          <a:p>
            <a:pPr algn="l"/>
            <a:r>
              <a:rPr sz="1000" b="0" i="0">
                <a:solidFill>
                  <a:srgbClr val="6B7280"/>
                </a:solidFill>
              </a:rPr>
              <a:t>Cognizant  ·  April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Agenda</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What this deck covers</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2</a:t>
            </a:r>
          </a:p>
        </p:txBody>
      </p:sp>
      <p:sp>
        <p:nvSpPr>
          <p:cNvPr id="12" name="Rectangle 11"/>
          <p:cNvSpPr/>
          <p:nvPr/>
        </p:nvSpPr>
        <p:spPr>
          <a:xfrm>
            <a:off x="256032" y="1097280"/>
            <a:ext cx="3584448" cy="13716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97280"/>
            <a:ext cx="384048" cy="137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600200"/>
            <a:ext cx="329184" cy="347472"/>
          </a:xfrm>
          <a:prstGeom prst="rect">
            <a:avLst/>
          </a:prstGeom>
          <a:noFill/>
        </p:spPr>
        <p:txBody>
          <a:bodyPr wrap="square">
            <a:spAutoFit/>
          </a:bodyPr>
          <a:lstStyle/>
          <a:p>
            <a:pPr algn="ctr"/>
            <a:r>
              <a:rPr sz="1400" b="1" i="0">
                <a:solidFill>
                  <a:srgbClr val="FFFFFF"/>
                </a:solidFill>
              </a:rPr>
              <a:t>01</a:t>
            </a:r>
          </a:p>
        </p:txBody>
      </p:sp>
      <p:sp>
        <p:nvSpPr>
          <p:cNvPr id="15" name="TextBox 14"/>
          <p:cNvSpPr txBox="1"/>
          <p:nvPr/>
        </p:nvSpPr>
        <p:spPr>
          <a:xfrm>
            <a:off x="731520" y="1207008"/>
            <a:ext cx="3035808" cy="329184"/>
          </a:xfrm>
          <a:prstGeom prst="rect">
            <a:avLst/>
          </a:prstGeom>
          <a:noFill/>
        </p:spPr>
        <p:txBody>
          <a:bodyPr wrap="square">
            <a:spAutoFit/>
          </a:bodyPr>
          <a:lstStyle/>
          <a:p>
            <a:pPr algn="l"/>
            <a:r>
              <a:rPr sz="1100" b="1" i="0">
                <a:solidFill>
                  <a:srgbClr val="1E3A8A"/>
                </a:solidFill>
              </a:rPr>
              <a:t>Platform Objectives</a:t>
            </a:r>
          </a:p>
        </p:txBody>
      </p:sp>
      <p:sp>
        <p:nvSpPr>
          <p:cNvPr id="16" name="TextBox 15"/>
          <p:cNvSpPr txBox="1"/>
          <p:nvPr/>
        </p:nvSpPr>
        <p:spPr>
          <a:xfrm>
            <a:off x="731520" y="1572768"/>
            <a:ext cx="3035808" cy="804672"/>
          </a:xfrm>
          <a:prstGeom prst="rect">
            <a:avLst/>
          </a:prstGeom>
          <a:noFill/>
        </p:spPr>
        <p:txBody>
          <a:bodyPr wrap="square">
            <a:spAutoFit/>
          </a:bodyPr>
          <a:lstStyle/>
          <a:p>
            <a:pPr algn="l"/>
            <a:r>
              <a:rPr sz="950" b="0" i="0">
                <a:solidFill>
                  <a:srgbClr val="6B7280"/>
                </a:solidFill>
              </a:rPr>
              <a:t>Problem, vision and six core capabilities</a:t>
            </a:r>
          </a:p>
        </p:txBody>
      </p:sp>
      <p:sp>
        <p:nvSpPr>
          <p:cNvPr id="17" name="Rectangle 16"/>
          <p:cNvSpPr/>
          <p:nvPr/>
        </p:nvSpPr>
        <p:spPr>
          <a:xfrm>
            <a:off x="3968496" y="1097280"/>
            <a:ext cx="3584448" cy="13716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968496" y="1097280"/>
            <a:ext cx="384048" cy="137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05072" y="1600200"/>
            <a:ext cx="329184" cy="347472"/>
          </a:xfrm>
          <a:prstGeom prst="rect">
            <a:avLst/>
          </a:prstGeom>
          <a:noFill/>
        </p:spPr>
        <p:txBody>
          <a:bodyPr wrap="square">
            <a:spAutoFit/>
          </a:bodyPr>
          <a:lstStyle/>
          <a:p>
            <a:pPr algn="ctr"/>
            <a:r>
              <a:rPr sz="1400" b="1" i="0">
                <a:solidFill>
                  <a:srgbClr val="FFFFFF"/>
                </a:solidFill>
              </a:rPr>
              <a:t>02</a:t>
            </a:r>
          </a:p>
        </p:txBody>
      </p:sp>
      <p:sp>
        <p:nvSpPr>
          <p:cNvPr id="20" name="TextBox 19"/>
          <p:cNvSpPr txBox="1"/>
          <p:nvPr/>
        </p:nvSpPr>
        <p:spPr>
          <a:xfrm>
            <a:off x="4443984" y="1207008"/>
            <a:ext cx="3035808" cy="329184"/>
          </a:xfrm>
          <a:prstGeom prst="rect">
            <a:avLst/>
          </a:prstGeom>
          <a:noFill/>
        </p:spPr>
        <p:txBody>
          <a:bodyPr wrap="square">
            <a:spAutoFit/>
          </a:bodyPr>
          <a:lstStyle/>
          <a:p>
            <a:pPr algn="l"/>
            <a:r>
              <a:rPr sz="1100" b="1" i="0">
                <a:solidFill>
                  <a:srgbClr val="1E3A8A"/>
                </a:solidFill>
              </a:rPr>
              <a:t>Expected Business Benefits</a:t>
            </a:r>
          </a:p>
        </p:txBody>
      </p:sp>
      <p:sp>
        <p:nvSpPr>
          <p:cNvPr id="21" name="TextBox 20"/>
          <p:cNvSpPr txBox="1"/>
          <p:nvPr/>
        </p:nvSpPr>
        <p:spPr>
          <a:xfrm>
            <a:off x="4443984" y="1572768"/>
            <a:ext cx="3035808" cy="804672"/>
          </a:xfrm>
          <a:prstGeom prst="rect">
            <a:avLst/>
          </a:prstGeom>
          <a:noFill/>
        </p:spPr>
        <p:txBody>
          <a:bodyPr wrap="square">
            <a:spAutoFit/>
          </a:bodyPr>
          <a:lstStyle/>
          <a:p>
            <a:pPr algn="l"/>
            <a:r>
              <a:rPr sz="950" b="0" i="0">
                <a:solidFill>
                  <a:srgbClr val="6B7280"/>
                </a:solidFill>
              </a:rPr>
              <a:t>Quantified outcomes across three transformation options</a:t>
            </a:r>
          </a:p>
        </p:txBody>
      </p:sp>
      <p:sp>
        <p:nvSpPr>
          <p:cNvPr id="22" name="Rectangle 21"/>
          <p:cNvSpPr/>
          <p:nvPr/>
        </p:nvSpPr>
        <p:spPr>
          <a:xfrm>
            <a:off x="7680960" y="1097280"/>
            <a:ext cx="3584448" cy="13716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0" y="1097280"/>
            <a:ext cx="384048" cy="137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1600200"/>
            <a:ext cx="329184" cy="347472"/>
          </a:xfrm>
          <a:prstGeom prst="rect">
            <a:avLst/>
          </a:prstGeom>
          <a:noFill/>
        </p:spPr>
        <p:txBody>
          <a:bodyPr wrap="square">
            <a:spAutoFit/>
          </a:bodyPr>
          <a:lstStyle/>
          <a:p>
            <a:pPr algn="ctr"/>
            <a:r>
              <a:rPr sz="1400" b="1" i="0">
                <a:solidFill>
                  <a:srgbClr val="FFFFFF"/>
                </a:solidFill>
              </a:rPr>
              <a:t>03</a:t>
            </a:r>
          </a:p>
        </p:txBody>
      </p:sp>
      <p:sp>
        <p:nvSpPr>
          <p:cNvPr id="25" name="TextBox 24"/>
          <p:cNvSpPr txBox="1"/>
          <p:nvPr/>
        </p:nvSpPr>
        <p:spPr>
          <a:xfrm>
            <a:off x="8156448" y="1207008"/>
            <a:ext cx="3035808" cy="329184"/>
          </a:xfrm>
          <a:prstGeom prst="rect">
            <a:avLst/>
          </a:prstGeom>
          <a:noFill/>
        </p:spPr>
        <p:txBody>
          <a:bodyPr wrap="square">
            <a:spAutoFit/>
          </a:bodyPr>
          <a:lstStyle/>
          <a:p>
            <a:pPr algn="l"/>
            <a:r>
              <a:rPr sz="1100" b="1" i="0">
                <a:solidFill>
                  <a:srgbClr val="1E3A8A"/>
                </a:solidFill>
              </a:rPr>
              <a:t>Agent Roster &amp; Orchestration</a:t>
            </a:r>
          </a:p>
        </p:txBody>
      </p:sp>
      <p:sp>
        <p:nvSpPr>
          <p:cNvPr id="26" name="TextBox 25"/>
          <p:cNvSpPr txBox="1"/>
          <p:nvPr/>
        </p:nvSpPr>
        <p:spPr>
          <a:xfrm>
            <a:off x="8156448" y="1572768"/>
            <a:ext cx="3035808" cy="804672"/>
          </a:xfrm>
          <a:prstGeom prst="rect">
            <a:avLst/>
          </a:prstGeom>
          <a:noFill/>
        </p:spPr>
        <p:txBody>
          <a:bodyPr wrap="square">
            <a:spAutoFit/>
          </a:bodyPr>
          <a:lstStyle/>
          <a:p>
            <a:pPr algn="l"/>
            <a:r>
              <a:rPr sz="950" b="0" i="0">
                <a:solidFill>
                  <a:srgbClr val="6B7280"/>
                </a:solidFill>
              </a:rPr>
              <a:t>8 AI agents, pipeline flow and shared state</a:t>
            </a:r>
          </a:p>
        </p:txBody>
      </p:sp>
      <p:sp>
        <p:nvSpPr>
          <p:cNvPr id="27" name="Rectangle 26"/>
          <p:cNvSpPr/>
          <p:nvPr/>
        </p:nvSpPr>
        <p:spPr>
          <a:xfrm>
            <a:off x="256032" y="2560320"/>
            <a:ext cx="3584448" cy="13716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6032" y="2560320"/>
            <a:ext cx="384048" cy="137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3063240"/>
            <a:ext cx="329184" cy="347472"/>
          </a:xfrm>
          <a:prstGeom prst="rect">
            <a:avLst/>
          </a:prstGeom>
          <a:noFill/>
        </p:spPr>
        <p:txBody>
          <a:bodyPr wrap="square">
            <a:spAutoFit/>
          </a:bodyPr>
          <a:lstStyle/>
          <a:p>
            <a:pPr algn="ctr"/>
            <a:r>
              <a:rPr sz="1400" b="1" i="0">
                <a:solidFill>
                  <a:srgbClr val="FFFFFF"/>
                </a:solidFill>
              </a:rPr>
              <a:t>04</a:t>
            </a:r>
          </a:p>
        </p:txBody>
      </p:sp>
      <p:sp>
        <p:nvSpPr>
          <p:cNvPr id="30" name="TextBox 29"/>
          <p:cNvSpPr txBox="1"/>
          <p:nvPr/>
        </p:nvSpPr>
        <p:spPr>
          <a:xfrm>
            <a:off x="731520" y="2670048"/>
            <a:ext cx="3035808" cy="329184"/>
          </a:xfrm>
          <a:prstGeom prst="rect">
            <a:avLst/>
          </a:prstGeom>
          <a:noFill/>
        </p:spPr>
        <p:txBody>
          <a:bodyPr wrap="square">
            <a:spAutoFit/>
          </a:bodyPr>
          <a:lstStyle/>
          <a:p>
            <a:pPr algn="l"/>
            <a:r>
              <a:rPr sz="1100" b="1" i="0">
                <a:solidFill>
                  <a:srgbClr val="1E3A8A"/>
                </a:solidFill>
              </a:rPr>
              <a:t>Agent Deep-Dive</a:t>
            </a:r>
          </a:p>
        </p:txBody>
      </p:sp>
      <p:sp>
        <p:nvSpPr>
          <p:cNvPr id="31" name="TextBox 30"/>
          <p:cNvSpPr txBox="1"/>
          <p:nvPr/>
        </p:nvSpPr>
        <p:spPr>
          <a:xfrm>
            <a:off x="731520" y="3035808"/>
            <a:ext cx="3035808" cy="804672"/>
          </a:xfrm>
          <a:prstGeom prst="rect">
            <a:avLst/>
          </a:prstGeom>
          <a:noFill/>
        </p:spPr>
        <p:txBody>
          <a:bodyPr wrap="square">
            <a:spAutoFit/>
          </a:bodyPr>
          <a:lstStyle/>
          <a:p>
            <a:pPr algn="l"/>
            <a:r>
              <a:rPr sz="950" b="0" i="0">
                <a:solidFill>
                  <a:srgbClr val="6B7280"/>
                </a:solidFill>
              </a:rPr>
              <a:t>Objectives, inputs, outputs and logic per agent</a:t>
            </a:r>
          </a:p>
        </p:txBody>
      </p:sp>
      <p:sp>
        <p:nvSpPr>
          <p:cNvPr id="32" name="Rectangle 31"/>
          <p:cNvSpPr/>
          <p:nvPr/>
        </p:nvSpPr>
        <p:spPr>
          <a:xfrm>
            <a:off x="3968496" y="2560320"/>
            <a:ext cx="3584448" cy="13716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968496" y="2560320"/>
            <a:ext cx="384048" cy="137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05072" y="3063240"/>
            <a:ext cx="329184" cy="347472"/>
          </a:xfrm>
          <a:prstGeom prst="rect">
            <a:avLst/>
          </a:prstGeom>
          <a:noFill/>
        </p:spPr>
        <p:txBody>
          <a:bodyPr wrap="square">
            <a:spAutoFit/>
          </a:bodyPr>
          <a:lstStyle/>
          <a:p>
            <a:pPr algn="ctr"/>
            <a:r>
              <a:rPr sz="1400" b="1" i="0">
                <a:solidFill>
                  <a:srgbClr val="FFFFFF"/>
                </a:solidFill>
              </a:rPr>
              <a:t>05</a:t>
            </a:r>
          </a:p>
        </p:txBody>
      </p:sp>
      <p:sp>
        <p:nvSpPr>
          <p:cNvPr id="35" name="TextBox 34"/>
          <p:cNvSpPr txBox="1"/>
          <p:nvPr/>
        </p:nvSpPr>
        <p:spPr>
          <a:xfrm>
            <a:off x="4443984" y="2670048"/>
            <a:ext cx="3035808" cy="329184"/>
          </a:xfrm>
          <a:prstGeom prst="rect">
            <a:avLst/>
          </a:prstGeom>
          <a:noFill/>
        </p:spPr>
        <p:txBody>
          <a:bodyPr wrap="square">
            <a:spAutoFit/>
          </a:bodyPr>
          <a:lstStyle/>
          <a:p>
            <a:pPr algn="l"/>
            <a:r>
              <a:rPr sz="1100" b="1" i="0">
                <a:solidFill>
                  <a:srgbClr val="1E3A8A"/>
                </a:solidFill>
              </a:rPr>
              <a:t>Functional Architecture</a:t>
            </a:r>
          </a:p>
        </p:txBody>
      </p:sp>
      <p:sp>
        <p:nvSpPr>
          <p:cNvPr id="36" name="TextBox 35"/>
          <p:cNvSpPr txBox="1"/>
          <p:nvPr/>
        </p:nvSpPr>
        <p:spPr>
          <a:xfrm>
            <a:off x="4443984" y="3035808"/>
            <a:ext cx="3035808" cy="804672"/>
          </a:xfrm>
          <a:prstGeom prst="rect">
            <a:avLst/>
          </a:prstGeom>
          <a:noFill/>
        </p:spPr>
        <p:txBody>
          <a:bodyPr wrap="square">
            <a:spAutoFit/>
          </a:bodyPr>
          <a:lstStyle/>
          <a:p>
            <a:pPr algn="l"/>
            <a:r>
              <a:rPr sz="950" b="0" i="0">
                <a:solidFill>
                  <a:srgbClr val="6B7280"/>
                </a:solidFill>
              </a:rPr>
              <a:t>Capabilities organised by domain layer</a:t>
            </a:r>
          </a:p>
        </p:txBody>
      </p:sp>
      <p:sp>
        <p:nvSpPr>
          <p:cNvPr id="37" name="Rectangle 36"/>
          <p:cNvSpPr/>
          <p:nvPr/>
        </p:nvSpPr>
        <p:spPr>
          <a:xfrm>
            <a:off x="7680960" y="2560320"/>
            <a:ext cx="3584448" cy="13716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680960" y="2560320"/>
            <a:ext cx="384048" cy="137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17536" y="3063240"/>
            <a:ext cx="329184" cy="347472"/>
          </a:xfrm>
          <a:prstGeom prst="rect">
            <a:avLst/>
          </a:prstGeom>
          <a:noFill/>
        </p:spPr>
        <p:txBody>
          <a:bodyPr wrap="square">
            <a:spAutoFit/>
          </a:bodyPr>
          <a:lstStyle/>
          <a:p>
            <a:pPr algn="ctr"/>
            <a:r>
              <a:rPr sz="1400" b="1" i="0">
                <a:solidFill>
                  <a:srgbClr val="FFFFFF"/>
                </a:solidFill>
              </a:rPr>
              <a:t>06</a:t>
            </a:r>
          </a:p>
        </p:txBody>
      </p:sp>
      <p:sp>
        <p:nvSpPr>
          <p:cNvPr id="40" name="TextBox 39"/>
          <p:cNvSpPr txBox="1"/>
          <p:nvPr/>
        </p:nvSpPr>
        <p:spPr>
          <a:xfrm>
            <a:off x="8156448" y="2670048"/>
            <a:ext cx="3035808" cy="329184"/>
          </a:xfrm>
          <a:prstGeom prst="rect">
            <a:avLst/>
          </a:prstGeom>
          <a:noFill/>
        </p:spPr>
        <p:txBody>
          <a:bodyPr wrap="square">
            <a:spAutoFit/>
          </a:bodyPr>
          <a:lstStyle/>
          <a:p>
            <a:pPr algn="l"/>
            <a:r>
              <a:rPr sz="1100" b="1" i="0">
                <a:solidFill>
                  <a:srgbClr val="1E3A8A"/>
                </a:solidFill>
              </a:rPr>
              <a:t>Technical Architecture</a:t>
            </a:r>
          </a:p>
        </p:txBody>
      </p:sp>
      <p:sp>
        <p:nvSpPr>
          <p:cNvPr id="41" name="TextBox 40"/>
          <p:cNvSpPr txBox="1"/>
          <p:nvPr/>
        </p:nvSpPr>
        <p:spPr>
          <a:xfrm>
            <a:off x="8156448" y="3035808"/>
            <a:ext cx="3035808" cy="804672"/>
          </a:xfrm>
          <a:prstGeom prst="rect">
            <a:avLst/>
          </a:prstGeom>
          <a:noFill/>
        </p:spPr>
        <p:txBody>
          <a:bodyPr wrap="square">
            <a:spAutoFit/>
          </a:bodyPr>
          <a:lstStyle/>
          <a:p>
            <a:pPr algn="l"/>
            <a:r>
              <a:rPr sz="950" b="0" i="0">
                <a:solidFill>
                  <a:srgbClr val="6B7280"/>
                </a:solidFill>
              </a:rPr>
              <a:t>Stack, runtime and integration topology</a:t>
            </a:r>
          </a:p>
        </p:txBody>
      </p:sp>
      <p:sp>
        <p:nvSpPr>
          <p:cNvPr id="42" name="Rectangle 41"/>
          <p:cNvSpPr/>
          <p:nvPr/>
        </p:nvSpPr>
        <p:spPr>
          <a:xfrm>
            <a:off x="256032" y="4023360"/>
            <a:ext cx="3584448" cy="13716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56032" y="4023360"/>
            <a:ext cx="384048" cy="137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2608" y="4526280"/>
            <a:ext cx="329184" cy="347472"/>
          </a:xfrm>
          <a:prstGeom prst="rect">
            <a:avLst/>
          </a:prstGeom>
          <a:noFill/>
        </p:spPr>
        <p:txBody>
          <a:bodyPr wrap="square">
            <a:spAutoFit/>
          </a:bodyPr>
          <a:lstStyle/>
          <a:p>
            <a:pPr algn="ctr"/>
            <a:r>
              <a:rPr sz="1400" b="1" i="0">
                <a:solidFill>
                  <a:srgbClr val="FFFFFF"/>
                </a:solidFill>
              </a:rPr>
              <a:t>07</a:t>
            </a:r>
          </a:p>
        </p:txBody>
      </p:sp>
      <p:sp>
        <p:nvSpPr>
          <p:cNvPr id="45" name="TextBox 44"/>
          <p:cNvSpPr txBox="1"/>
          <p:nvPr/>
        </p:nvSpPr>
        <p:spPr>
          <a:xfrm>
            <a:off x="731520" y="4133088"/>
            <a:ext cx="3035808" cy="329184"/>
          </a:xfrm>
          <a:prstGeom prst="rect">
            <a:avLst/>
          </a:prstGeom>
          <a:noFill/>
        </p:spPr>
        <p:txBody>
          <a:bodyPr wrap="square">
            <a:spAutoFit/>
          </a:bodyPr>
          <a:lstStyle/>
          <a:p>
            <a:pPr algn="l"/>
            <a:r>
              <a:rPr sz="1100" b="1" i="0">
                <a:solidFill>
                  <a:srgbClr val="1E3A8A"/>
                </a:solidFill>
              </a:rPr>
              <a:t>Sequence Diagram</a:t>
            </a:r>
          </a:p>
        </p:txBody>
      </p:sp>
      <p:sp>
        <p:nvSpPr>
          <p:cNvPr id="46" name="TextBox 45"/>
          <p:cNvSpPr txBox="1"/>
          <p:nvPr/>
        </p:nvSpPr>
        <p:spPr>
          <a:xfrm>
            <a:off x="731520" y="4498848"/>
            <a:ext cx="3035808" cy="804672"/>
          </a:xfrm>
          <a:prstGeom prst="rect">
            <a:avLst/>
          </a:prstGeom>
          <a:noFill/>
        </p:spPr>
        <p:txBody>
          <a:bodyPr wrap="square">
            <a:spAutoFit/>
          </a:bodyPr>
          <a:lstStyle/>
          <a:p>
            <a:pPr algn="l"/>
            <a:r>
              <a:rPr sz="950" b="0" i="0">
                <a:solidFill>
                  <a:srgbClr val="6B7280"/>
                </a:solidFill>
              </a:rPr>
              <a:t>End-to-end request / response flow</a:t>
            </a:r>
          </a:p>
        </p:txBody>
      </p:sp>
      <p:sp>
        <p:nvSpPr>
          <p:cNvPr id="47" name="Rectangle 46"/>
          <p:cNvSpPr/>
          <p:nvPr/>
        </p:nvSpPr>
        <p:spPr>
          <a:xfrm>
            <a:off x="3968496" y="4023360"/>
            <a:ext cx="3584448" cy="13716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968496" y="4023360"/>
            <a:ext cx="384048" cy="137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05072" y="4526280"/>
            <a:ext cx="329184" cy="347472"/>
          </a:xfrm>
          <a:prstGeom prst="rect">
            <a:avLst/>
          </a:prstGeom>
          <a:noFill/>
        </p:spPr>
        <p:txBody>
          <a:bodyPr wrap="square">
            <a:spAutoFit/>
          </a:bodyPr>
          <a:lstStyle/>
          <a:p>
            <a:pPr algn="ctr"/>
            <a:r>
              <a:rPr sz="1400" b="1" i="0">
                <a:solidFill>
                  <a:srgbClr val="FFFFFF"/>
                </a:solidFill>
              </a:rPr>
              <a:t>08</a:t>
            </a:r>
          </a:p>
        </p:txBody>
      </p:sp>
      <p:sp>
        <p:nvSpPr>
          <p:cNvPr id="50" name="TextBox 49"/>
          <p:cNvSpPr txBox="1"/>
          <p:nvPr/>
        </p:nvSpPr>
        <p:spPr>
          <a:xfrm>
            <a:off x="4443984" y="4133088"/>
            <a:ext cx="3035808" cy="329184"/>
          </a:xfrm>
          <a:prstGeom prst="rect">
            <a:avLst/>
          </a:prstGeom>
          <a:noFill/>
        </p:spPr>
        <p:txBody>
          <a:bodyPr wrap="square">
            <a:spAutoFit/>
          </a:bodyPr>
          <a:lstStyle/>
          <a:p>
            <a:pPr algn="l"/>
            <a:r>
              <a:rPr sz="1100" b="1" i="0">
                <a:solidFill>
                  <a:srgbClr val="1E3A8A"/>
                </a:solidFill>
              </a:rPr>
              <a:t>How We Built STUMP</a:t>
            </a:r>
          </a:p>
        </p:txBody>
      </p:sp>
      <p:sp>
        <p:nvSpPr>
          <p:cNvPr id="51" name="TextBox 50"/>
          <p:cNvSpPr txBox="1"/>
          <p:nvPr/>
        </p:nvSpPr>
        <p:spPr>
          <a:xfrm>
            <a:off x="4443984" y="4498848"/>
            <a:ext cx="3035808" cy="804672"/>
          </a:xfrm>
          <a:prstGeom prst="rect">
            <a:avLst/>
          </a:prstGeom>
          <a:noFill/>
        </p:spPr>
        <p:txBody>
          <a:bodyPr wrap="square">
            <a:spAutoFit/>
          </a:bodyPr>
          <a:lstStyle/>
          <a:p>
            <a:pPr algn="l"/>
            <a:r>
              <a:rPr sz="950" b="0" i="0">
                <a:solidFill>
                  <a:srgbClr val="6B7280"/>
                </a:solidFill>
              </a:rPr>
              <a:t>Methodology and five-phase build approach</a:t>
            </a:r>
          </a:p>
        </p:txBody>
      </p:sp>
      <p:sp>
        <p:nvSpPr>
          <p:cNvPr id="52" name="Rectangle 51"/>
          <p:cNvSpPr/>
          <p:nvPr/>
        </p:nvSpPr>
        <p:spPr>
          <a:xfrm>
            <a:off x="7680960" y="4023360"/>
            <a:ext cx="3584448" cy="13716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680960" y="4023360"/>
            <a:ext cx="384048" cy="13716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17536" y="4526280"/>
            <a:ext cx="329184" cy="347472"/>
          </a:xfrm>
          <a:prstGeom prst="rect">
            <a:avLst/>
          </a:prstGeom>
          <a:noFill/>
        </p:spPr>
        <p:txBody>
          <a:bodyPr wrap="square">
            <a:spAutoFit/>
          </a:bodyPr>
          <a:lstStyle/>
          <a:p>
            <a:pPr algn="ctr"/>
            <a:r>
              <a:rPr sz="1400" b="1" i="0">
                <a:solidFill>
                  <a:srgbClr val="FFFFFF"/>
                </a:solidFill>
              </a:rPr>
              <a:t>09</a:t>
            </a:r>
          </a:p>
        </p:txBody>
      </p:sp>
      <p:sp>
        <p:nvSpPr>
          <p:cNvPr id="55" name="TextBox 54"/>
          <p:cNvSpPr txBox="1"/>
          <p:nvPr/>
        </p:nvSpPr>
        <p:spPr>
          <a:xfrm>
            <a:off x="8156448" y="4133088"/>
            <a:ext cx="3035808" cy="329184"/>
          </a:xfrm>
          <a:prstGeom prst="rect">
            <a:avLst/>
          </a:prstGeom>
          <a:noFill/>
        </p:spPr>
        <p:txBody>
          <a:bodyPr wrap="square">
            <a:spAutoFit/>
          </a:bodyPr>
          <a:lstStyle/>
          <a:p>
            <a:pPr algn="l"/>
            <a:r>
              <a:rPr sz="1100" b="1" i="0">
                <a:solidFill>
                  <a:srgbClr val="1E3A8A"/>
                </a:solidFill>
              </a:rPr>
              <a:t>Unique Differentiators</a:t>
            </a:r>
          </a:p>
        </p:txBody>
      </p:sp>
      <p:sp>
        <p:nvSpPr>
          <p:cNvPr id="56" name="TextBox 55"/>
          <p:cNvSpPr txBox="1"/>
          <p:nvPr/>
        </p:nvSpPr>
        <p:spPr>
          <a:xfrm>
            <a:off x="8156448" y="4498848"/>
            <a:ext cx="3035808" cy="804672"/>
          </a:xfrm>
          <a:prstGeom prst="rect">
            <a:avLst/>
          </a:prstGeom>
          <a:noFill/>
        </p:spPr>
        <p:txBody>
          <a:bodyPr wrap="square">
            <a:spAutoFit/>
          </a:bodyPr>
          <a:lstStyle/>
          <a:p>
            <a:pPr algn="l"/>
            <a:r>
              <a:rPr sz="950" b="0" i="0">
                <a:solidFill>
                  <a:srgbClr val="6B7280"/>
                </a:solidFill>
              </a:rPr>
              <a:t>What makes STUMP stand apart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Platform Objectives</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What STUMP does and the problem it solves</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3</a:t>
            </a:r>
          </a:p>
        </p:txBody>
      </p:sp>
      <p:sp>
        <p:nvSpPr>
          <p:cNvPr id="12" name="Rectangle 11"/>
          <p:cNvSpPr/>
          <p:nvPr/>
        </p:nvSpPr>
        <p:spPr>
          <a:xfrm>
            <a:off x="256032" y="1097280"/>
            <a:ext cx="5806440" cy="1078992"/>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97280"/>
            <a:ext cx="109728" cy="10789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133856"/>
            <a:ext cx="5486400" cy="274320"/>
          </a:xfrm>
          <a:prstGeom prst="rect">
            <a:avLst/>
          </a:prstGeom>
          <a:noFill/>
        </p:spPr>
        <p:txBody>
          <a:bodyPr wrap="square">
            <a:spAutoFit/>
          </a:bodyPr>
          <a:lstStyle/>
          <a:p>
            <a:pPr algn="l"/>
            <a:r>
              <a:rPr sz="1050" b="1" i="0">
                <a:solidFill>
                  <a:srgbClr val="1D4ED8"/>
                </a:solidFill>
              </a:rPr>
              <a:t>The Problem</a:t>
            </a:r>
          </a:p>
        </p:txBody>
      </p:sp>
      <p:sp>
        <p:nvSpPr>
          <p:cNvPr id="15" name="TextBox 14"/>
          <p:cNvSpPr txBox="1"/>
          <p:nvPr/>
        </p:nvSpPr>
        <p:spPr>
          <a:xfrm>
            <a:off x="457200" y="1426464"/>
            <a:ext cx="5486400" cy="658368"/>
          </a:xfrm>
          <a:prstGeom prst="rect">
            <a:avLst/>
          </a:prstGeom>
          <a:noFill/>
        </p:spPr>
        <p:txBody>
          <a:bodyPr wrap="square">
            <a:spAutoFit/>
          </a:bodyPr>
          <a:lstStyle/>
          <a:p>
            <a:pPr algn="l"/>
            <a:r>
              <a:rPr sz="950" b="0" i="0">
                <a:solidFill>
                  <a:srgbClr val="1F2937"/>
                </a:solidFill>
              </a:rPr>
              <a:t>Software delivery teams operate with opaque value streams — they cannot see where time is lost, why flow efficiency is low, or which investments will yield the highest transformation ROI.</a:t>
            </a:r>
          </a:p>
        </p:txBody>
      </p:sp>
      <p:sp>
        <p:nvSpPr>
          <p:cNvPr id="16" name="Rectangle 15"/>
          <p:cNvSpPr/>
          <p:nvPr/>
        </p:nvSpPr>
        <p:spPr>
          <a:xfrm>
            <a:off x="6245352" y="1097280"/>
            <a:ext cx="5806440" cy="1078992"/>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5352" y="1097280"/>
            <a:ext cx="109728" cy="107899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133856"/>
            <a:ext cx="5486400" cy="274320"/>
          </a:xfrm>
          <a:prstGeom prst="rect">
            <a:avLst/>
          </a:prstGeom>
          <a:noFill/>
        </p:spPr>
        <p:txBody>
          <a:bodyPr wrap="square">
            <a:spAutoFit/>
          </a:bodyPr>
          <a:lstStyle/>
          <a:p>
            <a:pPr algn="l"/>
            <a:r>
              <a:rPr sz="1050" b="1" i="0">
                <a:solidFill>
                  <a:srgbClr val="1E3A8A"/>
                </a:solidFill>
              </a:rPr>
              <a:t>The Vision</a:t>
            </a:r>
          </a:p>
        </p:txBody>
      </p:sp>
      <p:sp>
        <p:nvSpPr>
          <p:cNvPr id="19" name="TextBox 18"/>
          <p:cNvSpPr txBox="1"/>
          <p:nvPr/>
        </p:nvSpPr>
        <p:spPr>
          <a:xfrm>
            <a:off x="6446520" y="1426464"/>
            <a:ext cx="5486400" cy="658368"/>
          </a:xfrm>
          <a:prstGeom prst="rect">
            <a:avLst/>
          </a:prstGeom>
          <a:noFill/>
        </p:spPr>
        <p:txBody>
          <a:bodyPr wrap="square">
            <a:spAutoFit/>
          </a:bodyPr>
          <a:lstStyle/>
          <a:p>
            <a:pPr algn="l"/>
            <a:r>
              <a:rPr sz="950" b="0" i="0">
                <a:solidFill>
                  <a:srgbClr val="1F2937"/>
                </a:solidFill>
              </a:rPr>
              <a:t>STUMP gives every delivery team an AI-powered transformation co-pilot — mapping the current value stream, diagnosing root-cause bottlenecks and generating a board-ready business case in minutes.</a:t>
            </a:r>
          </a:p>
        </p:txBody>
      </p:sp>
      <p:sp>
        <p:nvSpPr>
          <p:cNvPr id="20" name="Rectangle 19"/>
          <p:cNvSpPr/>
          <p:nvPr/>
        </p:nvSpPr>
        <p:spPr>
          <a:xfrm>
            <a:off x="256032" y="2304288"/>
            <a:ext cx="3767328" cy="138988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6032" y="2304288"/>
            <a:ext cx="3767328" cy="29260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350008"/>
            <a:ext cx="3602736" cy="237744"/>
          </a:xfrm>
          <a:prstGeom prst="rect">
            <a:avLst/>
          </a:prstGeom>
          <a:noFill/>
        </p:spPr>
        <p:txBody>
          <a:bodyPr wrap="square">
            <a:spAutoFit/>
          </a:bodyPr>
          <a:lstStyle/>
          <a:p>
            <a:pPr algn="l"/>
            <a:r>
              <a:rPr sz="1000" b="1" i="0">
                <a:solidFill>
                  <a:srgbClr val="FFFFFF"/>
                </a:solidFill>
              </a:rPr>
              <a:t>Map Current State</a:t>
            </a:r>
          </a:p>
        </p:txBody>
      </p:sp>
      <p:sp>
        <p:nvSpPr>
          <p:cNvPr id="23" name="TextBox 22"/>
          <p:cNvSpPr txBox="1"/>
          <p:nvPr/>
        </p:nvSpPr>
        <p:spPr>
          <a:xfrm>
            <a:off x="384048" y="2651760"/>
            <a:ext cx="3566160" cy="969264"/>
          </a:xfrm>
          <a:prstGeom prst="rect">
            <a:avLst/>
          </a:prstGeom>
          <a:noFill/>
        </p:spPr>
        <p:txBody>
          <a:bodyPr wrap="square">
            <a:spAutoFit/>
          </a:bodyPr>
          <a:lstStyle/>
          <a:p>
            <a:pPr algn="l"/>
            <a:r>
              <a:rPr sz="950" b="0" i="0">
                <a:solidFill>
                  <a:srgbClr val="1F2937"/>
                </a:solidFill>
              </a:rPr>
              <a:t>Auto-ingest ALM data (Jira / Azure DevOps) and render a live VSM with per-phase process time, wait time and flow efficiency.</a:t>
            </a:r>
          </a:p>
        </p:txBody>
      </p:sp>
      <p:sp>
        <p:nvSpPr>
          <p:cNvPr id="24" name="Rectangle 23"/>
          <p:cNvSpPr/>
          <p:nvPr/>
        </p:nvSpPr>
        <p:spPr>
          <a:xfrm>
            <a:off x="4151376" y="2304288"/>
            <a:ext cx="3767328" cy="138988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51376" y="2304288"/>
            <a:ext cx="3767328" cy="29260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79392" y="2350008"/>
            <a:ext cx="3602736" cy="237744"/>
          </a:xfrm>
          <a:prstGeom prst="rect">
            <a:avLst/>
          </a:prstGeom>
          <a:noFill/>
        </p:spPr>
        <p:txBody>
          <a:bodyPr wrap="square">
            <a:spAutoFit/>
          </a:bodyPr>
          <a:lstStyle/>
          <a:p>
            <a:pPr algn="l"/>
            <a:r>
              <a:rPr sz="1000" b="1" i="0">
                <a:solidFill>
                  <a:srgbClr val="FFFFFF"/>
                </a:solidFill>
              </a:rPr>
              <a:t>Diagnose Bottlenecks</a:t>
            </a:r>
          </a:p>
        </p:txBody>
      </p:sp>
      <p:sp>
        <p:nvSpPr>
          <p:cNvPr id="27" name="TextBox 26"/>
          <p:cNvSpPr txBox="1"/>
          <p:nvPr/>
        </p:nvSpPr>
        <p:spPr>
          <a:xfrm>
            <a:off x="4279392" y="2651760"/>
            <a:ext cx="3566160" cy="969264"/>
          </a:xfrm>
          <a:prstGeom prst="rect">
            <a:avLst/>
          </a:prstGeom>
          <a:noFill/>
        </p:spPr>
        <p:txBody>
          <a:bodyPr wrap="square">
            <a:spAutoFit/>
          </a:bodyPr>
          <a:lstStyle/>
          <a:p>
            <a:pPr algn="l"/>
            <a:r>
              <a:rPr sz="950" b="0" i="0">
                <a:solidFill>
                  <a:srgbClr val="1F2937"/>
                </a:solidFill>
              </a:rPr>
              <a:t>AI agents identify 12+ bottlenecks, classify Lean waste type and deliver 5-Why root-cause analysis per activity.</a:t>
            </a:r>
          </a:p>
        </p:txBody>
      </p:sp>
      <p:sp>
        <p:nvSpPr>
          <p:cNvPr id="28" name="Rectangle 27"/>
          <p:cNvSpPr/>
          <p:nvPr/>
        </p:nvSpPr>
        <p:spPr>
          <a:xfrm>
            <a:off x="8046720" y="2304288"/>
            <a:ext cx="3767328" cy="138988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2304288"/>
            <a:ext cx="3767328" cy="29260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4736" y="2350008"/>
            <a:ext cx="3602736" cy="237744"/>
          </a:xfrm>
          <a:prstGeom prst="rect">
            <a:avLst/>
          </a:prstGeom>
          <a:noFill/>
        </p:spPr>
        <p:txBody>
          <a:bodyPr wrap="square">
            <a:spAutoFit/>
          </a:bodyPr>
          <a:lstStyle/>
          <a:p>
            <a:pPr algn="l"/>
            <a:r>
              <a:rPr sz="1000" b="1" i="0">
                <a:solidFill>
                  <a:srgbClr val="FFFFFF"/>
                </a:solidFill>
              </a:rPr>
              <a:t>Generate Improvements</a:t>
            </a:r>
          </a:p>
        </p:txBody>
      </p:sp>
      <p:sp>
        <p:nvSpPr>
          <p:cNvPr id="31" name="TextBox 30"/>
          <p:cNvSpPr txBox="1"/>
          <p:nvPr/>
        </p:nvSpPr>
        <p:spPr>
          <a:xfrm>
            <a:off x="8174736" y="2651760"/>
            <a:ext cx="3566160" cy="969264"/>
          </a:xfrm>
          <a:prstGeom prst="rect">
            <a:avLst/>
          </a:prstGeom>
          <a:noFill/>
        </p:spPr>
        <p:txBody>
          <a:bodyPr wrap="square">
            <a:spAutoFit/>
          </a:bodyPr>
          <a:lstStyle/>
          <a:p>
            <a:pPr algn="l"/>
            <a:r>
              <a:rPr sz="950" b="0" i="0">
                <a:solidFill>
                  <a:srgbClr val="1F2937"/>
                </a:solidFill>
              </a:rPr>
              <a:t>Prescribe AI-agent interventions per bottleneck with expected PT / WT reduction, ROI multiples and competitor benchmarks.</a:t>
            </a:r>
          </a:p>
        </p:txBody>
      </p:sp>
      <p:sp>
        <p:nvSpPr>
          <p:cNvPr id="32" name="Rectangle 31"/>
          <p:cNvSpPr/>
          <p:nvPr/>
        </p:nvSpPr>
        <p:spPr>
          <a:xfrm>
            <a:off x="256032" y="3785616"/>
            <a:ext cx="3767328" cy="138988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56032" y="3785616"/>
            <a:ext cx="3767328" cy="29260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4048" y="3831336"/>
            <a:ext cx="3602736" cy="237744"/>
          </a:xfrm>
          <a:prstGeom prst="rect">
            <a:avLst/>
          </a:prstGeom>
          <a:noFill/>
        </p:spPr>
        <p:txBody>
          <a:bodyPr wrap="square">
            <a:spAutoFit/>
          </a:bodyPr>
          <a:lstStyle/>
          <a:p>
            <a:pPr algn="l"/>
            <a:r>
              <a:rPr sz="1000" b="1" i="0">
                <a:solidFill>
                  <a:srgbClr val="FFFFFF"/>
                </a:solidFill>
              </a:rPr>
              <a:t>Design Future States</a:t>
            </a:r>
          </a:p>
        </p:txBody>
      </p:sp>
      <p:sp>
        <p:nvSpPr>
          <p:cNvPr id="35" name="TextBox 34"/>
          <p:cNvSpPr txBox="1"/>
          <p:nvPr/>
        </p:nvSpPr>
        <p:spPr>
          <a:xfrm>
            <a:off x="384048" y="4133088"/>
            <a:ext cx="3566160" cy="969264"/>
          </a:xfrm>
          <a:prstGeom prst="rect">
            <a:avLst/>
          </a:prstGeom>
          <a:noFill/>
        </p:spPr>
        <p:txBody>
          <a:bodyPr wrap="square">
            <a:spAutoFit/>
          </a:bodyPr>
          <a:lstStyle/>
          <a:p>
            <a:pPr algn="l"/>
            <a:r>
              <a:rPr sz="950" b="0" i="0">
                <a:solidFill>
                  <a:srgbClr val="1F2937"/>
                </a:solidFill>
              </a:rPr>
              <a:t>Generate three transformation scenarios — Augmented Human, Hybrid, AI-First — with predicted DORA metrics.</a:t>
            </a:r>
          </a:p>
        </p:txBody>
      </p:sp>
      <p:sp>
        <p:nvSpPr>
          <p:cNvPr id="36" name="Rectangle 35"/>
          <p:cNvSpPr/>
          <p:nvPr/>
        </p:nvSpPr>
        <p:spPr>
          <a:xfrm>
            <a:off x="4151376" y="3785616"/>
            <a:ext cx="3767328" cy="138988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51376" y="3785616"/>
            <a:ext cx="3767328" cy="29260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79392" y="3831336"/>
            <a:ext cx="3602736" cy="237744"/>
          </a:xfrm>
          <a:prstGeom prst="rect">
            <a:avLst/>
          </a:prstGeom>
          <a:noFill/>
        </p:spPr>
        <p:txBody>
          <a:bodyPr wrap="square">
            <a:spAutoFit/>
          </a:bodyPr>
          <a:lstStyle/>
          <a:p>
            <a:pPr algn="l"/>
            <a:r>
              <a:rPr sz="1000" b="1" i="0">
                <a:solidFill>
                  <a:srgbClr val="FFFFFF"/>
                </a:solidFill>
              </a:rPr>
              <a:t>Build the Business Case</a:t>
            </a:r>
          </a:p>
        </p:txBody>
      </p:sp>
      <p:sp>
        <p:nvSpPr>
          <p:cNvPr id="39" name="TextBox 38"/>
          <p:cNvSpPr txBox="1"/>
          <p:nvPr/>
        </p:nvSpPr>
        <p:spPr>
          <a:xfrm>
            <a:off x="4279392" y="4133088"/>
            <a:ext cx="3566160" cy="969264"/>
          </a:xfrm>
          <a:prstGeom prst="rect">
            <a:avLst/>
          </a:prstGeom>
          <a:noFill/>
        </p:spPr>
        <p:txBody>
          <a:bodyPr wrap="square">
            <a:spAutoFit/>
          </a:bodyPr>
          <a:lstStyle/>
          <a:p>
            <a:pPr algn="l"/>
            <a:r>
              <a:rPr sz="950" b="0" i="0">
                <a:solidFill>
                  <a:srgbClr val="1F2937"/>
                </a:solidFill>
              </a:rPr>
              <a:t>Investment vs. benefit analysis per scenario: $800K – $4.5M investment, 2.8× – 5.5× ROI, 12 – 22-month payback.</a:t>
            </a:r>
          </a:p>
        </p:txBody>
      </p:sp>
      <p:sp>
        <p:nvSpPr>
          <p:cNvPr id="40" name="Rectangle 39"/>
          <p:cNvSpPr/>
          <p:nvPr/>
        </p:nvSpPr>
        <p:spPr>
          <a:xfrm>
            <a:off x="8046720" y="3785616"/>
            <a:ext cx="3767328" cy="138988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46720" y="3785616"/>
            <a:ext cx="3767328" cy="29260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74736" y="3831336"/>
            <a:ext cx="3602736" cy="237744"/>
          </a:xfrm>
          <a:prstGeom prst="rect">
            <a:avLst/>
          </a:prstGeom>
          <a:noFill/>
        </p:spPr>
        <p:txBody>
          <a:bodyPr wrap="square">
            <a:spAutoFit/>
          </a:bodyPr>
          <a:lstStyle/>
          <a:p>
            <a:pPr algn="l"/>
            <a:r>
              <a:rPr sz="1000" b="1" i="0">
                <a:solidFill>
                  <a:srgbClr val="FFFFFF"/>
                </a:solidFill>
              </a:rPr>
              <a:t>Personalise the Playbook</a:t>
            </a:r>
          </a:p>
        </p:txBody>
      </p:sp>
      <p:sp>
        <p:nvSpPr>
          <p:cNvPr id="43" name="TextBox 42"/>
          <p:cNvSpPr txBox="1"/>
          <p:nvPr/>
        </p:nvSpPr>
        <p:spPr>
          <a:xfrm>
            <a:off x="8174736" y="4133088"/>
            <a:ext cx="3566160" cy="969264"/>
          </a:xfrm>
          <a:prstGeom prst="rect">
            <a:avLst/>
          </a:prstGeom>
          <a:noFill/>
        </p:spPr>
        <p:txBody>
          <a:bodyPr wrap="square">
            <a:spAutoFit/>
          </a:bodyPr>
          <a:lstStyle/>
          <a:p>
            <a:pPr algn="l"/>
            <a:r>
              <a:rPr sz="950" b="0" i="0">
                <a:solidFill>
                  <a:srgbClr val="1F2937"/>
                </a:solidFill>
              </a:rPr>
              <a:t>Sprint-by-sprint implementation roadmap, RACI matrix, risks and quick wins tailored to team tools and context.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Expected Business Benefits</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Quantified outcomes across three transformation options</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4</a:t>
            </a:r>
          </a:p>
        </p:txBody>
      </p:sp>
      <p:sp>
        <p:nvSpPr>
          <p:cNvPr id="12" name="Rectangle 11"/>
          <p:cNvSpPr/>
          <p:nvPr/>
        </p:nvSpPr>
        <p:spPr>
          <a:xfrm>
            <a:off x="256032" y="1115568"/>
            <a:ext cx="11795760" cy="3657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188720"/>
            <a:ext cx="2615184" cy="256032"/>
          </a:xfrm>
          <a:prstGeom prst="rect">
            <a:avLst/>
          </a:prstGeom>
          <a:noFill/>
        </p:spPr>
        <p:txBody>
          <a:bodyPr wrap="square">
            <a:spAutoFit/>
          </a:bodyPr>
          <a:lstStyle/>
          <a:p>
            <a:pPr algn="l"/>
            <a:r>
              <a:rPr sz="1000" b="1" i="0">
                <a:solidFill>
                  <a:srgbClr val="FFFFFF"/>
                </a:solidFill>
              </a:rPr>
              <a:t>Metric</a:t>
            </a:r>
          </a:p>
        </p:txBody>
      </p:sp>
      <p:sp>
        <p:nvSpPr>
          <p:cNvPr id="14" name="TextBox 13"/>
          <p:cNvSpPr txBox="1"/>
          <p:nvPr/>
        </p:nvSpPr>
        <p:spPr>
          <a:xfrm>
            <a:off x="3108960" y="1188720"/>
            <a:ext cx="2889504" cy="256032"/>
          </a:xfrm>
          <a:prstGeom prst="rect">
            <a:avLst/>
          </a:prstGeom>
          <a:noFill/>
        </p:spPr>
        <p:txBody>
          <a:bodyPr wrap="square">
            <a:spAutoFit/>
          </a:bodyPr>
          <a:lstStyle/>
          <a:p>
            <a:pPr algn="l"/>
            <a:r>
              <a:rPr sz="1000" b="1" i="0">
                <a:solidFill>
                  <a:srgbClr val="FFFFFF"/>
                </a:solidFill>
              </a:rPr>
              <a:t>Option A — Augmented Human</a:t>
            </a:r>
          </a:p>
        </p:txBody>
      </p:sp>
      <p:sp>
        <p:nvSpPr>
          <p:cNvPr id="15" name="TextBox 14"/>
          <p:cNvSpPr txBox="1"/>
          <p:nvPr/>
        </p:nvSpPr>
        <p:spPr>
          <a:xfrm>
            <a:off x="6126480" y="1188720"/>
            <a:ext cx="2889504" cy="256032"/>
          </a:xfrm>
          <a:prstGeom prst="rect">
            <a:avLst/>
          </a:prstGeom>
          <a:noFill/>
        </p:spPr>
        <p:txBody>
          <a:bodyPr wrap="square">
            <a:spAutoFit/>
          </a:bodyPr>
          <a:lstStyle/>
          <a:p>
            <a:pPr algn="l"/>
            <a:r>
              <a:rPr sz="1000" b="1" i="0">
                <a:solidFill>
                  <a:srgbClr val="FFFFFF"/>
                </a:solidFill>
              </a:rPr>
              <a:t>Option B — Hybrid</a:t>
            </a:r>
          </a:p>
        </p:txBody>
      </p:sp>
      <p:sp>
        <p:nvSpPr>
          <p:cNvPr id="16" name="TextBox 15"/>
          <p:cNvSpPr txBox="1"/>
          <p:nvPr/>
        </p:nvSpPr>
        <p:spPr>
          <a:xfrm>
            <a:off x="9144000" y="1188720"/>
            <a:ext cx="2889504" cy="256032"/>
          </a:xfrm>
          <a:prstGeom prst="rect">
            <a:avLst/>
          </a:prstGeom>
          <a:noFill/>
        </p:spPr>
        <p:txBody>
          <a:bodyPr wrap="square">
            <a:spAutoFit/>
          </a:bodyPr>
          <a:lstStyle/>
          <a:p>
            <a:pPr algn="l"/>
            <a:r>
              <a:rPr sz="1000" b="1" i="0">
                <a:solidFill>
                  <a:srgbClr val="FFFFFF"/>
                </a:solidFill>
              </a:rPr>
              <a:t>Option C — AI-First</a:t>
            </a:r>
          </a:p>
        </p:txBody>
      </p:sp>
      <p:sp>
        <p:nvSpPr>
          <p:cNvPr id="17" name="Rectangle 16"/>
          <p:cNvSpPr/>
          <p:nvPr/>
        </p:nvSpPr>
        <p:spPr>
          <a:xfrm>
            <a:off x="256032" y="1481328"/>
            <a:ext cx="11932920" cy="402336"/>
          </a:xfrm>
          <a:prstGeom prst="rect">
            <a:avLst/>
          </a:prstGeom>
          <a:solidFill>
            <a:srgbClr val="FFFF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1572768"/>
            <a:ext cx="2743200" cy="274320"/>
          </a:xfrm>
          <a:prstGeom prst="rect">
            <a:avLst/>
          </a:prstGeom>
          <a:noFill/>
        </p:spPr>
        <p:txBody>
          <a:bodyPr wrap="square">
            <a:spAutoFit/>
          </a:bodyPr>
          <a:lstStyle/>
          <a:p>
            <a:pPr algn="l"/>
            <a:r>
              <a:rPr sz="1000" b="1" i="0">
                <a:solidFill>
                  <a:srgbClr val="1E3A8A"/>
                </a:solidFill>
              </a:rPr>
              <a:t>Automation Level</a:t>
            </a:r>
          </a:p>
        </p:txBody>
      </p:sp>
      <p:sp>
        <p:nvSpPr>
          <p:cNvPr id="19" name="TextBox 18"/>
          <p:cNvSpPr txBox="1"/>
          <p:nvPr/>
        </p:nvSpPr>
        <p:spPr>
          <a:xfrm>
            <a:off x="3108960" y="1572768"/>
            <a:ext cx="2743200" cy="274320"/>
          </a:xfrm>
          <a:prstGeom prst="rect">
            <a:avLst/>
          </a:prstGeom>
          <a:noFill/>
        </p:spPr>
        <p:txBody>
          <a:bodyPr wrap="square">
            <a:spAutoFit/>
          </a:bodyPr>
          <a:lstStyle/>
          <a:p>
            <a:pPr algn="l"/>
            <a:r>
              <a:rPr sz="1000" b="0" i="0">
                <a:solidFill>
                  <a:srgbClr val="1F2937"/>
                </a:solidFill>
              </a:rPr>
              <a:t>40 %</a:t>
            </a:r>
          </a:p>
        </p:txBody>
      </p:sp>
      <p:sp>
        <p:nvSpPr>
          <p:cNvPr id="20" name="TextBox 19"/>
          <p:cNvSpPr txBox="1"/>
          <p:nvPr/>
        </p:nvSpPr>
        <p:spPr>
          <a:xfrm>
            <a:off x="6126480" y="1572768"/>
            <a:ext cx="2743200" cy="274320"/>
          </a:xfrm>
          <a:prstGeom prst="rect">
            <a:avLst/>
          </a:prstGeom>
          <a:noFill/>
        </p:spPr>
        <p:txBody>
          <a:bodyPr wrap="square">
            <a:spAutoFit/>
          </a:bodyPr>
          <a:lstStyle/>
          <a:p>
            <a:pPr algn="l"/>
            <a:r>
              <a:rPr sz="1000" b="0" i="0">
                <a:solidFill>
                  <a:srgbClr val="1F2937"/>
                </a:solidFill>
              </a:rPr>
              <a:t>65 %</a:t>
            </a:r>
          </a:p>
        </p:txBody>
      </p:sp>
      <p:sp>
        <p:nvSpPr>
          <p:cNvPr id="21" name="TextBox 20"/>
          <p:cNvSpPr txBox="1"/>
          <p:nvPr/>
        </p:nvSpPr>
        <p:spPr>
          <a:xfrm>
            <a:off x="9144000" y="1572768"/>
            <a:ext cx="2743200" cy="274320"/>
          </a:xfrm>
          <a:prstGeom prst="rect">
            <a:avLst/>
          </a:prstGeom>
          <a:noFill/>
        </p:spPr>
        <p:txBody>
          <a:bodyPr wrap="square">
            <a:spAutoFit/>
          </a:bodyPr>
          <a:lstStyle/>
          <a:p>
            <a:pPr algn="l"/>
            <a:r>
              <a:rPr sz="1000" b="0" i="0">
                <a:solidFill>
                  <a:srgbClr val="1F2937"/>
                </a:solidFill>
              </a:rPr>
              <a:t>85 %</a:t>
            </a:r>
          </a:p>
        </p:txBody>
      </p:sp>
      <p:sp>
        <p:nvSpPr>
          <p:cNvPr id="22" name="Rectangle 21"/>
          <p:cNvSpPr/>
          <p:nvPr/>
        </p:nvSpPr>
        <p:spPr>
          <a:xfrm>
            <a:off x="256032" y="1883664"/>
            <a:ext cx="11932920" cy="402336"/>
          </a:xfrm>
          <a:prstGeom prst="rect">
            <a:avLst/>
          </a:prstGeom>
          <a:solidFill>
            <a:srgbClr val="EFF6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1975104"/>
            <a:ext cx="2743200" cy="274320"/>
          </a:xfrm>
          <a:prstGeom prst="rect">
            <a:avLst/>
          </a:prstGeom>
          <a:noFill/>
        </p:spPr>
        <p:txBody>
          <a:bodyPr wrap="square">
            <a:spAutoFit/>
          </a:bodyPr>
          <a:lstStyle/>
          <a:p>
            <a:pPr algn="l"/>
            <a:r>
              <a:rPr sz="1000" b="1" i="0">
                <a:solidFill>
                  <a:srgbClr val="1E3A8A"/>
                </a:solidFill>
              </a:rPr>
              <a:t>Lead Time Reduction</a:t>
            </a:r>
          </a:p>
        </p:txBody>
      </p:sp>
      <p:sp>
        <p:nvSpPr>
          <p:cNvPr id="24" name="TextBox 23"/>
          <p:cNvSpPr txBox="1"/>
          <p:nvPr/>
        </p:nvSpPr>
        <p:spPr>
          <a:xfrm>
            <a:off x="3108960" y="1975104"/>
            <a:ext cx="2743200" cy="274320"/>
          </a:xfrm>
          <a:prstGeom prst="rect">
            <a:avLst/>
          </a:prstGeom>
          <a:noFill/>
        </p:spPr>
        <p:txBody>
          <a:bodyPr wrap="square">
            <a:spAutoFit/>
          </a:bodyPr>
          <a:lstStyle/>
          <a:p>
            <a:pPr algn="l"/>
            <a:r>
              <a:rPr sz="1000" b="0" i="0">
                <a:solidFill>
                  <a:srgbClr val="1F2937"/>
                </a:solidFill>
              </a:rPr>
              <a:t>35 %</a:t>
            </a:r>
          </a:p>
        </p:txBody>
      </p:sp>
      <p:sp>
        <p:nvSpPr>
          <p:cNvPr id="25" name="TextBox 24"/>
          <p:cNvSpPr txBox="1"/>
          <p:nvPr/>
        </p:nvSpPr>
        <p:spPr>
          <a:xfrm>
            <a:off x="6126480" y="1975104"/>
            <a:ext cx="2743200" cy="274320"/>
          </a:xfrm>
          <a:prstGeom prst="rect">
            <a:avLst/>
          </a:prstGeom>
          <a:noFill/>
        </p:spPr>
        <p:txBody>
          <a:bodyPr wrap="square">
            <a:spAutoFit/>
          </a:bodyPr>
          <a:lstStyle/>
          <a:p>
            <a:pPr algn="l"/>
            <a:r>
              <a:rPr sz="1000" b="0" i="0">
                <a:solidFill>
                  <a:srgbClr val="1F2937"/>
                </a:solidFill>
              </a:rPr>
              <a:t>55 %</a:t>
            </a:r>
          </a:p>
        </p:txBody>
      </p:sp>
      <p:sp>
        <p:nvSpPr>
          <p:cNvPr id="26" name="TextBox 25"/>
          <p:cNvSpPr txBox="1"/>
          <p:nvPr/>
        </p:nvSpPr>
        <p:spPr>
          <a:xfrm>
            <a:off x="9144000" y="1975104"/>
            <a:ext cx="2743200" cy="274320"/>
          </a:xfrm>
          <a:prstGeom prst="rect">
            <a:avLst/>
          </a:prstGeom>
          <a:noFill/>
        </p:spPr>
        <p:txBody>
          <a:bodyPr wrap="square">
            <a:spAutoFit/>
          </a:bodyPr>
          <a:lstStyle/>
          <a:p>
            <a:pPr algn="l"/>
            <a:r>
              <a:rPr sz="1000" b="0" i="0">
                <a:solidFill>
                  <a:srgbClr val="1F2937"/>
                </a:solidFill>
              </a:rPr>
              <a:t>70 %</a:t>
            </a:r>
          </a:p>
        </p:txBody>
      </p:sp>
      <p:sp>
        <p:nvSpPr>
          <p:cNvPr id="27" name="Rectangle 26"/>
          <p:cNvSpPr/>
          <p:nvPr/>
        </p:nvSpPr>
        <p:spPr>
          <a:xfrm>
            <a:off x="256032" y="2286000"/>
            <a:ext cx="11932920" cy="402336"/>
          </a:xfrm>
          <a:prstGeom prst="rect">
            <a:avLst/>
          </a:prstGeom>
          <a:solidFill>
            <a:srgbClr val="FFFF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2377440"/>
            <a:ext cx="2743200" cy="274320"/>
          </a:xfrm>
          <a:prstGeom prst="rect">
            <a:avLst/>
          </a:prstGeom>
          <a:noFill/>
        </p:spPr>
        <p:txBody>
          <a:bodyPr wrap="square">
            <a:spAutoFit/>
          </a:bodyPr>
          <a:lstStyle/>
          <a:p>
            <a:pPr algn="l"/>
            <a:r>
              <a:rPr sz="1000" b="1" i="0">
                <a:solidFill>
                  <a:srgbClr val="1E3A8A"/>
                </a:solidFill>
              </a:rPr>
              <a:t>Wait Time Reduction</a:t>
            </a:r>
          </a:p>
        </p:txBody>
      </p:sp>
      <p:sp>
        <p:nvSpPr>
          <p:cNvPr id="29" name="TextBox 28"/>
          <p:cNvSpPr txBox="1"/>
          <p:nvPr/>
        </p:nvSpPr>
        <p:spPr>
          <a:xfrm>
            <a:off x="3108960" y="2377440"/>
            <a:ext cx="2743200" cy="274320"/>
          </a:xfrm>
          <a:prstGeom prst="rect">
            <a:avLst/>
          </a:prstGeom>
          <a:noFill/>
        </p:spPr>
        <p:txBody>
          <a:bodyPr wrap="square">
            <a:spAutoFit/>
          </a:bodyPr>
          <a:lstStyle/>
          <a:p>
            <a:pPr algn="l"/>
            <a:r>
              <a:rPr sz="1000" b="0" i="0">
                <a:solidFill>
                  <a:srgbClr val="1F2937"/>
                </a:solidFill>
              </a:rPr>
              <a:t>55 %</a:t>
            </a:r>
          </a:p>
        </p:txBody>
      </p:sp>
      <p:sp>
        <p:nvSpPr>
          <p:cNvPr id="30" name="TextBox 29"/>
          <p:cNvSpPr txBox="1"/>
          <p:nvPr/>
        </p:nvSpPr>
        <p:spPr>
          <a:xfrm>
            <a:off x="6126480" y="2377440"/>
            <a:ext cx="2743200" cy="274320"/>
          </a:xfrm>
          <a:prstGeom prst="rect">
            <a:avLst/>
          </a:prstGeom>
          <a:noFill/>
        </p:spPr>
        <p:txBody>
          <a:bodyPr wrap="square">
            <a:spAutoFit/>
          </a:bodyPr>
          <a:lstStyle/>
          <a:p>
            <a:pPr algn="l"/>
            <a:r>
              <a:rPr sz="1000" b="0" i="0">
                <a:solidFill>
                  <a:srgbClr val="1F2937"/>
                </a:solidFill>
              </a:rPr>
              <a:t>72 %</a:t>
            </a:r>
          </a:p>
        </p:txBody>
      </p:sp>
      <p:sp>
        <p:nvSpPr>
          <p:cNvPr id="31" name="TextBox 30"/>
          <p:cNvSpPr txBox="1"/>
          <p:nvPr/>
        </p:nvSpPr>
        <p:spPr>
          <a:xfrm>
            <a:off x="9144000" y="2377440"/>
            <a:ext cx="2743200" cy="274320"/>
          </a:xfrm>
          <a:prstGeom prst="rect">
            <a:avLst/>
          </a:prstGeom>
          <a:noFill/>
        </p:spPr>
        <p:txBody>
          <a:bodyPr wrap="square">
            <a:spAutoFit/>
          </a:bodyPr>
          <a:lstStyle/>
          <a:p>
            <a:pPr algn="l"/>
            <a:r>
              <a:rPr sz="1000" b="0" i="0">
                <a:solidFill>
                  <a:srgbClr val="1F2937"/>
                </a:solidFill>
              </a:rPr>
              <a:t>88 %</a:t>
            </a:r>
          </a:p>
        </p:txBody>
      </p:sp>
      <p:sp>
        <p:nvSpPr>
          <p:cNvPr id="32" name="Rectangle 31"/>
          <p:cNvSpPr/>
          <p:nvPr/>
        </p:nvSpPr>
        <p:spPr>
          <a:xfrm>
            <a:off x="256032" y="2688336"/>
            <a:ext cx="11932920" cy="402336"/>
          </a:xfrm>
          <a:prstGeom prst="rect">
            <a:avLst/>
          </a:prstGeom>
          <a:solidFill>
            <a:srgbClr val="EFF6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2779776"/>
            <a:ext cx="2743200" cy="274320"/>
          </a:xfrm>
          <a:prstGeom prst="rect">
            <a:avLst/>
          </a:prstGeom>
          <a:noFill/>
        </p:spPr>
        <p:txBody>
          <a:bodyPr wrap="square">
            <a:spAutoFit/>
          </a:bodyPr>
          <a:lstStyle/>
          <a:p>
            <a:pPr algn="l"/>
            <a:r>
              <a:rPr sz="1000" b="1" i="0">
                <a:solidFill>
                  <a:srgbClr val="1E3A8A"/>
                </a:solidFill>
              </a:rPr>
              <a:t>Flow Efficiency Gain</a:t>
            </a:r>
          </a:p>
        </p:txBody>
      </p:sp>
      <p:sp>
        <p:nvSpPr>
          <p:cNvPr id="34" name="TextBox 33"/>
          <p:cNvSpPr txBox="1"/>
          <p:nvPr/>
        </p:nvSpPr>
        <p:spPr>
          <a:xfrm>
            <a:off x="3108960" y="2779776"/>
            <a:ext cx="2743200" cy="274320"/>
          </a:xfrm>
          <a:prstGeom prst="rect">
            <a:avLst/>
          </a:prstGeom>
          <a:noFill/>
        </p:spPr>
        <p:txBody>
          <a:bodyPr wrap="square">
            <a:spAutoFit/>
          </a:bodyPr>
          <a:lstStyle/>
          <a:p>
            <a:pPr algn="l"/>
            <a:r>
              <a:rPr sz="1000" b="0" i="0">
                <a:solidFill>
                  <a:srgbClr val="1F2937"/>
                </a:solidFill>
              </a:rPr>
              <a:t>+ 20 – 25 pts</a:t>
            </a:r>
          </a:p>
        </p:txBody>
      </p:sp>
      <p:sp>
        <p:nvSpPr>
          <p:cNvPr id="35" name="TextBox 34"/>
          <p:cNvSpPr txBox="1"/>
          <p:nvPr/>
        </p:nvSpPr>
        <p:spPr>
          <a:xfrm>
            <a:off x="6126480" y="2779776"/>
            <a:ext cx="2743200" cy="274320"/>
          </a:xfrm>
          <a:prstGeom prst="rect">
            <a:avLst/>
          </a:prstGeom>
          <a:noFill/>
        </p:spPr>
        <p:txBody>
          <a:bodyPr wrap="square">
            <a:spAutoFit/>
          </a:bodyPr>
          <a:lstStyle/>
          <a:p>
            <a:pPr algn="l"/>
            <a:r>
              <a:rPr sz="1000" b="0" i="0">
                <a:solidFill>
                  <a:srgbClr val="1F2937"/>
                </a:solidFill>
              </a:rPr>
              <a:t>+ 30 – 40 pts</a:t>
            </a:r>
          </a:p>
        </p:txBody>
      </p:sp>
      <p:sp>
        <p:nvSpPr>
          <p:cNvPr id="36" name="TextBox 35"/>
          <p:cNvSpPr txBox="1"/>
          <p:nvPr/>
        </p:nvSpPr>
        <p:spPr>
          <a:xfrm>
            <a:off x="9144000" y="2779776"/>
            <a:ext cx="2743200" cy="274320"/>
          </a:xfrm>
          <a:prstGeom prst="rect">
            <a:avLst/>
          </a:prstGeom>
          <a:noFill/>
        </p:spPr>
        <p:txBody>
          <a:bodyPr wrap="square">
            <a:spAutoFit/>
          </a:bodyPr>
          <a:lstStyle/>
          <a:p>
            <a:pPr algn="l"/>
            <a:r>
              <a:rPr sz="1000" b="0" i="0">
                <a:solidFill>
                  <a:srgbClr val="1F2937"/>
                </a:solidFill>
              </a:rPr>
              <a:t>+ 45 – 55 pts</a:t>
            </a:r>
          </a:p>
        </p:txBody>
      </p:sp>
      <p:sp>
        <p:nvSpPr>
          <p:cNvPr id="37" name="Rectangle 36"/>
          <p:cNvSpPr/>
          <p:nvPr/>
        </p:nvSpPr>
        <p:spPr>
          <a:xfrm>
            <a:off x="256032" y="3090672"/>
            <a:ext cx="11932920" cy="402336"/>
          </a:xfrm>
          <a:prstGeom prst="rect">
            <a:avLst/>
          </a:prstGeom>
          <a:solidFill>
            <a:srgbClr val="FFFF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3182112"/>
            <a:ext cx="2743200" cy="274320"/>
          </a:xfrm>
          <a:prstGeom prst="rect">
            <a:avLst/>
          </a:prstGeom>
          <a:noFill/>
        </p:spPr>
        <p:txBody>
          <a:bodyPr wrap="square">
            <a:spAutoFit/>
          </a:bodyPr>
          <a:lstStyle/>
          <a:p>
            <a:pPr algn="l"/>
            <a:r>
              <a:rPr sz="1000" b="1" i="0">
                <a:solidFill>
                  <a:srgbClr val="1E3A8A"/>
                </a:solidFill>
              </a:rPr>
              <a:t>Deployment Frequency</a:t>
            </a:r>
          </a:p>
        </p:txBody>
      </p:sp>
      <p:sp>
        <p:nvSpPr>
          <p:cNvPr id="39" name="TextBox 38"/>
          <p:cNvSpPr txBox="1"/>
          <p:nvPr/>
        </p:nvSpPr>
        <p:spPr>
          <a:xfrm>
            <a:off x="3108960" y="3182112"/>
            <a:ext cx="2743200" cy="274320"/>
          </a:xfrm>
          <a:prstGeom prst="rect">
            <a:avLst/>
          </a:prstGeom>
          <a:noFill/>
        </p:spPr>
        <p:txBody>
          <a:bodyPr wrap="square">
            <a:spAutoFit/>
          </a:bodyPr>
          <a:lstStyle/>
          <a:p>
            <a:pPr algn="l"/>
            <a:r>
              <a:rPr sz="1000" b="0" i="0">
                <a:solidFill>
                  <a:srgbClr val="1F2937"/>
                </a:solidFill>
              </a:rPr>
              <a:t>Weekly</a:t>
            </a:r>
          </a:p>
        </p:txBody>
      </p:sp>
      <p:sp>
        <p:nvSpPr>
          <p:cNvPr id="40" name="TextBox 39"/>
          <p:cNvSpPr txBox="1"/>
          <p:nvPr/>
        </p:nvSpPr>
        <p:spPr>
          <a:xfrm>
            <a:off x="6126480" y="3182112"/>
            <a:ext cx="2743200" cy="274320"/>
          </a:xfrm>
          <a:prstGeom prst="rect">
            <a:avLst/>
          </a:prstGeom>
          <a:noFill/>
        </p:spPr>
        <p:txBody>
          <a:bodyPr wrap="square">
            <a:spAutoFit/>
          </a:bodyPr>
          <a:lstStyle/>
          <a:p>
            <a:pPr algn="l"/>
            <a:r>
              <a:rPr sz="1000" b="0" i="0">
                <a:solidFill>
                  <a:srgbClr val="1F2937"/>
                </a:solidFill>
              </a:rPr>
              <a:t>Daily</a:t>
            </a:r>
          </a:p>
        </p:txBody>
      </p:sp>
      <p:sp>
        <p:nvSpPr>
          <p:cNvPr id="41" name="TextBox 40"/>
          <p:cNvSpPr txBox="1"/>
          <p:nvPr/>
        </p:nvSpPr>
        <p:spPr>
          <a:xfrm>
            <a:off x="9144000" y="3182112"/>
            <a:ext cx="2743200" cy="274320"/>
          </a:xfrm>
          <a:prstGeom prst="rect">
            <a:avLst/>
          </a:prstGeom>
          <a:noFill/>
        </p:spPr>
        <p:txBody>
          <a:bodyPr wrap="square">
            <a:spAutoFit/>
          </a:bodyPr>
          <a:lstStyle/>
          <a:p>
            <a:pPr algn="l"/>
            <a:r>
              <a:rPr sz="1000" b="0" i="0">
                <a:solidFill>
                  <a:srgbClr val="1F2937"/>
                </a:solidFill>
              </a:rPr>
              <a:t>Multiple / day</a:t>
            </a:r>
          </a:p>
        </p:txBody>
      </p:sp>
      <p:sp>
        <p:nvSpPr>
          <p:cNvPr id="42" name="Rectangle 41"/>
          <p:cNvSpPr/>
          <p:nvPr/>
        </p:nvSpPr>
        <p:spPr>
          <a:xfrm>
            <a:off x="256032" y="3493008"/>
            <a:ext cx="11932920" cy="402336"/>
          </a:xfrm>
          <a:prstGeom prst="rect">
            <a:avLst/>
          </a:prstGeom>
          <a:solidFill>
            <a:srgbClr val="EFF6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3584448"/>
            <a:ext cx="2743200" cy="274320"/>
          </a:xfrm>
          <a:prstGeom prst="rect">
            <a:avLst/>
          </a:prstGeom>
          <a:noFill/>
        </p:spPr>
        <p:txBody>
          <a:bodyPr wrap="square">
            <a:spAutoFit/>
          </a:bodyPr>
          <a:lstStyle/>
          <a:p>
            <a:pPr algn="l"/>
            <a:r>
              <a:rPr sz="1000" b="1" i="0">
                <a:solidFill>
                  <a:srgbClr val="1E3A8A"/>
                </a:solidFill>
              </a:rPr>
              <a:t>Change Failure Rate</a:t>
            </a:r>
          </a:p>
        </p:txBody>
      </p:sp>
      <p:sp>
        <p:nvSpPr>
          <p:cNvPr id="44" name="TextBox 43"/>
          <p:cNvSpPr txBox="1"/>
          <p:nvPr/>
        </p:nvSpPr>
        <p:spPr>
          <a:xfrm>
            <a:off x="3108960" y="3584448"/>
            <a:ext cx="2743200" cy="274320"/>
          </a:xfrm>
          <a:prstGeom prst="rect">
            <a:avLst/>
          </a:prstGeom>
          <a:noFill/>
        </p:spPr>
        <p:txBody>
          <a:bodyPr wrap="square">
            <a:spAutoFit/>
          </a:bodyPr>
          <a:lstStyle/>
          <a:p>
            <a:pPr algn="l"/>
            <a:r>
              <a:rPr sz="1000" b="0" i="0">
                <a:solidFill>
                  <a:srgbClr val="1F2937"/>
                </a:solidFill>
              </a:rPr>
              <a:t>5 – 10 %</a:t>
            </a:r>
          </a:p>
        </p:txBody>
      </p:sp>
      <p:sp>
        <p:nvSpPr>
          <p:cNvPr id="45" name="TextBox 44"/>
          <p:cNvSpPr txBox="1"/>
          <p:nvPr/>
        </p:nvSpPr>
        <p:spPr>
          <a:xfrm>
            <a:off x="6126480" y="3584448"/>
            <a:ext cx="2743200" cy="274320"/>
          </a:xfrm>
          <a:prstGeom prst="rect">
            <a:avLst/>
          </a:prstGeom>
          <a:noFill/>
        </p:spPr>
        <p:txBody>
          <a:bodyPr wrap="square">
            <a:spAutoFit/>
          </a:bodyPr>
          <a:lstStyle/>
          <a:p>
            <a:pPr algn="l"/>
            <a:r>
              <a:rPr sz="1000" b="0" i="0">
                <a:solidFill>
                  <a:srgbClr val="1F2937"/>
                </a:solidFill>
              </a:rPr>
              <a:t>&lt; 5 %</a:t>
            </a:r>
          </a:p>
        </p:txBody>
      </p:sp>
      <p:sp>
        <p:nvSpPr>
          <p:cNvPr id="46" name="TextBox 45"/>
          <p:cNvSpPr txBox="1"/>
          <p:nvPr/>
        </p:nvSpPr>
        <p:spPr>
          <a:xfrm>
            <a:off x="9144000" y="3584448"/>
            <a:ext cx="2743200" cy="274320"/>
          </a:xfrm>
          <a:prstGeom prst="rect">
            <a:avLst/>
          </a:prstGeom>
          <a:noFill/>
        </p:spPr>
        <p:txBody>
          <a:bodyPr wrap="square">
            <a:spAutoFit/>
          </a:bodyPr>
          <a:lstStyle/>
          <a:p>
            <a:pPr algn="l"/>
            <a:r>
              <a:rPr sz="1000" b="0" i="0">
                <a:solidFill>
                  <a:srgbClr val="1F2937"/>
                </a:solidFill>
              </a:rPr>
              <a:t>&lt; 5 %</a:t>
            </a:r>
          </a:p>
        </p:txBody>
      </p:sp>
      <p:sp>
        <p:nvSpPr>
          <p:cNvPr id="47" name="Rectangle 46"/>
          <p:cNvSpPr/>
          <p:nvPr/>
        </p:nvSpPr>
        <p:spPr>
          <a:xfrm>
            <a:off x="256032" y="3895344"/>
            <a:ext cx="11932920" cy="402336"/>
          </a:xfrm>
          <a:prstGeom prst="rect">
            <a:avLst/>
          </a:prstGeom>
          <a:solidFill>
            <a:srgbClr val="FFFF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 y="3986784"/>
            <a:ext cx="2743200" cy="274320"/>
          </a:xfrm>
          <a:prstGeom prst="rect">
            <a:avLst/>
          </a:prstGeom>
          <a:noFill/>
        </p:spPr>
        <p:txBody>
          <a:bodyPr wrap="square">
            <a:spAutoFit/>
          </a:bodyPr>
          <a:lstStyle/>
          <a:p>
            <a:pPr algn="l"/>
            <a:r>
              <a:rPr sz="1000" b="1" i="0">
                <a:solidFill>
                  <a:srgbClr val="1E3A8A"/>
                </a:solidFill>
              </a:rPr>
              <a:t>AI Agents Deployed</a:t>
            </a:r>
          </a:p>
        </p:txBody>
      </p:sp>
      <p:sp>
        <p:nvSpPr>
          <p:cNvPr id="49" name="TextBox 48"/>
          <p:cNvSpPr txBox="1"/>
          <p:nvPr/>
        </p:nvSpPr>
        <p:spPr>
          <a:xfrm>
            <a:off x="3108960" y="3986784"/>
            <a:ext cx="2743200" cy="274320"/>
          </a:xfrm>
          <a:prstGeom prst="rect">
            <a:avLst/>
          </a:prstGeom>
          <a:noFill/>
        </p:spPr>
        <p:txBody>
          <a:bodyPr wrap="square">
            <a:spAutoFit/>
          </a:bodyPr>
          <a:lstStyle/>
          <a:p>
            <a:pPr algn="l"/>
            <a:r>
              <a:rPr sz="1000" b="0" i="0">
                <a:solidFill>
                  <a:srgbClr val="1F2937"/>
                </a:solidFill>
              </a:rPr>
              <a:t>16 agents</a:t>
            </a:r>
          </a:p>
        </p:txBody>
      </p:sp>
      <p:sp>
        <p:nvSpPr>
          <p:cNvPr id="50" name="TextBox 49"/>
          <p:cNvSpPr txBox="1"/>
          <p:nvPr/>
        </p:nvSpPr>
        <p:spPr>
          <a:xfrm>
            <a:off x="6126480" y="3986784"/>
            <a:ext cx="2743200" cy="274320"/>
          </a:xfrm>
          <a:prstGeom prst="rect">
            <a:avLst/>
          </a:prstGeom>
          <a:noFill/>
        </p:spPr>
        <p:txBody>
          <a:bodyPr wrap="square">
            <a:spAutoFit/>
          </a:bodyPr>
          <a:lstStyle/>
          <a:p>
            <a:pPr algn="l"/>
            <a:r>
              <a:rPr sz="1000" b="0" i="0">
                <a:solidFill>
                  <a:srgbClr val="1F2937"/>
                </a:solidFill>
              </a:rPr>
              <a:t>12 agents</a:t>
            </a:r>
          </a:p>
        </p:txBody>
      </p:sp>
      <p:sp>
        <p:nvSpPr>
          <p:cNvPr id="51" name="TextBox 50"/>
          <p:cNvSpPr txBox="1"/>
          <p:nvPr/>
        </p:nvSpPr>
        <p:spPr>
          <a:xfrm>
            <a:off x="9144000" y="3986784"/>
            <a:ext cx="2743200" cy="274320"/>
          </a:xfrm>
          <a:prstGeom prst="rect">
            <a:avLst/>
          </a:prstGeom>
          <a:noFill/>
        </p:spPr>
        <p:txBody>
          <a:bodyPr wrap="square">
            <a:spAutoFit/>
          </a:bodyPr>
          <a:lstStyle/>
          <a:p>
            <a:pPr algn="l"/>
            <a:r>
              <a:rPr sz="1000" b="0" i="0">
                <a:solidFill>
                  <a:srgbClr val="1F2937"/>
                </a:solidFill>
              </a:rPr>
              <a:t>22 agents</a:t>
            </a:r>
          </a:p>
        </p:txBody>
      </p:sp>
      <p:sp>
        <p:nvSpPr>
          <p:cNvPr id="52" name="Rectangle 51"/>
          <p:cNvSpPr/>
          <p:nvPr/>
        </p:nvSpPr>
        <p:spPr>
          <a:xfrm>
            <a:off x="256032" y="4297680"/>
            <a:ext cx="11932920" cy="402336"/>
          </a:xfrm>
          <a:prstGeom prst="rect">
            <a:avLst/>
          </a:prstGeom>
          <a:solidFill>
            <a:srgbClr val="EFF6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5760" y="4389120"/>
            <a:ext cx="2743200" cy="274320"/>
          </a:xfrm>
          <a:prstGeom prst="rect">
            <a:avLst/>
          </a:prstGeom>
          <a:noFill/>
        </p:spPr>
        <p:txBody>
          <a:bodyPr wrap="square">
            <a:spAutoFit/>
          </a:bodyPr>
          <a:lstStyle/>
          <a:p>
            <a:pPr algn="l"/>
            <a:r>
              <a:rPr sz="1000" b="1" i="0">
                <a:solidFill>
                  <a:srgbClr val="1E3A8A"/>
                </a:solidFill>
              </a:rPr>
              <a:t>Investment Range</a:t>
            </a:r>
          </a:p>
        </p:txBody>
      </p:sp>
      <p:sp>
        <p:nvSpPr>
          <p:cNvPr id="54" name="TextBox 53"/>
          <p:cNvSpPr txBox="1"/>
          <p:nvPr/>
        </p:nvSpPr>
        <p:spPr>
          <a:xfrm>
            <a:off x="3108960" y="4389120"/>
            <a:ext cx="2743200" cy="274320"/>
          </a:xfrm>
          <a:prstGeom prst="rect">
            <a:avLst/>
          </a:prstGeom>
          <a:noFill/>
        </p:spPr>
        <p:txBody>
          <a:bodyPr wrap="square">
            <a:spAutoFit/>
          </a:bodyPr>
          <a:lstStyle/>
          <a:p>
            <a:pPr algn="l"/>
            <a:r>
              <a:rPr sz="1000" b="0" i="0">
                <a:solidFill>
                  <a:srgbClr val="1F2937"/>
                </a:solidFill>
              </a:rPr>
              <a:t>$800K – $1.5M</a:t>
            </a:r>
          </a:p>
        </p:txBody>
      </p:sp>
      <p:sp>
        <p:nvSpPr>
          <p:cNvPr id="55" name="TextBox 54"/>
          <p:cNvSpPr txBox="1"/>
          <p:nvPr/>
        </p:nvSpPr>
        <p:spPr>
          <a:xfrm>
            <a:off x="6126480" y="4389120"/>
            <a:ext cx="2743200" cy="274320"/>
          </a:xfrm>
          <a:prstGeom prst="rect">
            <a:avLst/>
          </a:prstGeom>
          <a:noFill/>
        </p:spPr>
        <p:txBody>
          <a:bodyPr wrap="square">
            <a:spAutoFit/>
          </a:bodyPr>
          <a:lstStyle/>
          <a:p>
            <a:pPr algn="l"/>
            <a:r>
              <a:rPr sz="1000" b="0" i="0">
                <a:solidFill>
                  <a:srgbClr val="1F2937"/>
                </a:solidFill>
              </a:rPr>
              <a:t>$1.5M – $3M</a:t>
            </a:r>
          </a:p>
        </p:txBody>
      </p:sp>
      <p:sp>
        <p:nvSpPr>
          <p:cNvPr id="56" name="TextBox 55"/>
          <p:cNvSpPr txBox="1"/>
          <p:nvPr/>
        </p:nvSpPr>
        <p:spPr>
          <a:xfrm>
            <a:off x="9144000" y="4389120"/>
            <a:ext cx="2743200" cy="274320"/>
          </a:xfrm>
          <a:prstGeom prst="rect">
            <a:avLst/>
          </a:prstGeom>
          <a:noFill/>
        </p:spPr>
        <p:txBody>
          <a:bodyPr wrap="square">
            <a:spAutoFit/>
          </a:bodyPr>
          <a:lstStyle/>
          <a:p>
            <a:pPr algn="l"/>
            <a:r>
              <a:rPr sz="1000" b="0" i="0">
                <a:solidFill>
                  <a:srgbClr val="1F2937"/>
                </a:solidFill>
              </a:rPr>
              <a:t>$2.5M – $4.5M</a:t>
            </a:r>
          </a:p>
        </p:txBody>
      </p:sp>
      <p:sp>
        <p:nvSpPr>
          <p:cNvPr id="57" name="Rectangle 56"/>
          <p:cNvSpPr/>
          <p:nvPr/>
        </p:nvSpPr>
        <p:spPr>
          <a:xfrm>
            <a:off x="256032" y="4700016"/>
            <a:ext cx="11932920" cy="402336"/>
          </a:xfrm>
          <a:prstGeom prst="rect">
            <a:avLst/>
          </a:prstGeom>
          <a:solidFill>
            <a:srgbClr val="FFFF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5760" y="4791456"/>
            <a:ext cx="2743200" cy="274320"/>
          </a:xfrm>
          <a:prstGeom prst="rect">
            <a:avLst/>
          </a:prstGeom>
          <a:noFill/>
        </p:spPr>
        <p:txBody>
          <a:bodyPr wrap="square">
            <a:spAutoFit/>
          </a:bodyPr>
          <a:lstStyle/>
          <a:p>
            <a:pPr algn="l"/>
            <a:r>
              <a:rPr sz="1000" b="1" i="0">
                <a:solidFill>
                  <a:srgbClr val="1E3A8A"/>
                </a:solidFill>
              </a:rPr>
              <a:t>ROI Multiple</a:t>
            </a:r>
          </a:p>
        </p:txBody>
      </p:sp>
      <p:sp>
        <p:nvSpPr>
          <p:cNvPr id="59" name="TextBox 58"/>
          <p:cNvSpPr txBox="1"/>
          <p:nvPr/>
        </p:nvSpPr>
        <p:spPr>
          <a:xfrm>
            <a:off x="3108960" y="4791456"/>
            <a:ext cx="2743200" cy="274320"/>
          </a:xfrm>
          <a:prstGeom prst="rect">
            <a:avLst/>
          </a:prstGeom>
          <a:noFill/>
        </p:spPr>
        <p:txBody>
          <a:bodyPr wrap="square">
            <a:spAutoFit/>
          </a:bodyPr>
          <a:lstStyle/>
          <a:p>
            <a:pPr algn="l"/>
            <a:r>
              <a:rPr sz="1000" b="0" i="0">
                <a:solidFill>
                  <a:srgbClr val="1F2937"/>
                </a:solidFill>
              </a:rPr>
              <a:t>2.8 ×</a:t>
            </a:r>
          </a:p>
        </p:txBody>
      </p:sp>
      <p:sp>
        <p:nvSpPr>
          <p:cNvPr id="60" name="TextBox 59"/>
          <p:cNvSpPr txBox="1"/>
          <p:nvPr/>
        </p:nvSpPr>
        <p:spPr>
          <a:xfrm>
            <a:off x="6126480" y="4791456"/>
            <a:ext cx="2743200" cy="274320"/>
          </a:xfrm>
          <a:prstGeom prst="rect">
            <a:avLst/>
          </a:prstGeom>
          <a:noFill/>
        </p:spPr>
        <p:txBody>
          <a:bodyPr wrap="square">
            <a:spAutoFit/>
          </a:bodyPr>
          <a:lstStyle/>
          <a:p>
            <a:pPr algn="l"/>
            <a:r>
              <a:rPr sz="1000" b="0" i="0">
                <a:solidFill>
                  <a:srgbClr val="1F2937"/>
                </a:solidFill>
              </a:rPr>
              <a:t>4.2 ×</a:t>
            </a:r>
          </a:p>
        </p:txBody>
      </p:sp>
      <p:sp>
        <p:nvSpPr>
          <p:cNvPr id="61" name="TextBox 60"/>
          <p:cNvSpPr txBox="1"/>
          <p:nvPr/>
        </p:nvSpPr>
        <p:spPr>
          <a:xfrm>
            <a:off x="9144000" y="4791456"/>
            <a:ext cx="2743200" cy="274320"/>
          </a:xfrm>
          <a:prstGeom prst="rect">
            <a:avLst/>
          </a:prstGeom>
          <a:noFill/>
        </p:spPr>
        <p:txBody>
          <a:bodyPr wrap="square">
            <a:spAutoFit/>
          </a:bodyPr>
          <a:lstStyle/>
          <a:p>
            <a:pPr algn="l"/>
            <a:r>
              <a:rPr sz="1000" b="0" i="0">
                <a:solidFill>
                  <a:srgbClr val="1F2937"/>
                </a:solidFill>
              </a:rPr>
              <a:t>5.5 ×</a:t>
            </a:r>
          </a:p>
        </p:txBody>
      </p:sp>
      <p:sp>
        <p:nvSpPr>
          <p:cNvPr id="62" name="Rectangle 61"/>
          <p:cNvSpPr/>
          <p:nvPr/>
        </p:nvSpPr>
        <p:spPr>
          <a:xfrm>
            <a:off x="256032" y="5102352"/>
            <a:ext cx="11932920" cy="402336"/>
          </a:xfrm>
          <a:prstGeom prst="rect">
            <a:avLst/>
          </a:prstGeom>
          <a:solidFill>
            <a:srgbClr val="EFF6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65760" y="5193792"/>
            <a:ext cx="2743200" cy="274320"/>
          </a:xfrm>
          <a:prstGeom prst="rect">
            <a:avLst/>
          </a:prstGeom>
          <a:noFill/>
        </p:spPr>
        <p:txBody>
          <a:bodyPr wrap="square">
            <a:spAutoFit/>
          </a:bodyPr>
          <a:lstStyle/>
          <a:p>
            <a:pPr algn="l"/>
            <a:r>
              <a:rPr sz="1000" b="1" i="0">
                <a:solidFill>
                  <a:srgbClr val="1E3A8A"/>
                </a:solidFill>
              </a:rPr>
              <a:t>Payback Period</a:t>
            </a:r>
          </a:p>
        </p:txBody>
      </p:sp>
      <p:sp>
        <p:nvSpPr>
          <p:cNvPr id="64" name="TextBox 63"/>
          <p:cNvSpPr txBox="1"/>
          <p:nvPr/>
        </p:nvSpPr>
        <p:spPr>
          <a:xfrm>
            <a:off x="3108960" y="5193792"/>
            <a:ext cx="2743200" cy="274320"/>
          </a:xfrm>
          <a:prstGeom prst="rect">
            <a:avLst/>
          </a:prstGeom>
          <a:noFill/>
        </p:spPr>
        <p:txBody>
          <a:bodyPr wrap="square">
            <a:spAutoFit/>
          </a:bodyPr>
          <a:lstStyle/>
          <a:p>
            <a:pPr algn="l"/>
            <a:r>
              <a:rPr sz="1000" b="0" i="0">
                <a:solidFill>
                  <a:srgbClr val="1F2937"/>
                </a:solidFill>
              </a:rPr>
              <a:t>12 – 14 months</a:t>
            </a:r>
          </a:p>
        </p:txBody>
      </p:sp>
      <p:sp>
        <p:nvSpPr>
          <p:cNvPr id="65" name="TextBox 64"/>
          <p:cNvSpPr txBox="1"/>
          <p:nvPr/>
        </p:nvSpPr>
        <p:spPr>
          <a:xfrm>
            <a:off x="6126480" y="5193792"/>
            <a:ext cx="2743200" cy="274320"/>
          </a:xfrm>
          <a:prstGeom prst="rect">
            <a:avLst/>
          </a:prstGeom>
          <a:noFill/>
        </p:spPr>
        <p:txBody>
          <a:bodyPr wrap="square">
            <a:spAutoFit/>
          </a:bodyPr>
          <a:lstStyle/>
          <a:p>
            <a:pPr algn="l"/>
            <a:r>
              <a:rPr sz="1000" b="0" i="0">
                <a:solidFill>
                  <a:srgbClr val="1F2937"/>
                </a:solidFill>
              </a:rPr>
              <a:t>14 – 16 months</a:t>
            </a:r>
          </a:p>
        </p:txBody>
      </p:sp>
      <p:sp>
        <p:nvSpPr>
          <p:cNvPr id="66" name="TextBox 65"/>
          <p:cNvSpPr txBox="1"/>
          <p:nvPr/>
        </p:nvSpPr>
        <p:spPr>
          <a:xfrm>
            <a:off x="9144000" y="5193792"/>
            <a:ext cx="2743200" cy="274320"/>
          </a:xfrm>
          <a:prstGeom prst="rect">
            <a:avLst/>
          </a:prstGeom>
          <a:noFill/>
        </p:spPr>
        <p:txBody>
          <a:bodyPr wrap="square">
            <a:spAutoFit/>
          </a:bodyPr>
          <a:lstStyle/>
          <a:p>
            <a:pPr algn="l"/>
            <a:r>
              <a:rPr sz="1000" b="0" i="0">
                <a:solidFill>
                  <a:srgbClr val="1F2937"/>
                </a:solidFill>
              </a:rPr>
              <a:t>18 – 22 months</a:t>
            </a:r>
          </a:p>
        </p:txBody>
      </p:sp>
      <p:sp>
        <p:nvSpPr>
          <p:cNvPr id="67" name="Rectangle 66"/>
          <p:cNvSpPr/>
          <p:nvPr/>
        </p:nvSpPr>
        <p:spPr>
          <a:xfrm>
            <a:off x="256032" y="5504688"/>
            <a:ext cx="11932920" cy="402336"/>
          </a:xfrm>
          <a:prstGeom prst="rect">
            <a:avLst/>
          </a:prstGeom>
          <a:solidFill>
            <a:srgbClr val="FFFF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5760" y="5596128"/>
            <a:ext cx="2743200" cy="274320"/>
          </a:xfrm>
          <a:prstGeom prst="rect">
            <a:avLst/>
          </a:prstGeom>
          <a:noFill/>
        </p:spPr>
        <p:txBody>
          <a:bodyPr wrap="square">
            <a:spAutoFit/>
          </a:bodyPr>
          <a:lstStyle/>
          <a:p>
            <a:pPr algn="l"/>
            <a:r>
              <a:rPr sz="1000" b="1" i="0">
                <a:solidFill>
                  <a:srgbClr val="1E3A8A"/>
                </a:solidFill>
              </a:rPr>
              <a:t>Roles Affected</a:t>
            </a:r>
          </a:p>
        </p:txBody>
      </p:sp>
      <p:sp>
        <p:nvSpPr>
          <p:cNvPr id="69" name="TextBox 68"/>
          <p:cNvSpPr txBox="1"/>
          <p:nvPr/>
        </p:nvSpPr>
        <p:spPr>
          <a:xfrm>
            <a:off x="3108960" y="5596128"/>
            <a:ext cx="2743200" cy="274320"/>
          </a:xfrm>
          <a:prstGeom prst="rect">
            <a:avLst/>
          </a:prstGeom>
          <a:noFill/>
        </p:spPr>
        <p:txBody>
          <a:bodyPr wrap="square">
            <a:spAutoFit/>
          </a:bodyPr>
          <a:lstStyle/>
          <a:p>
            <a:pPr algn="l"/>
            <a:r>
              <a:rPr sz="1000" b="0" i="0">
                <a:solidFill>
                  <a:srgbClr val="1F2937"/>
                </a:solidFill>
              </a:rPr>
              <a:t>8 personas (assist)</a:t>
            </a:r>
          </a:p>
        </p:txBody>
      </p:sp>
      <p:sp>
        <p:nvSpPr>
          <p:cNvPr id="70" name="TextBox 69"/>
          <p:cNvSpPr txBox="1"/>
          <p:nvPr/>
        </p:nvSpPr>
        <p:spPr>
          <a:xfrm>
            <a:off x="6126480" y="5596128"/>
            <a:ext cx="2743200" cy="274320"/>
          </a:xfrm>
          <a:prstGeom prst="rect">
            <a:avLst/>
          </a:prstGeom>
          <a:noFill/>
        </p:spPr>
        <p:txBody>
          <a:bodyPr wrap="square">
            <a:spAutoFit/>
          </a:bodyPr>
          <a:lstStyle/>
          <a:p>
            <a:pPr algn="l"/>
            <a:r>
              <a:rPr sz="1000" b="0" i="0">
                <a:solidFill>
                  <a:srgbClr val="1F2937"/>
                </a:solidFill>
              </a:rPr>
              <a:t>5 core roles</a:t>
            </a:r>
          </a:p>
        </p:txBody>
      </p:sp>
      <p:sp>
        <p:nvSpPr>
          <p:cNvPr id="71" name="TextBox 70"/>
          <p:cNvSpPr txBox="1"/>
          <p:nvPr/>
        </p:nvSpPr>
        <p:spPr>
          <a:xfrm>
            <a:off x="9144000" y="5596128"/>
            <a:ext cx="2743200" cy="274320"/>
          </a:xfrm>
          <a:prstGeom prst="rect">
            <a:avLst/>
          </a:prstGeom>
          <a:noFill/>
        </p:spPr>
        <p:txBody>
          <a:bodyPr wrap="square">
            <a:spAutoFit/>
          </a:bodyPr>
          <a:lstStyle/>
          <a:p>
            <a:pPr algn="l"/>
            <a:r>
              <a:rPr sz="1000" b="0" i="0">
                <a:solidFill>
                  <a:srgbClr val="1F2937"/>
                </a:solidFill>
              </a:rPr>
              <a:t>2 strategic roles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Agent Roster &amp; Orchestration Pipeline</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8 AI agents in a sequential LangGraph state machine</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5</a:t>
            </a:r>
          </a:p>
        </p:txBody>
      </p:sp>
      <p:sp>
        <p:nvSpPr>
          <p:cNvPr id="12" name="Rectangle 11"/>
          <p:cNvSpPr/>
          <p:nvPr/>
        </p:nvSpPr>
        <p:spPr>
          <a:xfrm>
            <a:off x="726948" y="1234440"/>
            <a:ext cx="1261872" cy="1389888"/>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6948" y="1234440"/>
            <a:ext cx="1261872" cy="2743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 y="1271016"/>
            <a:ext cx="219456" cy="219456"/>
          </a:xfrm>
          <a:prstGeom prst="rect">
            <a:avLst/>
          </a:prstGeom>
          <a:noFill/>
        </p:spPr>
        <p:txBody>
          <a:bodyPr wrap="square">
            <a:spAutoFit/>
          </a:bodyPr>
          <a:lstStyle/>
          <a:p>
            <a:pPr algn="l"/>
            <a:r>
              <a:rPr sz="800" b="1" i="0">
                <a:solidFill>
                  <a:srgbClr val="FFFFFF"/>
                </a:solidFill>
              </a:rPr>
              <a:t>1</a:t>
            </a:r>
          </a:p>
        </p:txBody>
      </p:sp>
      <p:sp>
        <p:nvSpPr>
          <p:cNvPr id="15" name="TextBox 14"/>
          <p:cNvSpPr txBox="1"/>
          <p:nvPr/>
        </p:nvSpPr>
        <p:spPr>
          <a:xfrm>
            <a:off x="726948" y="1545336"/>
            <a:ext cx="1261872" cy="658368"/>
          </a:xfrm>
          <a:prstGeom prst="rect">
            <a:avLst/>
          </a:prstGeom>
          <a:noFill/>
        </p:spPr>
        <p:txBody>
          <a:bodyPr wrap="square">
            <a:spAutoFit/>
          </a:bodyPr>
          <a:lstStyle/>
          <a:p>
            <a:pPr algn="ctr"/>
            <a:r>
              <a:rPr sz="1050" b="1" i="0">
                <a:solidFill>
                  <a:srgbClr val="1E3A8A"/>
                </a:solidFill>
              </a:rPr>
              <a:t>ALM
Connector</a:t>
            </a:r>
          </a:p>
        </p:txBody>
      </p:sp>
      <p:sp>
        <p:nvSpPr>
          <p:cNvPr id="16" name="Rectangle 15"/>
          <p:cNvSpPr/>
          <p:nvPr/>
        </p:nvSpPr>
        <p:spPr>
          <a:xfrm>
            <a:off x="726948" y="2368296"/>
            <a:ext cx="1261872" cy="2560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948" y="2386584"/>
            <a:ext cx="1261872" cy="219456"/>
          </a:xfrm>
          <a:prstGeom prst="rect">
            <a:avLst/>
          </a:prstGeom>
          <a:noFill/>
        </p:spPr>
        <p:txBody>
          <a:bodyPr wrap="square">
            <a:spAutoFit/>
          </a:bodyPr>
          <a:lstStyle/>
          <a:p>
            <a:pPr algn="ctr"/>
            <a:r>
              <a:rPr sz="850" b="1" i="0">
                <a:solidFill>
                  <a:srgbClr val="FFFFFF"/>
                </a:solidFill>
              </a:rPr>
              <a:t>Ingest</a:t>
            </a:r>
          </a:p>
        </p:txBody>
      </p:sp>
      <p:sp>
        <p:nvSpPr>
          <p:cNvPr id="18" name="TextBox 17"/>
          <p:cNvSpPr txBox="1"/>
          <p:nvPr/>
        </p:nvSpPr>
        <p:spPr>
          <a:xfrm>
            <a:off x="1997964" y="1737360"/>
            <a:ext cx="91440" cy="329184"/>
          </a:xfrm>
          <a:prstGeom prst="rect">
            <a:avLst/>
          </a:prstGeom>
          <a:noFill/>
        </p:spPr>
        <p:txBody>
          <a:bodyPr wrap="square">
            <a:spAutoFit/>
          </a:bodyPr>
          <a:lstStyle/>
          <a:p>
            <a:pPr algn="ctr"/>
            <a:r>
              <a:rPr sz="1400" b="1" i="0">
                <a:solidFill>
                  <a:srgbClr val="3B82F6"/>
                </a:solidFill>
              </a:rPr>
              <a:t>→</a:t>
            </a:r>
          </a:p>
        </p:txBody>
      </p:sp>
      <p:sp>
        <p:nvSpPr>
          <p:cNvPr id="19" name="Rectangle 18"/>
          <p:cNvSpPr/>
          <p:nvPr/>
        </p:nvSpPr>
        <p:spPr>
          <a:xfrm>
            <a:off x="2080260" y="1234440"/>
            <a:ext cx="1261872" cy="1389888"/>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80260" y="1234440"/>
            <a:ext cx="1261872" cy="2743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35124" y="1271016"/>
            <a:ext cx="219456" cy="219456"/>
          </a:xfrm>
          <a:prstGeom prst="rect">
            <a:avLst/>
          </a:prstGeom>
          <a:noFill/>
        </p:spPr>
        <p:txBody>
          <a:bodyPr wrap="square">
            <a:spAutoFit/>
          </a:bodyPr>
          <a:lstStyle/>
          <a:p>
            <a:pPr algn="l"/>
            <a:r>
              <a:rPr sz="800" b="1" i="0">
                <a:solidFill>
                  <a:srgbClr val="FFFFFF"/>
                </a:solidFill>
              </a:rPr>
              <a:t>2</a:t>
            </a:r>
          </a:p>
        </p:txBody>
      </p:sp>
      <p:sp>
        <p:nvSpPr>
          <p:cNvPr id="22" name="TextBox 21"/>
          <p:cNvSpPr txBox="1"/>
          <p:nvPr/>
        </p:nvSpPr>
        <p:spPr>
          <a:xfrm>
            <a:off x="2080260" y="1545336"/>
            <a:ext cx="1261872" cy="658368"/>
          </a:xfrm>
          <a:prstGeom prst="rect">
            <a:avLst/>
          </a:prstGeom>
          <a:noFill/>
        </p:spPr>
        <p:txBody>
          <a:bodyPr wrap="square">
            <a:spAutoFit/>
          </a:bodyPr>
          <a:lstStyle/>
          <a:p>
            <a:pPr algn="ctr"/>
            <a:r>
              <a:rPr sz="1050" b="1" i="0">
                <a:solidFill>
                  <a:srgbClr val="1E3A8A"/>
                </a:solidFill>
              </a:rPr>
              <a:t>VSM
Analyzer</a:t>
            </a:r>
          </a:p>
        </p:txBody>
      </p:sp>
      <p:sp>
        <p:nvSpPr>
          <p:cNvPr id="23" name="Rectangle 22"/>
          <p:cNvSpPr/>
          <p:nvPr/>
        </p:nvSpPr>
        <p:spPr>
          <a:xfrm>
            <a:off x="2080260" y="2368296"/>
            <a:ext cx="1261872" cy="25603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80260" y="2386584"/>
            <a:ext cx="1261872" cy="219456"/>
          </a:xfrm>
          <a:prstGeom prst="rect">
            <a:avLst/>
          </a:prstGeom>
          <a:noFill/>
        </p:spPr>
        <p:txBody>
          <a:bodyPr wrap="square">
            <a:spAutoFit/>
          </a:bodyPr>
          <a:lstStyle/>
          <a:p>
            <a:pPr algn="ctr"/>
            <a:r>
              <a:rPr sz="850" b="1" i="0">
                <a:solidFill>
                  <a:srgbClr val="FFFFFF"/>
                </a:solidFill>
              </a:rPr>
              <a:t>Analyse</a:t>
            </a:r>
          </a:p>
        </p:txBody>
      </p:sp>
      <p:sp>
        <p:nvSpPr>
          <p:cNvPr id="25" name="TextBox 24"/>
          <p:cNvSpPr txBox="1"/>
          <p:nvPr/>
        </p:nvSpPr>
        <p:spPr>
          <a:xfrm>
            <a:off x="3351276" y="1737360"/>
            <a:ext cx="91440" cy="329184"/>
          </a:xfrm>
          <a:prstGeom prst="rect">
            <a:avLst/>
          </a:prstGeom>
          <a:noFill/>
        </p:spPr>
        <p:txBody>
          <a:bodyPr wrap="square">
            <a:spAutoFit/>
          </a:bodyPr>
          <a:lstStyle/>
          <a:p>
            <a:pPr algn="ctr"/>
            <a:r>
              <a:rPr sz="1400" b="1" i="0">
                <a:solidFill>
                  <a:srgbClr val="3B82F6"/>
                </a:solidFill>
              </a:rPr>
              <a:t>→</a:t>
            </a:r>
          </a:p>
        </p:txBody>
      </p:sp>
      <p:sp>
        <p:nvSpPr>
          <p:cNvPr id="26" name="Rectangle 25"/>
          <p:cNvSpPr/>
          <p:nvPr/>
        </p:nvSpPr>
        <p:spPr>
          <a:xfrm>
            <a:off x="3433572" y="1234440"/>
            <a:ext cx="1261872" cy="1389888"/>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33572" y="1234440"/>
            <a:ext cx="1261872" cy="274320"/>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88436" y="1271016"/>
            <a:ext cx="219456" cy="219456"/>
          </a:xfrm>
          <a:prstGeom prst="rect">
            <a:avLst/>
          </a:prstGeom>
          <a:noFill/>
        </p:spPr>
        <p:txBody>
          <a:bodyPr wrap="square">
            <a:spAutoFit/>
          </a:bodyPr>
          <a:lstStyle/>
          <a:p>
            <a:pPr algn="l"/>
            <a:r>
              <a:rPr sz="800" b="1" i="0">
                <a:solidFill>
                  <a:srgbClr val="FFFFFF"/>
                </a:solidFill>
              </a:rPr>
              <a:t>3</a:t>
            </a:r>
          </a:p>
        </p:txBody>
      </p:sp>
      <p:sp>
        <p:nvSpPr>
          <p:cNvPr id="29" name="TextBox 28"/>
          <p:cNvSpPr txBox="1"/>
          <p:nvPr/>
        </p:nvSpPr>
        <p:spPr>
          <a:xfrm>
            <a:off x="3433572" y="1545336"/>
            <a:ext cx="1261872" cy="658368"/>
          </a:xfrm>
          <a:prstGeom prst="rect">
            <a:avLst/>
          </a:prstGeom>
          <a:noFill/>
        </p:spPr>
        <p:txBody>
          <a:bodyPr wrap="square">
            <a:spAutoFit/>
          </a:bodyPr>
          <a:lstStyle/>
          <a:p>
            <a:pPr algn="ctr"/>
            <a:r>
              <a:rPr sz="1050" b="1" i="0">
                <a:solidFill>
                  <a:srgbClr val="1E3A8A"/>
                </a:solidFill>
              </a:rPr>
              <a:t>Benchmark
Agent</a:t>
            </a:r>
          </a:p>
        </p:txBody>
      </p:sp>
      <p:sp>
        <p:nvSpPr>
          <p:cNvPr id="30" name="Rectangle 29"/>
          <p:cNvSpPr/>
          <p:nvPr/>
        </p:nvSpPr>
        <p:spPr>
          <a:xfrm>
            <a:off x="3433572" y="2368296"/>
            <a:ext cx="1261872" cy="256032"/>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33572" y="2386584"/>
            <a:ext cx="1261872" cy="219456"/>
          </a:xfrm>
          <a:prstGeom prst="rect">
            <a:avLst/>
          </a:prstGeom>
          <a:noFill/>
        </p:spPr>
        <p:txBody>
          <a:bodyPr wrap="square">
            <a:spAutoFit/>
          </a:bodyPr>
          <a:lstStyle/>
          <a:p>
            <a:pPr algn="ctr"/>
            <a:r>
              <a:rPr sz="850" b="1" i="0">
                <a:solidFill>
                  <a:srgbClr val="FFFFFF"/>
                </a:solidFill>
              </a:rPr>
              <a:t>Compare</a:t>
            </a:r>
          </a:p>
        </p:txBody>
      </p:sp>
      <p:sp>
        <p:nvSpPr>
          <p:cNvPr id="32" name="TextBox 31"/>
          <p:cNvSpPr txBox="1"/>
          <p:nvPr/>
        </p:nvSpPr>
        <p:spPr>
          <a:xfrm>
            <a:off x="4704588" y="1737360"/>
            <a:ext cx="91440" cy="329184"/>
          </a:xfrm>
          <a:prstGeom prst="rect">
            <a:avLst/>
          </a:prstGeom>
          <a:noFill/>
        </p:spPr>
        <p:txBody>
          <a:bodyPr wrap="square">
            <a:spAutoFit/>
          </a:bodyPr>
          <a:lstStyle/>
          <a:p>
            <a:pPr algn="ctr"/>
            <a:r>
              <a:rPr sz="1400" b="1" i="0">
                <a:solidFill>
                  <a:srgbClr val="3B82F6"/>
                </a:solidFill>
              </a:rPr>
              <a:t>→</a:t>
            </a:r>
          </a:p>
        </p:txBody>
      </p:sp>
      <p:sp>
        <p:nvSpPr>
          <p:cNvPr id="33" name="Rectangle 32"/>
          <p:cNvSpPr/>
          <p:nvPr/>
        </p:nvSpPr>
        <p:spPr>
          <a:xfrm>
            <a:off x="4786884" y="1234440"/>
            <a:ext cx="1261872" cy="1389888"/>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86884" y="1234440"/>
            <a:ext cx="1261872" cy="27432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41748" y="1271016"/>
            <a:ext cx="219456" cy="219456"/>
          </a:xfrm>
          <a:prstGeom prst="rect">
            <a:avLst/>
          </a:prstGeom>
          <a:noFill/>
        </p:spPr>
        <p:txBody>
          <a:bodyPr wrap="square">
            <a:spAutoFit/>
          </a:bodyPr>
          <a:lstStyle/>
          <a:p>
            <a:pPr algn="l"/>
            <a:r>
              <a:rPr sz="800" b="1" i="0">
                <a:solidFill>
                  <a:srgbClr val="FFFFFF"/>
                </a:solidFill>
              </a:rPr>
              <a:t>4</a:t>
            </a:r>
          </a:p>
        </p:txBody>
      </p:sp>
      <p:sp>
        <p:nvSpPr>
          <p:cNvPr id="36" name="TextBox 35"/>
          <p:cNvSpPr txBox="1"/>
          <p:nvPr/>
        </p:nvSpPr>
        <p:spPr>
          <a:xfrm>
            <a:off x="4786884" y="1545336"/>
            <a:ext cx="1261872" cy="658368"/>
          </a:xfrm>
          <a:prstGeom prst="rect">
            <a:avLst/>
          </a:prstGeom>
          <a:noFill/>
        </p:spPr>
        <p:txBody>
          <a:bodyPr wrap="square">
            <a:spAutoFit/>
          </a:bodyPr>
          <a:lstStyle/>
          <a:p>
            <a:pPr algn="ctr"/>
            <a:r>
              <a:rPr sz="1050" b="1" i="0">
                <a:solidFill>
                  <a:srgbClr val="1E3A8A"/>
                </a:solidFill>
              </a:rPr>
              <a:t>Bottleneck
Analyzer</a:t>
            </a:r>
          </a:p>
        </p:txBody>
      </p:sp>
      <p:sp>
        <p:nvSpPr>
          <p:cNvPr id="37" name="Rectangle 36"/>
          <p:cNvSpPr/>
          <p:nvPr/>
        </p:nvSpPr>
        <p:spPr>
          <a:xfrm>
            <a:off x="4786884" y="2368296"/>
            <a:ext cx="1261872" cy="256032"/>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86884" y="2386584"/>
            <a:ext cx="1261872" cy="219456"/>
          </a:xfrm>
          <a:prstGeom prst="rect">
            <a:avLst/>
          </a:prstGeom>
          <a:noFill/>
        </p:spPr>
        <p:txBody>
          <a:bodyPr wrap="square">
            <a:spAutoFit/>
          </a:bodyPr>
          <a:lstStyle/>
          <a:p>
            <a:pPr algn="ctr"/>
            <a:r>
              <a:rPr sz="850" b="1" i="0">
                <a:solidFill>
                  <a:srgbClr val="FFFFFF"/>
                </a:solidFill>
              </a:rPr>
              <a:t>Diagnose</a:t>
            </a:r>
          </a:p>
        </p:txBody>
      </p:sp>
      <p:sp>
        <p:nvSpPr>
          <p:cNvPr id="39" name="TextBox 38"/>
          <p:cNvSpPr txBox="1"/>
          <p:nvPr/>
        </p:nvSpPr>
        <p:spPr>
          <a:xfrm>
            <a:off x="6057900" y="1737360"/>
            <a:ext cx="91440" cy="329184"/>
          </a:xfrm>
          <a:prstGeom prst="rect">
            <a:avLst/>
          </a:prstGeom>
          <a:noFill/>
        </p:spPr>
        <p:txBody>
          <a:bodyPr wrap="square">
            <a:spAutoFit/>
          </a:bodyPr>
          <a:lstStyle/>
          <a:p>
            <a:pPr algn="ctr"/>
            <a:r>
              <a:rPr sz="1400" b="1" i="0">
                <a:solidFill>
                  <a:srgbClr val="3B82F6"/>
                </a:solidFill>
              </a:rPr>
              <a:t>→</a:t>
            </a:r>
          </a:p>
        </p:txBody>
      </p:sp>
      <p:sp>
        <p:nvSpPr>
          <p:cNvPr id="40" name="Rectangle 39"/>
          <p:cNvSpPr/>
          <p:nvPr/>
        </p:nvSpPr>
        <p:spPr>
          <a:xfrm>
            <a:off x="6140196" y="1234440"/>
            <a:ext cx="1261872" cy="1389888"/>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40196" y="1234440"/>
            <a:ext cx="1261872" cy="274320"/>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95060" y="1271016"/>
            <a:ext cx="219456" cy="219456"/>
          </a:xfrm>
          <a:prstGeom prst="rect">
            <a:avLst/>
          </a:prstGeom>
          <a:noFill/>
        </p:spPr>
        <p:txBody>
          <a:bodyPr wrap="square">
            <a:spAutoFit/>
          </a:bodyPr>
          <a:lstStyle/>
          <a:p>
            <a:pPr algn="l"/>
            <a:r>
              <a:rPr sz="800" b="1" i="0">
                <a:solidFill>
                  <a:srgbClr val="FFFFFF"/>
                </a:solidFill>
              </a:rPr>
              <a:t>5</a:t>
            </a:r>
          </a:p>
        </p:txBody>
      </p:sp>
      <p:sp>
        <p:nvSpPr>
          <p:cNvPr id="43" name="TextBox 42"/>
          <p:cNvSpPr txBox="1"/>
          <p:nvPr/>
        </p:nvSpPr>
        <p:spPr>
          <a:xfrm>
            <a:off x="6140196" y="1545336"/>
            <a:ext cx="1261872" cy="658368"/>
          </a:xfrm>
          <a:prstGeom prst="rect">
            <a:avLst/>
          </a:prstGeom>
          <a:noFill/>
        </p:spPr>
        <p:txBody>
          <a:bodyPr wrap="square">
            <a:spAutoFit/>
          </a:bodyPr>
          <a:lstStyle/>
          <a:p>
            <a:pPr algn="ctr"/>
            <a:r>
              <a:rPr sz="1050" b="1" i="0">
                <a:solidFill>
                  <a:srgbClr val="1E3A8A"/>
                </a:solidFill>
              </a:rPr>
              <a:t>Improvement
Generator</a:t>
            </a:r>
          </a:p>
        </p:txBody>
      </p:sp>
      <p:sp>
        <p:nvSpPr>
          <p:cNvPr id="44" name="Rectangle 43"/>
          <p:cNvSpPr/>
          <p:nvPr/>
        </p:nvSpPr>
        <p:spPr>
          <a:xfrm>
            <a:off x="6140196" y="2368296"/>
            <a:ext cx="1261872" cy="256032"/>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40196" y="2386584"/>
            <a:ext cx="1261872" cy="219456"/>
          </a:xfrm>
          <a:prstGeom prst="rect">
            <a:avLst/>
          </a:prstGeom>
          <a:noFill/>
        </p:spPr>
        <p:txBody>
          <a:bodyPr wrap="square">
            <a:spAutoFit/>
          </a:bodyPr>
          <a:lstStyle/>
          <a:p>
            <a:pPr algn="ctr"/>
            <a:r>
              <a:rPr sz="850" b="1" i="0">
                <a:solidFill>
                  <a:srgbClr val="FFFFFF"/>
                </a:solidFill>
              </a:rPr>
              <a:t>Prescribe</a:t>
            </a:r>
          </a:p>
        </p:txBody>
      </p:sp>
      <p:sp>
        <p:nvSpPr>
          <p:cNvPr id="46" name="TextBox 45"/>
          <p:cNvSpPr txBox="1"/>
          <p:nvPr/>
        </p:nvSpPr>
        <p:spPr>
          <a:xfrm>
            <a:off x="7411212" y="1737360"/>
            <a:ext cx="91440" cy="329184"/>
          </a:xfrm>
          <a:prstGeom prst="rect">
            <a:avLst/>
          </a:prstGeom>
          <a:noFill/>
        </p:spPr>
        <p:txBody>
          <a:bodyPr wrap="square">
            <a:spAutoFit/>
          </a:bodyPr>
          <a:lstStyle/>
          <a:p>
            <a:pPr algn="ctr"/>
            <a:r>
              <a:rPr sz="1400" b="1" i="0">
                <a:solidFill>
                  <a:srgbClr val="3B82F6"/>
                </a:solidFill>
              </a:rPr>
              <a:t>→</a:t>
            </a:r>
          </a:p>
        </p:txBody>
      </p:sp>
      <p:sp>
        <p:nvSpPr>
          <p:cNvPr id="47" name="Rectangle 46"/>
          <p:cNvSpPr/>
          <p:nvPr/>
        </p:nvSpPr>
        <p:spPr>
          <a:xfrm>
            <a:off x="7493508" y="1234440"/>
            <a:ext cx="1261872" cy="1389888"/>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493508" y="1234440"/>
            <a:ext cx="1261872" cy="274320"/>
          </a:xfrm>
          <a:prstGeom prst="rect">
            <a:avLst/>
          </a:prstGeom>
          <a:solidFill>
            <a:srgbClr val="0E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548372" y="1271016"/>
            <a:ext cx="219456" cy="219456"/>
          </a:xfrm>
          <a:prstGeom prst="rect">
            <a:avLst/>
          </a:prstGeom>
          <a:noFill/>
        </p:spPr>
        <p:txBody>
          <a:bodyPr wrap="square">
            <a:spAutoFit/>
          </a:bodyPr>
          <a:lstStyle/>
          <a:p>
            <a:pPr algn="l"/>
            <a:r>
              <a:rPr sz="800" b="1" i="0">
                <a:solidFill>
                  <a:srgbClr val="FFFFFF"/>
                </a:solidFill>
              </a:rPr>
              <a:t>6</a:t>
            </a:r>
          </a:p>
        </p:txBody>
      </p:sp>
      <p:sp>
        <p:nvSpPr>
          <p:cNvPr id="50" name="TextBox 49"/>
          <p:cNvSpPr txBox="1"/>
          <p:nvPr/>
        </p:nvSpPr>
        <p:spPr>
          <a:xfrm>
            <a:off x="7493508" y="1545336"/>
            <a:ext cx="1261872" cy="658368"/>
          </a:xfrm>
          <a:prstGeom prst="rect">
            <a:avLst/>
          </a:prstGeom>
          <a:noFill/>
        </p:spPr>
        <p:txBody>
          <a:bodyPr wrap="square">
            <a:spAutoFit/>
          </a:bodyPr>
          <a:lstStyle/>
          <a:p>
            <a:pPr algn="ctr"/>
            <a:r>
              <a:rPr sz="1050" b="1" i="0">
                <a:solidFill>
                  <a:srgbClr val="1E3A8A"/>
                </a:solidFill>
              </a:rPr>
              <a:t>Future State
Designer</a:t>
            </a:r>
          </a:p>
        </p:txBody>
      </p:sp>
      <p:sp>
        <p:nvSpPr>
          <p:cNvPr id="51" name="Rectangle 50"/>
          <p:cNvSpPr/>
          <p:nvPr/>
        </p:nvSpPr>
        <p:spPr>
          <a:xfrm>
            <a:off x="7493508" y="2368296"/>
            <a:ext cx="1261872" cy="256032"/>
          </a:xfrm>
          <a:prstGeom prst="rect">
            <a:avLst/>
          </a:prstGeom>
          <a:solidFill>
            <a:srgbClr val="0E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93508" y="2386584"/>
            <a:ext cx="1261872" cy="219456"/>
          </a:xfrm>
          <a:prstGeom prst="rect">
            <a:avLst/>
          </a:prstGeom>
          <a:noFill/>
        </p:spPr>
        <p:txBody>
          <a:bodyPr wrap="square">
            <a:spAutoFit/>
          </a:bodyPr>
          <a:lstStyle/>
          <a:p>
            <a:pPr algn="ctr"/>
            <a:r>
              <a:rPr sz="850" b="1" i="0">
                <a:solidFill>
                  <a:srgbClr val="FFFFFF"/>
                </a:solidFill>
              </a:rPr>
              <a:t>Design</a:t>
            </a:r>
          </a:p>
        </p:txBody>
      </p:sp>
      <p:sp>
        <p:nvSpPr>
          <p:cNvPr id="53" name="TextBox 52"/>
          <p:cNvSpPr txBox="1"/>
          <p:nvPr/>
        </p:nvSpPr>
        <p:spPr>
          <a:xfrm>
            <a:off x="8764524" y="1737360"/>
            <a:ext cx="91440" cy="329184"/>
          </a:xfrm>
          <a:prstGeom prst="rect">
            <a:avLst/>
          </a:prstGeom>
          <a:noFill/>
        </p:spPr>
        <p:txBody>
          <a:bodyPr wrap="square">
            <a:spAutoFit/>
          </a:bodyPr>
          <a:lstStyle/>
          <a:p>
            <a:pPr algn="ctr"/>
            <a:r>
              <a:rPr sz="1400" b="1" i="0">
                <a:solidFill>
                  <a:srgbClr val="3B82F6"/>
                </a:solidFill>
              </a:rPr>
              <a:t>→</a:t>
            </a:r>
          </a:p>
        </p:txBody>
      </p:sp>
      <p:sp>
        <p:nvSpPr>
          <p:cNvPr id="54" name="Rectangle 53"/>
          <p:cNvSpPr/>
          <p:nvPr/>
        </p:nvSpPr>
        <p:spPr>
          <a:xfrm>
            <a:off x="8846820" y="1234440"/>
            <a:ext cx="1261872" cy="1389888"/>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846820" y="1234440"/>
            <a:ext cx="1261872" cy="274320"/>
          </a:xfrm>
          <a:prstGeom prst="rect">
            <a:avLst/>
          </a:prstGeom>
          <a:solidFill>
            <a:srgbClr val="7C2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901684" y="1271016"/>
            <a:ext cx="219456" cy="219456"/>
          </a:xfrm>
          <a:prstGeom prst="rect">
            <a:avLst/>
          </a:prstGeom>
          <a:noFill/>
        </p:spPr>
        <p:txBody>
          <a:bodyPr wrap="square">
            <a:spAutoFit/>
          </a:bodyPr>
          <a:lstStyle/>
          <a:p>
            <a:pPr algn="l"/>
            <a:r>
              <a:rPr sz="800" b="1" i="0">
                <a:solidFill>
                  <a:srgbClr val="FFFFFF"/>
                </a:solidFill>
              </a:rPr>
              <a:t>7</a:t>
            </a:r>
          </a:p>
        </p:txBody>
      </p:sp>
      <p:sp>
        <p:nvSpPr>
          <p:cNvPr id="57" name="TextBox 56"/>
          <p:cNvSpPr txBox="1"/>
          <p:nvPr/>
        </p:nvSpPr>
        <p:spPr>
          <a:xfrm>
            <a:off x="8846820" y="1545336"/>
            <a:ext cx="1261872" cy="658368"/>
          </a:xfrm>
          <a:prstGeom prst="rect">
            <a:avLst/>
          </a:prstGeom>
          <a:noFill/>
        </p:spPr>
        <p:txBody>
          <a:bodyPr wrap="square">
            <a:spAutoFit/>
          </a:bodyPr>
          <a:lstStyle/>
          <a:p>
            <a:pPr algn="ctr"/>
            <a:r>
              <a:rPr sz="1050" b="1" i="0">
                <a:solidFill>
                  <a:srgbClr val="1E3A8A"/>
                </a:solidFill>
              </a:rPr>
              <a:t>Business Case
Builder</a:t>
            </a:r>
          </a:p>
        </p:txBody>
      </p:sp>
      <p:sp>
        <p:nvSpPr>
          <p:cNvPr id="58" name="Rectangle 57"/>
          <p:cNvSpPr/>
          <p:nvPr/>
        </p:nvSpPr>
        <p:spPr>
          <a:xfrm>
            <a:off x="8846820" y="2368296"/>
            <a:ext cx="1261872" cy="256032"/>
          </a:xfrm>
          <a:prstGeom prst="rect">
            <a:avLst/>
          </a:prstGeom>
          <a:solidFill>
            <a:srgbClr val="7C2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846820" y="2386584"/>
            <a:ext cx="1261872" cy="219456"/>
          </a:xfrm>
          <a:prstGeom prst="rect">
            <a:avLst/>
          </a:prstGeom>
          <a:noFill/>
        </p:spPr>
        <p:txBody>
          <a:bodyPr wrap="square">
            <a:spAutoFit/>
          </a:bodyPr>
          <a:lstStyle/>
          <a:p>
            <a:pPr algn="ctr"/>
            <a:r>
              <a:rPr sz="850" b="1" i="0">
                <a:solidFill>
                  <a:srgbClr val="FFFFFF"/>
                </a:solidFill>
              </a:rPr>
              <a:t>Justify</a:t>
            </a:r>
          </a:p>
        </p:txBody>
      </p:sp>
      <p:sp>
        <p:nvSpPr>
          <p:cNvPr id="60" name="TextBox 59"/>
          <p:cNvSpPr txBox="1"/>
          <p:nvPr/>
        </p:nvSpPr>
        <p:spPr>
          <a:xfrm>
            <a:off x="10117836" y="1737360"/>
            <a:ext cx="91440" cy="329184"/>
          </a:xfrm>
          <a:prstGeom prst="rect">
            <a:avLst/>
          </a:prstGeom>
          <a:noFill/>
        </p:spPr>
        <p:txBody>
          <a:bodyPr wrap="square">
            <a:spAutoFit/>
          </a:bodyPr>
          <a:lstStyle/>
          <a:p>
            <a:pPr algn="ctr"/>
            <a:r>
              <a:rPr sz="1400" b="1" i="0">
                <a:solidFill>
                  <a:srgbClr val="3B82F6"/>
                </a:solidFill>
              </a:rPr>
              <a:t>→</a:t>
            </a:r>
          </a:p>
        </p:txBody>
      </p:sp>
      <p:sp>
        <p:nvSpPr>
          <p:cNvPr id="61" name="Rectangle 60"/>
          <p:cNvSpPr/>
          <p:nvPr/>
        </p:nvSpPr>
        <p:spPr>
          <a:xfrm>
            <a:off x="10200132" y="1234440"/>
            <a:ext cx="1261872" cy="1389888"/>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00132" y="1234440"/>
            <a:ext cx="1261872" cy="27432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254996" y="1271016"/>
            <a:ext cx="219456" cy="219456"/>
          </a:xfrm>
          <a:prstGeom prst="rect">
            <a:avLst/>
          </a:prstGeom>
          <a:noFill/>
        </p:spPr>
        <p:txBody>
          <a:bodyPr wrap="square">
            <a:spAutoFit/>
          </a:bodyPr>
          <a:lstStyle/>
          <a:p>
            <a:pPr algn="l"/>
            <a:r>
              <a:rPr sz="800" b="1" i="0">
                <a:solidFill>
                  <a:srgbClr val="FFFFFF"/>
                </a:solidFill>
              </a:rPr>
              <a:t>8</a:t>
            </a:r>
          </a:p>
        </p:txBody>
      </p:sp>
      <p:sp>
        <p:nvSpPr>
          <p:cNvPr id="64" name="TextBox 63"/>
          <p:cNvSpPr txBox="1"/>
          <p:nvPr/>
        </p:nvSpPr>
        <p:spPr>
          <a:xfrm>
            <a:off x="10200132" y="1545336"/>
            <a:ext cx="1261872" cy="658368"/>
          </a:xfrm>
          <a:prstGeom prst="rect">
            <a:avLst/>
          </a:prstGeom>
          <a:noFill/>
        </p:spPr>
        <p:txBody>
          <a:bodyPr wrap="square">
            <a:spAutoFit/>
          </a:bodyPr>
          <a:lstStyle/>
          <a:p>
            <a:pPr algn="ctr"/>
            <a:r>
              <a:rPr sz="1050" b="1" i="0">
                <a:solidFill>
                  <a:srgbClr val="1E3A8A"/>
                </a:solidFill>
              </a:rPr>
              <a:t>Playbook
Contextualizer</a:t>
            </a:r>
          </a:p>
        </p:txBody>
      </p:sp>
      <p:sp>
        <p:nvSpPr>
          <p:cNvPr id="65" name="Rectangle 64"/>
          <p:cNvSpPr/>
          <p:nvPr/>
        </p:nvSpPr>
        <p:spPr>
          <a:xfrm>
            <a:off x="10200132" y="2368296"/>
            <a:ext cx="1261872" cy="256032"/>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200132" y="2386584"/>
            <a:ext cx="1261872" cy="219456"/>
          </a:xfrm>
          <a:prstGeom prst="rect">
            <a:avLst/>
          </a:prstGeom>
          <a:noFill/>
        </p:spPr>
        <p:txBody>
          <a:bodyPr wrap="square">
            <a:spAutoFit/>
          </a:bodyPr>
          <a:lstStyle/>
          <a:p>
            <a:pPr algn="ctr"/>
            <a:r>
              <a:rPr sz="850" b="1" i="0">
                <a:solidFill>
                  <a:srgbClr val="FFFFFF"/>
                </a:solidFill>
              </a:rPr>
              <a:t>Activate</a:t>
            </a:r>
          </a:p>
        </p:txBody>
      </p:sp>
      <p:sp>
        <p:nvSpPr>
          <p:cNvPr id="67" name="Rectangle 66"/>
          <p:cNvSpPr/>
          <p:nvPr/>
        </p:nvSpPr>
        <p:spPr>
          <a:xfrm>
            <a:off x="256032" y="2743200"/>
            <a:ext cx="11676888"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4048" y="2788920"/>
            <a:ext cx="11420856" cy="237744"/>
          </a:xfrm>
          <a:prstGeom prst="rect">
            <a:avLst/>
          </a:prstGeom>
          <a:noFill/>
        </p:spPr>
        <p:txBody>
          <a:bodyPr wrap="square">
            <a:spAutoFit/>
          </a:bodyPr>
          <a:lstStyle/>
          <a:p>
            <a:pPr algn="ctr"/>
            <a:r>
              <a:rPr sz="850" b="1" i="0">
                <a:solidFill>
                  <a:srgbClr val="93C5FD"/>
                </a:solidFill>
              </a:rPr>
              <a:t>Shared  VSMAgentState  { project_id  ·  alm_raw_data  ·  vsm_data  ·  metrics  ·  benchmarks  ·  bottlenecks  ·  improvements  ·  future_states  ·  business_cases  ·  status }</a:t>
            </a:r>
          </a:p>
        </p:txBody>
      </p:sp>
      <p:sp>
        <p:nvSpPr>
          <p:cNvPr id="69" name="Rectangle 68"/>
          <p:cNvSpPr/>
          <p:nvPr/>
        </p:nvSpPr>
        <p:spPr>
          <a:xfrm>
            <a:off x="256032" y="3182112"/>
            <a:ext cx="2852928" cy="1060704"/>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56032" y="3182112"/>
            <a:ext cx="2852928" cy="2743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7472" y="3218688"/>
            <a:ext cx="2724912" cy="237744"/>
          </a:xfrm>
          <a:prstGeom prst="rect">
            <a:avLst/>
          </a:prstGeom>
          <a:noFill/>
        </p:spPr>
        <p:txBody>
          <a:bodyPr wrap="square">
            <a:spAutoFit/>
          </a:bodyPr>
          <a:lstStyle/>
          <a:p>
            <a:pPr algn="l"/>
            <a:r>
              <a:rPr sz="850" b="1" i="0">
                <a:solidFill>
                  <a:srgbClr val="FFFFFF"/>
                </a:solidFill>
              </a:rPr>
              <a:t>1.  ALM Connector</a:t>
            </a:r>
          </a:p>
        </p:txBody>
      </p:sp>
      <p:sp>
        <p:nvSpPr>
          <p:cNvPr id="72" name="TextBox 71"/>
          <p:cNvSpPr txBox="1"/>
          <p:nvPr/>
        </p:nvSpPr>
        <p:spPr>
          <a:xfrm>
            <a:off x="347472" y="3493008"/>
            <a:ext cx="2706624" cy="694944"/>
          </a:xfrm>
          <a:prstGeom prst="rect">
            <a:avLst/>
          </a:prstGeom>
          <a:noFill/>
        </p:spPr>
        <p:txBody>
          <a:bodyPr wrap="square">
            <a:spAutoFit/>
          </a:bodyPr>
          <a:lstStyle/>
          <a:p>
            <a:pPr algn="l"/>
            <a:r>
              <a:rPr sz="850" b="0" i="0">
                <a:solidFill>
                  <a:srgbClr val="1F2937"/>
                </a:solidFill>
              </a:rPr>
              <a:t>Fetches Jira / Azure DevOps work items; maps to VSM phase metrics (PT, WT, LT, FE).</a:t>
            </a:r>
          </a:p>
        </p:txBody>
      </p:sp>
      <p:sp>
        <p:nvSpPr>
          <p:cNvPr id="73" name="Rectangle 72"/>
          <p:cNvSpPr/>
          <p:nvPr/>
        </p:nvSpPr>
        <p:spPr>
          <a:xfrm>
            <a:off x="3200400" y="3182112"/>
            <a:ext cx="2852928" cy="1060704"/>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200400" y="3182112"/>
            <a:ext cx="2852928" cy="2743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291840" y="3218688"/>
            <a:ext cx="2724912" cy="237744"/>
          </a:xfrm>
          <a:prstGeom prst="rect">
            <a:avLst/>
          </a:prstGeom>
          <a:noFill/>
        </p:spPr>
        <p:txBody>
          <a:bodyPr wrap="square">
            <a:spAutoFit/>
          </a:bodyPr>
          <a:lstStyle/>
          <a:p>
            <a:pPr algn="l"/>
            <a:r>
              <a:rPr sz="850" b="1" i="0">
                <a:solidFill>
                  <a:srgbClr val="FFFFFF"/>
                </a:solidFill>
              </a:rPr>
              <a:t>2.  VSM Analyzer</a:t>
            </a:r>
          </a:p>
        </p:txBody>
      </p:sp>
      <p:sp>
        <p:nvSpPr>
          <p:cNvPr id="76" name="TextBox 75"/>
          <p:cNvSpPr txBox="1"/>
          <p:nvPr/>
        </p:nvSpPr>
        <p:spPr>
          <a:xfrm>
            <a:off x="3291840" y="3493008"/>
            <a:ext cx="2706624" cy="694944"/>
          </a:xfrm>
          <a:prstGeom prst="rect">
            <a:avLst/>
          </a:prstGeom>
          <a:noFill/>
        </p:spPr>
        <p:txBody>
          <a:bodyPr wrap="square">
            <a:spAutoFit/>
          </a:bodyPr>
          <a:lstStyle/>
          <a:p>
            <a:pPr algn="l"/>
            <a:r>
              <a:rPr sz="850" b="0" i="0">
                <a:solidFill>
                  <a:srgbClr val="1F2937"/>
                </a:solidFill>
              </a:rPr>
              <a:t>Aggregates lean metrics; computes flow efficiency; applies DORA calibration overrides.</a:t>
            </a:r>
          </a:p>
        </p:txBody>
      </p:sp>
      <p:sp>
        <p:nvSpPr>
          <p:cNvPr id="77" name="Rectangle 76"/>
          <p:cNvSpPr/>
          <p:nvPr/>
        </p:nvSpPr>
        <p:spPr>
          <a:xfrm>
            <a:off x="6144768" y="3182112"/>
            <a:ext cx="2852928" cy="1060704"/>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144768" y="3182112"/>
            <a:ext cx="2852928" cy="274320"/>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36208" y="3218688"/>
            <a:ext cx="2724912" cy="237744"/>
          </a:xfrm>
          <a:prstGeom prst="rect">
            <a:avLst/>
          </a:prstGeom>
          <a:noFill/>
        </p:spPr>
        <p:txBody>
          <a:bodyPr wrap="square">
            <a:spAutoFit/>
          </a:bodyPr>
          <a:lstStyle/>
          <a:p>
            <a:pPr algn="l"/>
            <a:r>
              <a:rPr sz="850" b="1" i="0">
                <a:solidFill>
                  <a:srgbClr val="FFFFFF"/>
                </a:solidFill>
              </a:rPr>
              <a:t>3.  Benchmark Agent</a:t>
            </a:r>
          </a:p>
        </p:txBody>
      </p:sp>
      <p:sp>
        <p:nvSpPr>
          <p:cNvPr id="80" name="TextBox 79"/>
          <p:cNvSpPr txBox="1"/>
          <p:nvPr/>
        </p:nvSpPr>
        <p:spPr>
          <a:xfrm>
            <a:off x="6236208" y="3493008"/>
            <a:ext cx="2706624" cy="694944"/>
          </a:xfrm>
          <a:prstGeom prst="rect">
            <a:avLst/>
          </a:prstGeom>
          <a:noFill/>
        </p:spPr>
        <p:txBody>
          <a:bodyPr wrap="square">
            <a:spAutoFit/>
          </a:bodyPr>
          <a:lstStyle/>
          <a:p>
            <a:pPr algn="l"/>
            <a:r>
              <a:rPr sz="850" b="0" i="0">
                <a:solidFill>
                  <a:srgbClr val="1F2937"/>
                </a:solidFill>
              </a:rPr>
              <a:t>Compares current state to DORA Elite, Gartner 2024 and industry P50 / P90 targets.</a:t>
            </a:r>
          </a:p>
        </p:txBody>
      </p:sp>
      <p:sp>
        <p:nvSpPr>
          <p:cNvPr id="81" name="Rectangle 80"/>
          <p:cNvSpPr/>
          <p:nvPr/>
        </p:nvSpPr>
        <p:spPr>
          <a:xfrm>
            <a:off x="9089136" y="3182112"/>
            <a:ext cx="2852928" cy="1060704"/>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089136" y="3182112"/>
            <a:ext cx="2852928" cy="27432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180576" y="3218688"/>
            <a:ext cx="2724912" cy="237744"/>
          </a:xfrm>
          <a:prstGeom prst="rect">
            <a:avLst/>
          </a:prstGeom>
          <a:noFill/>
        </p:spPr>
        <p:txBody>
          <a:bodyPr wrap="square">
            <a:spAutoFit/>
          </a:bodyPr>
          <a:lstStyle/>
          <a:p>
            <a:pPr algn="l"/>
            <a:r>
              <a:rPr sz="850" b="1" i="0">
                <a:solidFill>
                  <a:srgbClr val="FFFFFF"/>
                </a:solidFill>
              </a:rPr>
              <a:t>4.  Bottleneck Analyzer</a:t>
            </a:r>
          </a:p>
        </p:txBody>
      </p:sp>
      <p:sp>
        <p:nvSpPr>
          <p:cNvPr id="84" name="TextBox 83"/>
          <p:cNvSpPr txBox="1"/>
          <p:nvPr/>
        </p:nvSpPr>
        <p:spPr>
          <a:xfrm>
            <a:off x="9180576" y="3493008"/>
            <a:ext cx="2706624" cy="694944"/>
          </a:xfrm>
          <a:prstGeom prst="rect">
            <a:avLst/>
          </a:prstGeom>
          <a:noFill/>
        </p:spPr>
        <p:txBody>
          <a:bodyPr wrap="square">
            <a:spAutoFit/>
          </a:bodyPr>
          <a:lstStyle/>
          <a:p>
            <a:pPr algn="l"/>
            <a:r>
              <a:rPr sz="850" b="0" i="0">
                <a:solidFill>
                  <a:srgbClr val="1F2937"/>
                </a:solidFill>
              </a:rPr>
              <a:t>Identifies 12+ bottlenecks with Lean waste classification and 5-Why root-cause evidence.</a:t>
            </a:r>
          </a:p>
        </p:txBody>
      </p:sp>
      <p:sp>
        <p:nvSpPr>
          <p:cNvPr id="85" name="Rectangle 84"/>
          <p:cNvSpPr/>
          <p:nvPr/>
        </p:nvSpPr>
        <p:spPr>
          <a:xfrm>
            <a:off x="256032" y="4315968"/>
            <a:ext cx="2852928" cy="1060704"/>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256032" y="4315968"/>
            <a:ext cx="2852928" cy="274320"/>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47472" y="4352544"/>
            <a:ext cx="2724912" cy="237744"/>
          </a:xfrm>
          <a:prstGeom prst="rect">
            <a:avLst/>
          </a:prstGeom>
          <a:noFill/>
        </p:spPr>
        <p:txBody>
          <a:bodyPr wrap="square">
            <a:spAutoFit/>
          </a:bodyPr>
          <a:lstStyle/>
          <a:p>
            <a:pPr algn="l"/>
            <a:r>
              <a:rPr sz="850" b="1" i="0">
                <a:solidFill>
                  <a:srgbClr val="FFFFFF"/>
                </a:solidFill>
              </a:rPr>
              <a:t>5.  Improvement Generator</a:t>
            </a:r>
          </a:p>
        </p:txBody>
      </p:sp>
      <p:sp>
        <p:nvSpPr>
          <p:cNvPr id="88" name="TextBox 87"/>
          <p:cNvSpPr txBox="1"/>
          <p:nvPr/>
        </p:nvSpPr>
        <p:spPr>
          <a:xfrm>
            <a:off x="347472" y="4626864"/>
            <a:ext cx="2706624" cy="694944"/>
          </a:xfrm>
          <a:prstGeom prst="rect">
            <a:avLst/>
          </a:prstGeom>
          <a:noFill/>
        </p:spPr>
        <p:txBody>
          <a:bodyPr wrap="square">
            <a:spAutoFit/>
          </a:bodyPr>
          <a:lstStyle/>
          <a:p>
            <a:pPr algn="l"/>
            <a:r>
              <a:rPr sz="850" b="0" i="0">
                <a:solidFill>
                  <a:srgbClr val="1F2937"/>
                </a:solidFill>
              </a:rPr>
              <a:t>Prescribes AI-agent interventions per bottleneck with ROI multiple and time-to-value.</a:t>
            </a:r>
          </a:p>
        </p:txBody>
      </p:sp>
      <p:sp>
        <p:nvSpPr>
          <p:cNvPr id="89" name="Rectangle 88"/>
          <p:cNvSpPr/>
          <p:nvPr/>
        </p:nvSpPr>
        <p:spPr>
          <a:xfrm>
            <a:off x="3200400" y="4315968"/>
            <a:ext cx="2852928" cy="1060704"/>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3200400" y="4315968"/>
            <a:ext cx="2852928" cy="274320"/>
          </a:xfrm>
          <a:prstGeom prst="rect">
            <a:avLst/>
          </a:prstGeom>
          <a:solidFill>
            <a:srgbClr val="0E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291840" y="4352544"/>
            <a:ext cx="2724912" cy="237744"/>
          </a:xfrm>
          <a:prstGeom prst="rect">
            <a:avLst/>
          </a:prstGeom>
          <a:noFill/>
        </p:spPr>
        <p:txBody>
          <a:bodyPr wrap="square">
            <a:spAutoFit/>
          </a:bodyPr>
          <a:lstStyle/>
          <a:p>
            <a:pPr algn="l"/>
            <a:r>
              <a:rPr sz="850" b="1" i="0">
                <a:solidFill>
                  <a:srgbClr val="FFFFFF"/>
                </a:solidFill>
              </a:rPr>
              <a:t>6.  Future State Designer</a:t>
            </a:r>
          </a:p>
        </p:txBody>
      </p:sp>
      <p:sp>
        <p:nvSpPr>
          <p:cNvPr id="92" name="TextBox 91"/>
          <p:cNvSpPr txBox="1"/>
          <p:nvPr/>
        </p:nvSpPr>
        <p:spPr>
          <a:xfrm>
            <a:off x="3291840" y="4626864"/>
            <a:ext cx="2706624" cy="694944"/>
          </a:xfrm>
          <a:prstGeom prst="rect">
            <a:avLst/>
          </a:prstGeom>
          <a:noFill/>
        </p:spPr>
        <p:txBody>
          <a:bodyPr wrap="square">
            <a:spAutoFit/>
          </a:bodyPr>
          <a:lstStyle/>
          <a:p>
            <a:pPr algn="l"/>
            <a:r>
              <a:rPr sz="850" b="0" i="0">
                <a:solidFill>
                  <a:srgbClr val="1F2937"/>
                </a:solidFill>
              </a:rPr>
              <a:t>Generates 3 scenarios (40 % / 65 % / 85 % automation) with predicted DORA metrics.</a:t>
            </a:r>
          </a:p>
        </p:txBody>
      </p:sp>
      <p:sp>
        <p:nvSpPr>
          <p:cNvPr id="93" name="Rectangle 92"/>
          <p:cNvSpPr/>
          <p:nvPr/>
        </p:nvSpPr>
        <p:spPr>
          <a:xfrm>
            <a:off x="6144768" y="4315968"/>
            <a:ext cx="2852928" cy="1060704"/>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144768" y="4315968"/>
            <a:ext cx="2852928" cy="274320"/>
          </a:xfrm>
          <a:prstGeom prst="rect">
            <a:avLst/>
          </a:prstGeom>
          <a:solidFill>
            <a:srgbClr val="7C2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236208" y="4352544"/>
            <a:ext cx="2724912" cy="237744"/>
          </a:xfrm>
          <a:prstGeom prst="rect">
            <a:avLst/>
          </a:prstGeom>
          <a:noFill/>
        </p:spPr>
        <p:txBody>
          <a:bodyPr wrap="square">
            <a:spAutoFit/>
          </a:bodyPr>
          <a:lstStyle/>
          <a:p>
            <a:pPr algn="l"/>
            <a:r>
              <a:rPr sz="850" b="1" i="0">
                <a:solidFill>
                  <a:srgbClr val="FFFFFF"/>
                </a:solidFill>
              </a:rPr>
              <a:t>7.  Business Case Builder</a:t>
            </a:r>
          </a:p>
        </p:txBody>
      </p:sp>
      <p:sp>
        <p:nvSpPr>
          <p:cNvPr id="96" name="TextBox 95"/>
          <p:cNvSpPr txBox="1"/>
          <p:nvPr/>
        </p:nvSpPr>
        <p:spPr>
          <a:xfrm>
            <a:off x="6236208" y="4626864"/>
            <a:ext cx="2706624" cy="694944"/>
          </a:xfrm>
          <a:prstGeom prst="rect">
            <a:avLst/>
          </a:prstGeom>
          <a:noFill/>
        </p:spPr>
        <p:txBody>
          <a:bodyPr wrap="square">
            <a:spAutoFit/>
          </a:bodyPr>
          <a:lstStyle/>
          <a:p>
            <a:pPr algn="l"/>
            <a:r>
              <a:rPr sz="850" b="0" i="0">
                <a:solidFill>
                  <a:srgbClr val="1F2937"/>
                </a:solidFill>
              </a:rPr>
              <a:t>Produces investment vs. benefit analysis: $800K – $4.5M investment, 2.8× – 5.5× ROI.</a:t>
            </a:r>
          </a:p>
        </p:txBody>
      </p:sp>
      <p:sp>
        <p:nvSpPr>
          <p:cNvPr id="97" name="Rectangle 96"/>
          <p:cNvSpPr/>
          <p:nvPr/>
        </p:nvSpPr>
        <p:spPr>
          <a:xfrm>
            <a:off x="9089136" y="4315968"/>
            <a:ext cx="2852928" cy="1060704"/>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089136" y="4315968"/>
            <a:ext cx="2852928" cy="27432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180576" y="4352544"/>
            <a:ext cx="2724912" cy="237744"/>
          </a:xfrm>
          <a:prstGeom prst="rect">
            <a:avLst/>
          </a:prstGeom>
          <a:noFill/>
        </p:spPr>
        <p:txBody>
          <a:bodyPr wrap="square">
            <a:spAutoFit/>
          </a:bodyPr>
          <a:lstStyle/>
          <a:p>
            <a:pPr algn="l"/>
            <a:r>
              <a:rPr sz="850" b="1" i="0">
                <a:solidFill>
                  <a:srgbClr val="FFFFFF"/>
                </a:solidFill>
              </a:rPr>
              <a:t>8.  Playbook Contextualizer</a:t>
            </a:r>
          </a:p>
        </p:txBody>
      </p:sp>
      <p:sp>
        <p:nvSpPr>
          <p:cNvPr id="100" name="TextBox 99"/>
          <p:cNvSpPr txBox="1"/>
          <p:nvPr/>
        </p:nvSpPr>
        <p:spPr>
          <a:xfrm>
            <a:off x="9180576" y="4626864"/>
            <a:ext cx="2706624" cy="694944"/>
          </a:xfrm>
          <a:prstGeom prst="rect">
            <a:avLst/>
          </a:prstGeom>
          <a:noFill/>
        </p:spPr>
        <p:txBody>
          <a:bodyPr wrap="square">
            <a:spAutoFit/>
          </a:bodyPr>
          <a:lstStyle/>
          <a:p>
            <a:pPr algn="l"/>
            <a:r>
              <a:rPr sz="850" b="0" i="0">
                <a:solidFill>
                  <a:srgbClr val="1F2937"/>
                </a:solidFill>
              </a:rPr>
              <a:t>Builds sprint-by-sprint roadmap, RACI, risks and quick wins tailored to team context.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Agent 01  —  ALM Connector Agent</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Agent Deep-Dive</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6</a:t>
            </a:r>
          </a:p>
        </p:txBody>
      </p:sp>
      <p:sp>
        <p:nvSpPr>
          <p:cNvPr id="12" name="Rectangle 11"/>
          <p:cNvSpPr/>
          <p:nvPr/>
        </p:nvSpPr>
        <p:spPr>
          <a:xfrm>
            <a:off x="256032" y="1024128"/>
            <a:ext cx="11676888" cy="694944"/>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24128"/>
            <a:ext cx="91440"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051560"/>
            <a:ext cx="1645920" cy="237744"/>
          </a:xfrm>
          <a:prstGeom prst="rect">
            <a:avLst/>
          </a:prstGeom>
          <a:noFill/>
        </p:spPr>
        <p:txBody>
          <a:bodyPr wrap="square">
            <a:spAutoFit/>
          </a:bodyPr>
          <a:lstStyle/>
          <a:p>
            <a:pPr algn="l"/>
            <a:r>
              <a:rPr sz="900" b="1" i="0">
                <a:solidFill>
                  <a:srgbClr val="1E3A8A"/>
                </a:solidFill>
              </a:rPr>
              <a:t>Objective</a:t>
            </a:r>
          </a:p>
        </p:txBody>
      </p:sp>
      <p:sp>
        <p:nvSpPr>
          <p:cNvPr id="15" name="TextBox 14"/>
          <p:cNvSpPr txBox="1"/>
          <p:nvPr/>
        </p:nvSpPr>
        <p:spPr>
          <a:xfrm>
            <a:off x="438912" y="1298448"/>
            <a:ext cx="11411712" cy="365760"/>
          </a:xfrm>
          <a:prstGeom prst="rect">
            <a:avLst/>
          </a:prstGeom>
          <a:noFill/>
        </p:spPr>
        <p:txBody>
          <a:bodyPr wrap="square">
            <a:spAutoFit/>
          </a:bodyPr>
          <a:lstStyle/>
          <a:p>
            <a:pPr algn="l"/>
            <a:r>
              <a:rPr sz="1000" b="0" i="0">
                <a:solidFill>
                  <a:srgbClr val="1F2937"/>
                </a:solidFill>
              </a:rPr>
              <a:t>Bridge ALM tools (Jira, Azure DevOps) to the VSM pipeline by fetching work-item cycle data and mapping it to 7 PDLC phases with per-phase lean metrics.</a:t>
            </a:r>
          </a:p>
        </p:txBody>
      </p:sp>
      <p:sp>
        <p:nvSpPr>
          <p:cNvPr id="16" name="Rectangle 15"/>
          <p:cNvSpPr/>
          <p:nvPr/>
        </p:nvSpPr>
        <p:spPr>
          <a:xfrm>
            <a:off x="25603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 y="1828800"/>
            <a:ext cx="3749039"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892808"/>
            <a:ext cx="3584447" cy="237744"/>
          </a:xfrm>
          <a:prstGeom prst="rect">
            <a:avLst/>
          </a:prstGeom>
          <a:noFill/>
        </p:spPr>
        <p:txBody>
          <a:bodyPr wrap="square">
            <a:spAutoFit/>
          </a:bodyPr>
          <a:lstStyle/>
          <a:p>
            <a:pPr algn="l"/>
            <a:r>
              <a:rPr sz="1000" b="1" i="0">
                <a:solidFill>
                  <a:srgbClr val="FFFFFF"/>
                </a:solidFill>
              </a:rPr>
              <a:t>Inputs</a:t>
            </a:r>
          </a:p>
        </p:txBody>
      </p:sp>
      <p:sp>
        <p:nvSpPr>
          <p:cNvPr id="19" name="Rectangle 18"/>
          <p:cNvSpPr/>
          <p:nvPr/>
        </p:nvSpPr>
        <p:spPr>
          <a:xfrm>
            <a:off x="384048" y="232257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 y="2249424"/>
            <a:ext cx="3419855" cy="694944"/>
          </a:xfrm>
          <a:prstGeom prst="rect">
            <a:avLst/>
          </a:prstGeom>
          <a:noFill/>
        </p:spPr>
        <p:txBody>
          <a:bodyPr wrap="square">
            <a:spAutoFit/>
          </a:bodyPr>
          <a:lstStyle/>
          <a:p>
            <a:pPr algn="l"/>
            <a:r>
              <a:rPr sz="950" b="0" i="0">
                <a:solidFill>
                  <a:srgbClr val="1F2937"/>
                </a:solidFill>
              </a:rPr>
              <a:t>Project metadata — organisation, team, product name</a:t>
            </a:r>
          </a:p>
        </p:txBody>
      </p:sp>
      <p:sp>
        <p:nvSpPr>
          <p:cNvPr id="21" name="Rectangle 20"/>
          <p:cNvSpPr/>
          <p:nvPr/>
        </p:nvSpPr>
        <p:spPr>
          <a:xfrm>
            <a:off x="384048" y="305409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2980944"/>
            <a:ext cx="3419855" cy="694944"/>
          </a:xfrm>
          <a:prstGeom prst="rect">
            <a:avLst/>
          </a:prstGeom>
          <a:noFill/>
        </p:spPr>
        <p:txBody>
          <a:bodyPr wrap="square">
            <a:spAutoFit/>
          </a:bodyPr>
          <a:lstStyle/>
          <a:p>
            <a:pPr algn="l"/>
            <a:r>
              <a:rPr sz="950" b="0" i="0">
                <a:solidFill>
                  <a:srgbClr val="1F2937"/>
                </a:solidFill>
              </a:rPr>
              <a:t>ALM config — {tool, URL, credentials}</a:t>
            </a:r>
          </a:p>
        </p:txBody>
      </p:sp>
      <p:sp>
        <p:nvSpPr>
          <p:cNvPr id="23" name="Rectangle 22"/>
          <p:cNvSpPr/>
          <p:nvPr/>
        </p:nvSpPr>
        <p:spPr>
          <a:xfrm>
            <a:off x="384048" y="378561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 y="3712464"/>
            <a:ext cx="3419855" cy="694944"/>
          </a:xfrm>
          <a:prstGeom prst="rect">
            <a:avLst/>
          </a:prstGeom>
          <a:noFill/>
        </p:spPr>
        <p:txBody>
          <a:bodyPr wrap="square">
            <a:spAutoFit/>
          </a:bodyPr>
          <a:lstStyle/>
          <a:p>
            <a:pPr algn="l"/>
            <a:r>
              <a:rPr sz="950" b="0" i="0">
                <a:solidFill>
                  <a:srgbClr val="1F2937"/>
                </a:solidFill>
              </a:rPr>
              <a:t>User-defined PT / WT overrides for manual calibration</a:t>
            </a:r>
          </a:p>
        </p:txBody>
      </p:sp>
      <p:sp>
        <p:nvSpPr>
          <p:cNvPr id="25" name="Rectangle 24"/>
          <p:cNvSpPr/>
          <p:nvPr/>
        </p:nvSpPr>
        <p:spPr>
          <a:xfrm>
            <a:off x="4133087"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33087" y="1828800"/>
            <a:ext cx="3749039" cy="31089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61103" y="1892808"/>
            <a:ext cx="3584447" cy="237744"/>
          </a:xfrm>
          <a:prstGeom prst="rect">
            <a:avLst/>
          </a:prstGeom>
          <a:noFill/>
        </p:spPr>
        <p:txBody>
          <a:bodyPr wrap="square">
            <a:spAutoFit/>
          </a:bodyPr>
          <a:lstStyle/>
          <a:p>
            <a:pPr algn="l"/>
            <a:r>
              <a:rPr sz="1000" b="1" i="0">
                <a:solidFill>
                  <a:srgbClr val="FFFFFF"/>
                </a:solidFill>
              </a:rPr>
              <a:t>Key Logic &amp; Design Decisions</a:t>
            </a:r>
          </a:p>
        </p:txBody>
      </p:sp>
      <p:sp>
        <p:nvSpPr>
          <p:cNvPr id="28" name="Rectangle 27"/>
          <p:cNvSpPr/>
          <p:nvPr/>
        </p:nvSpPr>
        <p:spPr>
          <a:xfrm>
            <a:off x="4261103" y="232257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0831" y="2249424"/>
            <a:ext cx="3419855" cy="694944"/>
          </a:xfrm>
          <a:prstGeom prst="rect">
            <a:avLst/>
          </a:prstGeom>
          <a:noFill/>
        </p:spPr>
        <p:txBody>
          <a:bodyPr wrap="square">
            <a:spAutoFit/>
          </a:bodyPr>
          <a:lstStyle/>
          <a:p>
            <a:pPr algn="l"/>
            <a:r>
              <a:rPr sz="950" b="0" i="0">
                <a:solidFill>
                  <a:srgbClr val="1F2937"/>
                </a:solidFill>
              </a:rPr>
              <a:t>Authenticates to Jira or Azure DevOps; deterministic sample data fallback</a:t>
            </a:r>
          </a:p>
        </p:txBody>
      </p:sp>
      <p:sp>
        <p:nvSpPr>
          <p:cNvPr id="30" name="Rectangle 29"/>
          <p:cNvSpPr/>
          <p:nvPr/>
        </p:nvSpPr>
        <p:spPr>
          <a:xfrm>
            <a:off x="4261103" y="305409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0831" y="2980944"/>
            <a:ext cx="3419855" cy="694944"/>
          </a:xfrm>
          <a:prstGeom prst="rect">
            <a:avLst/>
          </a:prstGeom>
          <a:noFill/>
        </p:spPr>
        <p:txBody>
          <a:bodyPr wrap="square">
            <a:spAutoFit/>
          </a:bodyPr>
          <a:lstStyle/>
          <a:p>
            <a:pPr algn="l"/>
            <a:r>
              <a:rPr sz="950" b="0" i="0">
                <a:solidFill>
                  <a:srgbClr val="1F2937"/>
                </a:solidFill>
              </a:rPr>
              <a:t>Maps work items to 7 PDLC phase buckets using status / label rules</a:t>
            </a:r>
          </a:p>
        </p:txBody>
      </p:sp>
      <p:sp>
        <p:nvSpPr>
          <p:cNvPr id="32" name="Rectangle 31"/>
          <p:cNvSpPr/>
          <p:nvPr/>
        </p:nvSpPr>
        <p:spPr>
          <a:xfrm>
            <a:off x="4261103" y="378561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0831" y="3712464"/>
            <a:ext cx="3419855" cy="694944"/>
          </a:xfrm>
          <a:prstGeom prst="rect">
            <a:avLst/>
          </a:prstGeom>
          <a:noFill/>
        </p:spPr>
        <p:txBody>
          <a:bodyPr wrap="square">
            <a:spAutoFit/>
          </a:bodyPr>
          <a:lstStyle/>
          <a:p>
            <a:pPr algn="l"/>
            <a:r>
              <a:rPr sz="950" b="0" i="0">
                <a:solidFill>
                  <a:srgbClr val="1F2937"/>
                </a:solidFill>
              </a:rPr>
              <a:t>Computes per-phase PT, WT, LT, FE from issue cycle times</a:t>
            </a:r>
          </a:p>
        </p:txBody>
      </p:sp>
      <p:sp>
        <p:nvSpPr>
          <p:cNvPr id="34" name="Rectangle 33"/>
          <p:cNvSpPr/>
          <p:nvPr/>
        </p:nvSpPr>
        <p:spPr>
          <a:xfrm>
            <a:off x="4261103" y="451713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0831" y="4443984"/>
            <a:ext cx="3419855" cy="694944"/>
          </a:xfrm>
          <a:prstGeom prst="rect">
            <a:avLst/>
          </a:prstGeom>
          <a:noFill/>
        </p:spPr>
        <p:txBody>
          <a:bodyPr wrap="square">
            <a:spAutoFit/>
          </a:bodyPr>
          <a:lstStyle/>
          <a:p>
            <a:pPr algn="l"/>
            <a:r>
              <a:rPr sz="950" b="0" i="0">
                <a:solidFill>
                  <a:srgbClr val="1F2937"/>
                </a:solidFill>
              </a:rPr>
              <a:t>Applies user overrides before passing state downstream</a:t>
            </a:r>
          </a:p>
        </p:txBody>
      </p:sp>
      <p:sp>
        <p:nvSpPr>
          <p:cNvPr id="36" name="Rectangle 35"/>
          <p:cNvSpPr/>
          <p:nvPr/>
        </p:nvSpPr>
        <p:spPr>
          <a:xfrm>
            <a:off x="801014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10142" y="1828800"/>
            <a:ext cx="3749039" cy="31089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38158" y="1892808"/>
            <a:ext cx="3584447" cy="237744"/>
          </a:xfrm>
          <a:prstGeom prst="rect">
            <a:avLst/>
          </a:prstGeom>
          <a:noFill/>
        </p:spPr>
        <p:txBody>
          <a:bodyPr wrap="square">
            <a:spAutoFit/>
          </a:bodyPr>
          <a:lstStyle/>
          <a:p>
            <a:pPr algn="l"/>
            <a:r>
              <a:rPr sz="1000" b="1" i="0">
                <a:solidFill>
                  <a:srgbClr val="FFFFFF"/>
                </a:solidFill>
              </a:rPr>
              <a:t>Outputs</a:t>
            </a:r>
          </a:p>
        </p:txBody>
      </p:sp>
      <p:sp>
        <p:nvSpPr>
          <p:cNvPr id="39" name="Rectangle 38"/>
          <p:cNvSpPr/>
          <p:nvPr/>
        </p:nvSpPr>
        <p:spPr>
          <a:xfrm>
            <a:off x="8138158" y="232257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47886" y="2249424"/>
            <a:ext cx="3419855" cy="694944"/>
          </a:xfrm>
          <a:prstGeom prst="rect">
            <a:avLst/>
          </a:prstGeom>
          <a:noFill/>
        </p:spPr>
        <p:txBody>
          <a:bodyPr wrap="square">
            <a:spAutoFit/>
          </a:bodyPr>
          <a:lstStyle/>
          <a:p>
            <a:pPr algn="l"/>
            <a:r>
              <a:rPr sz="950" b="0" i="0">
                <a:solidFill>
                  <a:srgbClr val="1F2937"/>
                </a:solidFill>
              </a:rPr>
              <a:t>alm_raw_data — raw work items per phase</a:t>
            </a:r>
          </a:p>
        </p:txBody>
      </p:sp>
      <p:sp>
        <p:nvSpPr>
          <p:cNvPr id="41" name="Rectangle 40"/>
          <p:cNvSpPr/>
          <p:nvPr/>
        </p:nvSpPr>
        <p:spPr>
          <a:xfrm>
            <a:off x="8138158" y="305409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47886" y="2980944"/>
            <a:ext cx="3419855" cy="694944"/>
          </a:xfrm>
          <a:prstGeom prst="rect">
            <a:avLst/>
          </a:prstGeom>
          <a:noFill/>
        </p:spPr>
        <p:txBody>
          <a:bodyPr wrap="square">
            <a:spAutoFit/>
          </a:bodyPr>
          <a:lstStyle/>
          <a:p>
            <a:pPr algn="l"/>
            <a:r>
              <a:rPr sz="950" b="0" i="0">
                <a:solidFill>
                  <a:srgbClr val="1F2937"/>
                </a:solidFill>
              </a:rPr>
              <a:t>vsm_data — { phases[ { phase_id, PT, WT, LT, FE, activities } ]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Agent 02  —  VSM Analyzer Agent</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Agent Deep-Dive</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7</a:t>
            </a:r>
          </a:p>
        </p:txBody>
      </p:sp>
      <p:sp>
        <p:nvSpPr>
          <p:cNvPr id="12" name="Rectangle 11"/>
          <p:cNvSpPr/>
          <p:nvPr/>
        </p:nvSpPr>
        <p:spPr>
          <a:xfrm>
            <a:off x="256032" y="1024128"/>
            <a:ext cx="11676888" cy="694944"/>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24128"/>
            <a:ext cx="91440" cy="69494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051560"/>
            <a:ext cx="1645920" cy="237744"/>
          </a:xfrm>
          <a:prstGeom prst="rect">
            <a:avLst/>
          </a:prstGeom>
          <a:noFill/>
        </p:spPr>
        <p:txBody>
          <a:bodyPr wrap="square">
            <a:spAutoFit/>
          </a:bodyPr>
          <a:lstStyle/>
          <a:p>
            <a:pPr algn="l"/>
            <a:r>
              <a:rPr sz="900" b="1" i="0">
                <a:solidFill>
                  <a:srgbClr val="1D4ED8"/>
                </a:solidFill>
              </a:rPr>
              <a:t>Objective</a:t>
            </a:r>
          </a:p>
        </p:txBody>
      </p:sp>
      <p:sp>
        <p:nvSpPr>
          <p:cNvPr id="15" name="TextBox 14"/>
          <p:cNvSpPr txBox="1"/>
          <p:nvPr/>
        </p:nvSpPr>
        <p:spPr>
          <a:xfrm>
            <a:off x="438912" y="1298448"/>
            <a:ext cx="11411712" cy="365760"/>
          </a:xfrm>
          <a:prstGeom prst="rect">
            <a:avLst/>
          </a:prstGeom>
          <a:noFill/>
        </p:spPr>
        <p:txBody>
          <a:bodyPr wrap="square">
            <a:spAutoFit/>
          </a:bodyPr>
          <a:lstStyle/>
          <a:p>
            <a:pPr algn="l"/>
            <a:r>
              <a:rPr sz="1000" b="0" i="0">
                <a:solidFill>
                  <a:srgbClr val="1F2937"/>
                </a:solidFill>
              </a:rPr>
              <a:t>Compute aggregate lean VSM metrics from mapped phase data and apply DORA calibration to align theoretical metrics with measured delivery telemetry.</a:t>
            </a:r>
          </a:p>
        </p:txBody>
      </p:sp>
      <p:sp>
        <p:nvSpPr>
          <p:cNvPr id="16" name="Rectangle 15"/>
          <p:cNvSpPr/>
          <p:nvPr/>
        </p:nvSpPr>
        <p:spPr>
          <a:xfrm>
            <a:off x="25603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 y="1828800"/>
            <a:ext cx="3749039"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892808"/>
            <a:ext cx="3584447" cy="237744"/>
          </a:xfrm>
          <a:prstGeom prst="rect">
            <a:avLst/>
          </a:prstGeom>
          <a:noFill/>
        </p:spPr>
        <p:txBody>
          <a:bodyPr wrap="square">
            <a:spAutoFit/>
          </a:bodyPr>
          <a:lstStyle/>
          <a:p>
            <a:pPr algn="l"/>
            <a:r>
              <a:rPr sz="1000" b="1" i="0">
                <a:solidFill>
                  <a:srgbClr val="FFFFFF"/>
                </a:solidFill>
              </a:rPr>
              <a:t>Inputs</a:t>
            </a:r>
          </a:p>
        </p:txBody>
      </p:sp>
      <p:sp>
        <p:nvSpPr>
          <p:cNvPr id="19" name="Rectangle 18"/>
          <p:cNvSpPr/>
          <p:nvPr/>
        </p:nvSpPr>
        <p:spPr>
          <a:xfrm>
            <a:off x="384048" y="232257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 y="2249424"/>
            <a:ext cx="3419855" cy="694944"/>
          </a:xfrm>
          <a:prstGeom prst="rect">
            <a:avLst/>
          </a:prstGeom>
          <a:noFill/>
        </p:spPr>
        <p:txBody>
          <a:bodyPr wrap="square">
            <a:spAutoFit/>
          </a:bodyPr>
          <a:lstStyle/>
          <a:p>
            <a:pPr algn="l"/>
            <a:r>
              <a:rPr sz="950" b="0" i="0">
                <a:solidFill>
                  <a:srgbClr val="1F2937"/>
                </a:solidFill>
              </a:rPr>
              <a:t>vsm_data — from ALM Connector</a:t>
            </a:r>
          </a:p>
        </p:txBody>
      </p:sp>
      <p:sp>
        <p:nvSpPr>
          <p:cNvPr id="21" name="Rectangle 20"/>
          <p:cNvSpPr/>
          <p:nvPr/>
        </p:nvSpPr>
        <p:spPr>
          <a:xfrm>
            <a:off x="384048" y="305409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2980944"/>
            <a:ext cx="3419855" cy="694944"/>
          </a:xfrm>
          <a:prstGeom prst="rect">
            <a:avLst/>
          </a:prstGeom>
          <a:noFill/>
        </p:spPr>
        <p:txBody>
          <a:bodyPr wrap="square">
            <a:spAutoFit/>
          </a:bodyPr>
          <a:lstStyle/>
          <a:p>
            <a:pPr algn="l"/>
            <a:r>
              <a:rPr sz="950" b="0" i="0">
                <a:solidFill>
                  <a:srgbClr val="1F2937"/>
                </a:solidFill>
              </a:rPr>
              <a:t>dora_calibration — { code review wait, build duration, deploy wait, ops wait }</a:t>
            </a:r>
          </a:p>
        </p:txBody>
      </p:sp>
      <p:sp>
        <p:nvSpPr>
          <p:cNvPr id="23" name="Rectangle 22"/>
          <p:cNvSpPr/>
          <p:nvPr/>
        </p:nvSpPr>
        <p:spPr>
          <a:xfrm>
            <a:off x="4133087"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33087" y="1828800"/>
            <a:ext cx="3749039" cy="31089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61103" y="1892808"/>
            <a:ext cx="3584447" cy="237744"/>
          </a:xfrm>
          <a:prstGeom prst="rect">
            <a:avLst/>
          </a:prstGeom>
          <a:noFill/>
        </p:spPr>
        <p:txBody>
          <a:bodyPr wrap="square">
            <a:spAutoFit/>
          </a:bodyPr>
          <a:lstStyle/>
          <a:p>
            <a:pPr algn="l"/>
            <a:r>
              <a:rPr sz="1000" b="1" i="0">
                <a:solidFill>
                  <a:srgbClr val="FFFFFF"/>
                </a:solidFill>
              </a:rPr>
              <a:t>Key Logic &amp; Design Decisions</a:t>
            </a:r>
          </a:p>
        </p:txBody>
      </p:sp>
      <p:sp>
        <p:nvSpPr>
          <p:cNvPr id="26" name="Rectangle 25"/>
          <p:cNvSpPr/>
          <p:nvPr/>
        </p:nvSpPr>
        <p:spPr>
          <a:xfrm>
            <a:off x="4261103" y="232257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0831" y="2249424"/>
            <a:ext cx="3419855" cy="694944"/>
          </a:xfrm>
          <a:prstGeom prst="rect">
            <a:avLst/>
          </a:prstGeom>
          <a:noFill/>
        </p:spPr>
        <p:txBody>
          <a:bodyPr wrap="square">
            <a:spAutoFit/>
          </a:bodyPr>
          <a:lstStyle/>
          <a:p>
            <a:pPr algn="l"/>
            <a:r>
              <a:rPr sz="950" b="0" i="0">
                <a:solidFill>
                  <a:srgbClr val="1F2937"/>
                </a:solidFill>
              </a:rPr>
              <a:t>Aggregates PT / WT / LT across all 7 phases</a:t>
            </a:r>
          </a:p>
        </p:txBody>
      </p:sp>
      <p:sp>
        <p:nvSpPr>
          <p:cNvPr id="28" name="Rectangle 27"/>
          <p:cNvSpPr/>
          <p:nvPr/>
        </p:nvSpPr>
        <p:spPr>
          <a:xfrm>
            <a:off x="4261103" y="305409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0831" y="2980944"/>
            <a:ext cx="3419855" cy="694944"/>
          </a:xfrm>
          <a:prstGeom prst="rect">
            <a:avLst/>
          </a:prstGeom>
          <a:noFill/>
        </p:spPr>
        <p:txBody>
          <a:bodyPr wrap="square">
            <a:spAutoFit/>
          </a:bodyPr>
          <a:lstStyle/>
          <a:p>
            <a:pPr algn="l"/>
            <a:r>
              <a:rPr sz="950" b="0" i="0">
                <a:solidFill>
                  <a:srgbClr val="1F2937"/>
                </a:solidFill>
              </a:rPr>
              <a:t>Calculates overall flow efficiency = PT ÷ (PT + WT) × 100</a:t>
            </a:r>
          </a:p>
        </p:txBody>
      </p:sp>
      <p:sp>
        <p:nvSpPr>
          <p:cNvPr id="30" name="Rectangle 29"/>
          <p:cNvSpPr/>
          <p:nvPr/>
        </p:nvSpPr>
        <p:spPr>
          <a:xfrm>
            <a:off x="4261103" y="378561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0831" y="3712464"/>
            <a:ext cx="3419855" cy="694944"/>
          </a:xfrm>
          <a:prstGeom prst="rect">
            <a:avLst/>
          </a:prstGeom>
          <a:noFill/>
        </p:spPr>
        <p:txBody>
          <a:bodyPr wrap="square">
            <a:spAutoFit/>
          </a:bodyPr>
          <a:lstStyle/>
          <a:p>
            <a:pPr algn="l"/>
            <a:r>
              <a:rPr sz="950" b="0" i="0">
                <a:solidFill>
                  <a:srgbClr val="1F2937"/>
                </a:solidFill>
              </a:rPr>
              <a:t>Adjusts per-phase wait times using measured DORA values</a:t>
            </a:r>
          </a:p>
        </p:txBody>
      </p:sp>
      <p:sp>
        <p:nvSpPr>
          <p:cNvPr id="32" name="Rectangle 31"/>
          <p:cNvSpPr/>
          <p:nvPr/>
        </p:nvSpPr>
        <p:spPr>
          <a:xfrm>
            <a:off x="4261103" y="451713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0831" y="4443984"/>
            <a:ext cx="3419855" cy="694944"/>
          </a:xfrm>
          <a:prstGeom prst="rect">
            <a:avLst/>
          </a:prstGeom>
          <a:noFill/>
        </p:spPr>
        <p:txBody>
          <a:bodyPr wrap="square">
            <a:spAutoFit/>
          </a:bodyPr>
          <a:lstStyle/>
          <a:p>
            <a:pPr algn="l"/>
            <a:r>
              <a:rPr sz="950" b="0" i="0">
                <a:solidFill>
                  <a:srgbClr val="1F2937"/>
                </a:solidFill>
              </a:rPr>
              <a:t>Estimates deployment frequency and CFR from VSM patterns</a:t>
            </a:r>
          </a:p>
        </p:txBody>
      </p:sp>
      <p:sp>
        <p:nvSpPr>
          <p:cNvPr id="34" name="Rectangle 33"/>
          <p:cNvSpPr/>
          <p:nvPr/>
        </p:nvSpPr>
        <p:spPr>
          <a:xfrm>
            <a:off x="4261103" y="524865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0831" y="5175504"/>
            <a:ext cx="3419855" cy="694944"/>
          </a:xfrm>
          <a:prstGeom prst="rect">
            <a:avLst/>
          </a:prstGeom>
          <a:noFill/>
        </p:spPr>
        <p:txBody>
          <a:bodyPr wrap="square">
            <a:spAutoFit/>
          </a:bodyPr>
          <a:lstStyle/>
          <a:p>
            <a:pPr algn="l"/>
            <a:r>
              <a:rPr sz="950" b="0" i="0">
                <a:solidFill>
                  <a:srgbClr val="1F2937"/>
                </a:solidFill>
              </a:rPr>
              <a:t>LLM or rule-based narrative assessment of current state</a:t>
            </a:r>
          </a:p>
        </p:txBody>
      </p:sp>
      <p:sp>
        <p:nvSpPr>
          <p:cNvPr id="36" name="Rectangle 35"/>
          <p:cNvSpPr/>
          <p:nvPr/>
        </p:nvSpPr>
        <p:spPr>
          <a:xfrm>
            <a:off x="801014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10142" y="1828800"/>
            <a:ext cx="3749039" cy="31089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38158" y="1892808"/>
            <a:ext cx="3584447" cy="237744"/>
          </a:xfrm>
          <a:prstGeom prst="rect">
            <a:avLst/>
          </a:prstGeom>
          <a:noFill/>
        </p:spPr>
        <p:txBody>
          <a:bodyPr wrap="square">
            <a:spAutoFit/>
          </a:bodyPr>
          <a:lstStyle/>
          <a:p>
            <a:pPr algn="l"/>
            <a:r>
              <a:rPr sz="1000" b="1" i="0">
                <a:solidFill>
                  <a:srgbClr val="FFFFFF"/>
                </a:solidFill>
              </a:rPr>
              <a:t>Outputs</a:t>
            </a:r>
          </a:p>
        </p:txBody>
      </p:sp>
      <p:sp>
        <p:nvSpPr>
          <p:cNvPr id="39" name="Rectangle 38"/>
          <p:cNvSpPr/>
          <p:nvPr/>
        </p:nvSpPr>
        <p:spPr>
          <a:xfrm>
            <a:off x="8138158" y="232257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47886" y="2249424"/>
            <a:ext cx="3419855" cy="694944"/>
          </a:xfrm>
          <a:prstGeom prst="rect">
            <a:avLst/>
          </a:prstGeom>
          <a:noFill/>
        </p:spPr>
        <p:txBody>
          <a:bodyPr wrap="square">
            <a:spAutoFit/>
          </a:bodyPr>
          <a:lstStyle/>
          <a:p>
            <a:pPr algn="l"/>
            <a:r>
              <a:rPr sz="950" b="0" i="0">
                <a:solidFill>
                  <a:srgbClr val="1F2937"/>
                </a:solidFill>
              </a:rPr>
              <a:t>metrics — { total_PT, total_WT, total_LT_days, flow_efficiency, deploy_freq, CFR, MTTR }</a:t>
            </a:r>
          </a:p>
        </p:txBody>
      </p:sp>
      <p:sp>
        <p:nvSpPr>
          <p:cNvPr id="41" name="Rectangle 40"/>
          <p:cNvSpPr/>
          <p:nvPr/>
        </p:nvSpPr>
        <p:spPr>
          <a:xfrm>
            <a:off x="8138158" y="305409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47886" y="2980944"/>
            <a:ext cx="3419855" cy="694944"/>
          </a:xfrm>
          <a:prstGeom prst="rect">
            <a:avLst/>
          </a:prstGeom>
          <a:noFill/>
        </p:spPr>
        <p:txBody>
          <a:bodyPr wrap="square">
            <a:spAutoFit/>
          </a:bodyPr>
          <a:lstStyle/>
          <a:p>
            <a:pPr algn="l"/>
            <a:r>
              <a:rPr sz="950" b="0" i="0">
                <a:solidFill>
                  <a:srgbClr val="1F2937"/>
                </a:solidFill>
              </a:rPr>
              <a:t>narrative — prose assessment of current-state performance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Agent 03  —  Benchmark Agent</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Agent Deep-Dive</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8</a:t>
            </a:r>
          </a:p>
        </p:txBody>
      </p:sp>
      <p:sp>
        <p:nvSpPr>
          <p:cNvPr id="12" name="Rectangle 11"/>
          <p:cNvSpPr/>
          <p:nvPr/>
        </p:nvSpPr>
        <p:spPr>
          <a:xfrm>
            <a:off x="256032" y="1024128"/>
            <a:ext cx="11676888" cy="694944"/>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24128"/>
            <a:ext cx="91440" cy="69494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051560"/>
            <a:ext cx="1645920" cy="237744"/>
          </a:xfrm>
          <a:prstGeom prst="rect">
            <a:avLst/>
          </a:prstGeom>
          <a:noFill/>
        </p:spPr>
        <p:txBody>
          <a:bodyPr wrap="square">
            <a:spAutoFit/>
          </a:bodyPr>
          <a:lstStyle/>
          <a:p>
            <a:pPr algn="l"/>
            <a:r>
              <a:rPr sz="900" b="1" i="0">
                <a:solidFill>
                  <a:srgbClr val="065F46"/>
                </a:solidFill>
              </a:rPr>
              <a:t>Objective</a:t>
            </a:r>
          </a:p>
        </p:txBody>
      </p:sp>
      <p:sp>
        <p:nvSpPr>
          <p:cNvPr id="15" name="TextBox 14"/>
          <p:cNvSpPr txBox="1"/>
          <p:nvPr/>
        </p:nvSpPr>
        <p:spPr>
          <a:xfrm>
            <a:off x="438912" y="1298448"/>
            <a:ext cx="11411712" cy="365760"/>
          </a:xfrm>
          <a:prstGeom prst="rect">
            <a:avLst/>
          </a:prstGeom>
          <a:noFill/>
        </p:spPr>
        <p:txBody>
          <a:bodyPr wrap="square">
            <a:spAutoFit/>
          </a:bodyPr>
          <a:lstStyle/>
          <a:p>
            <a:pPr algn="l"/>
            <a:r>
              <a:rPr sz="1000" b="0" i="0">
                <a:solidFill>
                  <a:srgbClr val="1F2937"/>
                </a:solidFill>
              </a:rPr>
              <a:t>Load DORA Elite, Gartner 2024 and Lean VSM industry benchmarks and compute per-phase and overall performance gaps to prioritise improvement focus.</a:t>
            </a:r>
          </a:p>
        </p:txBody>
      </p:sp>
      <p:sp>
        <p:nvSpPr>
          <p:cNvPr id="16" name="Rectangle 15"/>
          <p:cNvSpPr/>
          <p:nvPr/>
        </p:nvSpPr>
        <p:spPr>
          <a:xfrm>
            <a:off x="25603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 y="1828800"/>
            <a:ext cx="3749039"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892808"/>
            <a:ext cx="3584447" cy="237744"/>
          </a:xfrm>
          <a:prstGeom prst="rect">
            <a:avLst/>
          </a:prstGeom>
          <a:noFill/>
        </p:spPr>
        <p:txBody>
          <a:bodyPr wrap="square">
            <a:spAutoFit/>
          </a:bodyPr>
          <a:lstStyle/>
          <a:p>
            <a:pPr algn="l"/>
            <a:r>
              <a:rPr sz="1000" b="1" i="0">
                <a:solidFill>
                  <a:srgbClr val="FFFFFF"/>
                </a:solidFill>
              </a:rPr>
              <a:t>Inputs</a:t>
            </a:r>
          </a:p>
        </p:txBody>
      </p:sp>
      <p:sp>
        <p:nvSpPr>
          <p:cNvPr id="19" name="Rectangle 18"/>
          <p:cNvSpPr/>
          <p:nvPr/>
        </p:nvSpPr>
        <p:spPr>
          <a:xfrm>
            <a:off x="384048" y="232257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 y="2249424"/>
            <a:ext cx="3419855" cy="694944"/>
          </a:xfrm>
          <a:prstGeom prst="rect">
            <a:avLst/>
          </a:prstGeom>
          <a:noFill/>
        </p:spPr>
        <p:txBody>
          <a:bodyPr wrap="square">
            <a:spAutoFit/>
          </a:bodyPr>
          <a:lstStyle/>
          <a:p>
            <a:pPr algn="l"/>
            <a:r>
              <a:rPr sz="950" b="0" i="0">
                <a:solidFill>
                  <a:srgbClr val="1F2937"/>
                </a:solidFill>
              </a:rPr>
              <a:t>metrics — from VSM Analyzer</a:t>
            </a:r>
          </a:p>
        </p:txBody>
      </p:sp>
      <p:sp>
        <p:nvSpPr>
          <p:cNvPr id="21" name="Rectangle 20"/>
          <p:cNvSpPr/>
          <p:nvPr/>
        </p:nvSpPr>
        <p:spPr>
          <a:xfrm>
            <a:off x="4133087"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33087" y="1828800"/>
            <a:ext cx="3749039" cy="31089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61103" y="1892808"/>
            <a:ext cx="3584447" cy="237744"/>
          </a:xfrm>
          <a:prstGeom prst="rect">
            <a:avLst/>
          </a:prstGeom>
          <a:noFill/>
        </p:spPr>
        <p:txBody>
          <a:bodyPr wrap="square">
            <a:spAutoFit/>
          </a:bodyPr>
          <a:lstStyle/>
          <a:p>
            <a:pPr algn="l"/>
            <a:r>
              <a:rPr sz="1000" b="1" i="0">
                <a:solidFill>
                  <a:srgbClr val="FFFFFF"/>
                </a:solidFill>
              </a:rPr>
              <a:t>Key Logic &amp; Design Decisions</a:t>
            </a:r>
          </a:p>
        </p:txBody>
      </p:sp>
      <p:sp>
        <p:nvSpPr>
          <p:cNvPr id="24" name="Rectangle 23"/>
          <p:cNvSpPr/>
          <p:nvPr/>
        </p:nvSpPr>
        <p:spPr>
          <a:xfrm>
            <a:off x="4261103" y="232257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0831" y="2249424"/>
            <a:ext cx="3419855" cy="694944"/>
          </a:xfrm>
          <a:prstGeom prst="rect">
            <a:avLst/>
          </a:prstGeom>
          <a:noFill/>
        </p:spPr>
        <p:txBody>
          <a:bodyPr wrap="square">
            <a:spAutoFit/>
          </a:bodyPr>
          <a:lstStyle/>
          <a:p>
            <a:pPr algn="l"/>
            <a:r>
              <a:rPr sz="950" b="0" i="0">
                <a:solidFill>
                  <a:srgbClr val="1F2937"/>
                </a:solidFill>
              </a:rPr>
              <a:t>Hardcoded benchmark library — DORA Elite targets, Lean VSM P50 / P90, Gartner competitor data</a:t>
            </a:r>
          </a:p>
        </p:txBody>
      </p:sp>
      <p:sp>
        <p:nvSpPr>
          <p:cNvPr id="26" name="Rectangle 25"/>
          <p:cNvSpPr/>
          <p:nvPr/>
        </p:nvSpPr>
        <p:spPr>
          <a:xfrm>
            <a:off x="4261103" y="305409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0831" y="2980944"/>
            <a:ext cx="3419855" cy="694944"/>
          </a:xfrm>
          <a:prstGeom prst="rect">
            <a:avLst/>
          </a:prstGeom>
          <a:noFill/>
        </p:spPr>
        <p:txBody>
          <a:bodyPr wrap="square">
            <a:spAutoFit/>
          </a:bodyPr>
          <a:lstStyle/>
          <a:p>
            <a:pPr algn="l"/>
            <a:r>
              <a:rPr sz="950" b="0" i="0">
                <a:solidFill>
                  <a:srgbClr val="1F2937"/>
                </a:solidFill>
              </a:rPr>
              <a:t>Computes gap between current and benchmark per phase (FE%, WT hours)</a:t>
            </a:r>
          </a:p>
        </p:txBody>
      </p:sp>
      <p:sp>
        <p:nvSpPr>
          <p:cNvPr id="28" name="Rectangle 27"/>
          <p:cNvSpPr/>
          <p:nvPr/>
        </p:nvSpPr>
        <p:spPr>
          <a:xfrm>
            <a:off x="4261103" y="378561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0831" y="3712464"/>
            <a:ext cx="3419855" cy="694944"/>
          </a:xfrm>
          <a:prstGeom prst="rect">
            <a:avLst/>
          </a:prstGeom>
          <a:noFill/>
        </p:spPr>
        <p:txBody>
          <a:bodyPr wrap="square">
            <a:spAutoFit/>
          </a:bodyPr>
          <a:lstStyle/>
          <a:p>
            <a:pPr algn="l"/>
            <a:r>
              <a:rPr sz="950" b="0" i="0">
                <a:solidFill>
                  <a:srgbClr val="1F2937"/>
                </a:solidFill>
              </a:rPr>
              <a:t>Identifies phases furthest from industry targets for downstream prioritisation</a:t>
            </a:r>
          </a:p>
        </p:txBody>
      </p:sp>
      <p:sp>
        <p:nvSpPr>
          <p:cNvPr id="30" name="Rectangle 29"/>
          <p:cNvSpPr/>
          <p:nvPr/>
        </p:nvSpPr>
        <p:spPr>
          <a:xfrm>
            <a:off x="4261103" y="451713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0831" y="4443984"/>
            <a:ext cx="3419855" cy="694944"/>
          </a:xfrm>
          <a:prstGeom prst="rect">
            <a:avLst/>
          </a:prstGeom>
          <a:noFill/>
        </p:spPr>
        <p:txBody>
          <a:bodyPr wrap="square">
            <a:spAutoFit/>
          </a:bodyPr>
          <a:lstStyle/>
          <a:p>
            <a:pPr algn="l"/>
            <a:r>
              <a:rPr sz="950" b="0" i="0">
                <a:solidFill>
                  <a:srgbClr val="1F2937"/>
                </a:solidFill>
              </a:rPr>
              <a:t>Provides overall LT target, competitor Q1 and DORA Elite reference points</a:t>
            </a:r>
          </a:p>
        </p:txBody>
      </p:sp>
      <p:sp>
        <p:nvSpPr>
          <p:cNvPr id="32" name="Rectangle 31"/>
          <p:cNvSpPr/>
          <p:nvPr/>
        </p:nvSpPr>
        <p:spPr>
          <a:xfrm>
            <a:off x="801014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0142" y="1828800"/>
            <a:ext cx="3749039" cy="31089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58" y="1892808"/>
            <a:ext cx="3584447" cy="237744"/>
          </a:xfrm>
          <a:prstGeom prst="rect">
            <a:avLst/>
          </a:prstGeom>
          <a:noFill/>
        </p:spPr>
        <p:txBody>
          <a:bodyPr wrap="square">
            <a:spAutoFit/>
          </a:bodyPr>
          <a:lstStyle/>
          <a:p>
            <a:pPr algn="l"/>
            <a:r>
              <a:rPr sz="1000" b="1" i="0">
                <a:solidFill>
                  <a:srgbClr val="FFFFFF"/>
                </a:solidFill>
              </a:rPr>
              <a:t>Outputs</a:t>
            </a:r>
          </a:p>
        </p:txBody>
      </p:sp>
      <p:sp>
        <p:nvSpPr>
          <p:cNvPr id="35" name="Rectangle 34"/>
          <p:cNvSpPr/>
          <p:nvPr/>
        </p:nvSpPr>
        <p:spPr>
          <a:xfrm>
            <a:off x="8138158" y="232257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47886" y="2249424"/>
            <a:ext cx="3419855" cy="694944"/>
          </a:xfrm>
          <a:prstGeom prst="rect">
            <a:avLst/>
          </a:prstGeom>
          <a:noFill/>
        </p:spPr>
        <p:txBody>
          <a:bodyPr wrap="square">
            <a:spAutoFit/>
          </a:bodyPr>
          <a:lstStyle/>
          <a:p>
            <a:pPr algn="l"/>
            <a:r>
              <a:rPr sz="950" b="0" i="0">
                <a:solidFill>
                  <a:srgbClr val="1F2937"/>
                </a:solidFill>
              </a:rPr>
              <a:t>benchmarks — { phases { phase_id: { current_PT, benchmark_PT_p50, gap_FE_pct, gap_WT_hrs } } }</a:t>
            </a:r>
          </a:p>
        </p:txBody>
      </p:sp>
      <p:sp>
        <p:nvSpPr>
          <p:cNvPr id="37" name="Rectangle 36"/>
          <p:cNvSpPr/>
          <p:nvPr/>
        </p:nvSpPr>
        <p:spPr>
          <a:xfrm>
            <a:off x="8138158" y="305409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47886" y="2980944"/>
            <a:ext cx="3419855" cy="694944"/>
          </a:xfrm>
          <a:prstGeom prst="rect">
            <a:avLst/>
          </a:prstGeom>
          <a:noFill/>
        </p:spPr>
        <p:txBody>
          <a:bodyPr wrap="square">
            <a:spAutoFit/>
          </a:bodyPr>
          <a:lstStyle/>
          <a:p>
            <a:pPr algn="l"/>
            <a:r>
              <a:rPr sz="950" b="0" i="0">
                <a:solidFill>
                  <a:srgbClr val="1F2937"/>
                </a:solidFill>
              </a:rPr>
              <a:t>benchmarks — { overall: { current_LT, target_LT, competitor_Q1, DORA_Elite }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Agent 04  —  Bottleneck Analyzer Agent</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Agent Deep-Dive</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9</a:t>
            </a:r>
          </a:p>
        </p:txBody>
      </p:sp>
      <p:sp>
        <p:nvSpPr>
          <p:cNvPr id="12" name="Rectangle 11"/>
          <p:cNvSpPr/>
          <p:nvPr/>
        </p:nvSpPr>
        <p:spPr>
          <a:xfrm>
            <a:off x="256032" y="1024128"/>
            <a:ext cx="11676888" cy="694944"/>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24128"/>
            <a:ext cx="91440" cy="694944"/>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051560"/>
            <a:ext cx="1645920" cy="237744"/>
          </a:xfrm>
          <a:prstGeom prst="rect">
            <a:avLst/>
          </a:prstGeom>
          <a:noFill/>
        </p:spPr>
        <p:txBody>
          <a:bodyPr wrap="square">
            <a:spAutoFit/>
          </a:bodyPr>
          <a:lstStyle/>
          <a:p>
            <a:pPr algn="l"/>
            <a:r>
              <a:rPr sz="900" b="1" i="0">
                <a:solidFill>
                  <a:srgbClr val="B45A09"/>
                </a:solidFill>
              </a:rPr>
              <a:t>Objective</a:t>
            </a:r>
          </a:p>
        </p:txBody>
      </p:sp>
      <p:sp>
        <p:nvSpPr>
          <p:cNvPr id="15" name="TextBox 14"/>
          <p:cNvSpPr txBox="1"/>
          <p:nvPr/>
        </p:nvSpPr>
        <p:spPr>
          <a:xfrm>
            <a:off x="438912" y="1298448"/>
            <a:ext cx="11411712" cy="365760"/>
          </a:xfrm>
          <a:prstGeom prst="rect">
            <a:avLst/>
          </a:prstGeom>
          <a:noFill/>
        </p:spPr>
        <p:txBody>
          <a:bodyPr wrap="square">
            <a:spAutoFit/>
          </a:bodyPr>
          <a:lstStyle/>
          <a:p>
            <a:pPr algn="l"/>
            <a:r>
              <a:rPr sz="1000" b="0" i="0">
                <a:solidFill>
                  <a:srgbClr val="1F2937"/>
                </a:solidFill>
              </a:rPr>
              <a:t>Identify and enrich every flow bottleneck with Lean waste classification, 5-Why root causes, quantified business impact and linked improvements.</a:t>
            </a:r>
          </a:p>
        </p:txBody>
      </p:sp>
      <p:sp>
        <p:nvSpPr>
          <p:cNvPr id="16" name="Rectangle 15"/>
          <p:cNvSpPr/>
          <p:nvPr/>
        </p:nvSpPr>
        <p:spPr>
          <a:xfrm>
            <a:off x="25603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 y="1828800"/>
            <a:ext cx="3749039"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892808"/>
            <a:ext cx="3584447" cy="237744"/>
          </a:xfrm>
          <a:prstGeom prst="rect">
            <a:avLst/>
          </a:prstGeom>
          <a:noFill/>
        </p:spPr>
        <p:txBody>
          <a:bodyPr wrap="square">
            <a:spAutoFit/>
          </a:bodyPr>
          <a:lstStyle/>
          <a:p>
            <a:pPr algn="l"/>
            <a:r>
              <a:rPr sz="1000" b="1" i="0">
                <a:solidFill>
                  <a:srgbClr val="FFFFFF"/>
                </a:solidFill>
              </a:rPr>
              <a:t>Inputs</a:t>
            </a:r>
          </a:p>
        </p:txBody>
      </p:sp>
      <p:sp>
        <p:nvSpPr>
          <p:cNvPr id="19" name="Rectangle 18"/>
          <p:cNvSpPr/>
          <p:nvPr/>
        </p:nvSpPr>
        <p:spPr>
          <a:xfrm>
            <a:off x="384048" y="232257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 y="2249424"/>
            <a:ext cx="3419855" cy="694944"/>
          </a:xfrm>
          <a:prstGeom prst="rect">
            <a:avLst/>
          </a:prstGeom>
          <a:noFill/>
        </p:spPr>
        <p:txBody>
          <a:bodyPr wrap="square">
            <a:spAutoFit/>
          </a:bodyPr>
          <a:lstStyle/>
          <a:p>
            <a:pPr algn="l"/>
            <a:r>
              <a:rPr sz="950" b="0" i="0">
                <a:solidFill>
                  <a:srgbClr val="1F2937"/>
                </a:solidFill>
              </a:rPr>
              <a:t>vsm_data — mapped VSM from ALM Connector</a:t>
            </a:r>
          </a:p>
        </p:txBody>
      </p:sp>
      <p:sp>
        <p:nvSpPr>
          <p:cNvPr id="21" name="Rectangle 20"/>
          <p:cNvSpPr/>
          <p:nvPr/>
        </p:nvSpPr>
        <p:spPr>
          <a:xfrm>
            <a:off x="384048" y="305409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2980944"/>
            <a:ext cx="3419855" cy="694944"/>
          </a:xfrm>
          <a:prstGeom prst="rect">
            <a:avLst/>
          </a:prstGeom>
          <a:noFill/>
        </p:spPr>
        <p:txBody>
          <a:bodyPr wrap="square">
            <a:spAutoFit/>
          </a:bodyPr>
          <a:lstStyle/>
          <a:p>
            <a:pPr algn="l"/>
            <a:r>
              <a:rPr sz="950" b="0" i="0">
                <a:solidFill>
                  <a:srgbClr val="1F2937"/>
                </a:solidFill>
              </a:rPr>
              <a:t>benchmarks — industry benchmark gaps</a:t>
            </a:r>
          </a:p>
        </p:txBody>
      </p:sp>
      <p:sp>
        <p:nvSpPr>
          <p:cNvPr id="23" name="Rectangle 22"/>
          <p:cNvSpPr/>
          <p:nvPr/>
        </p:nvSpPr>
        <p:spPr>
          <a:xfrm>
            <a:off x="4133087"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33087" y="1828800"/>
            <a:ext cx="3749039" cy="31089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61103" y="1892808"/>
            <a:ext cx="3584447" cy="237744"/>
          </a:xfrm>
          <a:prstGeom prst="rect">
            <a:avLst/>
          </a:prstGeom>
          <a:noFill/>
        </p:spPr>
        <p:txBody>
          <a:bodyPr wrap="square">
            <a:spAutoFit/>
          </a:bodyPr>
          <a:lstStyle/>
          <a:p>
            <a:pPr algn="l"/>
            <a:r>
              <a:rPr sz="1000" b="1" i="0">
                <a:solidFill>
                  <a:srgbClr val="FFFFFF"/>
                </a:solidFill>
              </a:rPr>
              <a:t>Key Logic &amp; Design Decisions</a:t>
            </a:r>
          </a:p>
        </p:txBody>
      </p:sp>
      <p:sp>
        <p:nvSpPr>
          <p:cNvPr id="26" name="Rectangle 25"/>
          <p:cNvSpPr/>
          <p:nvPr/>
        </p:nvSpPr>
        <p:spPr>
          <a:xfrm>
            <a:off x="4261103" y="232257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0831" y="2249424"/>
            <a:ext cx="3419855" cy="694944"/>
          </a:xfrm>
          <a:prstGeom prst="rect">
            <a:avLst/>
          </a:prstGeom>
          <a:noFill/>
        </p:spPr>
        <p:txBody>
          <a:bodyPr wrap="square">
            <a:spAutoFit/>
          </a:bodyPr>
          <a:lstStyle/>
          <a:p>
            <a:pPr algn="l"/>
            <a:r>
              <a:rPr sz="950" b="0" i="0">
                <a:solidFill>
                  <a:srgbClr val="1F2937"/>
                </a:solidFill>
              </a:rPr>
              <a:t>Severity thresholds — WT ≥ 16h = Critical; WT &gt; benchmark × 1.5 = High</a:t>
            </a:r>
          </a:p>
        </p:txBody>
      </p:sp>
      <p:sp>
        <p:nvSpPr>
          <p:cNvPr id="28" name="Rectangle 27"/>
          <p:cNvSpPr/>
          <p:nvPr/>
        </p:nvSpPr>
        <p:spPr>
          <a:xfrm>
            <a:off x="4261103" y="305409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0831" y="2980944"/>
            <a:ext cx="3419855" cy="694944"/>
          </a:xfrm>
          <a:prstGeom prst="rect">
            <a:avLst/>
          </a:prstGeom>
          <a:noFill/>
        </p:spPr>
        <p:txBody>
          <a:bodyPr wrap="square">
            <a:spAutoFit/>
          </a:bodyPr>
          <a:lstStyle/>
          <a:p>
            <a:pPr algn="l"/>
            <a:r>
              <a:rPr sz="950" b="0" i="0">
                <a:solidFill>
                  <a:srgbClr val="1F2937"/>
                </a:solidFill>
              </a:rPr>
              <a:t>15+ pre-enriched PDLC activities with curated root causes and FE impact</a:t>
            </a:r>
          </a:p>
        </p:txBody>
      </p:sp>
      <p:sp>
        <p:nvSpPr>
          <p:cNvPr id="30" name="Rectangle 29"/>
          <p:cNvSpPr/>
          <p:nvPr/>
        </p:nvSpPr>
        <p:spPr>
          <a:xfrm>
            <a:off x="4261103" y="378561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0831" y="3712464"/>
            <a:ext cx="3419855" cy="694944"/>
          </a:xfrm>
          <a:prstGeom prst="rect">
            <a:avLst/>
          </a:prstGeom>
          <a:noFill/>
        </p:spPr>
        <p:txBody>
          <a:bodyPr wrap="square">
            <a:spAutoFit/>
          </a:bodyPr>
          <a:lstStyle/>
          <a:p>
            <a:pPr algn="l"/>
            <a:r>
              <a:rPr sz="950" b="0" i="0">
                <a:solidFill>
                  <a:srgbClr val="1F2937"/>
                </a:solidFill>
              </a:rPr>
              <a:t>LLM deep-dives unknown activities via 5-Why chain-of-thought prompting</a:t>
            </a:r>
          </a:p>
        </p:txBody>
      </p:sp>
      <p:sp>
        <p:nvSpPr>
          <p:cNvPr id="32" name="Rectangle 31"/>
          <p:cNvSpPr/>
          <p:nvPr/>
        </p:nvSpPr>
        <p:spPr>
          <a:xfrm>
            <a:off x="4261103" y="451713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0831" y="4443984"/>
            <a:ext cx="3419855" cy="694944"/>
          </a:xfrm>
          <a:prstGeom prst="rect">
            <a:avLst/>
          </a:prstGeom>
          <a:noFill/>
        </p:spPr>
        <p:txBody>
          <a:bodyPr wrap="square">
            <a:spAutoFit/>
          </a:bodyPr>
          <a:lstStyle/>
          <a:p>
            <a:pPr algn="l"/>
            <a:r>
              <a:rPr sz="950" b="0" i="0">
                <a:solidFill>
                  <a:srgbClr val="1F2937"/>
                </a:solidFill>
              </a:rPr>
              <a:t>Each bottleneck links to ≥ 1 downstream improvement recommendation</a:t>
            </a:r>
          </a:p>
        </p:txBody>
      </p:sp>
      <p:sp>
        <p:nvSpPr>
          <p:cNvPr id="34" name="Rectangle 33"/>
          <p:cNvSpPr/>
          <p:nvPr/>
        </p:nvSpPr>
        <p:spPr>
          <a:xfrm>
            <a:off x="801014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10142" y="1828800"/>
            <a:ext cx="3749039" cy="31089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38158" y="1892808"/>
            <a:ext cx="3584447" cy="237744"/>
          </a:xfrm>
          <a:prstGeom prst="rect">
            <a:avLst/>
          </a:prstGeom>
          <a:noFill/>
        </p:spPr>
        <p:txBody>
          <a:bodyPr wrap="square">
            <a:spAutoFit/>
          </a:bodyPr>
          <a:lstStyle/>
          <a:p>
            <a:pPr algn="l"/>
            <a:r>
              <a:rPr sz="1000" b="1" i="0">
                <a:solidFill>
                  <a:srgbClr val="FFFFFF"/>
                </a:solidFill>
              </a:rPr>
              <a:t>Outputs</a:t>
            </a:r>
          </a:p>
        </p:txBody>
      </p:sp>
      <p:sp>
        <p:nvSpPr>
          <p:cNvPr id="37" name="Rectangle 36"/>
          <p:cNvSpPr/>
          <p:nvPr/>
        </p:nvSpPr>
        <p:spPr>
          <a:xfrm>
            <a:off x="8138158" y="232257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47886" y="2249424"/>
            <a:ext cx="3419855" cy="694944"/>
          </a:xfrm>
          <a:prstGeom prst="rect">
            <a:avLst/>
          </a:prstGeom>
          <a:noFill/>
        </p:spPr>
        <p:txBody>
          <a:bodyPr wrap="square">
            <a:spAutoFit/>
          </a:bodyPr>
          <a:lstStyle/>
          <a:p>
            <a:pPr algn="l"/>
            <a:r>
              <a:rPr sz="950" b="0" i="0">
                <a:solidFill>
                  <a:srgbClr val="1F2937"/>
                </a:solidFill>
              </a:rPr>
              <a:t>bottlenecks — list of 12+ objects { id, phase, activity, severity, wasteType }</a:t>
            </a:r>
          </a:p>
        </p:txBody>
      </p:sp>
      <p:sp>
        <p:nvSpPr>
          <p:cNvPr id="39" name="Rectangle 38"/>
          <p:cNvSpPr/>
          <p:nvPr/>
        </p:nvSpPr>
        <p:spPr>
          <a:xfrm>
            <a:off x="8138158" y="305409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47886" y="2980944"/>
            <a:ext cx="3419855" cy="694944"/>
          </a:xfrm>
          <a:prstGeom prst="rect">
            <a:avLst/>
          </a:prstGeom>
          <a:noFill/>
        </p:spPr>
        <p:txBody>
          <a:bodyPr wrap="square">
            <a:spAutoFit/>
          </a:bodyPr>
          <a:lstStyle/>
          <a:p>
            <a:pPr algn="l"/>
            <a:r>
              <a:rPr sz="950" b="0" i="0">
                <a:solidFill>
                  <a:srgbClr val="1F2937"/>
                </a:solidFill>
              </a:rPr>
              <a:t>Each bottleneck includes: rootCauses[5], businessImpact (quantified), feImpact, linkedImprovements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Agent 05  —  Improvement Generator Agent</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Agent Deep-Dive</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10</a:t>
            </a:r>
          </a:p>
        </p:txBody>
      </p:sp>
      <p:sp>
        <p:nvSpPr>
          <p:cNvPr id="12" name="Rectangle 11"/>
          <p:cNvSpPr/>
          <p:nvPr/>
        </p:nvSpPr>
        <p:spPr>
          <a:xfrm>
            <a:off x="256032" y="1024128"/>
            <a:ext cx="11676888" cy="694944"/>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24128"/>
            <a:ext cx="91440" cy="694944"/>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051560"/>
            <a:ext cx="1645920" cy="237744"/>
          </a:xfrm>
          <a:prstGeom prst="rect">
            <a:avLst/>
          </a:prstGeom>
          <a:noFill/>
        </p:spPr>
        <p:txBody>
          <a:bodyPr wrap="square">
            <a:spAutoFit/>
          </a:bodyPr>
          <a:lstStyle/>
          <a:p>
            <a:pPr algn="l"/>
            <a:r>
              <a:rPr sz="900" b="1" i="0">
                <a:solidFill>
                  <a:srgbClr val="4C1D95"/>
                </a:solidFill>
              </a:rPr>
              <a:t>Objective</a:t>
            </a:r>
          </a:p>
        </p:txBody>
      </p:sp>
      <p:sp>
        <p:nvSpPr>
          <p:cNvPr id="15" name="TextBox 14"/>
          <p:cNvSpPr txBox="1"/>
          <p:nvPr/>
        </p:nvSpPr>
        <p:spPr>
          <a:xfrm>
            <a:off x="438912" y="1298448"/>
            <a:ext cx="11411712" cy="365760"/>
          </a:xfrm>
          <a:prstGeom prst="rect">
            <a:avLst/>
          </a:prstGeom>
          <a:noFill/>
        </p:spPr>
        <p:txBody>
          <a:bodyPr wrap="square">
            <a:spAutoFit/>
          </a:bodyPr>
          <a:lstStyle/>
          <a:p>
            <a:pPr algn="l"/>
            <a:r>
              <a:rPr sz="1000" b="0" i="0">
                <a:solidFill>
                  <a:srgbClr val="1F2937"/>
                </a:solidFill>
              </a:rPr>
              <a:t>Prescribe targeted AI-agent interventions for each bottleneck with expected PT / WT reductions, ROI multiples, implementation timelines and competitor evidence.</a:t>
            </a:r>
          </a:p>
        </p:txBody>
      </p:sp>
      <p:sp>
        <p:nvSpPr>
          <p:cNvPr id="16" name="Rectangle 15"/>
          <p:cNvSpPr/>
          <p:nvPr/>
        </p:nvSpPr>
        <p:spPr>
          <a:xfrm>
            <a:off x="25603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 y="1828800"/>
            <a:ext cx="3749039"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892808"/>
            <a:ext cx="3584447" cy="237744"/>
          </a:xfrm>
          <a:prstGeom prst="rect">
            <a:avLst/>
          </a:prstGeom>
          <a:noFill/>
        </p:spPr>
        <p:txBody>
          <a:bodyPr wrap="square">
            <a:spAutoFit/>
          </a:bodyPr>
          <a:lstStyle/>
          <a:p>
            <a:pPr algn="l"/>
            <a:r>
              <a:rPr sz="1000" b="1" i="0">
                <a:solidFill>
                  <a:srgbClr val="FFFFFF"/>
                </a:solidFill>
              </a:rPr>
              <a:t>Inputs</a:t>
            </a:r>
          </a:p>
        </p:txBody>
      </p:sp>
      <p:sp>
        <p:nvSpPr>
          <p:cNvPr id="19" name="Rectangle 18"/>
          <p:cNvSpPr/>
          <p:nvPr/>
        </p:nvSpPr>
        <p:spPr>
          <a:xfrm>
            <a:off x="384048" y="232257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 y="2249424"/>
            <a:ext cx="3419855" cy="694944"/>
          </a:xfrm>
          <a:prstGeom prst="rect">
            <a:avLst/>
          </a:prstGeom>
          <a:noFill/>
        </p:spPr>
        <p:txBody>
          <a:bodyPr wrap="square">
            <a:spAutoFit/>
          </a:bodyPr>
          <a:lstStyle/>
          <a:p>
            <a:pPr algn="l"/>
            <a:r>
              <a:rPr sz="950" b="0" i="0">
                <a:solidFill>
                  <a:srgbClr val="1F2937"/>
                </a:solidFill>
              </a:rPr>
              <a:t>bottlenecks — enriched bottleneck list</a:t>
            </a:r>
          </a:p>
        </p:txBody>
      </p:sp>
      <p:sp>
        <p:nvSpPr>
          <p:cNvPr id="21" name="Rectangle 20"/>
          <p:cNvSpPr/>
          <p:nvPr/>
        </p:nvSpPr>
        <p:spPr>
          <a:xfrm>
            <a:off x="4133087"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33087" y="1828800"/>
            <a:ext cx="3749039" cy="31089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61103" y="1892808"/>
            <a:ext cx="3584447" cy="237744"/>
          </a:xfrm>
          <a:prstGeom prst="rect">
            <a:avLst/>
          </a:prstGeom>
          <a:noFill/>
        </p:spPr>
        <p:txBody>
          <a:bodyPr wrap="square">
            <a:spAutoFit/>
          </a:bodyPr>
          <a:lstStyle/>
          <a:p>
            <a:pPr algn="l"/>
            <a:r>
              <a:rPr sz="1000" b="1" i="0">
                <a:solidFill>
                  <a:srgbClr val="FFFFFF"/>
                </a:solidFill>
              </a:rPr>
              <a:t>Key Logic &amp; Design Decisions</a:t>
            </a:r>
          </a:p>
        </p:txBody>
      </p:sp>
      <p:sp>
        <p:nvSpPr>
          <p:cNvPr id="24" name="Rectangle 23"/>
          <p:cNvSpPr/>
          <p:nvPr/>
        </p:nvSpPr>
        <p:spPr>
          <a:xfrm>
            <a:off x="4261103" y="232257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0831" y="2249424"/>
            <a:ext cx="3419855" cy="694944"/>
          </a:xfrm>
          <a:prstGeom prst="rect">
            <a:avLst/>
          </a:prstGeom>
          <a:noFill/>
        </p:spPr>
        <p:txBody>
          <a:bodyPr wrap="square">
            <a:spAutoFit/>
          </a:bodyPr>
          <a:lstStyle/>
          <a:p>
            <a:pPr algn="l"/>
            <a:r>
              <a:rPr sz="950" b="0" i="0">
                <a:solidFill>
                  <a:srgbClr val="1F2937"/>
                </a:solidFill>
              </a:rPr>
              <a:t>15+ pre-catalogued interventions — FeatureGen, ReviewAgent, AI UAT, Release Manager, Incident Triage …</a:t>
            </a:r>
          </a:p>
        </p:txBody>
      </p:sp>
      <p:sp>
        <p:nvSpPr>
          <p:cNvPr id="26" name="Rectangle 25"/>
          <p:cNvSpPr/>
          <p:nvPr/>
        </p:nvSpPr>
        <p:spPr>
          <a:xfrm>
            <a:off x="4261103" y="305409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0831" y="2980944"/>
            <a:ext cx="3419855" cy="694944"/>
          </a:xfrm>
          <a:prstGeom prst="rect">
            <a:avLst/>
          </a:prstGeom>
          <a:noFill/>
        </p:spPr>
        <p:txBody>
          <a:bodyPr wrap="square">
            <a:spAutoFit/>
          </a:bodyPr>
          <a:lstStyle/>
          <a:p>
            <a:pPr algn="l"/>
            <a:r>
              <a:rPr sz="950" b="0" i="0">
                <a:solidFill>
                  <a:srgbClr val="1F2937"/>
                </a:solidFill>
              </a:rPr>
              <a:t>ROI range 2.5× – 5.0× (ReviewAgent highest at 5.0×); time-to-value 2 – 8 weeks</a:t>
            </a:r>
          </a:p>
        </p:txBody>
      </p:sp>
      <p:sp>
        <p:nvSpPr>
          <p:cNvPr id="28" name="Rectangle 27"/>
          <p:cNvSpPr/>
          <p:nvPr/>
        </p:nvSpPr>
        <p:spPr>
          <a:xfrm>
            <a:off x="4261103" y="378561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0831" y="3712464"/>
            <a:ext cx="3419855" cy="694944"/>
          </a:xfrm>
          <a:prstGeom prst="rect">
            <a:avLst/>
          </a:prstGeom>
          <a:noFill/>
        </p:spPr>
        <p:txBody>
          <a:bodyPr wrap="square">
            <a:spAutoFit/>
          </a:bodyPr>
          <a:lstStyle/>
          <a:p>
            <a:pPr algn="l"/>
            <a:r>
              <a:rPr sz="950" b="0" i="0">
                <a:solidFill>
                  <a:srgbClr val="1F2937"/>
                </a:solidFill>
              </a:rPr>
              <a:t>Competitor evidence — Meta, Netflix, Google measured outcomes cited per intervention</a:t>
            </a:r>
          </a:p>
        </p:txBody>
      </p:sp>
      <p:sp>
        <p:nvSpPr>
          <p:cNvPr id="30" name="Rectangle 29"/>
          <p:cNvSpPr/>
          <p:nvPr/>
        </p:nvSpPr>
        <p:spPr>
          <a:xfrm>
            <a:off x="4261103" y="451713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0831" y="4443984"/>
            <a:ext cx="3419855" cy="694944"/>
          </a:xfrm>
          <a:prstGeom prst="rect">
            <a:avLst/>
          </a:prstGeom>
          <a:noFill/>
        </p:spPr>
        <p:txBody>
          <a:bodyPr wrap="square">
            <a:spAutoFit/>
          </a:bodyPr>
          <a:lstStyle/>
          <a:p>
            <a:pPr algn="l"/>
            <a:r>
              <a:rPr sz="950" b="0" i="0">
                <a:solidFill>
                  <a:srgbClr val="1F2937"/>
                </a:solidFill>
              </a:rPr>
              <a:t>LLM generates interventions for bottlenecks not in catalogue</a:t>
            </a:r>
          </a:p>
        </p:txBody>
      </p:sp>
      <p:sp>
        <p:nvSpPr>
          <p:cNvPr id="32" name="Rectangle 31"/>
          <p:cNvSpPr/>
          <p:nvPr/>
        </p:nvSpPr>
        <p:spPr>
          <a:xfrm>
            <a:off x="801014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0142" y="1828800"/>
            <a:ext cx="3749039" cy="31089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58" y="1892808"/>
            <a:ext cx="3584447" cy="237744"/>
          </a:xfrm>
          <a:prstGeom prst="rect">
            <a:avLst/>
          </a:prstGeom>
          <a:noFill/>
        </p:spPr>
        <p:txBody>
          <a:bodyPr wrap="square">
            <a:spAutoFit/>
          </a:bodyPr>
          <a:lstStyle/>
          <a:p>
            <a:pPr algn="l"/>
            <a:r>
              <a:rPr sz="1000" b="1" i="0">
                <a:solidFill>
                  <a:srgbClr val="FFFFFF"/>
                </a:solidFill>
              </a:rPr>
              <a:t>Outputs</a:t>
            </a:r>
          </a:p>
        </p:txBody>
      </p:sp>
      <p:sp>
        <p:nvSpPr>
          <p:cNvPr id="35" name="Rectangle 34"/>
          <p:cNvSpPr/>
          <p:nvPr/>
        </p:nvSpPr>
        <p:spPr>
          <a:xfrm>
            <a:off x="8138158" y="232257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47886" y="2249424"/>
            <a:ext cx="3419855" cy="694944"/>
          </a:xfrm>
          <a:prstGeom prst="rect">
            <a:avLst/>
          </a:prstGeom>
          <a:noFill/>
        </p:spPr>
        <p:txBody>
          <a:bodyPr wrap="square">
            <a:spAutoFit/>
          </a:bodyPr>
          <a:lstStyle/>
          <a:p>
            <a:pPr algn="l"/>
            <a:r>
              <a:rPr sz="950" b="0" i="0">
                <a:solidFill>
                  <a:srgbClr val="1F2937"/>
                </a:solidFill>
              </a:rPr>
              <a:t>improvements — { id, agent, type, expectedPTReduction%, expectedWTReduction% }</a:t>
            </a:r>
          </a:p>
        </p:txBody>
      </p:sp>
      <p:sp>
        <p:nvSpPr>
          <p:cNvPr id="37" name="Rectangle 36"/>
          <p:cNvSpPr/>
          <p:nvPr/>
        </p:nvSpPr>
        <p:spPr>
          <a:xfrm>
            <a:off x="8138158" y="305409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47886" y="2980944"/>
            <a:ext cx="3419855" cy="694944"/>
          </a:xfrm>
          <a:prstGeom prst="rect">
            <a:avLst/>
          </a:prstGeom>
          <a:noFill/>
        </p:spPr>
        <p:txBody>
          <a:bodyPr wrap="square">
            <a:spAutoFit/>
          </a:bodyPr>
          <a:lstStyle/>
          <a:p>
            <a:pPr algn="l"/>
            <a:r>
              <a:rPr sz="950" b="0" i="0">
                <a:solidFill>
                  <a:srgbClr val="1F2937"/>
                </a:solidFill>
              </a:rPr>
              <a:t>Each improvement includes: timeToValue, ROI, effort, bestPractices, competitorInsight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Agent 06  —  Future State Designer Agent</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Agent Deep-Dive</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11</a:t>
            </a:r>
          </a:p>
        </p:txBody>
      </p:sp>
      <p:sp>
        <p:nvSpPr>
          <p:cNvPr id="12" name="Rectangle 11"/>
          <p:cNvSpPr/>
          <p:nvPr/>
        </p:nvSpPr>
        <p:spPr>
          <a:xfrm>
            <a:off x="256032" y="1024128"/>
            <a:ext cx="11676888" cy="694944"/>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24128"/>
            <a:ext cx="91440" cy="694944"/>
          </a:xfrm>
          <a:prstGeom prst="rect">
            <a:avLst/>
          </a:prstGeom>
          <a:solidFill>
            <a:srgbClr val="0E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051560"/>
            <a:ext cx="1645920" cy="237744"/>
          </a:xfrm>
          <a:prstGeom prst="rect">
            <a:avLst/>
          </a:prstGeom>
          <a:noFill/>
        </p:spPr>
        <p:txBody>
          <a:bodyPr wrap="square">
            <a:spAutoFit/>
          </a:bodyPr>
          <a:lstStyle/>
          <a:p>
            <a:pPr algn="l"/>
            <a:r>
              <a:rPr sz="900" b="1" i="0">
                <a:solidFill>
                  <a:srgbClr val="0E478A"/>
                </a:solidFill>
              </a:rPr>
              <a:t>Objective</a:t>
            </a:r>
          </a:p>
        </p:txBody>
      </p:sp>
      <p:sp>
        <p:nvSpPr>
          <p:cNvPr id="15" name="TextBox 14"/>
          <p:cNvSpPr txBox="1"/>
          <p:nvPr/>
        </p:nvSpPr>
        <p:spPr>
          <a:xfrm>
            <a:off x="438912" y="1298448"/>
            <a:ext cx="11411712" cy="365760"/>
          </a:xfrm>
          <a:prstGeom prst="rect">
            <a:avLst/>
          </a:prstGeom>
          <a:noFill/>
        </p:spPr>
        <p:txBody>
          <a:bodyPr wrap="square">
            <a:spAutoFit/>
          </a:bodyPr>
          <a:lstStyle/>
          <a:p>
            <a:pPr algn="l"/>
            <a:r>
              <a:rPr sz="1000" b="0" i="0">
                <a:solidFill>
                  <a:srgbClr val="1F2937"/>
                </a:solidFill>
              </a:rPr>
              <a:t>Generate three distinct future-state VSM scenarios representing progressive levels of AI automation across the full PDLC lifecycle.</a:t>
            </a:r>
          </a:p>
        </p:txBody>
      </p:sp>
      <p:sp>
        <p:nvSpPr>
          <p:cNvPr id="16" name="Rectangle 15"/>
          <p:cNvSpPr/>
          <p:nvPr/>
        </p:nvSpPr>
        <p:spPr>
          <a:xfrm>
            <a:off x="25603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 y="1828800"/>
            <a:ext cx="3749039"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892808"/>
            <a:ext cx="3584447" cy="237744"/>
          </a:xfrm>
          <a:prstGeom prst="rect">
            <a:avLst/>
          </a:prstGeom>
          <a:noFill/>
        </p:spPr>
        <p:txBody>
          <a:bodyPr wrap="square">
            <a:spAutoFit/>
          </a:bodyPr>
          <a:lstStyle/>
          <a:p>
            <a:pPr algn="l"/>
            <a:r>
              <a:rPr sz="1000" b="1" i="0">
                <a:solidFill>
                  <a:srgbClr val="FFFFFF"/>
                </a:solidFill>
              </a:rPr>
              <a:t>Inputs</a:t>
            </a:r>
          </a:p>
        </p:txBody>
      </p:sp>
      <p:sp>
        <p:nvSpPr>
          <p:cNvPr id="19" name="Rectangle 18"/>
          <p:cNvSpPr/>
          <p:nvPr/>
        </p:nvSpPr>
        <p:spPr>
          <a:xfrm>
            <a:off x="384048" y="232257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 y="2249424"/>
            <a:ext cx="3419855" cy="694944"/>
          </a:xfrm>
          <a:prstGeom prst="rect">
            <a:avLst/>
          </a:prstGeom>
          <a:noFill/>
        </p:spPr>
        <p:txBody>
          <a:bodyPr wrap="square">
            <a:spAutoFit/>
          </a:bodyPr>
          <a:lstStyle/>
          <a:p>
            <a:pPr algn="l"/>
            <a:r>
              <a:rPr sz="950" b="0" i="0">
                <a:solidFill>
                  <a:srgbClr val="1F2937"/>
                </a:solidFill>
              </a:rPr>
              <a:t>metrics — current-state lean metrics</a:t>
            </a:r>
          </a:p>
        </p:txBody>
      </p:sp>
      <p:sp>
        <p:nvSpPr>
          <p:cNvPr id="21" name="Rectangle 20"/>
          <p:cNvSpPr/>
          <p:nvPr/>
        </p:nvSpPr>
        <p:spPr>
          <a:xfrm>
            <a:off x="4133087"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33087" y="1828800"/>
            <a:ext cx="3749039" cy="31089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61103" y="1892808"/>
            <a:ext cx="3584447" cy="237744"/>
          </a:xfrm>
          <a:prstGeom prst="rect">
            <a:avLst/>
          </a:prstGeom>
          <a:noFill/>
        </p:spPr>
        <p:txBody>
          <a:bodyPr wrap="square">
            <a:spAutoFit/>
          </a:bodyPr>
          <a:lstStyle/>
          <a:p>
            <a:pPr algn="l"/>
            <a:r>
              <a:rPr sz="1000" b="1" i="0">
                <a:solidFill>
                  <a:srgbClr val="FFFFFF"/>
                </a:solidFill>
              </a:rPr>
              <a:t>Key Logic &amp; Design Decisions</a:t>
            </a:r>
          </a:p>
        </p:txBody>
      </p:sp>
      <p:sp>
        <p:nvSpPr>
          <p:cNvPr id="24" name="Rectangle 23"/>
          <p:cNvSpPr/>
          <p:nvPr/>
        </p:nvSpPr>
        <p:spPr>
          <a:xfrm>
            <a:off x="4261103" y="232257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0831" y="2249424"/>
            <a:ext cx="3419855" cy="694944"/>
          </a:xfrm>
          <a:prstGeom prst="rect">
            <a:avLst/>
          </a:prstGeom>
          <a:noFill/>
        </p:spPr>
        <p:txBody>
          <a:bodyPr wrap="square">
            <a:spAutoFit/>
          </a:bodyPr>
          <a:lstStyle/>
          <a:p>
            <a:pPr algn="l"/>
            <a:r>
              <a:rPr sz="950" b="0" i="0">
                <a:solidFill>
                  <a:srgbClr val="1F2937"/>
                </a:solidFill>
              </a:rPr>
              <a:t>Option A — 40 % automation: 35 % PT / 55 % WT reduction, 16 agents, weekly deploy</a:t>
            </a:r>
          </a:p>
        </p:txBody>
      </p:sp>
      <p:sp>
        <p:nvSpPr>
          <p:cNvPr id="26" name="Rectangle 25"/>
          <p:cNvSpPr/>
          <p:nvPr/>
        </p:nvSpPr>
        <p:spPr>
          <a:xfrm>
            <a:off x="4261103" y="305409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0831" y="2980944"/>
            <a:ext cx="3419855" cy="694944"/>
          </a:xfrm>
          <a:prstGeom prst="rect">
            <a:avLst/>
          </a:prstGeom>
          <a:noFill/>
        </p:spPr>
        <p:txBody>
          <a:bodyPr wrap="square">
            <a:spAutoFit/>
          </a:bodyPr>
          <a:lstStyle/>
          <a:p>
            <a:pPr algn="l"/>
            <a:r>
              <a:rPr sz="950" b="0" i="0">
                <a:solidFill>
                  <a:srgbClr val="1F2937"/>
                </a:solidFill>
              </a:rPr>
              <a:t>Option B — 65 % automation: 55 % PT / 72 % WT reduction, 12 agents, daily deploy</a:t>
            </a:r>
          </a:p>
        </p:txBody>
      </p:sp>
      <p:sp>
        <p:nvSpPr>
          <p:cNvPr id="28" name="Rectangle 27"/>
          <p:cNvSpPr/>
          <p:nvPr/>
        </p:nvSpPr>
        <p:spPr>
          <a:xfrm>
            <a:off x="4261103" y="378561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0831" y="3712464"/>
            <a:ext cx="3419855" cy="694944"/>
          </a:xfrm>
          <a:prstGeom prst="rect">
            <a:avLst/>
          </a:prstGeom>
          <a:noFill/>
        </p:spPr>
        <p:txBody>
          <a:bodyPr wrap="square">
            <a:spAutoFit/>
          </a:bodyPr>
          <a:lstStyle/>
          <a:p>
            <a:pPr algn="l"/>
            <a:r>
              <a:rPr sz="950" b="0" i="0">
                <a:solidFill>
                  <a:srgbClr val="1F2937"/>
                </a:solidFill>
              </a:rPr>
              <a:t>Option C — 85 % automation: 70 % PT / 88 % WT reduction, 22 agents, multiple / day</a:t>
            </a:r>
          </a:p>
        </p:txBody>
      </p:sp>
      <p:sp>
        <p:nvSpPr>
          <p:cNvPr id="30" name="Rectangle 29"/>
          <p:cNvSpPr/>
          <p:nvPr/>
        </p:nvSpPr>
        <p:spPr>
          <a:xfrm>
            <a:off x="4261103" y="451713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0831" y="4443984"/>
            <a:ext cx="3419855" cy="694944"/>
          </a:xfrm>
          <a:prstGeom prst="rect">
            <a:avLst/>
          </a:prstGeom>
          <a:noFill/>
        </p:spPr>
        <p:txBody>
          <a:bodyPr wrap="square">
            <a:spAutoFit/>
          </a:bodyPr>
          <a:lstStyle/>
          <a:p>
            <a:pPr algn="l"/>
            <a:r>
              <a:rPr sz="950" b="0" i="0">
                <a:solidFill>
                  <a:srgbClr val="1F2937"/>
                </a:solidFill>
              </a:rPr>
              <a:t>Testing phase (Phase 5) receives 1.2× WT bonus — largest bottleneck focus</a:t>
            </a:r>
          </a:p>
        </p:txBody>
      </p:sp>
      <p:sp>
        <p:nvSpPr>
          <p:cNvPr id="32" name="Rectangle 31"/>
          <p:cNvSpPr/>
          <p:nvPr/>
        </p:nvSpPr>
        <p:spPr>
          <a:xfrm>
            <a:off x="4261103" y="524865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0831" y="5175504"/>
            <a:ext cx="3419855" cy="694944"/>
          </a:xfrm>
          <a:prstGeom prst="rect">
            <a:avLst/>
          </a:prstGeom>
          <a:noFill/>
        </p:spPr>
        <p:txBody>
          <a:bodyPr wrap="square">
            <a:spAutoFit/>
          </a:bodyPr>
          <a:lstStyle/>
          <a:p>
            <a:pPr algn="l"/>
            <a:r>
              <a:rPr sz="950" b="0" i="0">
                <a:solidFill>
                  <a:srgbClr val="1F2937"/>
                </a:solidFill>
              </a:rPr>
              <a:t>LLM generates inspiring scenario narratives when credentials available</a:t>
            </a:r>
          </a:p>
        </p:txBody>
      </p:sp>
      <p:sp>
        <p:nvSpPr>
          <p:cNvPr id="34" name="Rectangle 33"/>
          <p:cNvSpPr/>
          <p:nvPr/>
        </p:nvSpPr>
        <p:spPr>
          <a:xfrm>
            <a:off x="801014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10142" y="1828800"/>
            <a:ext cx="3749039" cy="31089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38158" y="1892808"/>
            <a:ext cx="3584447" cy="237744"/>
          </a:xfrm>
          <a:prstGeom prst="rect">
            <a:avLst/>
          </a:prstGeom>
          <a:noFill/>
        </p:spPr>
        <p:txBody>
          <a:bodyPr wrap="square">
            <a:spAutoFit/>
          </a:bodyPr>
          <a:lstStyle/>
          <a:p>
            <a:pPr algn="l"/>
            <a:r>
              <a:rPr sz="1000" b="1" i="0">
                <a:solidFill>
                  <a:srgbClr val="FFFFFF"/>
                </a:solidFill>
              </a:rPr>
              <a:t>Outputs</a:t>
            </a:r>
          </a:p>
        </p:txBody>
      </p:sp>
      <p:sp>
        <p:nvSpPr>
          <p:cNvPr id="37" name="Rectangle 36"/>
          <p:cNvSpPr/>
          <p:nvPr/>
        </p:nvSpPr>
        <p:spPr>
          <a:xfrm>
            <a:off x="8138158" y="232257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47886" y="2249424"/>
            <a:ext cx="3419855" cy="694944"/>
          </a:xfrm>
          <a:prstGeom prst="rect">
            <a:avLst/>
          </a:prstGeom>
          <a:noFill/>
        </p:spPr>
        <p:txBody>
          <a:bodyPr wrap="square">
            <a:spAutoFit/>
          </a:bodyPr>
          <a:lstStyle/>
          <a:p>
            <a:pPr algn="l"/>
            <a:r>
              <a:rPr sz="950" b="0" i="0">
                <a:solidFill>
                  <a:srgbClr val="1F2937"/>
                </a:solidFill>
              </a:rPr>
              <a:t>future_states — { option-a, option-b, option-c } with per-phase predicted metrics</a:t>
            </a:r>
          </a:p>
        </p:txBody>
      </p:sp>
      <p:sp>
        <p:nvSpPr>
          <p:cNvPr id="39" name="Rectangle 38"/>
          <p:cNvSpPr/>
          <p:nvPr/>
        </p:nvSpPr>
        <p:spPr>
          <a:xfrm>
            <a:off x="8138158" y="305409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47886" y="2980944"/>
            <a:ext cx="3419855" cy="694944"/>
          </a:xfrm>
          <a:prstGeom prst="rect">
            <a:avLst/>
          </a:prstGeom>
          <a:noFill/>
        </p:spPr>
        <p:txBody>
          <a:bodyPr wrap="square">
            <a:spAutoFit/>
          </a:bodyPr>
          <a:lstStyle/>
          <a:p>
            <a:pPr algn="l"/>
            <a:r>
              <a:rPr sz="950" b="0" i="0">
                <a:solidFill>
                  <a:srgbClr val="1F2937"/>
                </a:solidFill>
              </a:rPr>
              <a:t>Each option includes DORA targets, automation level, org structure and agent count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Agent 07  —  Business Case Builder Agent</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Agent Deep-Dive</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12</a:t>
            </a:r>
          </a:p>
        </p:txBody>
      </p:sp>
      <p:sp>
        <p:nvSpPr>
          <p:cNvPr id="12" name="Rectangle 11"/>
          <p:cNvSpPr/>
          <p:nvPr/>
        </p:nvSpPr>
        <p:spPr>
          <a:xfrm>
            <a:off x="256032" y="1024128"/>
            <a:ext cx="11676888" cy="694944"/>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24128"/>
            <a:ext cx="91440" cy="694944"/>
          </a:xfrm>
          <a:prstGeom prst="rect">
            <a:avLst/>
          </a:prstGeom>
          <a:solidFill>
            <a:srgbClr val="7C2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051560"/>
            <a:ext cx="1645920" cy="237744"/>
          </a:xfrm>
          <a:prstGeom prst="rect">
            <a:avLst/>
          </a:prstGeom>
          <a:noFill/>
        </p:spPr>
        <p:txBody>
          <a:bodyPr wrap="square">
            <a:spAutoFit/>
          </a:bodyPr>
          <a:lstStyle/>
          <a:p>
            <a:pPr algn="l"/>
            <a:r>
              <a:rPr sz="900" b="1" i="0">
                <a:solidFill>
                  <a:srgbClr val="7C2D12"/>
                </a:solidFill>
              </a:rPr>
              <a:t>Objective</a:t>
            </a:r>
          </a:p>
        </p:txBody>
      </p:sp>
      <p:sp>
        <p:nvSpPr>
          <p:cNvPr id="15" name="TextBox 14"/>
          <p:cNvSpPr txBox="1"/>
          <p:nvPr/>
        </p:nvSpPr>
        <p:spPr>
          <a:xfrm>
            <a:off x="438912" y="1298448"/>
            <a:ext cx="11411712" cy="365760"/>
          </a:xfrm>
          <a:prstGeom prst="rect">
            <a:avLst/>
          </a:prstGeom>
          <a:noFill/>
        </p:spPr>
        <p:txBody>
          <a:bodyPr wrap="square">
            <a:spAutoFit/>
          </a:bodyPr>
          <a:lstStyle/>
          <a:p>
            <a:pPr algn="l"/>
            <a:r>
              <a:rPr sz="1000" b="0" i="0">
                <a:solidFill>
                  <a:srgbClr val="1F2937"/>
                </a:solidFill>
              </a:rPr>
              <a:t>Produce a board-ready investment vs. benefit analysis for each future-state scenario with org, tooling, DevSecOps and AIOps change plans.</a:t>
            </a:r>
          </a:p>
        </p:txBody>
      </p:sp>
      <p:sp>
        <p:nvSpPr>
          <p:cNvPr id="16" name="Rectangle 15"/>
          <p:cNvSpPr/>
          <p:nvPr/>
        </p:nvSpPr>
        <p:spPr>
          <a:xfrm>
            <a:off x="25603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 y="1828800"/>
            <a:ext cx="3749039"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892808"/>
            <a:ext cx="3584447" cy="237744"/>
          </a:xfrm>
          <a:prstGeom prst="rect">
            <a:avLst/>
          </a:prstGeom>
          <a:noFill/>
        </p:spPr>
        <p:txBody>
          <a:bodyPr wrap="square">
            <a:spAutoFit/>
          </a:bodyPr>
          <a:lstStyle/>
          <a:p>
            <a:pPr algn="l"/>
            <a:r>
              <a:rPr sz="1000" b="1" i="0">
                <a:solidFill>
                  <a:srgbClr val="FFFFFF"/>
                </a:solidFill>
              </a:rPr>
              <a:t>Inputs</a:t>
            </a:r>
          </a:p>
        </p:txBody>
      </p:sp>
      <p:sp>
        <p:nvSpPr>
          <p:cNvPr id="19" name="Rectangle 18"/>
          <p:cNvSpPr/>
          <p:nvPr/>
        </p:nvSpPr>
        <p:spPr>
          <a:xfrm>
            <a:off x="384048" y="232257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 y="2249424"/>
            <a:ext cx="3419855" cy="694944"/>
          </a:xfrm>
          <a:prstGeom prst="rect">
            <a:avLst/>
          </a:prstGeom>
          <a:noFill/>
        </p:spPr>
        <p:txBody>
          <a:bodyPr wrap="square">
            <a:spAutoFit/>
          </a:bodyPr>
          <a:lstStyle/>
          <a:p>
            <a:pPr algn="l"/>
            <a:r>
              <a:rPr sz="950" b="0" i="0">
                <a:solidFill>
                  <a:srgbClr val="1F2937"/>
                </a:solidFill>
              </a:rPr>
              <a:t>future_states — three scenario definitions</a:t>
            </a:r>
          </a:p>
        </p:txBody>
      </p:sp>
      <p:sp>
        <p:nvSpPr>
          <p:cNvPr id="21" name="Rectangle 20"/>
          <p:cNvSpPr/>
          <p:nvPr/>
        </p:nvSpPr>
        <p:spPr>
          <a:xfrm>
            <a:off x="4133087"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33087" y="1828800"/>
            <a:ext cx="3749039" cy="31089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61103" y="1892808"/>
            <a:ext cx="3584447" cy="237744"/>
          </a:xfrm>
          <a:prstGeom prst="rect">
            <a:avLst/>
          </a:prstGeom>
          <a:noFill/>
        </p:spPr>
        <p:txBody>
          <a:bodyPr wrap="square">
            <a:spAutoFit/>
          </a:bodyPr>
          <a:lstStyle/>
          <a:p>
            <a:pPr algn="l"/>
            <a:r>
              <a:rPr sz="1000" b="1" i="0">
                <a:solidFill>
                  <a:srgbClr val="FFFFFF"/>
                </a:solidFill>
              </a:rPr>
              <a:t>Key Logic &amp; Design Decisions</a:t>
            </a:r>
          </a:p>
        </p:txBody>
      </p:sp>
      <p:sp>
        <p:nvSpPr>
          <p:cNvPr id="24" name="Rectangle 23"/>
          <p:cNvSpPr/>
          <p:nvPr/>
        </p:nvSpPr>
        <p:spPr>
          <a:xfrm>
            <a:off x="4261103" y="232257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0831" y="2249424"/>
            <a:ext cx="3419855" cy="694944"/>
          </a:xfrm>
          <a:prstGeom prst="rect">
            <a:avLst/>
          </a:prstGeom>
          <a:noFill/>
        </p:spPr>
        <p:txBody>
          <a:bodyPr wrap="square">
            <a:spAutoFit/>
          </a:bodyPr>
          <a:lstStyle/>
          <a:p>
            <a:pPr algn="l"/>
            <a:r>
              <a:rPr sz="950" b="0" i="0">
                <a:solidFill>
                  <a:srgbClr val="1F2937"/>
                </a:solidFill>
              </a:rPr>
              <a:t>Investment breakdown — tools + infra + implementation + training + change management</a:t>
            </a:r>
          </a:p>
        </p:txBody>
      </p:sp>
      <p:sp>
        <p:nvSpPr>
          <p:cNvPr id="26" name="Rectangle 25"/>
          <p:cNvSpPr/>
          <p:nvPr/>
        </p:nvSpPr>
        <p:spPr>
          <a:xfrm>
            <a:off x="4261103" y="305409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0831" y="2980944"/>
            <a:ext cx="3419855" cy="694944"/>
          </a:xfrm>
          <a:prstGeom prst="rect">
            <a:avLst/>
          </a:prstGeom>
          <a:noFill/>
        </p:spPr>
        <p:txBody>
          <a:bodyPr wrap="square">
            <a:spAutoFit/>
          </a:bodyPr>
          <a:lstStyle/>
          <a:p>
            <a:pPr algn="l"/>
            <a:r>
              <a:rPr sz="950" b="0" i="0">
                <a:solidFill>
                  <a:srgbClr val="1F2937"/>
                </a:solidFill>
              </a:rPr>
              <a:t>Annual benefits — TTM improvement + productivity + quality + operational savings</a:t>
            </a:r>
          </a:p>
        </p:txBody>
      </p:sp>
      <p:sp>
        <p:nvSpPr>
          <p:cNvPr id="28" name="Rectangle 27"/>
          <p:cNvSpPr/>
          <p:nvPr/>
        </p:nvSpPr>
        <p:spPr>
          <a:xfrm>
            <a:off x="4261103" y="378561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0831" y="3712464"/>
            <a:ext cx="3419855" cy="694944"/>
          </a:xfrm>
          <a:prstGeom prst="rect">
            <a:avLst/>
          </a:prstGeom>
          <a:noFill/>
        </p:spPr>
        <p:txBody>
          <a:bodyPr wrap="square">
            <a:spAutoFit/>
          </a:bodyPr>
          <a:lstStyle/>
          <a:p>
            <a:pPr algn="l"/>
            <a:r>
              <a:rPr sz="950" b="0" i="0">
                <a:solidFill>
                  <a:srgbClr val="1F2937"/>
                </a:solidFill>
              </a:rPr>
              <a:t>ROI 2.8× (A) → 4.2× (B) → 5.5× (C); payback 12 – 22 months</a:t>
            </a:r>
          </a:p>
        </p:txBody>
      </p:sp>
      <p:sp>
        <p:nvSpPr>
          <p:cNvPr id="30" name="Rectangle 29"/>
          <p:cNvSpPr/>
          <p:nvPr/>
        </p:nvSpPr>
        <p:spPr>
          <a:xfrm>
            <a:off x="4261103" y="451713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0831" y="4443984"/>
            <a:ext cx="3419855" cy="694944"/>
          </a:xfrm>
          <a:prstGeom prst="rect">
            <a:avLst/>
          </a:prstGeom>
          <a:noFill/>
        </p:spPr>
        <p:txBody>
          <a:bodyPr wrap="square">
            <a:spAutoFit/>
          </a:bodyPr>
          <a:lstStyle/>
          <a:p>
            <a:pPr algn="l"/>
            <a:r>
              <a:rPr sz="950" b="0" i="0">
                <a:solidFill>
                  <a:srgbClr val="1F2937"/>
                </a:solidFill>
              </a:rPr>
              <a:t>Enumerates org restructuring, AIOps and product-centric WoW changes per scenario</a:t>
            </a:r>
          </a:p>
        </p:txBody>
      </p:sp>
      <p:sp>
        <p:nvSpPr>
          <p:cNvPr id="32" name="Rectangle 31"/>
          <p:cNvSpPr/>
          <p:nvPr/>
        </p:nvSpPr>
        <p:spPr>
          <a:xfrm>
            <a:off x="801014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0142" y="1828800"/>
            <a:ext cx="3749039" cy="31089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58" y="1892808"/>
            <a:ext cx="3584447" cy="237744"/>
          </a:xfrm>
          <a:prstGeom prst="rect">
            <a:avLst/>
          </a:prstGeom>
          <a:noFill/>
        </p:spPr>
        <p:txBody>
          <a:bodyPr wrap="square">
            <a:spAutoFit/>
          </a:bodyPr>
          <a:lstStyle/>
          <a:p>
            <a:pPr algn="l"/>
            <a:r>
              <a:rPr sz="1000" b="1" i="0">
                <a:solidFill>
                  <a:srgbClr val="FFFFFF"/>
                </a:solidFill>
              </a:rPr>
              <a:t>Outputs</a:t>
            </a:r>
          </a:p>
        </p:txBody>
      </p:sp>
      <p:sp>
        <p:nvSpPr>
          <p:cNvPr id="35" name="Rectangle 34"/>
          <p:cNvSpPr/>
          <p:nvPr/>
        </p:nvSpPr>
        <p:spPr>
          <a:xfrm>
            <a:off x="8138158" y="232257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47886" y="2249424"/>
            <a:ext cx="3419855" cy="694944"/>
          </a:xfrm>
          <a:prstGeom prst="rect">
            <a:avLst/>
          </a:prstGeom>
          <a:noFill/>
        </p:spPr>
        <p:txBody>
          <a:bodyPr wrap="square">
            <a:spAutoFit/>
          </a:bodyPr>
          <a:lstStyle/>
          <a:p>
            <a:pPr algn="l"/>
            <a:r>
              <a:rPr sz="950" b="0" i="0">
                <a:solidFill>
                  <a:srgbClr val="1F2937"/>
                </a:solidFill>
              </a:rPr>
              <a:t>business_cases — { option-a/b/c: investment, annual_benefits, ROI, payback_months }</a:t>
            </a:r>
          </a:p>
        </p:txBody>
      </p:sp>
      <p:sp>
        <p:nvSpPr>
          <p:cNvPr id="37" name="Rectangle 36"/>
          <p:cNvSpPr/>
          <p:nvPr/>
        </p:nvSpPr>
        <p:spPr>
          <a:xfrm>
            <a:off x="8138158" y="305409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47886" y="2980944"/>
            <a:ext cx="3419855" cy="694944"/>
          </a:xfrm>
          <a:prstGeom prst="rect">
            <a:avLst/>
          </a:prstGeom>
          <a:noFill/>
        </p:spPr>
        <p:txBody>
          <a:bodyPr wrap="square">
            <a:spAutoFit/>
          </a:bodyPr>
          <a:lstStyle/>
          <a:p>
            <a:pPr algn="l"/>
            <a:r>
              <a:rPr sz="950" b="0" i="0">
                <a:solidFill>
                  <a:srgbClr val="1F2937"/>
                </a:solidFill>
              </a:rPr>
              <a:t>Each case includes: org_changes, tool_changes, devsecops_changes, aiops_changes, product_centric_changes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Agent 08  —  Playbook Contextualizer Agent</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Agent Deep-Dive</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13</a:t>
            </a:r>
          </a:p>
        </p:txBody>
      </p:sp>
      <p:sp>
        <p:nvSpPr>
          <p:cNvPr id="12" name="Rectangle 11"/>
          <p:cNvSpPr/>
          <p:nvPr/>
        </p:nvSpPr>
        <p:spPr>
          <a:xfrm>
            <a:off x="256032" y="1024128"/>
            <a:ext cx="11676888" cy="694944"/>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24128"/>
            <a:ext cx="91440" cy="694944"/>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051560"/>
            <a:ext cx="1645920" cy="237744"/>
          </a:xfrm>
          <a:prstGeom prst="rect">
            <a:avLst/>
          </a:prstGeom>
          <a:noFill/>
        </p:spPr>
        <p:txBody>
          <a:bodyPr wrap="square">
            <a:spAutoFit/>
          </a:bodyPr>
          <a:lstStyle/>
          <a:p>
            <a:pPr algn="l"/>
            <a:r>
              <a:rPr sz="900" b="1" i="0">
                <a:solidFill>
                  <a:srgbClr val="064E3B"/>
                </a:solidFill>
              </a:rPr>
              <a:t>Objective</a:t>
            </a:r>
          </a:p>
        </p:txBody>
      </p:sp>
      <p:sp>
        <p:nvSpPr>
          <p:cNvPr id="15" name="TextBox 14"/>
          <p:cNvSpPr txBox="1"/>
          <p:nvPr/>
        </p:nvSpPr>
        <p:spPr>
          <a:xfrm>
            <a:off x="438912" y="1298448"/>
            <a:ext cx="11411712" cy="365760"/>
          </a:xfrm>
          <a:prstGeom prst="rect">
            <a:avLst/>
          </a:prstGeom>
          <a:noFill/>
        </p:spPr>
        <p:txBody>
          <a:bodyPr wrap="square">
            <a:spAutoFit/>
          </a:bodyPr>
          <a:lstStyle/>
          <a:p>
            <a:pPr algn="l"/>
            <a:r>
              <a:rPr sz="1000" b="0" i="0">
                <a:solidFill>
                  <a:srgbClr val="1F2937"/>
                </a:solidFill>
              </a:rPr>
              <a:t>Generate a personalised, sprint-level implementation playbook grounded in the team's actual tools, roles, methodology and compliance constraints.</a:t>
            </a:r>
          </a:p>
        </p:txBody>
      </p:sp>
      <p:sp>
        <p:nvSpPr>
          <p:cNvPr id="16" name="Rectangle 15"/>
          <p:cNvSpPr/>
          <p:nvPr/>
        </p:nvSpPr>
        <p:spPr>
          <a:xfrm>
            <a:off x="25603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032" y="1828800"/>
            <a:ext cx="3749039"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892808"/>
            <a:ext cx="3584447" cy="237744"/>
          </a:xfrm>
          <a:prstGeom prst="rect">
            <a:avLst/>
          </a:prstGeom>
          <a:noFill/>
        </p:spPr>
        <p:txBody>
          <a:bodyPr wrap="square">
            <a:spAutoFit/>
          </a:bodyPr>
          <a:lstStyle/>
          <a:p>
            <a:pPr algn="l"/>
            <a:r>
              <a:rPr sz="1000" b="1" i="0">
                <a:solidFill>
                  <a:srgbClr val="FFFFFF"/>
                </a:solidFill>
              </a:rPr>
              <a:t>Inputs</a:t>
            </a:r>
          </a:p>
        </p:txBody>
      </p:sp>
      <p:sp>
        <p:nvSpPr>
          <p:cNvPr id="19" name="Rectangle 18"/>
          <p:cNvSpPr/>
          <p:nvPr/>
        </p:nvSpPr>
        <p:spPr>
          <a:xfrm>
            <a:off x="384048" y="232257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 y="2249424"/>
            <a:ext cx="3419855" cy="694944"/>
          </a:xfrm>
          <a:prstGeom prst="rect">
            <a:avLst/>
          </a:prstGeom>
          <a:noFill/>
        </p:spPr>
        <p:txBody>
          <a:bodyPr wrap="square">
            <a:spAutoFit/>
          </a:bodyPr>
          <a:lstStyle/>
          <a:p>
            <a:pPr algn="l"/>
            <a:r>
              <a:rPr sz="950" b="0" i="0">
                <a:solidFill>
                  <a:srgbClr val="1F2937"/>
                </a:solidFill>
              </a:rPr>
              <a:t>scenario_id — option-a / b / c</a:t>
            </a:r>
          </a:p>
        </p:txBody>
      </p:sp>
      <p:sp>
        <p:nvSpPr>
          <p:cNvPr id="21" name="Rectangle 20"/>
          <p:cNvSpPr/>
          <p:nvPr/>
        </p:nvSpPr>
        <p:spPr>
          <a:xfrm>
            <a:off x="384048" y="305409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2980944"/>
            <a:ext cx="3419855" cy="694944"/>
          </a:xfrm>
          <a:prstGeom prst="rect">
            <a:avLst/>
          </a:prstGeom>
          <a:noFill/>
        </p:spPr>
        <p:txBody>
          <a:bodyPr wrap="square">
            <a:spAutoFit/>
          </a:bodyPr>
          <a:lstStyle/>
          <a:p>
            <a:pPr algn="l"/>
            <a:r>
              <a:rPr sz="950" b="0" i="0">
                <a:solidFill>
                  <a:srgbClr val="1F2937"/>
                </a:solidFill>
              </a:rPr>
              <a:t>team_context — { team_size, roles, tools, methodology, sprint_length, compliance }</a:t>
            </a:r>
          </a:p>
        </p:txBody>
      </p:sp>
      <p:sp>
        <p:nvSpPr>
          <p:cNvPr id="23" name="Rectangle 22"/>
          <p:cNvSpPr/>
          <p:nvPr/>
        </p:nvSpPr>
        <p:spPr>
          <a:xfrm>
            <a:off x="384048" y="378561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 y="3712464"/>
            <a:ext cx="3419855" cy="694944"/>
          </a:xfrm>
          <a:prstGeom prst="rect">
            <a:avLst/>
          </a:prstGeom>
          <a:noFill/>
        </p:spPr>
        <p:txBody>
          <a:bodyPr wrap="square">
            <a:spAutoFit/>
          </a:bodyPr>
          <a:lstStyle/>
          <a:p>
            <a:pPr algn="l"/>
            <a:r>
              <a:rPr sz="950" b="0" i="0">
                <a:solidFill>
                  <a:srgbClr val="1F2937"/>
                </a:solidFill>
              </a:rPr>
              <a:t>analysis_context — full pipeline results</a:t>
            </a:r>
          </a:p>
        </p:txBody>
      </p:sp>
      <p:sp>
        <p:nvSpPr>
          <p:cNvPr id="25" name="Rectangle 24"/>
          <p:cNvSpPr/>
          <p:nvPr/>
        </p:nvSpPr>
        <p:spPr>
          <a:xfrm>
            <a:off x="384048" y="4517136"/>
            <a:ext cx="54864"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 y="4443984"/>
            <a:ext cx="3419855" cy="694944"/>
          </a:xfrm>
          <a:prstGeom prst="rect">
            <a:avLst/>
          </a:prstGeom>
          <a:noFill/>
        </p:spPr>
        <p:txBody>
          <a:bodyPr wrap="square">
            <a:spAutoFit/>
          </a:bodyPr>
          <a:lstStyle/>
          <a:p>
            <a:pPr algn="l"/>
            <a:r>
              <a:rPr sz="950" b="0" i="0">
                <a:solidFill>
                  <a:srgbClr val="1F2937"/>
                </a:solidFill>
              </a:rPr>
              <a:t>uploaded documents — org chart, OKRs, DORA report, engineering standards</a:t>
            </a:r>
          </a:p>
        </p:txBody>
      </p:sp>
      <p:sp>
        <p:nvSpPr>
          <p:cNvPr id="27" name="Rectangle 26"/>
          <p:cNvSpPr/>
          <p:nvPr/>
        </p:nvSpPr>
        <p:spPr>
          <a:xfrm>
            <a:off x="4133087"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33087" y="1828800"/>
            <a:ext cx="3749039" cy="31089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61103" y="1892808"/>
            <a:ext cx="3584447" cy="237744"/>
          </a:xfrm>
          <a:prstGeom prst="rect">
            <a:avLst/>
          </a:prstGeom>
          <a:noFill/>
        </p:spPr>
        <p:txBody>
          <a:bodyPr wrap="square">
            <a:spAutoFit/>
          </a:bodyPr>
          <a:lstStyle/>
          <a:p>
            <a:pPr algn="l"/>
            <a:r>
              <a:rPr sz="1000" b="1" i="0">
                <a:solidFill>
                  <a:srgbClr val="FFFFFF"/>
                </a:solidFill>
              </a:rPr>
              <a:t>Key Logic &amp; Design Decisions</a:t>
            </a:r>
          </a:p>
        </p:txBody>
      </p:sp>
      <p:sp>
        <p:nvSpPr>
          <p:cNvPr id="30" name="Rectangle 29"/>
          <p:cNvSpPr/>
          <p:nvPr/>
        </p:nvSpPr>
        <p:spPr>
          <a:xfrm>
            <a:off x="4261103" y="232257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0831" y="2249424"/>
            <a:ext cx="3419855" cy="694944"/>
          </a:xfrm>
          <a:prstGeom prst="rect">
            <a:avLst/>
          </a:prstGeom>
          <a:noFill/>
        </p:spPr>
        <p:txBody>
          <a:bodyPr wrap="square">
            <a:spAutoFit/>
          </a:bodyPr>
          <a:lstStyle/>
          <a:p>
            <a:pPr algn="l"/>
            <a:r>
              <a:rPr sz="950" b="0" i="0">
                <a:solidFill>
                  <a:srgbClr val="1F2937"/>
                </a:solidFill>
              </a:rPr>
              <a:t>References team's actual tool names (Jira, GitHub, CircleCI) in every action step</a:t>
            </a:r>
          </a:p>
        </p:txBody>
      </p:sp>
      <p:sp>
        <p:nvSpPr>
          <p:cNvPr id="32" name="Rectangle 31"/>
          <p:cNvSpPr/>
          <p:nvPr/>
        </p:nvSpPr>
        <p:spPr>
          <a:xfrm>
            <a:off x="4261103" y="305409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0831" y="2980944"/>
            <a:ext cx="3419855" cy="694944"/>
          </a:xfrm>
          <a:prstGeom prst="rect">
            <a:avLst/>
          </a:prstGeom>
          <a:noFill/>
        </p:spPr>
        <p:txBody>
          <a:bodyPr wrap="square">
            <a:spAutoFit/>
          </a:bodyPr>
          <a:lstStyle/>
          <a:p>
            <a:pPr algn="l"/>
            <a:r>
              <a:rPr sz="950" b="0" i="0">
                <a:solidFill>
                  <a:srgbClr val="1F2937"/>
                </a:solidFill>
              </a:rPr>
              <a:t>Sizes effort estimates to team size; adapts cadence to team methodology</a:t>
            </a:r>
          </a:p>
        </p:txBody>
      </p:sp>
      <p:sp>
        <p:nvSpPr>
          <p:cNvPr id="34" name="Rectangle 33"/>
          <p:cNvSpPr/>
          <p:nvPr/>
        </p:nvSpPr>
        <p:spPr>
          <a:xfrm>
            <a:off x="4261103" y="378561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0831" y="3712464"/>
            <a:ext cx="3419855" cy="694944"/>
          </a:xfrm>
          <a:prstGeom prst="rect">
            <a:avLst/>
          </a:prstGeom>
          <a:noFill/>
        </p:spPr>
        <p:txBody>
          <a:bodyPr wrap="square">
            <a:spAutoFit/>
          </a:bodyPr>
          <a:lstStyle/>
          <a:p>
            <a:pPr algn="l"/>
            <a:r>
              <a:rPr sz="950" b="0" i="0">
                <a:solidFill>
                  <a:srgbClr val="1F2937"/>
                </a:solidFill>
              </a:rPr>
              <a:t>Generates compliance-specific steps when frameworks (PCI, SOX, HIPAA) are provided</a:t>
            </a:r>
          </a:p>
        </p:txBody>
      </p:sp>
      <p:sp>
        <p:nvSpPr>
          <p:cNvPr id="36" name="Rectangle 35"/>
          <p:cNvSpPr/>
          <p:nvPr/>
        </p:nvSpPr>
        <p:spPr>
          <a:xfrm>
            <a:off x="4261103" y="4517136"/>
            <a:ext cx="54864"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70831" y="4443984"/>
            <a:ext cx="3419855" cy="694944"/>
          </a:xfrm>
          <a:prstGeom prst="rect">
            <a:avLst/>
          </a:prstGeom>
          <a:noFill/>
        </p:spPr>
        <p:txBody>
          <a:bodyPr wrap="square">
            <a:spAutoFit/>
          </a:bodyPr>
          <a:lstStyle/>
          <a:p>
            <a:pPr algn="l"/>
            <a:r>
              <a:rPr sz="950" b="0" i="0">
                <a:solidFill>
                  <a:srgbClr val="1F2937"/>
                </a:solidFill>
              </a:rPr>
              <a:t>Accuracy score (0 – 95 %) quantifies confidence based on context completeness</a:t>
            </a:r>
          </a:p>
        </p:txBody>
      </p:sp>
      <p:sp>
        <p:nvSpPr>
          <p:cNvPr id="38" name="Rectangle 37"/>
          <p:cNvSpPr/>
          <p:nvPr/>
        </p:nvSpPr>
        <p:spPr>
          <a:xfrm>
            <a:off x="8010142" y="1828800"/>
            <a:ext cx="3749039" cy="41148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10142" y="1828800"/>
            <a:ext cx="3749039" cy="31089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38158" y="1892808"/>
            <a:ext cx="3584447" cy="237744"/>
          </a:xfrm>
          <a:prstGeom prst="rect">
            <a:avLst/>
          </a:prstGeom>
          <a:noFill/>
        </p:spPr>
        <p:txBody>
          <a:bodyPr wrap="square">
            <a:spAutoFit/>
          </a:bodyPr>
          <a:lstStyle/>
          <a:p>
            <a:pPr algn="l"/>
            <a:r>
              <a:rPr sz="1000" b="1" i="0">
                <a:solidFill>
                  <a:srgbClr val="FFFFFF"/>
                </a:solidFill>
              </a:rPr>
              <a:t>Outputs</a:t>
            </a:r>
          </a:p>
        </p:txBody>
      </p:sp>
      <p:sp>
        <p:nvSpPr>
          <p:cNvPr id="41" name="Rectangle 40"/>
          <p:cNvSpPr/>
          <p:nvPr/>
        </p:nvSpPr>
        <p:spPr>
          <a:xfrm>
            <a:off x="8138158" y="232257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47886" y="2249424"/>
            <a:ext cx="3419855" cy="694944"/>
          </a:xfrm>
          <a:prstGeom prst="rect">
            <a:avLst/>
          </a:prstGeom>
          <a:noFill/>
        </p:spPr>
        <p:txBody>
          <a:bodyPr wrap="square">
            <a:spAutoFit/>
          </a:bodyPr>
          <a:lstStyle/>
          <a:p>
            <a:pPr algn="l"/>
            <a:r>
              <a:rPr sz="950" b="0" i="0">
                <a:solidFill>
                  <a:srgbClr val="1F2937"/>
                </a:solidFill>
              </a:rPr>
              <a:t>playbook — { executive_summary, duration, sprint_plan[ sprint → actions → outcomes ] }</a:t>
            </a:r>
          </a:p>
        </p:txBody>
      </p:sp>
      <p:sp>
        <p:nvSpPr>
          <p:cNvPr id="43" name="Rectangle 42"/>
          <p:cNvSpPr/>
          <p:nvPr/>
        </p:nvSpPr>
        <p:spPr>
          <a:xfrm>
            <a:off x="8138158" y="3054096"/>
            <a:ext cx="54864" cy="5486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47886" y="2980944"/>
            <a:ext cx="3419855" cy="694944"/>
          </a:xfrm>
          <a:prstGeom prst="rect">
            <a:avLst/>
          </a:prstGeom>
          <a:noFill/>
        </p:spPr>
        <p:txBody>
          <a:bodyPr wrap="square">
            <a:spAutoFit/>
          </a:bodyPr>
          <a:lstStyle/>
          <a:p>
            <a:pPr algn="l"/>
            <a:r>
              <a:rPr sz="950" b="0" i="0">
                <a:solidFill>
                  <a:srgbClr val="1F2937"/>
                </a:solidFill>
              </a:rPr>
              <a:t>Includes: target_metrics, RACI matrix, risks, quick_wins, document_gaps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Functional Architecture</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Capabilities organised by domain layer</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14</a:t>
            </a:r>
          </a:p>
        </p:txBody>
      </p:sp>
      <p:sp>
        <p:nvSpPr>
          <p:cNvPr id="12" name="Rectangle 11"/>
          <p:cNvSpPr/>
          <p:nvPr/>
        </p:nvSpPr>
        <p:spPr>
          <a:xfrm>
            <a:off x="256032" y="1097280"/>
            <a:ext cx="11676888" cy="960120"/>
          </a:xfrm>
          <a:prstGeom prst="rect">
            <a:avLst/>
          </a:prstGeom>
          <a:solidFill>
            <a:srgbClr val="FFFF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97280"/>
            <a:ext cx="91440"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389888"/>
            <a:ext cx="1417320" cy="292608"/>
          </a:xfrm>
          <a:prstGeom prst="rect">
            <a:avLst/>
          </a:prstGeom>
          <a:noFill/>
        </p:spPr>
        <p:txBody>
          <a:bodyPr wrap="square">
            <a:spAutoFit/>
          </a:bodyPr>
          <a:lstStyle/>
          <a:p>
            <a:pPr algn="l"/>
            <a:r>
              <a:rPr sz="1000" b="1" i="0">
                <a:solidFill>
                  <a:srgbClr val="1E3A8A"/>
                </a:solidFill>
              </a:rPr>
              <a:t>Presentation</a:t>
            </a:r>
          </a:p>
        </p:txBody>
      </p:sp>
      <p:sp>
        <p:nvSpPr>
          <p:cNvPr id="15" name="TextBox 14"/>
          <p:cNvSpPr txBox="1"/>
          <p:nvPr/>
        </p:nvSpPr>
        <p:spPr>
          <a:xfrm>
            <a:off x="1920240" y="1170432"/>
            <a:ext cx="4846320" cy="402336"/>
          </a:xfrm>
          <a:prstGeom prst="rect">
            <a:avLst/>
          </a:prstGeom>
          <a:noFill/>
        </p:spPr>
        <p:txBody>
          <a:bodyPr wrap="square">
            <a:spAutoFit/>
          </a:bodyPr>
          <a:lstStyle/>
          <a:p>
            <a:pPr algn="l"/>
            <a:r>
              <a:rPr sz="900" b="0" i="0">
                <a:solidFill>
                  <a:srgbClr val="1F2937"/>
                </a:solidFill>
              </a:rPr>
              <a:t>•  Dashboard  ·  ALM Connect  ·  DORA Assessment  ·  DevOps Maturity  ·  VSM Editor</a:t>
            </a:r>
          </a:p>
        </p:txBody>
      </p:sp>
      <p:sp>
        <p:nvSpPr>
          <p:cNvPr id="16" name="TextBox 15"/>
          <p:cNvSpPr txBox="1"/>
          <p:nvPr/>
        </p:nvSpPr>
        <p:spPr>
          <a:xfrm>
            <a:off x="6858000" y="1170432"/>
            <a:ext cx="4846320" cy="402336"/>
          </a:xfrm>
          <a:prstGeom prst="rect">
            <a:avLst/>
          </a:prstGeom>
          <a:noFill/>
        </p:spPr>
        <p:txBody>
          <a:bodyPr wrap="square">
            <a:spAutoFit/>
          </a:bodyPr>
          <a:lstStyle/>
          <a:p>
            <a:pPr algn="l"/>
            <a:r>
              <a:rPr sz="900" b="0" i="0">
                <a:solidFill>
                  <a:srgbClr val="1F2937"/>
                </a:solidFill>
              </a:rPr>
              <a:t>•  Current State VSM  ·  Bottleneck Analysis  ·  Improvements  ·  Operations Intelligence</a:t>
            </a:r>
          </a:p>
        </p:txBody>
      </p:sp>
      <p:sp>
        <p:nvSpPr>
          <p:cNvPr id="17" name="TextBox 16"/>
          <p:cNvSpPr txBox="1"/>
          <p:nvPr/>
        </p:nvSpPr>
        <p:spPr>
          <a:xfrm>
            <a:off x="1920240" y="1591056"/>
            <a:ext cx="4846320" cy="402336"/>
          </a:xfrm>
          <a:prstGeom prst="rect">
            <a:avLst/>
          </a:prstGeom>
          <a:noFill/>
        </p:spPr>
        <p:txBody>
          <a:bodyPr wrap="square">
            <a:spAutoFit/>
          </a:bodyPr>
          <a:lstStyle/>
          <a:p>
            <a:pPr algn="l"/>
            <a:r>
              <a:rPr sz="900" b="0" i="0">
                <a:solidFill>
                  <a:srgbClr val="1F2937"/>
                </a:solidFill>
              </a:rPr>
              <a:t>•  Future State  ·  Business Case  ·  Transformation Readiness  ·  Governance</a:t>
            </a:r>
          </a:p>
        </p:txBody>
      </p:sp>
      <p:sp>
        <p:nvSpPr>
          <p:cNvPr id="18" name="TextBox 17"/>
          <p:cNvSpPr txBox="1"/>
          <p:nvPr/>
        </p:nvSpPr>
        <p:spPr>
          <a:xfrm>
            <a:off x="6858000" y="1591056"/>
            <a:ext cx="4846320" cy="402336"/>
          </a:xfrm>
          <a:prstGeom prst="rect">
            <a:avLst/>
          </a:prstGeom>
          <a:noFill/>
        </p:spPr>
        <p:txBody>
          <a:bodyPr wrap="square">
            <a:spAutoFit/>
          </a:bodyPr>
          <a:lstStyle/>
          <a:p>
            <a:pPr algn="l"/>
            <a:r>
              <a:rPr sz="900" b="0" i="0">
                <a:solidFill>
                  <a:srgbClr val="1F2937"/>
                </a:solidFill>
              </a:rPr>
              <a:t>•  AI Agents Monitor  ·  Playbook  ·  Accuracy &amp; RAG  ·  AI Assurance  ·  Settings</a:t>
            </a:r>
          </a:p>
        </p:txBody>
      </p:sp>
      <p:sp>
        <p:nvSpPr>
          <p:cNvPr id="19" name="Rectangle 18"/>
          <p:cNvSpPr/>
          <p:nvPr/>
        </p:nvSpPr>
        <p:spPr>
          <a:xfrm>
            <a:off x="256032" y="2112264"/>
            <a:ext cx="11676888" cy="960120"/>
          </a:xfrm>
          <a:prstGeom prst="rect">
            <a:avLst/>
          </a:prstGeom>
          <a:solidFill>
            <a:srgbClr val="FFFF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6032" y="2112264"/>
            <a:ext cx="91440" cy="9601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2404872"/>
            <a:ext cx="1417320" cy="292608"/>
          </a:xfrm>
          <a:prstGeom prst="rect">
            <a:avLst/>
          </a:prstGeom>
          <a:noFill/>
        </p:spPr>
        <p:txBody>
          <a:bodyPr wrap="square">
            <a:spAutoFit/>
          </a:bodyPr>
          <a:lstStyle/>
          <a:p>
            <a:pPr algn="l"/>
            <a:r>
              <a:rPr sz="1000" b="1" i="0">
                <a:solidFill>
                  <a:srgbClr val="1D4ED8"/>
                </a:solidFill>
              </a:rPr>
              <a:t>Orchestration</a:t>
            </a:r>
          </a:p>
        </p:txBody>
      </p:sp>
      <p:sp>
        <p:nvSpPr>
          <p:cNvPr id="22" name="TextBox 21"/>
          <p:cNvSpPr txBox="1"/>
          <p:nvPr/>
        </p:nvSpPr>
        <p:spPr>
          <a:xfrm>
            <a:off x="1920240" y="2185416"/>
            <a:ext cx="4846320" cy="402336"/>
          </a:xfrm>
          <a:prstGeom prst="rect">
            <a:avLst/>
          </a:prstGeom>
          <a:noFill/>
        </p:spPr>
        <p:txBody>
          <a:bodyPr wrap="square">
            <a:spAutoFit/>
          </a:bodyPr>
          <a:lstStyle/>
          <a:p>
            <a:pPr algn="l"/>
            <a:r>
              <a:rPr sz="900" b="0" i="0">
                <a:solidFill>
                  <a:srgbClr val="1F2937"/>
                </a:solidFill>
              </a:rPr>
              <a:t>•  LangGraph multi-agent pipeline — 8 sequential agents sharing VSMAgentState</a:t>
            </a:r>
          </a:p>
        </p:txBody>
      </p:sp>
      <p:sp>
        <p:nvSpPr>
          <p:cNvPr id="23" name="TextBox 22"/>
          <p:cNvSpPr txBox="1"/>
          <p:nvPr/>
        </p:nvSpPr>
        <p:spPr>
          <a:xfrm>
            <a:off x="6858000" y="2185416"/>
            <a:ext cx="4846320" cy="402336"/>
          </a:xfrm>
          <a:prstGeom prst="rect">
            <a:avLst/>
          </a:prstGeom>
          <a:noFill/>
        </p:spPr>
        <p:txBody>
          <a:bodyPr wrap="square">
            <a:spAutoFit/>
          </a:bodyPr>
          <a:lstStyle/>
          <a:p>
            <a:pPr algn="l"/>
            <a:r>
              <a:rPr sz="900" b="0" i="0">
                <a:solidFill>
                  <a:srgbClr val="1F2937"/>
                </a:solidFill>
              </a:rPr>
              <a:t>•  APScheduler — scheduled weekly VSM runs with persistent configuration</a:t>
            </a:r>
          </a:p>
        </p:txBody>
      </p:sp>
      <p:sp>
        <p:nvSpPr>
          <p:cNvPr id="24" name="TextBox 23"/>
          <p:cNvSpPr txBox="1"/>
          <p:nvPr/>
        </p:nvSpPr>
        <p:spPr>
          <a:xfrm>
            <a:off x="1920240" y="2606040"/>
            <a:ext cx="4846320" cy="402336"/>
          </a:xfrm>
          <a:prstGeom prst="rect">
            <a:avLst/>
          </a:prstGeom>
          <a:noFill/>
        </p:spPr>
        <p:txBody>
          <a:bodyPr wrap="square">
            <a:spAutoFit/>
          </a:bodyPr>
          <a:lstStyle/>
          <a:p>
            <a:pPr algn="l"/>
            <a:r>
              <a:rPr sz="900" b="0" i="0">
                <a:solidFill>
                  <a:srgbClr val="1F2937"/>
                </a:solidFill>
              </a:rPr>
              <a:t>•  Background task execution — async FastAPI + SQLAlchemy non-blocking I/O</a:t>
            </a:r>
          </a:p>
        </p:txBody>
      </p:sp>
      <p:sp>
        <p:nvSpPr>
          <p:cNvPr id="25" name="TextBox 24"/>
          <p:cNvSpPr txBox="1"/>
          <p:nvPr/>
        </p:nvSpPr>
        <p:spPr>
          <a:xfrm>
            <a:off x="6858000" y="2606040"/>
            <a:ext cx="4846320" cy="402336"/>
          </a:xfrm>
          <a:prstGeom prst="rect">
            <a:avLst/>
          </a:prstGeom>
          <a:noFill/>
        </p:spPr>
        <p:txBody>
          <a:bodyPr wrap="square">
            <a:spAutoFit/>
          </a:bodyPr>
          <a:lstStyle/>
          <a:p>
            <a:pPr algn="l"/>
            <a:r>
              <a:rPr sz="900" b="0" i="0">
                <a:solidFill>
                  <a:srgbClr val="1F2937"/>
                </a:solidFill>
              </a:rPr>
              <a:t>•  Rule-based fallbacks — full capability without LLM credentials</a:t>
            </a:r>
          </a:p>
        </p:txBody>
      </p:sp>
      <p:sp>
        <p:nvSpPr>
          <p:cNvPr id="26" name="Rectangle 25"/>
          <p:cNvSpPr/>
          <p:nvPr/>
        </p:nvSpPr>
        <p:spPr>
          <a:xfrm>
            <a:off x="256032" y="3127248"/>
            <a:ext cx="11676888" cy="960120"/>
          </a:xfrm>
          <a:prstGeom prst="rect">
            <a:avLst/>
          </a:prstGeom>
          <a:solidFill>
            <a:srgbClr val="FFFF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3127248"/>
            <a:ext cx="91440" cy="960120"/>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2336" y="3419856"/>
            <a:ext cx="1417320" cy="292608"/>
          </a:xfrm>
          <a:prstGeom prst="rect">
            <a:avLst/>
          </a:prstGeom>
          <a:noFill/>
        </p:spPr>
        <p:txBody>
          <a:bodyPr wrap="square">
            <a:spAutoFit/>
          </a:bodyPr>
          <a:lstStyle/>
          <a:p>
            <a:pPr algn="l"/>
            <a:r>
              <a:rPr sz="1000" b="1" i="0">
                <a:solidFill>
                  <a:srgbClr val="065F46"/>
                </a:solidFill>
              </a:rPr>
              <a:t>AI / ML Services</a:t>
            </a:r>
          </a:p>
        </p:txBody>
      </p:sp>
      <p:sp>
        <p:nvSpPr>
          <p:cNvPr id="29" name="TextBox 28"/>
          <p:cNvSpPr txBox="1"/>
          <p:nvPr/>
        </p:nvSpPr>
        <p:spPr>
          <a:xfrm>
            <a:off x="1920240" y="3200400"/>
            <a:ext cx="4846320" cy="402336"/>
          </a:xfrm>
          <a:prstGeom prst="rect">
            <a:avLst/>
          </a:prstGeom>
          <a:noFill/>
        </p:spPr>
        <p:txBody>
          <a:bodyPr wrap="square">
            <a:spAutoFit/>
          </a:bodyPr>
          <a:lstStyle/>
          <a:p>
            <a:pPr algn="l"/>
            <a:r>
              <a:rPr sz="900" b="0" i="0">
                <a:solidFill>
                  <a:srgbClr val="1F2937"/>
                </a:solidFill>
              </a:rPr>
              <a:t>•  Azure OpenAI GPT-4o / OpenAI API — narrative generation, 5-Why analysis, playbook enrichment</a:t>
            </a:r>
          </a:p>
        </p:txBody>
      </p:sp>
      <p:sp>
        <p:nvSpPr>
          <p:cNvPr id="30" name="TextBox 29"/>
          <p:cNvSpPr txBox="1"/>
          <p:nvPr/>
        </p:nvSpPr>
        <p:spPr>
          <a:xfrm>
            <a:off x="6858000" y="3200400"/>
            <a:ext cx="4846320" cy="402336"/>
          </a:xfrm>
          <a:prstGeom prst="rect">
            <a:avLst/>
          </a:prstGeom>
          <a:noFill/>
        </p:spPr>
        <p:txBody>
          <a:bodyPr wrap="square">
            <a:spAutoFit/>
          </a:bodyPr>
          <a:lstStyle/>
          <a:p>
            <a:pPr algn="l"/>
            <a:r>
              <a:rPr sz="900" b="0" i="0">
                <a:solidFill>
                  <a:srgbClr val="1F2937"/>
                </a:solidFill>
              </a:rPr>
              <a:t>•  Pre-built intelligence library — 15+ PDLC activity enrichments, benchmark and ROI catalogues</a:t>
            </a:r>
          </a:p>
        </p:txBody>
      </p:sp>
      <p:sp>
        <p:nvSpPr>
          <p:cNvPr id="31" name="TextBox 30"/>
          <p:cNvSpPr txBox="1"/>
          <p:nvPr/>
        </p:nvSpPr>
        <p:spPr>
          <a:xfrm>
            <a:off x="1920240" y="3621024"/>
            <a:ext cx="4846320" cy="402336"/>
          </a:xfrm>
          <a:prstGeom prst="rect">
            <a:avLst/>
          </a:prstGeom>
          <a:noFill/>
        </p:spPr>
        <p:txBody>
          <a:bodyPr wrap="square">
            <a:spAutoFit/>
          </a:bodyPr>
          <a:lstStyle/>
          <a:p>
            <a:pPr algn="l"/>
            <a:r>
              <a:rPr sz="900" b="0" i="0">
                <a:solidFill>
                  <a:srgbClr val="1F2937"/>
                </a:solidFill>
              </a:rPr>
              <a:t>•  DORA calibration engine — aligns theoretical VSM metrics to measured DORA values</a:t>
            </a:r>
          </a:p>
        </p:txBody>
      </p:sp>
      <p:sp>
        <p:nvSpPr>
          <p:cNvPr id="32" name="TextBox 31"/>
          <p:cNvSpPr txBox="1"/>
          <p:nvPr/>
        </p:nvSpPr>
        <p:spPr>
          <a:xfrm>
            <a:off x="6858000" y="3621024"/>
            <a:ext cx="4846320" cy="402336"/>
          </a:xfrm>
          <a:prstGeom prst="rect">
            <a:avLst/>
          </a:prstGeom>
          <a:noFill/>
        </p:spPr>
        <p:txBody>
          <a:bodyPr wrap="square">
            <a:spAutoFit/>
          </a:bodyPr>
          <a:lstStyle/>
          <a:p>
            <a:pPr algn="l"/>
            <a:r>
              <a:rPr sz="900" b="0" i="0">
                <a:solidFill>
                  <a:srgbClr val="1F2937"/>
                </a:solidFill>
              </a:rPr>
              <a:t>•  Accuracy feedback loop — user calibration scores to tune analysis confidence</a:t>
            </a:r>
          </a:p>
        </p:txBody>
      </p:sp>
      <p:sp>
        <p:nvSpPr>
          <p:cNvPr id="33" name="Rectangle 32"/>
          <p:cNvSpPr/>
          <p:nvPr/>
        </p:nvSpPr>
        <p:spPr>
          <a:xfrm>
            <a:off x="256032" y="4142232"/>
            <a:ext cx="11676888" cy="960120"/>
          </a:xfrm>
          <a:prstGeom prst="rect">
            <a:avLst/>
          </a:prstGeom>
          <a:solidFill>
            <a:srgbClr val="FFFF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6032" y="4142232"/>
            <a:ext cx="91440" cy="96012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2336" y="4434840"/>
            <a:ext cx="1417320" cy="292608"/>
          </a:xfrm>
          <a:prstGeom prst="rect">
            <a:avLst/>
          </a:prstGeom>
          <a:noFill/>
        </p:spPr>
        <p:txBody>
          <a:bodyPr wrap="square">
            <a:spAutoFit/>
          </a:bodyPr>
          <a:lstStyle/>
          <a:p>
            <a:pPr algn="l"/>
            <a:r>
              <a:rPr sz="1000" b="1" i="0">
                <a:solidFill>
                  <a:srgbClr val="B45A09"/>
                </a:solidFill>
              </a:rPr>
              <a:t>Integration</a:t>
            </a:r>
          </a:p>
        </p:txBody>
      </p:sp>
      <p:sp>
        <p:nvSpPr>
          <p:cNvPr id="36" name="TextBox 35"/>
          <p:cNvSpPr txBox="1"/>
          <p:nvPr/>
        </p:nvSpPr>
        <p:spPr>
          <a:xfrm>
            <a:off x="1920240" y="4215384"/>
            <a:ext cx="4846320" cy="402336"/>
          </a:xfrm>
          <a:prstGeom prst="rect">
            <a:avLst/>
          </a:prstGeom>
          <a:noFill/>
        </p:spPr>
        <p:txBody>
          <a:bodyPr wrap="square">
            <a:spAutoFit/>
          </a:bodyPr>
          <a:lstStyle/>
          <a:p>
            <a:pPr algn="l"/>
            <a:r>
              <a:rPr sz="900" b="0" i="0">
                <a:solidFill>
                  <a:srgbClr val="1F2937"/>
                </a:solidFill>
              </a:rPr>
              <a:t>•  Jira REST API  ·  Azure DevOps REST API — work item ingestion and cycle time extraction</a:t>
            </a:r>
          </a:p>
        </p:txBody>
      </p:sp>
      <p:sp>
        <p:nvSpPr>
          <p:cNvPr id="37" name="TextBox 36"/>
          <p:cNvSpPr txBox="1"/>
          <p:nvPr/>
        </p:nvSpPr>
        <p:spPr>
          <a:xfrm>
            <a:off x="6858000" y="4215384"/>
            <a:ext cx="4846320" cy="402336"/>
          </a:xfrm>
          <a:prstGeom prst="rect">
            <a:avLst/>
          </a:prstGeom>
          <a:noFill/>
        </p:spPr>
        <p:txBody>
          <a:bodyPr wrap="square">
            <a:spAutoFit/>
          </a:bodyPr>
          <a:lstStyle/>
          <a:p>
            <a:pPr algn="l"/>
            <a:r>
              <a:rPr sz="900" b="0" i="0">
                <a:solidFill>
                  <a:srgbClr val="1F2937"/>
                </a:solidFill>
              </a:rPr>
              <a:t>•  GitHub / GitLab — PR metrics and commit frequency for DevOps maturity scoring</a:t>
            </a:r>
          </a:p>
        </p:txBody>
      </p:sp>
      <p:sp>
        <p:nvSpPr>
          <p:cNvPr id="38" name="TextBox 37"/>
          <p:cNvSpPr txBox="1"/>
          <p:nvPr/>
        </p:nvSpPr>
        <p:spPr>
          <a:xfrm>
            <a:off x="1920240" y="4636008"/>
            <a:ext cx="4846320" cy="402336"/>
          </a:xfrm>
          <a:prstGeom prst="rect">
            <a:avLst/>
          </a:prstGeom>
          <a:noFill/>
        </p:spPr>
        <p:txBody>
          <a:bodyPr wrap="square">
            <a:spAutoFit/>
          </a:bodyPr>
          <a:lstStyle/>
          <a:p>
            <a:pPr algn="l"/>
            <a:r>
              <a:rPr sz="900" b="0" i="0">
                <a:solidFill>
                  <a:srgbClr val="1F2937"/>
                </a:solidFill>
              </a:rPr>
              <a:t>•  SonarQube — code quality and security scan result ingestion</a:t>
            </a:r>
          </a:p>
        </p:txBody>
      </p:sp>
      <p:sp>
        <p:nvSpPr>
          <p:cNvPr id="39" name="TextBox 38"/>
          <p:cNvSpPr txBox="1"/>
          <p:nvPr/>
        </p:nvSpPr>
        <p:spPr>
          <a:xfrm>
            <a:off x="6858000" y="4636008"/>
            <a:ext cx="4846320" cy="402336"/>
          </a:xfrm>
          <a:prstGeom prst="rect">
            <a:avLst/>
          </a:prstGeom>
          <a:noFill/>
        </p:spPr>
        <p:txBody>
          <a:bodyPr wrap="square">
            <a:spAutoFit/>
          </a:bodyPr>
          <a:lstStyle/>
          <a:p>
            <a:pPr algn="l"/>
            <a:r>
              <a:rPr sz="900" b="0" i="0">
                <a:solidFill>
                  <a:srgbClr val="1F2937"/>
                </a:solidFill>
              </a:rPr>
              <a:t>•  Excel / XLSX export — bottlenecks, improvements and playbook reports</a:t>
            </a:r>
          </a:p>
        </p:txBody>
      </p:sp>
      <p:sp>
        <p:nvSpPr>
          <p:cNvPr id="40" name="Rectangle 39"/>
          <p:cNvSpPr/>
          <p:nvPr/>
        </p:nvSpPr>
        <p:spPr>
          <a:xfrm>
            <a:off x="256032" y="5157216"/>
            <a:ext cx="11676888" cy="960120"/>
          </a:xfrm>
          <a:prstGeom prst="rect">
            <a:avLst/>
          </a:prstGeom>
          <a:solidFill>
            <a:srgbClr val="FFFFFF"/>
          </a:solidFill>
          <a:ln w="9525">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56032" y="5157216"/>
            <a:ext cx="91440" cy="9601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02336" y="5449824"/>
            <a:ext cx="1417320" cy="292608"/>
          </a:xfrm>
          <a:prstGeom prst="rect">
            <a:avLst/>
          </a:prstGeom>
          <a:noFill/>
        </p:spPr>
        <p:txBody>
          <a:bodyPr wrap="square">
            <a:spAutoFit/>
          </a:bodyPr>
          <a:lstStyle/>
          <a:p>
            <a:pPr algn="l"/>
            <a:r>
              <a:rPr sz="1000" b="1" i="0">
                <a:solidFill>
                  <a:srgbClr val="6B7280"/>
                </a:solidFill>
              </a:rPr>
              <a:t>Data</a:t>
            </a:r>
          </a:p>
        </p:txBody>
      </p:sp>
      <p:sp>
        <p:nvSpPr>
          <p:cNvPr id="43" name="TextBox 42"/>
          <p:cNvSpPr txBox="1"/>
          <p:nvPr/>
        </p:nvSpPr>
        <p:spPr>
          <a:xfrm>
            <a:off x="1920240" y="5230368"/>
            <a:ext cx="4846320" cy="402336"/>
          </a:xfrm>
          <a:prstGeom prst="rect">
            <a:avLst/>
          </a:prstGeom>
          <a:noFill/>
        </p:spPr>
        <p:txBody>
          <a:bodyPr wrap="square">
            <a:spAutoFit/>
          </a:bodyPr>
          <a:lstStyle/>
          <a:p>
            <a:pPr algn="l"/>
            <a:r>
              <a:rPr sz="900" b="0" i="0">
                <a:solidFill>
                  <a:srgbClr val="1F2937"/>
                </a:solidFill>
              </a:rPr>
              <a:t>•  SQLite async (aiosqlite) — Projects, VSM Snapshots, Analysis Runs, DevOps Assessments</a:t>
            </a:r>
          </a:p>
        </p:txBody>
      </p:sp>
      <p:sp>
        <p:nvSpPr>
          <p:cNvPr id="44" name="TextBox 43"/>
          <p:cNvSpPr txBox="1"/>
          <p:nvPr/>
        </p:nvSpPr>
        <p:spPr>
          <a:xfrm>
            <a:off x="6858000" y="5230368"/>
            <a:ext cx="4846320" cy="402336"/>
          </a:xfrm>
          <a:prstGeom prst="rect">
            <a:avLst/>
          </a:prstGeom>
          <a:noFill/>
        </p:spPr>
        <p:txBody>
          <a:bodyPr wrap="square">
            <a:spAutoFit/>
          </a:bodyPr>
          <a:lstStyle/>
          <a:p>
            <a:pPr algn="l"/>
            <a:r>
              <a:rPr sz="900" b="0" i="0">
                <a:solidFill>
                  <a:srgbClr val="1F2937"/>
                </a:solidFill>
              </a:rPr>
              <a:t>•  PlatformSettings — key/value store for LLM credentials and schedule configuration</a:t>
            </a:r>
          </a:p>
        </p:txBody>
      </p:sp>
      <p:sp>
        <p:nvSpPr>
          <p:cNvPr id="45" name="TextBox 44"/>
          <p:cNvSpPr txBox="1"/>
          <p:nvPr/>
        </p:nvSpPr>
        <p:spPr>
          <a:xfrm>
            <a:off x="1920240" y="5650992"/>
            <a:ext cx="4846320" cy="402336"/>
          </a:xfrm>
          <a:prstGeom prst="rect">
            <a:avLst/>
          </a:prstGeom>
          <a:noFill/>
        </p:spPr>
        <p:txBody>
          <a:bodyPr wrap="square">
            <a:spAutoFit/>
          </a:bodyPr>
          <a:lstStyle/>
          <a:p>
            <a:pPr algn="l"/>
            <a:r>
              <a:rPr sz="900" b="0" i="0">
                <a:solidFill>
                  <a:srgbClr val="1F2937"/>
                </a:solidFill>
              </a:rPr>
              <a:t>•  ScheduledPipelineRuns — full audit trail of automated analysis executions</a:t>
            </a:r>
          </a:p>
        </p:txBody>
      </p:sp>
      <p:sp>
        <p:nvSpPr>
          <p:cNvPr id="46" name="TextBox 45"/>
          <p:cNvSpPr txBox="1"/>
          <p:nvPr/>
        </p:nvSpPr>
        <p:spPr>
          <a:xfrm>
            <a:off x="6858000" y="5650992"/>
            <a:ext cx="4846320" cy="402336"/>
          </a:xfrm>
          <a:prstGeom prst="rect">
            <a:avLst/>
          </a:prstGeom>
          <a:noFill/>
        </p:spPr>
        <p:txBody>
          <a:bodyPr wrap="square">
            <a:spAutoFit/>
          </a:bodyPr>
          <a:lstStyle/>
          <a:p>
            <a:pPr algn="l"/>
            <a:r>
              <a:rPr sz="900" b="0" i="0">
                <a:solidFill>
                  <a:srgbClr val="1F2937"/>
                </a:solidFill>
              </a:rPr>
              <a:t>•  AnalysisRun — complete JSON result blob persisted per pipeline execution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Technical Architecture</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Stack, runtime and integration topology</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15</a:t>
            </a:r>
          </a:p>
        </p:txBody>
      </p:sp>
      <p:sp>
        <p:nvSpPr>
          <p:cNvPr id="12" name="Rectangle 11"/>
          <p:cNvSpPr/>
          <p:nvPr/>
        </p:nvSpPr>
        <p:spPr>
          <a:xfrm>
            <a:off x="256032" y="1097280"/>
            <a:ext cx="3749039" cy="513892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97280"/>
            <a:ext cx="3749039" cy="32918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1170432"/>
            <a:ext cx="3749039" cy="237744"/>
          </a:xfrm>
          <a:prstGeom prst="rect">
            <a:avLst/>
          </a:prstGeom>
          <a:noFill/>
        </p:spPr>
        <p:txBody>
          <a:bodyPr wrap="square">
            <a:spAutoFit/>
          </a:bodyPr>
          <a:lstStyle/>
          <a:p>
            <a:pPr algn="l"/>
            <a:r>
              <a:rPr sz="1100" b="1" i="0">
                <a:solidFill>
                  <a:srgbClr val="FFFFFF"/>
                </a:solidFill>
              </a:rPr>
              <a:t>Frontend</a:t>
            </a:r>
          </a:p>
        </p:txBody>
      </p:sp>
      <p:sp>
        <p:nvSpPr>
          <p:cNvPr id="15" name="Rectangle 14"/>
          <p:cNvSpPr/>
          <p:nvPr/>
        </p:nvSpPr>
        <p:spPr>
          <a:xfrm>
            <a:off x="329184" y="1517904"/>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1609344"/>
            <a:ext cx="1097280" cy="292608"/>
          </a:xfrm>
          <a:prstGeom prst="rect">
            <a:avLst/>
          </a:prstGeom>
          <a:noFill/>
        </p:spPr>
        <p:txBody>
          <a:bodyPr wrap="square">
            <a:spAutoFit/>
          </a:bodyPr>
          <a:lstStyle/>
          <a:p>
            <a:pPr algn="l"/>
            <a:r>
              <a:rPr sz="900" b="1" i="0">
                <a:solidFill>
                  <a:srgbClr val="1E3A8A"/>
                </a:solidFill>
              </a:rPr>
              <a:t>Framework</a:t>
            </a:r>
          </a:p>
        </p:txBody>
      </p:sp>
      <p:sp>
        <p:nvSpPr>
          <p:cNvPr id="17" name="TextBox 16"/>
          <p:cNvSpPr txBox="1"/>
          <p:nvPr/>
        </p:nvSpPr>
        <p:spPr>
          <a:xfrm>
            <a:off x="1517904" y="1609344"/>
            <a:ext cx="2395728" cy="292608"/>
          </a:xfrm>
          <a:prstGeom prst="rect">
            <a:avLst/>
          </a:prstGeom>
          <a:noFill/>
        </p:spPr>
        <p:txBody>
          <a:bodyPr wrap="square">
            <a:spAutoFit/>
          </a:bodyPr>
          <a:lstStyle/>
          <a:p>
            <a:pPr algn="l"/>
            <a:r>
              <a:rPr sz="900" b="0" i="0">
                <a:solidFill>
                  <a:srgbClr val="1F2937"/>
                </a:solidFill>
              </a:rPr>
              <a:t>React 18  +  Vite 5</a:t>
            </a:r>
          </a:p>
        </p:txBody>
      </p:sp>
      <p:sp>
        <p:nvSpPr>
          <p:cNvPr id="18" name="Rectangle 17"/>
          <p:cNvSpPr/>
          <p:nvPr/>
        </p:nvSpPr>
        <p:spPr>
          <a:xfrm>
            <a:off x="329184" y="2039111"/>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2130551"/>
            <a:ext cx="1097280" cy="292608"/>
          </a:xfrm>
          <a:prstGeom prst="rect">
            <a:avLst/>
          </a:prstGeom>
          <a:noFill/>
        </p:spPr>
        <p:txBody>
          <a:bodyPr wrap="square">
            <a:spAutoFit/>
          </a:bodyPr>
          <a:lstStyle/>
          <a:p>
            <a:pPr algn="l"/>
            <a:r>
              <a:rPr sz="900" b="1" i="0">
                <a:solidFill>
                  <a:srgbClr val="1E3A8A"/>
                </a:solidFill>
              </a:rPr>
              <a:t>Routing</a:t>
            </a:r>
          </a:p>
        </p:txBody>
      </p:sp>
      <p:sp>
        <p:nvSpPr>
          <p:cNvPr id="20" name="TextBox 19"/>
          <p:cNvSpPr txBox="1"/>
          <p:nvPr/>
        </p:nvSpPr>
        <p:spPr>
          <a:xfrm>
            <a:off x="1517904" y="2130551"/>
            <a:ext cx="2395728" cy="292608"/>
          </a:xfrm>
          <a:prstGeom prst="rect">
            <a:avLst/>
          </a:prstGeom>
          <a:noFill/>
        </p:spPr>
        <p:txBody>
          <a:bodyPr wrap="square">
            <a:spAutoFit/>
          </a:bodyPr>
          <a:lstStyle/>
          <a:p>
            <a:pPr algn="l"/>
            <a:r>
              <a:rPr sz="900" b="0" i="0">
                <a:solidFill>
                  <a:srgbClr val="1F2937"/>
                </a:solidFill>
              </a:rPr>
              <a:t>React Router 6</a:t>
            </a:r>
          </a:p>
        </p:txBody>
      </p:sp>
      <p:sp>
        <p:nvSpPr>
          <p:cNvPr id="21" name="Rectangle 20"/>
          <p:cNvSpPr/>
          <p:nvPr/>
        </p:nvSpPr>
        <p:spPr>
          <a:xfrm>
            <a:off x="329184" y="2560318"/>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651758"/>
            <a:ext cx="1097280" cy="292608"/>
          </a:xfrm>
          <a:prstGeom prst="rect">
            <a:avLst/>
          </a:prstGeom>
          <a:noFill/>
        </p:spPr>
        <p:txBody>
          <a:bodyPr wrap="square">
            <a:spAutoFit/>
          </a:bodyPr>
          <a:lstStyle/>
          <a:p>
            <a:pPr algn="l"/>
            <a:r>
              <a:rPr sz="900" b="1" i="0">
                <a:solidFill>
                  <a:srgbClr val="1E3A8A"/>
                </a:solidFill>
              </a:rPr>
              <a:t>Styling</a:t>
            </a:r>
          </a:p>
        </p:txBody>
      </p:sp>
      <p:sp>
        <p:nvSpPr>
          <p:cNvPr id="23" name="TextBox 22"/>
          <p:cNvSpPr txBox="1"/>
          <p:nvPr/>
        </p:nvSpPr>
        <p:spPr>
          <a:xfrm>
            <a:off x="1517904" y="2651758"/>
            <a:ext cx="2395728" cy="292608"/>
          </a:xfrm>
          <a:prstGeom prst="rect">
            <a:avLst/>
          </a:prstGeom>
          <a:noFill/>
        </p:spPr>
        <p:txBody>
          <a:bodyPr wrap="square">
            <a:spAutoFit/>
          </a:bodyPr>
          <a:lstStyle/>
          <a:p>
            <a:pPr algn="l"/>
            <a:r>
              <a:rPr sz="900" b="0" i="0">
                <a:solidFill>
                  <a:srgbClr val="1F2937"/>
                </a:solidFill>
              </a:rPr>
              <a:t>Tailwind CSS 3  ·  Inter</a:t>
            </a:r>
          </a:p>
        </p:txBody>
      </p:sp>
      <p:sp>
        <p:nvSpPr>
          <p:cNvPr id="24" name="Rectangle 23"/>
          <p:cNvSpPr/>
          <p:nvPr/>
        </p:nvSpPr>
        <p:spPr>
          <a:xfrm>
            <a:off x="329184" y="3081525"/>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3172965"/>
            <a:ext cx="1097280" cy="292608"/>
          </a:xfrm>
          <a:prstGeom prst="rect">
            <a:avLst/>
          </a:prstGeom>
          <a:noFill/>
        </p:spPr>
        <p:txBody>
          <a:bodyPr wrap="square">
            <a:spAutoFit/>
          </a:bodyPr>
          <a:lstStyle/>
          <a:p>
            <a:pPr algn="l"/>
            <a:r>
              <a:rPr sz="900" b="1" i="0">
                <a:solidFill>
                  <a:srgbClr val="1E3A8A"/>
                </a:solidFill>
              </a:rPr>
              <a:t>Charts</a:t>
            </a:r>
          </a:p>
        </p:txBody>
      </p:sp>
      <p:sp>
        <p:nvSpPr>
          <p:cNvPr id="26" name="TextBox 25"/>
          <p:cNvSpPr txBox="1"/>
          <p:nvPr/>
        </p:nvSpPr>
        <p:spPr>
          <a:xfrm>
            <a:off x="1517904" y="3172965"/>
            <a:ext cx="2395728" cy="292608"/>
          </a:xfrm>
          <a:prstGeom prst="rect">
            <a:avLst/>
          </a:prstGeom>
          <a:noFill/>
        </p:spPr>
        <p:txBody>
          <a:bodyPr wrap="square">
            <a:spAutoFit/>
          </a:bodyPr>
          <a:lstStyle/>
          <a:p>
            <a:pPr algn="l"/>
            <a:r>
              <a:rPr sz="900" b="0" i="0">
                <a:solidFill>
                  <a:srgbClr val="1F2937"/>
                </a:solidFill>
              </a:rPr>
              <a:t>Recharts 2  ·  Chart.js</a:t>
            </a:r>
          </a:p>
        </p:txBody>
      </p:sp>
      <p:sp>
        <p:nvSpPr>
          <p:cNvPr id="27" name="Rectangle 26"/>
          <p:cNvSpPr/>
          <p:nvPr/>
        </p:nvSpPr>
        <p:spPr>
          <a:xfrm>
            <a:off x="329184" y="3602732"/>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3694172"/>
            <a:ext cx="1097280" cy="292608"/>
          </a:xfrm>
          <a:prstGeom prst="rect">
            <a:avLst/>
          </a:prstGeom>
          <a:noFill/>
        </p:spPr>
        <p:txBody>
          <a:bodyPr wrap="square">
            <a:spAutoFit/>
          </a:bodyPr>
          <a:lstStyle/>
          <a:p>
            <a:pPr algn="l"/>
            <a:r>
              <a:rPr sz="900" b="1" i="0">
                <a:solidFill>
                  <a:srgbClr val="1E3A8A"/>
                </a:solidFill>
              </a:rPr>
              <a:t>HTTP client</a:t>
            </a:r>
          </a:p>
        </p:txBody>
      </p:sp>
      <p:sp>
        <p:nvSpPr>
          <p:cNvPr id="29" name="TextBox 28"/>
          <p:cNvSpPr txBox="1"/>
          <p:nvPr/>
        </p:nvSpPr>
        <p:spPr>
          <a:xfrm>
            <a:off x="1517904" y="3694172"/>
            <a:ext cx="2395728" cy="292608"/>
          </a:xfrm>
          <a:prstGeom prst="rect">
            <a:avLst/>
          </a:prstGeom>
          <a:noFill/>
        </p:spPr>
        <p:txBody>
          <a:bodyPr wrap="square">
            <a:spAutoFit/>
          </a:bodyPr>
          <a:lstStyle/>
          <a:p>
            <a:pPr algn="l"/>
            <a:r>
              <a:rPr sz="900" b="0" i="0">
                <a:solidFill>
                  <a:srgbClr val="1F2937"/>
                </a:solidFill>
              </a:rPr>
              <a:t>Axios</a:t>
            </a:r>
          </a:p>
        </p:txBody>
      </p:sp>
      <p:sp>
        <p:nvSpPr>
          <p:cNvPr id="30" name="Rectangle 29"/>
          <p:cNvSpPr/>
          <p:nvPr/>
        </p:nvSpPr>
        <p:spPr>
          <a:xfrm>
            <a:off x="329184" y="4123939"/>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4215379"/>
            <a:ext cx="1097280" cy="292608"/>
          </a:xfrm>
          <a:prstGeom prst="rect">
            <a:avLst/>
          </a:prstGeom>
          <a:noFill/>
        </p:spPr>
        <p:txBody>
          <a:bodyPr wrap="square">
            <a:spAutoFit/>
          </a:bodyPr>
          <a:lstStyle/>
          <a:p>
            <a:pPr algn="l"/>
            <a:r>
              <a:rPr sz="900" b="1" i="0">
                <a:solidFill>
                  <a:srgbClr val="1E3A8A"/>
                </a:solidFill>
              </a:rPr>
              <a:t>Icons</a:t>
            </a:r>
          </a:p>
        </p:txBody>
      </p:sp>
      <p:sp>
        <p:nvSpPr>
          <p:cNvPr id="32" name="TextBox 31"/>
          <p:cNvSpPr txBox="1"/>
          <p:nvPr/>
        </p:nvSpPr>
        <p:spPr>
          <a:xfrm>
            <a:off x="1517904" y="4215379"/>
            <a:ext cx="2395728" cy="292608"/>
          </a:xfrm>
          <a:prstGeom prst="rect">
            <a:avLst/>
          </a:prstGeom>
          <a:noFill/>
        </p:spPr>
        <p:txBody>
          <a:bodyPr wrap="square">
            <a:spAutoFit/>
          </a:bodyPr>
          <a:lstStyle/>
          <a:p>
            <a:pPr algn="l"/>
            <a:r>
              <a:rPr sz="900" b="0" i="0">
                <a:solidFill>
                  <a:srgbClr val="1F2937"/>
                </a:solidFill>
              </a:rPr>
              <a:t>Lucide React</a:t>
            </a:r>
          </a:p>
        </p:txBody>
      </p:sp>
      <p:sp>
        <p:nvSpPr>
          <p:cNvPr id="33" name="Rectangle 32"/>
          <p:cNvSpPr/>
          <p:nvPr/>
        </p:nvSpPr>
        <p:spPr>
          <a:xfrm>
            <a:off x="329184" y="4645146"/>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4048" y="4736586"/>
            <a:ext cx="1097280" cy="292608"/>
          </a:xfrm>
          <a:prstGeom prst="rect">
            <a:avLst/>
          </a:prstGeom>
          <a:noFill/>
        </p:spPr>
        <p:txBody>
          <a:bodyPr wrap="square">
            <a:spAutoFit/>
          </a:bodyPr>
          <a:lstStyle/>
          <a:p>
            <a:pPr algn="l"/>
            <a:r>
              <a:rPr sz="900" b="1" i="0">
                <a:solidFill>
                  <a:srgbClr val="1E3A8A"/>
                </a:solidFill>
              </a:rPr>
              <a:t>Export</a:t>
            </a:r>
          </a:p>
        </p:txBody>
      </p:sp>
      <p:sp>
        <p:nvSpPr>
          <p:cNvPr id="35" name="TextBox 34"/>
          <p:cNvSpPr txBox="1"/>
          <p:nvPr/>
        </p:nvSpPr>
        <p:spPr>
          <a:xfrm>
            <a:off x="1517904" y="4736586"/>
            <a:ext cx="2395728" cy="292608"/>
          </a:xfrm>
          <a:prstGeom prst="rect">
            <a:avLst/>
          </a:prstGeom>
          <a:noFill/>
        </p:spPr>
        <p:txBody>
          <a:bodyPr wrap="square">
            <a:spAutoFit/>
          </a:bodyPr>
          <a:lstStyle/>
          <a:p>
            <a:pPr algn="l"/>
            <a:r>
              <a:rPr sz="900" b="0" i="0">
                <a:solidFill>
                  <a:srgbClr val="1F2937"/>
                </a:solidFill>
              </a:rPr>
              <a:t>XLSX  ·  jsPDF</a:t>
            </a:r>
          </a:p>
        </p:txBody>
      </p:sp>
      <p:sp>
        <p:nvSpPr>
          <p:cNvPr id="36" name="Rectangle 35"/>
          <p:cNvSpPr/>
          <p:nvPr/>
        </p:nvSpPr>
        <p:spPr>
          <a:xfrm>
            <a:off x="329184" y="5166353"/>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5257793"/>
            <a:ext cx="1097280" cy="292608"/>
          </a:xfrm>
          <a:prstGeom prst="rect">
            <a:avLst/>
          </a:prstGeom>
          <a:noFill/>
        </p:spPr>
        <p:txBody>
          <a:bodyPr wrap="square">
            <a:spAutoFit/>
          </a:bodyPr>
          <a:lstStyle/>
          <a:p>
            <a:pPr algn="l"/>
            <a:r>
              <a:rPr sz="900" b="1" i="0">
                <a:solidFill>
                  <a:srgbClr val="1E3A8A"/>
                </a:solidFill>
              </a:rPr>
              <a:t>State</a:t>
            </a:r>
          </a:p>
        </p:txBody>
      </p:sp>
      <p:sp>
        <p:nvSpPr>
          <p:cNvPr id="38" name="TextBox 37"/>
          <p:cNvSpPr txBox="1"/>
          <p:nvPr/>
        </p:nvSpPr>
        <p:spPr>
          <a:xfrm>
            <a:off x="1517904" y="5257793"/>
            <a:ext cx="2395728" cy="292608"/>
          </a:xfrm>
          <a:prstGeom prst="rect">
            <a:avLst/>
          </a:prstGeom>
          <a:noFill/>
        </p:spPr>
        <p:txBody>
          <a:bodyPr wrap="square">
            <a:spAutoFit/>
          </a:bodyPr>
          <a:lstStyle/>
          <a:p>
            <a:pPr algn="l"/>
            <a:r>
              <a:rPr sz="900" b="0" i="0">
                <a:solidFill>
                  <a:srgbClr val="1F2937"/>
                </a:solidFill>
              </a:rPr>
              <a:t>React Context API</a:t>
            </a:r>
          </a:p>
        </p:txBody>
      </p:sp>
      <p:sp>
        <p:nvSpPr>
          <p:cNvPr id="39" name="Rectangle 38"/>
          <p:cNvSpPr/>
          <p:nvPr/>
        </p:nvSpPr>
        <p:spPr>
          <a:xfrm>
            <a:off x="329184" y="5687560"/>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4048" y="5779000"/>
            <a:ext cx="1097280" cy="292608"/>
          </a:xfrm>
          <a:prstGeom prst="rect">
            <a:avLst/>
          </a:prstGeom>
          <a:noFill/>
        </p:spPr>
        <p:txBody>
          <a:bodyPr wrap="square">
            <a:spAutoFit/>
          </a:bodyPr>
          <a:lstStyle/>
          <a:p>
            <a:pPr algn="l"/>
            <a:r>
              <a:rPr sz="900" b="1" i="0">
                <a:solidFill>
                  <a:srgbClr val="1E3A8A"/>
                </a:solidFill>
              </a:rPr>
              <a:t>Dev port</a:t>
            </a:r>
          </a:p>
        </p:txBody>
      </p:sp>
      <p:sp>
        <p:nvSpPr>
          <p:cNvPr id="41" name="TextBox 40"/>
          <p:cNvSpPr txBox="1"/>
          <p:nvPr/>
        </p:nvSpPr>
        <p:spPr>
          <a:xfrm>
            <a:off x="1517904" y="5779000"/>
            <a:ext cx="2395728" cy="292608"/>
          </a:xfrm>
          <a:prstGeom prst="rect">
            <a:avLst/>
          </a:prstGeom>
          <a:noFill/>
        </p:spPr>
        <p:txBody>
          <a:bodyPr wrap="square">
            <a:spAutoFit/>
          </a:bodyPr>
          <a:lstStyle/>
          <a:p>
            <a:pPr algn="l"/>
            <a:r>
              <a:rPr sz="900" b="0" i="0">
                <a:solidFill>
                  <a:srgbClr val="1F2937"/>
                </a:solidFill>
              </a:rPr>
              <a:t>:3001  (Vite HMR)</a:t>
            </a:r>
          </a:p>
        </p:txBody>
      </p:sp>
      <p:sp>
        <p:nvSpPr>
          <p:cNvPr id="42" name="Rectangle 41"/>
          <p:cNvSpPr/>
          <p:nvPr/>
        </p:nvSpPr>
        <p:spPr>
          <a:xfrm>
            <a:off x="4133087" y="1097280"/>
            <a:ext cx="3749039" cy="513892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133087" y="1097280"/>
            <a:ext cx="3749039" cy="32918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61103" y="1170432"/>
            <a:ext cx="3749039" cy="237744"/>
          </a:xfrm>
          <a:prstGeom prst="rect">
            <a:avLst/>
          </a:prstGeom>
          <a:noFill/>
        </p:spPr>
        <p:txBody>
          <a:bodyPr wrap="square">
            <a:spAutoFit/>
          </a:bodyPr>
          <a:lstStyle/>
          <a:p>
            <a:pPr algn="l"/>
            <a:r>
              <a:rPr sz="1100" b="1" i="0">
                <a:solidFill>
                  <a:srgbClr val="FFFFFF"/>
                </a:solidFill>
              </a:rPr>
              <a:t>Backend API</a:t>
            </a:r>
          </a:p>
        </p:txBody>
      </p:sp>
      <p:sp>
        <p:nvSpPr>
          <p:cNvPr id="45" name="Rectangle 44"/>
          <p:cNvSpPr/>
          <p:nvPr/>
        </p:nvSpPr>
        <p:spPr>
          <a:xfrm>
            <a:off x="4206239" y="1517904"/>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261103" y="1609344"/>
            <a:ext cx="1097280" cy="292608"/>
          </a:xfrm>
          <a:prstGeom prst="rect">
            <a:avLst/>
          </a:prstGeom>
          <a:noFill/>
        </p:spPr>
        <p:txBody>
          <a:bodyPr wrap="square">
            <a:spAutoFit/>
          </a:bodyPr>
          <a:lstStyle/>
          <a:p>
            <a:pPr algn="l"/>
            <a:r>
              <a:rPr sz="900" b="1" i="0">
                <a:solidFill>
                  <a:srgbClr val="1D4ED8"/>
                </a:solidFill>
              </a:rPr>
              <a:t>Framework</a:t>
            </a:r>
          </a:p>
        </p:txBody>
      </p:sp>
      <p:sp>
        <p:nvSpPr>
          <p:cNvPr id="47" name="TextBox 46"/>
          <p:cNvSpPr txBox="1"/>
          <p:nvPr/>
        </p:nvSpPr>
        <p:spPr>
          <a:xfrm>
            <a:off x="5394959" y="1609344"/>
            <a:ext cx="2395728" cy="292608"/>
          </a:xfrm>
          <a:prstGeom prst="rect">
            <a:avLst/>
          </a:prstGeom>
          <a:noFill/>
        </p:spPr>
        <p:txBody>
          <a:bodyPr wrap="square">
            <a:spAutoFit/>
          </a:bodyPr>
          <a:lstStyle/>
          <a:p>
            <a:pPr algn="l"/>
            <a:r>
              <a:rPr sz="900" b="0" i="0">
                <a:solidFill>
                  <a:srgbClr val="1F2937"/>
                </a:solidFill>
              </a:rPr>
              <a:t>FastAPI 0.115  (async)</a:t>
            </a:r>
          </a:p>
        </p:txBody>
      </p:sp>
      <p:sp>
        <p:nvSpPr>
          <p:cNvPr id="48" name="Rectangle 47"/>
          <p:cNvSpPr/>
          <p:nvPr/>
        </p:nvSpPr>
        <p:spPr>
          <a:xfrm>
            <a:off x="4206239" y="2039111"/>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61103" y="2130551"/>
            <a:ext cx="1097280" cy="292608"/>
          </a:xfrm>
          <a:prstGeom prst="rect">
            <a:avLst/>
          </a:prstGeom>
          <a:noFill/>
        </p:spPr>
        <p:txBody>
          <a:bodyPr wrap="square">
            <a:spAutoFit/>
          </a:bodyPr>
          <a:lstStyle/>
          <a:p>
            <a:pPr algn="l"/>
            <a:r>
              <a:rPr sz="900" b="1" i="0">
                <a:solidFill>
                  <a:srgbClr val="1D4ED8"/>
                </a:solidFill>
              </a:rPr>
              <a:t>ORM</a:t>
            </a:r>
          </a:p>
        </p:txBody>
      </p:sp>
      <p:sp>
        <p:nvSpPr>
          <p:cNvPr id="50" name="TextBox 49"/>
          <p:cNvSpPr txBox="1"/>
          <p:nvPr/>
        </p:nvSpPr>
        <p:spPr>
          <a:xfrm>
            <a:off x="5394959" y="2130551"/>
            <a:ext cx="2395728" cy="292608"/>
          </a:xfrm>
          <a:prstGeom prst="rect">
            <a:avLst/>
          </a:prstGeom>
          <a:noFill/>
        </p:spPr>
        <p:txBody>
          <a:bodyPr wrap="square">
            <a:spAutoFit/>
          </a:bodyPr>
          <a:lstStyle/>
          <a:p>
            <a:pPr algn="l"/>
            <a:r>
              <a:rPr sz="900" b="0" i="0">
                <a:solidFill>
                  <a:srgbClr val="1F2937"/>
                </a:solidFill>
              </a:rPr>
              <a:t>SQLAlchemy 2.0  +  aiosqlite</a:t>
            </a:r>
          </a:p>
        </p:txBody>
      </p:sp>
      <p:sp>
        <p:nvSpPr>
          <p:cNvPr id="51" name="Rectangle 50"/>
          <p:cNvSpPr/>
          <p:nvPr/>
        </p:nvSpPr>
        <p:spPr>
          <a:xfrm>
            <a:off x="4206239" y="2560318"/>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261103" y="2651758"/>
            <a:ext cx="1097280" cy="292608"/>
          </a:xfrm>
          <a:prstGeom prst="rect">
            <a:avLst/>
          </a:prstGeom>
          <a:noFill/>
        </p:spPr>
        <p:txBody>
          <a:bodyPr wrap="square">
            <a:spAutoFit/>
          </a:bodyPr>
          <a:lstStyle/>
          <a:p>
            <a:pPr algn="l"/>
            <a:r>
              <a:rPr sz="900" b="1" i="0">
                <a:solidFill>
                  <a:srgbClr val="1D4ED8"/>
                </a:solidFill>
              </a:rPr>
              <a:t>Validation</a:t>
            </a:r>
          </a:p>
        </p:txBody>
      </p:sp>
      <p:sp>
        <p:nvSpPr>
          <p:cNvPr id="53" name="TextBox 52"/>
          <p:cNvSpPr txBox="1"/>
          <p:nvPr/>
        </p:nvSpPr>
        <p:spPr>
          <a:xfrm>
            <a:off x="5394959" y="2651758"/>
            <a:ext cx="2395728" cy="292608"/>
          </a:xfrm>
          <a:prstGeom prst="rect">
            <a:avLst/>
          </a:prstGeom>
          <a:noFill/>
        </p:spPr>
        <p:txBody>
          <a:bodyPr wrap="square">
            <a:spAutoFit/>
          </a:bodyPr>
          <a:lstStyle/>
          <a:p>
            <a:pPr algn="l"/>
            <a:r>
              <a:rPr sz="900" b="0" i="0">
                <a:solidFill>
                  <a:srgbClr val="1F2937"/>
                </a:solidFill>
              </a:rPr>
              <a:t>Pydantic v2</a:t>
            </a:r>
          </a:p>
        </p:txBody>
      </p:sp>
      <p:sp>
        <p:nvSpPr>
          <p:cNvPr id="54" name="Rectangle 53"/>
          <p:cNvSpPr/>
          <p:nvPr/>
        </p:nvSpPr>
        <p:spPr>
          <a:xfrm>
            <a:off x="4206239" y="3081525"/>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61103" y="3172965"/>
            <a:ext cx="1097280" cy="292608"/>
          </a:xfrm>
          <a:prstGeom prst="rect">
            <a:avLst/>
          </a:prstGeom>
          <a:noFill/>
        </p:spPr>
        <p:txBody>
          <a:bodyPr wrap="square">
            <a:spAutoFit/>
          </a:bodyPr>
          <a:lstStyle/>
          <a:p>
            <a:pPr algn="l"/>
            <a:r>
              <a:rPr sz="900" b="1" i="0">
                <a:solidFill>
                  <a:srgbClr val="1D4ED8"/>
                </a:solidFill>
              </a:rPr>
              <a:t>AI pipeline</a:t>
            </a:r>
          </a:p>
        </p:txBody>
      </p:sp>
      <p:sp>
        <p:nvSpPr>
          <p:cNvPr id="56" name="TextBox 55"/>
          <p:cNvSpPr txBox="1"/>
          <p:nvPr/>
        </p:nvSpPr>
        <p:spPr>
          <a:xfrm>
            <a:off x="5394959" y="3172965"/>
            <a:ext cx="2395728" cy="292608"/>
          </a:xfrm>
          <a:prstGeom prst="rect">
            <a:avLst/>
          </a:prstGeom>
          <a:noFill/>
        </p:spPr>
        <p:txBody>
          <a:bodyPr wrap="square">
            <a:spAutoFit/>
          </a:bodyPr>
          <a:lstStyle/>
          <a:p>
            <a:pPr algn="l"/>
            <a:r>
              <a:rPr sz="900" b="0" i="0">
                <a:solidFill>
                  <a:srgbClr val="1F2937"/>
                </a:solidFill>
              </a:rPr>
              <a:t>LangGraph 0.2  +  LangChain 0.3</a:t>
            </a:r>
          </a:p>
        </p:txBody>
      </p:sp>
      <p:sp>
        <p:nvSpPr>
          <p:cNvPr id="57" name="Rectangle 56"/>
          <p:cNvSpPr/>
          <p:nvPr/>
        </p:nvSpPr>
        <p:spPr>
          <a:xfrm>
            <a:off x="4206239" y="3602732"/>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261103" y="3694172"/>
            <a:ext cx="1097280" cy="292608"/>
          </a:xfrm>
          <a:prstGeom prst="rect">
            <a:avLst/>
          </a:prstGeom>
          <a:noFill/>
        </p:spPr>
        <p:txBody>
          <a:bodyPr wrap="square">
            <a:spAutoFit/>
          </a:bodyPr>
          <a:lstStyle/>
          <a:p>
            <a:pPr algn="l"/>
            <a:r>
              <a:rPr sz="900" b="1" i="0">
                <a:solidFill>
                  <a:srgbClr val="1D4ED8"/>
                </a:solidFill>
              </a:rPr>
              <a:t>LLM client</a:t>
            </a:r>
          </a:p>
        </p:txBody>
      </p:sp>
      <p:sp>
        <p:nvSpPr>
          <p:cNvPr id="59" name="TextBox 58"/>
          <p:cNvSpPr txBox="1"/>
          <p:nvPr/>
        </p:nvSpPr>
        <p:spPr>
          <a:xfrm>
            <a:off x="5394959" y="3694172"/>
            <a:ext cx="2395728" cy="292608"/>
          </a:xfrm>
          <a:prstGeom prst="rect">
            <a:avLst/>
          </a:prstGeom>
          <a:noFill/>
        </p:spPr>
        <p:txBody>
          <a:bodyPr wrap="square">
            <a:spAutoFit/>
          </a:bodyPr>
          <a:lstStyle/>
          <a:p>
            <a:pPr algn="l"/>
            <a:r>
              <a:rPr sz="900" b="0" i="0">
                <a:solidFill>
                  <a:srgbClr val="1F2937"/>
                </a:solidFill>
              </a:rPr>
              <a:t>LangChain-OpenAI 0.2</a:t>
            </a:r>
          </a:p>
        </p:txBody>
      </p:sp>
      <p:sp>
        <p:nvSpPr>
          <p:cNvPr id="60" name="Rectangle 59"/>
          <p:cNvSpPr/>
          <p:nvPr/>
        </p:nvSpPr>
        <p:spPr>
          <a:xfrm>
            <a:off x="4206239" y="4123939"/>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261103" y="4215379"/>
            <a:ext cx="1097280" cy="292608"/>
          </a:xfrm>
          <a:prstGeom prst="rect">
            <a:avLst/>
          </a:prstGeom>
          <a:noFill/>
        </p:spPr>
        <p:txBody>
          <a:bodyPr wrap="square">
            <a:spAutoFit/>
          </a:bodyPr>
          <a:lstStyle/>
          <a:p>
            <a:pPr algn="l"/>
            <a:r>
              <a:rPr sz="900" b="1" i="0">
                <a:solidFill>
                  <a:srgbClr val="1D4ED8"/>
                </a:solidFill>
              </a:rPr>
              <a:t>Scheduler</a:t>
            </a:r>
          </a:p>
        </p:txBody>
      </p:sp>
      <p:sp>
        <p:nvSpPr>
          <p:cNvPr id="62" name="TextBox 61"/>
          <p:cNvSpPr txBox="1"/>
          <p:nvPr/>
        </p:nvSpPr>
        <p:spPr>
          <a:xfrm>
            <a:off x="5394959" y="4215379"/>
            <a:ext cx="2395728" cy="292608"/>
          </a:xfrm>
          <a:prstGeom prst="rect">
            <a:avLst/>
          </a:prstGeom>
          <a:noFill/>
        </p:spPr>
        <p:txBody>
          <a:bodyPr wrap="square">
            <a:spAutoFit/>
          </a:bodyPr>
          <a:lstStyle/>
          <a:p>
            <a:pPr algn="l"/>
            <a:r>
              <a:rPr sz="900" b="0" i="0">
                <a:solidFill>
                  <a:srgbClr val="1F2937"/>
                </a:solidFill>
              </a:rPr>
              <a:t>APScheduler 3.x</a:t>
            </a:r>
          </a:p>
        </p:txBody>
      </p:sp>
      <p:sp>
        <p:nvSpPr>
          <p:cNvPr id="63" name="Rectangle 62"/>
          <p:cNvSpPr/>
          <p:nvPr/>
        </p:nvSpPr>
        <p:spPr>
          <a:xfrm>
            <a:off x="4206239" y="4645146"/>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261103" y="4736586"/>
            <a:ext cx="1097280" cy="292608"/>
          </a:xfrm>
          <a:prstGeom prst="rect">
            <a:avLst/>
          </a:prstGeom>
          <a:noFill/>
        </p:spPr>
        <p:txBody>
          <a:bodyPr wrap="square">
            <a:spAutoFit/>
          </a:bodyPr>
          <a:lstStyle/>
          <a:p>
            <a:pPr algn="l"/>
            <a:r>
              <a:rPr sz="900" b="1" i="0">
                <a:solidFill>
                  <a:srgbClr val="1D4ED8"/>
                </a:solidFill>
              </a:rPr>
              <a:t>ALM clients</a:t>
            </a:r>
          </a:p>
        </p:txBody>
      </p:sp>
      <p:sp>
        <p:nvSpPr>
          <p:cNvPr id="65" name="TextBox 64"/>
          <p:cNvSpPr txBox="1"/>
          <p:nvPr/>
        </p:nvSpPr>
        <p:spPr>
          <a:xfrm>
            <a:off x="5394959" y="4736586"/>
            <a:ext cx="2395728" cy="292608"/>
          </a:xfrm>
          <a:prstGeom prst="rect">
            <a:avLst/>
          </a:prstGeom>
          <a:noFill/>
        </p:spPr>
        <p:txBody>
          <a:bodyPr wrap="square">
            <a:spAutoFit/>
          </a:bodyPr>
          <a:lstStyle/>
          <a:p>
            <a:pPr algn="l"/>
            <a:r>
              <a:rPr sz="900" b="0" i="0">
                <a:solidFill>
                  <a:srgbClr val="1F2937"/>
                </a:solidFill>
              </a:rPr>
              <a:t>Jira SDK  ·  httpx</a:t>
            </a:r>
          </a:p>
        </p:txBody>
      </p:sp>
      <p:sp>
        <p:nvSpPr>
          <p:cNvPr id="66" name="Rectangle 65"/>
          <p:cNvSpPr/>
          <p:nvPr/>
        </p:nvSpPr>
        <p:spPr>
          <a:xfrm>
            <a:off x="4206239" y="5166353"/>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261103" y="5257793"/>
            <a:ext cx="1097280" cy="292608"/>
          </a:xfrm>
          <a:prstGeom prst="rect">
            <a:avLst/>
          </a:prstGeom>
          <a:noFill/>
        </p:spPr>
        <p:txBody>
          <a:bodyPr wrap="square">
            <a:spAutoFit/>
          </a:bodyPr>
          <a:lstStyle/>
          <a:p>
            <a:pPr algn="l"/>
            <a:r>
              <a:rPr sz="900" b="1" i="0">
                <a:solidFill>
                  <a:srgbClr val="1D4ED8"/>
                </a:solidFill>
              </a:rPr>
              <a:t>Data tools</a:t>
            </a:r>
          </a:p>
        </p:txBody>
      </p:sp>
      <p:sp>
        <p:nvSpPr>
          <p:cNvPr id="68" name="TextBox 67"/>
          <p:cNvSpPr txBox="1"/>
          <p:nvPr/>
        </p:nvSpPr>
        <p:spPr>
          <a:xfrm>
            <a:off x="5394959" y="5257793"/>
            <a:ext cx="2395728" cy="292608"/>
          </a:xfrm>
          <a:prstGeom prst="rect">
            <a:avLst/>
          </a:prstGeom>
          <a:noFill/>
        </p:spPr>
        <p:txBody>
          <a:bodyPr wrap="square">
            <a:spAutoFit/>
          </a:bodyPr>
          <a:lstStyle/>
          <a:p>
            <a:pPr algn="l"/>
            <a:r>
              <a:rPr sz="900" b="0" i="0">
                <a:solidFill>
                  <a:srgbClr val="1F2937"/>
                </a:solidFill>
              </a:rPr>
              <a:t>pandas  ·  openpyxl</a:t>
            </a:r>
          </a:p>
        </p:txBody>
      </p:sp>
      <p:sp>
        <p:nvSpPr>
          <p:cNvPr id="69" name="Rectangle 68"/>
          <p:cNvSpPr/>
          <p:nvPr/>
        </p:nvSpPr>
        <p:spPr>
          <a:xfrm>
            <a:off x="4206239" y="5687560"/>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261103" y="5779000"/>
            <a:ext cx="1097280" cy="292608"/>
          </a:xfrm>
          <a:prstGeom prst="rect">
            <a:avLst/>
          </a:prstGeom>
          <a:noFill/>
        </p:spPr>
        <p:txBody>
          <a:bodyPr wrap="square">
            <a:spAutoFit/>
          </a:bodyPr>
          <a:lstStyle/>
          <a:p>
            <a:pPr algn="l"/>
            <a:r>
              <a:rPr sz="900" b="1" i="0">
                <a:solidFill>
                  <a:srgbClr val="1D4ED8"/>
                </a:solidFill>
              </a:rPr>
              <a:t>API port</a:t>
            </a:r>
          </a:p>
        </p:txBody>
      </p:sp>
      <p:sp>
        <p:nvSpPr>
          <p:cNvPr id="71" name="TextBox 70"/>
          <p:cNvSpPr txBox="1"/>
          <p:nvPr/>
        </p:nvSpPr>
        <p:spPr>
          <a:xfrm>
            <a:off x="5394959" y="5779000"/>
            <a:ext cx="2395728" cy="292608"/>
          </a:xfrm>
          <a:prstGeom prst="rect">
            <a:avLst/>
          </a:prstGeom>
          <a:noFill/>
        </p:spPr>
        <p:txBody>
          <a:bodyPr wrap="square">
            <a:spAutoFit/>
          </a:bodyPr>
          <a:lstStyle/>
          <a:p>
            <a:pPr algn="l"/>
            <a:r>
              <a:rPr sz="900" b="0" i="0">
                <a:solidFill>
                  <a:srgbClr val="1F2937"/>
                </a:solidFill>
              </a:rPr>
              <a:t>:8001  ·  CORS → :3001</a:t>
            </a:r>
          </a:p>
        </p:txBody>
      </p:sp>
      <p:sp>
        <p:nvSpPr>
          <p:cNvPr id="72" name="Rectangle 71"/>
          <p:cNvSpPr/>
          <p:nvPr/>
        </p:nvSpPr>
        <p:spPr>
          <a:xfrm>
            <a:off x="8010142" y="1097280"/>
            <a:ext cx="3749039" cy="513892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010142" y="1097280"/>
            <a:ext cx="3749039" cy="329184"/>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138158" y="1170432"/>
            <a:ext cx="3749039" cy="237744"/>
          </a:xfrm>
          <a:prstGeom prst="rect">
            <a:avLst/>
          </a:prstGeom>
          <a:noFill/>
        </p:spPr>
        <p:txBody>
          <a:bodyPr wrap="square">
            <a:spAutoFit/>
          </a:bodyPr>
          <a:lstStyle/>
          <a:p>
            <a:pPr algn="l"/>
            <a:r>
              <a:rPr sz="1100" b="1" i="0">
                <a:solidFill>
                  <a:srgbClr val="FFFFFF"/>
                </a:solidFill>
              </a:rPr>
              <a:t>Infrastructure &amp; Data</a:t>
            </a:r>
          </a:p>
        </p:txBody>
      </p:sp>
      <p:sp>
        <p:nvSpPr>
          <p:cNvPr id="75" name="Rectangle 74"/>
          <p:cNvSpPr/>
          <p:nvPr/>
        </p:nvSpPr>
        <p:spPr>
          <a:xfrm>
            <a:off x="8083294" y="1517904"/>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138158" y="1609344"/>
            <a:ext cx="1097280" cy="292608"/>
          </a:xfrm>
          <a:prstGeom prst="rect">
            <a:avLst/>
          </a:prstGeom>
          <a:noFill/>
        </p:spPr>
        <p:txBody>
          <a:bodyPr wrap="square">
            <a:spAutoFit/>
          </a:bodyPr>
          <a:lstStyle/>
          <a:p>
            <a:pPr algn="l"/>
            <a:r>
              <a:rPr sz="900" b="1" i="0">
                <a:solidFill>
                  <a:srgbClr val="065F46"/>
                </a:solidFill>
              </a:rPr>
              <a:t>Database</a:t>
            </a:r>
          </a:p>
        </p:txBody>
      </p:sp>
      <p:sp>
        <p:nvSpPr>
          <p:cNvPr id="77" name="TextBox 76"/>
          <p:cNvSpPr txBox="1"/>
          <p:nvPr/>
        </p:nvSpPr>
        <p:spPr>
          <a:xfrm>
            <a:off x="9272014" y="1609344"/>
            <a:ext cx="2395728" cy="292608"/>
          </a:xfrm>
          <a:prstGeom prst="rect">
            <a:avLst/>
          </a:prstGeom>
          <a:noFill/>
        </p:spPr>
        <p:txBody>
          <a:bodyPr wrap="square">
            <a:spAutoFit/>
          </a:bodyPr>
          <a:lstStyle/>
          <a:p>
            <a:pPr algn="l"/>
            <a:r>
              <a:rPr sz="900" b="0" i="0">
                <a:solidFill>
                  <a:srgbClr val="1F2937"/>
                </a:solidFill>
              </a:rPr>
              <a:t>SQLite  (file-based)</a:t>
            </a:r>
          </a:p>
        </p:txBody>
      </p:sp>
      <p:sp>
        <p:nvSpPr>
          <p:cNvPr id="78" name="Rectangle 77"/>
          <p:cNvSpPr/>
          <p:nvPr/>
        </p:nvSpPr>
        <p:spPr>
          <a:xfrm>
            <a:off x="8083294" y="2039111"/>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138158" y="2130551"/>
            <a:ext cx="1097280" cy="292608"/>
          </a:xfrm>
          <a:prstGeom prst="rect">
            <a:avLst/>
          </a:prstGeom>
          <a:noFill/>
        </p:spPr>
        <p:txBody>
          <a:bodyPr wrap="square">
            <a:spAutoFit/>
          </a:bodyPr>
          <a:lstStyle/>
          <a:p>
            <a:pPr algn="l"/>
            <a:r>
              <a:rPr sz="900" b="1" i="0">
                <a:solidFill>
                  <a:srgbClr val="065F46"/>
                </a:solidFill>
              </a:rPr>
              <a:t>Async I/O</a:t>
            </a:r>
          </a:p>
        </p:txBody>
      </p:sp>
      <p:sp>
        <p:nvSpPr>
          <p:cNvPr id="80" name="TextBox 79"/>
          <p:cNvSpPr txBox="1"/>
          <p:nvPr/>
        </p:nvSpPr>
        <p:spPr>
          <a:xfrm>
            <a:off x="9272014" y="2130551"/>
            <a:ext cx="2395728" cy="292608"/>
          </a:xfrm>
          <a:prstGeom prst="rect">
            <a:avLst/>
          </a:prstGeom>
          <a:noFill/>
        </p:spPr>
        <p:txBody>
          <a:bodyPr wrap="square">
            <a:spAutoFit/>
          </a:bodyPr>
          <a:lstStyle/>
          <a:p>
            <a:pPr algn="l"/>
            <a:r>
              <a:rPr sz="900" b="0" i="0">
                <a:solidFill>
                  <a:srgbClr val="1F2937"/>
                </a:solidFill>
              </a:rPr>
              <a:t>Python asyncio  +  uvicorn</a:t>
            </a:r>
          </a:p>
        </p:txBody>
      </p:sp>
      <p:sp>
        <p:nvSpPr>
          <p:cNvPr id="81" name="Rectangle 80"/>
          <p:cNvSpPr/>
          <p:nvPr/>
        </p:nvSpPr>
        <p:spPr>
          <a:xfrm>
            <a:off x="8083294" y="2560318"/>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138158" y="2651758"/>
            <a:ext cx="1097280" cy="292608"/>
          </a:xfrm>
          <a:prstGeom prst="rect">
            <a:avLst/>
          </a:prstGeom>
          <a:noFill/>
        </p:spPr>
        <p:txBody>
          <a:bodyPr wrap="square">
            <a:spAutoFit/>
          </a:bodyPr>
          <a:lstStyle/>
          <a:p>
            <a:pPr algn="l"/>
            <a:r>
              <a:rPr sz="900" b="1" i="0">
                <a:solidFill>
                  <a:srgbClr val="065F46"/>
                </a:solidFill>
              </a:rPr>
              <a:t>LLM</a:t>
            </a:r>
          </a:p>
        </p:txBody>
      </p:sp>
      <p:sp>
        <p:nvSpPr>
          <p:cNvPr id="83" name="TextBox 82"/>
          <p:cNvSpPr txBox="1"/>
          <p:nvPr/>
        </p:nvSpPr>
        <p:spPr>
          <a:xfrm>
            <a:off x="9272014" y="2651758"/>
            <a:ext cx="2395728" cy="292608"/>
          </a:xfrm>
          <a:prstGeom prst="rect">
            <a:avLst/>
          </a:prstGeom>
          <a:noFill/>
        </p:spPr>
        <p:txBody>
          <a:bodyPr wrap="square">
            <a:spAutoFit/>
          </a:bodyPr>
          <a:lstStyle/>
          <a:p>
            <a:pPr algn="l"/>
            <a:r>
              <a:rPr sz="900" b="0" i="0">
                <a:solidFill>
                  <a:srgbClr val="1F2937"/>
                </a:solidFill>
              </a:rPr>
              <a:t>Azure OpenAI GPT-4o  (optional)</a:t>
            </a:r>
          </a:p>
        </p:txBody>
      </p:sp>
      <p:sp>
        <p:nvSpPr>
          <p:cNvPr id="84" name="Rectangle 83"/>
          <p:cNvSpPr/>
          <p:nvPr/>
        </p:nvSpPr>
        <p:spPr>
          <a:xfrm>
            <a:off x="8083294" y="3081525"/>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138158" y="3172965"/>
            <a:ext cx="1097280" cy="292608"/>
          </a:xfrm>
          <a:prstGeom prst="rect">
            <a:avLst/>
          </a:prstGeom>
          <a:noFill/>
        </p:spPr>
        <p:txBody>
          <a:bodyPr wrap="square">
            <a:spAutoFit/>
          </a:bodyPr>
          <a:lstStyle/>
          <a:p>
            <a:pPr algn="l"/>
            <a:r>
              <a:rPr sz="900" b="1" i="0">
                <a:solidFill>
                  <a:srgbClr val="065F46"/>
                </a:solidFill>
              </a:rPr>
              <a:t>ALM</a:t>
            </a:r>
          </a:p>
        </p:txBody>
      </p:sp>
      <p:sp>
        <p:nvSpPr>
          <p:cNvPr id="86" name="TextBox 85"/>
          <p:cNvSpPr txBox="1"/>
          <p:nvPr/>
        </p:nvSpPr>
        <p:spPr>
          <a:xfrm>
            <a:off x="9272014" y="3172965"/>
            <a:ext cx="2395728" cy="292608"/>
          </a:xfrm>
          <a:prstGeom prst="rect">
            <a:avLst/>
          </a:prstGeom>
          <a:noFill/>
        </p:spPr>
        <p:txBody>
          <a:bodyPr wrap="square">
            <a:spAutoFit/>
          </a:bodyPr>
          <a:lstStyle/>
          <a:p>
            <a:pPr algn="l"/>
            <a:r>
              <a:rPr sz="900" b="0" i="0">
                <a:solidFill>
                  <a:srgbClr val="1F2937"/>
                </a:solidFill>
              </a:rPr>
              <a:t>Jira Cloud  ·  Azure DevOps</a:t>
            </a:r>
          </a:p>
        </p:txBody>
      </p:sp>
      <p:sp>
        <p:nvSpPr>
          <p:cNvPr id="87" name="Rectangle 86"/>
          <p:cNvSpPr/>
          <p:nvPr/>
        </p:nvSpPr>
        <p:spPr>
          <a:xfrm>
            <a:off x="8083294" y="3602732"/>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138158" y="3694172"/>
            <a:ext cx="1097280" cy="292608"/>
          </a:xfrm>
          <a:prstGeom prst="rect">
            <a:avLst/>
          </a:prstGeom>
          <a:noFill/>
        </p:spPr>
        <p:txBody>
          <a:bodyPr wrap="square">
            <a:spAutoFit/>
          </a:bodyPr>
          <a:lstStyle/>
          <a:p>
            <a:pPr algn="l"/>
            <a:r>
              <a:rPr sz="900" b="1" i="0">
                <a:solidFill>
                  <a:srgbClr val="065F46"/>
                </a:solidFill>
              </a:rPr>
              <a:t>SCM</a:t>
            </a:r>
          </a:p>
        </p:txBody>
      </p:sp>
      <p:sp>
        <p:nvSpPr>
          <p:cNvPr id="89" name="TextBox 88"/>
          <p:cNvSpPr txBox="1"/>
          <p:nvPr/>
        </p:nvSpPr>
        <p:spPr>
          <a:xfrm>
            <a:off x="9272014" y="3694172"/>
            <a:ext cx="2395728" cy="292608"/>
          </a:xfrm>
          <a:prstGeom prst="rect">
            <a:avLst/>
          </a:prstGeom>
          <a:noFill/>
        </p:spPr>
        <p:txBody>
          <a:bodyPr wrap="square">
            <a:spAutoFit/>
          </a:bodyPr>
          <a:lstStyle/>
          <a:p>
            <a:pPr algn="l"/>
            <a:r>
              <a:rPr sz="900" b="0" i="0">
                <a:solidFill>
                  <a:srgbClr val="1F2937"/>
                </a:solidFill>
              </a:rPr>
              <a:t>GitHub / GitLab</a:t>
            </a:r>
          </a:p>
        </p:txBody>
      </p:sp>
      <p:sp>
        <p:nvSpPr>
          <p:cNvPr id="90" name="Rectangle 89"/>
          <p:cNvSpPr/>
          <p:nvPr/>
        </p:nvSpPr>
        <p:spPr>
          <a:xfrm>
            <a:off x="8083294" y="4123939"/>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138158" y="4215379"/>
            <a:ext cx="1097280" cy="292608"/>
          </a:xfrm>
          <a:prstGeom prst="rect">
            <a:avLst/>
          </a:prstGeom>
          <a:noFill/>
        </p:spPr>
        <p:txBody>
          <a:bodyPr wrap="square">
            <a:spAutoFit/>
          </a:bodyPr>
          <a:lstStyle/>
          <a:p>
            <a:pPr algn="l"/>
            <a:r>
              <a:rPr sz="900" b="1" i="0">
                <a:solidFill>
                  <a:srgbClr val="065F46"/>
                </a:solidFill>
              </a:rPr>
              <a:t>Quality</a:t>
            </a:r>
          </a:p>
        </p:txBody>
      </p:sp>
      <p:sp>
        <p:nvSpPr>
          <p:cNvPr id="92" name="TextBox 91"/>
          <p:cNvSpPr txBox="1"/>
          <p:nvPr/>
        </p:nvSpPr>
        <p:spPr>
          <a:xfrm>
            <a:off x="9272014" y="4215379"/>
            <a:ext cx="2395728" cy="292608"/>
          </a:xfrm>
          <a:prstGeom prst="rect">
            <a:avLst/>
          </a:prstGeom>
          <a:noFill/>
        </p:spPr>
        <p:txBody>
          <a:bodyPr wrap="square">
            <a:spAutoFit/>
          </a:bodyPr>
          <a:lstStyle/>
          <a:p>
            <a:pPr algn="l"/>
            <a:r>
              <a:rPr sz="900" b="0" i="0">
                <a:solidFill>
                  <a:srgbClr val="1F2937"/>
                </a:solidFill>
              </a:rPr>
              <a:t>SonarQube REST API</a:t>
            </a:r>
          </a:p>
        </p:txBody>
      </p:sp>
      <p:sp>
        <p:nvSpPr>
          <p:cNvPr id="93" name="Rectangle 92"/>
          <p:cNvSpPr/>
          <p:nvPr/>
        </p:nvSpPr>
        <p:spPr>
          <a:xfrm>
            <a:off x="8083294" y="4645146"/>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138158" y="4736586"/>
            <a:ext cx="1097280" cy="292608"/>
          </a:xfrm>
          <a:prstGeom prst="rect">
            <a:avLst/>
          </a:prstGeom>
          <a:noFill/>
        </p:spPr>
        <p:txBody>
          <a:bodyPr wrap="square">
            <a:spAutoFit/>
          </a:bodyPr>
          <a:lstStyle/>
          <a:p>
            <a:pPr algn="l"/>
            <a:r>
              <a:rPr sz="900" b="1" i="0">
                <a:solidFill>
                  <a:srgbClr val="065F46"/>
                </a:solidFill>
              </a:rPr>
              <a:t>Scheduling</a:t>
            </a:r>
          </a:p>
        </p:txBody>
      </p:sp>
      <p:sp>
        <p:nvSpPr>
          <p:cNvPr id="95" name="TextBox 94"/>
          <p:cNvSpPr txBox="1"/>
          <p:nvPr/>
        </p:nvSpPr>
        <p:spPr>
          <a:xfrm>
            <a:off x="9272014" y="4736586"/>
            <a:ext cx="2395728" cy="292608"/>
          </a:xfrm>
          <a:prstGeom prst="rect">
            <a:avLst/>
          </a:prstGeom>
          <a:noFill/>
        </p:spPr>
        <p:txBody>
          <a:bodyPr wrap="square">
            <a:spAutoFit/>
          </a:bodyPr>
          <a:lstStyle/>
          <a:p>
            <a:pPr algn="l"/>
            <a:r>
              <a:rPr sz="900" b="0" i="0">
                <a:solidFill>
                  <a:srgbClr val="1F2937"/>
                </a:solidFill>
              </a:rPr>
              <a:t>APScheduler in-process</a:t>
            </a:r>
          </a:p>
        </p:txBody>
      </p:sp>
      <p:sp>
        <p:nvSpPr>
          <p:cNvPr id="96" name="Rectangle 95"/>
          <p:cNvSpPr/>
          <p:nvPr/>
        </p:nvSpPr>
        <p:spPr>
          <a:xfrm>
            <a:off x="8083294" y="5166353"/>
            <a:ext cx="3602735" cy="475488"/>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138158" y="5257793"/>
            <a:ext cx="1097280" cy="292608"/>
          </a:xfrm>
          <a:prstGeom prst="rect">
            <a:avLst/>
          </a:prstGeom>
          <a:noFill/>
        </p:spPr>
        <p:txBody>
          <a:bodyPr wrap="square">
            <a:spAutoFit/>
          </a:bodyPr>
          <a:lstStyle/>
          <a:p>
            <a:pPr algn="l"/>
            <a:r>
              <a:rPr sz="900" b="1" i="0">
                <a:solidFill>
                  <a:srgbClr val="065F46"/>
                </a:solidFill>
              </a:rPr>
              <a:t>Runtime</a:t>
            </a:r>
          </a:p>
        </p:txBody>
      </p:sp>
      <p:sp>
        <p:nvSpPr>
          <p:cNvPr id="98" name="TextBox 97"/>
          <p:cNvSpPr txBox="1"/>
          <p:nvPr/>
        </p:nvSpPr>
        <p:spPr>
          <a:xfrm>
            <a:off x="9272014" y="5257793"/>
            <a:ext cx="2395728" cy="292608"/>
          </a:xfrm>
          <a:prstGeom prst="rect">
            <a:avLst/>
          </a:prstGeom>
          <a:noFill/>
        </p:spPr>
        <p:txBody>
          <a:bodyPr wrap="square">
            <a:spAutoFit/>
          </a:bodyPr>
          <a:lstStyle/>
          <a:p>
            <a:pPr algn="l"/>
            <a:r>
              <a:rPr sz="900" b="0" i="0">
                <a:solidFill>
                  <a:srgbClr val="1F2937"/>
                </a:solidFill>
              </a:rPr>
              <a:t>Python 3.13  ·  venv</a:t>
            </a:r>
          </a:p>
        </p:txBody>
      </p:sp>
      <p:sp>
        <p:nvSpPr>
          <p:cNvPr id="99" name="Rectangle 98"/>
          <p:cNvSpPr/>
          <p:nvPr/>
        </p:nvSpPr>
        <p:spPr>
          <a:xfrm>
            <a:off x="8083294" y="5687560"/>
            <a:ext cx="3602735"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138158" y="5779000"/>
            <a:ext cx="1097280" cy="292608"/>
          </a:xfrm>
          <a:prstGeom prst="rect">
            <a:avLst/>
          </a:prstGeom>
          <a:noFill/>
        </p:spPr>
        <p:txBody>
          <a:bodyPr wrap="square">
            <a:spAutoFit/>
          </a:bodyPr>
          <a:lstStyle/>
          <a:p>
            <a:pPr algn="l"/>
            <a:r>
              <a:rPr sz="900" b="1" i="0">
                <a:solidFill>
                  <a:srgbClr val="065F46"/>
                </a:solidFill>
              </a:rPr>
              <a:t>Deploy</a:t>
            </a:r>
          </a:p>
        </p:txBody>
      </p:sp>
      <p:sp>
        <p:nvSpPr>
          <p:cNvPr id="101" name="TextBox 100"/>
          <p:cNvSpPr txBox="1"/>
          <p:nvPr/>
        </p:nvSpPr>
        <p:spPr>
          <a:xfrm>
            <a:off x="9272014" y="5779000"/>
            <a:ext cx="2395728" cy="292608"/>
          </a:xfrm>
          <a:prstGeom prst="rect">
            <a:avLst/>
          </a:prstGeom>
          <a:noFill/>
        </p:spPr>
        <p:txBody>
          <a:bodyPr wrap="square">
            <a:spAutoFit/>
          </a:bodyPr>
          <a:lstStyle/>
          <a:p>
            <a:pPr algn="l"/>
            <a:r>
              <a:rPr sz="900" b="0" i="0">
                <a:solidFill>
                  <a:srgbClr val="1F2937"/>
                </a:solidFill>
              </a:rPr>
              <a:t>Local dev  ·  Docker-ready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Sequence Diagram</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End-to-end request / response flow — single analysis run</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16</a:t>
            </a:r>
          </a:p>
        </p:txBody>
      </p:sp>
      <p:sp>
        <p:nvSpPr>
          <p:cNvPr id="12" name="Rectangle 11"/>
          <p:cNvSpPr/>
          <p:nvPr/>
        </p:nvSpPr>
        <p:spPr>
          <a:xfrm>
            <a:off x="256032" y="1078992"/>
            <a:ext cx="1408176" cy="40233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 y="1106424"/>
            <a:ext cx="1408176" cy="402336"/>
          </a:xfrm>
          <a:prstGeom prst="rect">
            <a:avLst/>
          </a:prstGeom>
          <a:noFill/>
        </p:spPr>
        <p:txBody>
          <a:bodyPr wrap="square">
            <a:spAutoFit/>
          </a:bodyPr>
          <a:lstStyle/>
          <a:p>
            <a:pPr algn="ctr"/>
            <a:r>
              <a:rPr sz="750" b="1" i="0">
                <a:solidFill>
                  <a:srgbClr val="FFFFFF"/>
                </a:solidFill>
              </a:rPr>
              <a:t>User
(Browser)</a:t>
            </a:r>
          </a:p>
        </p:txBody>
      </p:sp>
      <p:sp>
        <p:nvSpPr>
          <p:cNvPr id="14" name="Rectangle 13"/>
          <p:cNvSpPr/>
          <p:nvPr/>
        </p:nvSpPr>
        <p:spPr>
          <a:xfrm>
            <a:off x="950976" y="1481328"/>
            <a:ext cx="18288" cy="45720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967484" y="1078992"/>
            <a:ext cx="1408176" cy="40233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67484" y="1106424"/>
            <a:ext cx="1408176" cy="402336"/>
          </a:xfrm>
          <a:prstGeom prst="rect">
            <a:avLst/>
          </a:prstGeom>
          <a:noFill/>
        </p:spPr>
        <p:txBody>
          <a:bodyPr wrap="square">
            <a:spAutoFit/>
          </a:bodyPr>
          <a:lstStyle/>
          <a:p>
            <a:pPr algn="ctr"/>
            <a:r>
              <a:rPr sz="750" b="1" i="0">
                <a:solidFill>
                  <a:srgbClr val="FFFFFF"/>
                </a:solidFill>
              </a:rPr>
              <a:t>React
Frontend</a:t>
            </a:r>
          </a:p>
        </p:txBody>
      </p:sp>
      <p:sp>
        <p:nvSpPr>
          <p:cNvPr id="17" name="Rectangle 16"/>
          <p:cNvSpPr/>
          <p:nvPr/>
        </p:nvSpPr>
        <p:spPr>
          <a:xfrm>
            <a:off x="2662428" y="1481328"/>
            <a:ext cx="18288" cy="45720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8936" y="1078992"/>
            <a:ext cx="1408176" cy="40233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8936" y="1106424"/>
            <a:ext cx="1408176" cy="402336"/>
          </a:xfrm>
          <a:prstGeom prst="rect">
            <a:avLst/>
          </a:prstGeom>
          <a:noFill/>
        </p:spPr>
        <p:txBody>
          <a:bodyPr wrap="square">
            <a:spAutoFit/>
          </a:bodyPr>
          <a:lstStyle/>
          <a:p>
            <a:pPr algn="ctr"/>
            <a:r>
              <a:rPr sz="750" b="1" i="0">
                <a:solidFill>
                  <a:srgbClr val="FFFFFF"/>
                </a:solidFill>
              </a:rPr>
              <a:t>FastAPI
Backend</a:t>
            </a:r>
          </a:p>
        </p:txBody>
      </p:sp>
      <p:sp>
        <p:nvSpPr>
          <p:cNvPr id="20" name="Rectangle 19"/>
          <p:cNvSpPr/>
          <p:nvPr/>
        </p:nvSpPr>
        <p:spPr>
          <a:xfrm>
            <a:off x="4373880" y="1481328"/>
            <a:ext cx="18288" cy="45720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90388" y="1078992"/>
            <a:ext cx="1408176" cy="402336"/>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0388" y="1106424"/>
            <a:ext cx="1408176" cy="402336"/>
          </a:xfrm>
          <a:prstGeom prst="rect">
            <a:avLst/>
          </a:prstGeom>
          <a:noFill/>
        </p:spPr>
        <p:txBody>
          <a:bodyPr wrap="square">
            <a:spAutoFit/>
          </a:bodyPr>
          <a:lstStyle/>
          <a:p>
            <a:pPr algn="ctr"/>
            <a:r>
              <a:rPr sz="750" b="1" i="0">
                <a:solidFill>
                  <a:srgbClr val="FFFFFF"/>
                </a:solidFill>
              </a:rPr>
              <a:t>LangGraph
Orchestrator</a:t>
            </a:r>
          </a:p>
        </p:txBody>
      </p:sp>
      <p:sp>
        <p:nvSpPr>
          <p:cNvPr id="23" name="Rectangle 22"/>
          <p:cNvSpPr/>
          <p:nvPr/>
        </p:nvSpPr>
        <p:spPr>
          <a:xfrm>
            <a:off x="6085332" y="1481328"/>
            <a:ext cx="18288" cy="45720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101840" y="1078992"/>
            <a:ext cx="1408176" cy="402336"/>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1840" y="1106424"/>
            <a:ext cx="1408176" cy="402336"/>
          </a:xfrm>
          <a:prstGeom prst="rect">
            <a:avLst/>
          </a:prstGeom>
          <a:noFill/>
        </p:spPr>
        <p:txBody>
          <a:bodyPr wrap="square">
            <a:spAutoFit/>
          </a:bodyPr>
          <a:lstStyle/>
          <a:p>
            <a:pPr algn="ctr"/>
            <a:r>
              <a:rPr sz="750" b="1" i="0">
                <a:solidFill>
                  <a:srgbClr val="FFFFFF"/>
                </a:solidFill>
              </a:rPr>
              <a:t>ALM
(Jira / ADO)</a:t>
            </a:r>
          </a:p>
        </p:txBody>
      </p:sp>
      <p:sp>
        <p:nvSpPr>
          <p:cNvPr id="26" name="Rectangle 25"/>
          <p:cNvSpPr/>
          <p:nvPr/>
        </p:nvSpPr>
        <p:spPr>
          <a:xfrm>
            <a:off x="7796784" y="1481328"/>
            <a:ext cx="18288" cy="45720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13292" y="1078992"/>
            <a:ext cx="1408176" cy="40233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13292" y="1106424"/>
            <a:ext cx="1408176" cy="402336"/>
          </a:xfrm>
          <a:prstGeom prst="rect">
            <a:avLst/>
          </a:prstGeom>
          <a:noFill/>
        </p:spPr>
        <p:txBody>
          <a:bodyPr wrap="square">
            <a:spAutoFit/>
          </a:bodyPr>
          <a:lstStyle/>
          <a:p>
            <a:pPr algn="ctr"/>
            <a:r>
              <a:rPr sz="750" b="1" i="0">
                <a:solidFill>
                  <a:srgbClr val="FFFFFF"/>
                </a:solidFill>
              </a:rPr>
              <a:t>OpenAI
GPT-4o</a:t>
            </a:r>
          </a:p>
        </p:txBody>
      </p:sp>
      <p:sp>
        <p:nvSpPr>
          <p:cNvPr id="29" name="Rectangle 28"/>
          <p:cNvSpPr/>
          <p:nvPr/>
        </p:nvSpPr>
        <p:spPr>
          <a:xfrm>
            <a:off x="9508236" y="1481328"/>
            <a:ext cx="18288" cy="45720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524744" y="1078992"/>
            <a:ext cx="1408176" cy="402336"/>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24744" y="1106424"/>
            <a:ext cx="1408176" cy="402336"/>
          </a:xfrm>
          <a:prstGeom prst="rect">
            <a:avLst/>
          </a:prstGeom>
          <a:noFill/>
        </p:spPr>
        <p:txBody>
          <a:bodyPr wrap="square">
            <a:spAutoFit/>
          </a:bodyPr>
          <a:lstStyle/>
          <a:p>
            <a:pPr algn="ctr"/>
            <a:r>
              <a:rPr sz="750" b="1" i="0">
                <a:solidFill>
                  <a:srgbClr val="FFFFFF"/>
                </a:solidFill>
              </a:rPr>
              <a:t>SQLite
DB</a:t>
            </a:r>
          </a:p>
        </p:txBody>
      </p:sp>
      <p:sp>
        <p:nvSpPr>
          <p:cNvPr id="32" name="Rectangle 31"/>
          <p:cNvSpPr/>
          <p:nvPr/>
        </p:nvSpPr>
        <p:spPr>
          <a:xfrm>
            <a:off x="11219688" y="1481328"/>
            <a:ext cx="18288" cy="45720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0120" y="1627632"/>
            <a:ext cx="1711452" cy="16459"/>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80132" y="1563624"/>
            <a:ext cx="128016" cy="146304"/>
          </a:xfrm>
          <a:prstGeom prst="rect">
            <a:avLst/>
          </a:prstGeom>
          <a:noFill/>
        </p:spPr>
        <p:txBody>
          <a:bodyPr wrap="square">
            <a:spAutoFit/>
          </a:bodyPr>
          <a:lstStyle/>
          <a:p>
            <a:pPr algn="ctr"/>
            <a:r>
              <a:rPr sz="700" b="0" i="0">
                <a:solidFill>
                  <a:srgbClr val="1D4ED8"/>
                </a:solidFill>
              </a:rPr>
              <a:t>▶</a:t>
            </a:r>
          </a:p>
        </p:txBody>
      </p:sp>
      <p:sp>
        <p:nvSpPr>
          <p:cNvPr id="35" name="TextBox 34"/>
          <p:cNvSpPr txBox="1"/>
          <p:nvPr/>
        </p:nvSpPr>
        <p:spPr>
          <a:xfrm>
            <a:off x="992886" y="1426464"/>
            <a:ext cx="1645920" cy="182880"/>
          </a:xfrm>
          <a:prstGeom prst="rect">
            <a:avLst/>
          </a:prstGeom>
          <a:noFill/>
        </p:spPr>
        <p:txBody>
          <a:bodyPr wrap="square">
            <a:spAutoFit/>
          </a:bodyPr>
          <a:lstStyle/>
          <a:p>
            <a:pPr algn="ctr"/>
            <a:r>
              <a:rPr sz="750" b="0" i="0">
                <a:solidFill>
                  <a:srgbClr val="1D4ED8"/>
                </a:solidFill>
              </a:rPr>
              <a:t>Configure project + ALM credentials</a:t>
            </a:r>
          </a:p>
        </p:txBody>
      </p:sp>
      <p:sp>
        <p:nvSpPr>
          <p:cNvPr id="36" name="Rectangle 35"/>
          <p:cNvSpPr/>
          <p:nvPr/>
        </p:nvSpPr>
        <p:spPr>
          <a:xfrm>
            <a:off x="2671572" y="1920240"/>
            <a:ext cx="1711452" cy="16459"/>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91584" y="1856232"/>
            <a:ext cx="128016" cy="146304"/>
          </a:xfrm>
          <a:prstGeom prst="rect">
            <a:avLst/>
          </a:prstGeom>
          <a:noFill/>
        </p:spPr>
        <p:txBody>
          <a:bodyPr wrap="square">
            <a:spAutoFit/>
          </a:bodyPr>
          <a:lstStyle/>
          <a:p>
            <a:pPr algn="ctr"/>
            <a:r>
              <a:rPr sz="700" b="0" i="0">
                <a:solidFill>
                  <a:srgbClr val="1D4ED8"/>
                </a:solidFill>
              </a:rPr>
              <a:t>▶</a:t>
            </a:r>
          </a:p>
        </p:txBody>
      </p:sp>
      <p:sp>
        <p:nvSpPr>
          <p:cNvPr id="38" name="TextBox 37"/>
          <p:cNvSpPr txBox="1"/>
          <p:nvPr/>
        </p:nvSpPr>
        <p:spPr>
          <a:xfrm>
            <a:off x="2704338" y="1719072"/>
            <a:ext cx="1645920" cy="182880"/>
          </a:xfrm>
          <a:prstGeom prst="rect">
            <a:avLst/>
          </a:prstGeom>
          <a:noFill/>
        </p:spPr>
        <p:txBody>
          <a:bodyPr wrap="square">
            <a:spAutoFit/>
          </a:bodyPr>
          <a:lstStyle/>
          <a:p>
            <a:pPr algn="ctr"/>
            <a:r>
              <a:rPr sz="750" b="0" i="0">
                <a:solidFill>
                  <a:srgbClr val="1D4ED8"/>
                </a:solidFill>
              </a:rPr>
              <a:t>POST /api/v1/agents/{id}/run</a:t>
            </a:r>
          </a:p>
        </p:txBody>
      </p:sp>
      <p:sp>
        <p:nvSpPr>
          <p:cNvPr id="39" name="Rectangle 38"/>
          <p:cNvSpPr/>
          <p:nvPr/>
        </p:nvSpPr>
        <p:spPr>
          <a:xfrm>
            <a:off x="4383024" y="2212848"/>
            <a:ext cx="1711452" cy="16459"/>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03036" y="2148840"/>
            <a:ext cx="128016" cy="146304"/>
          </a:xfrm>
          <a:prstGeom prst="rect">
            <a:avLst/>
          </a:prstGeom>
          <a:noFill/>
        </p:spPr>
        <p:txBody>
          <a:bodyPr wrap="square">
            <a:spAutoFit/>
          </a:bodyPr>
          <a:lstStyle/>
          <a:p>
            <a:pPr algn="ctr"/>
            <a:r>
              <a:rPr sz="700" b="0" i="0">
                <a:solidFill>
                  <a:srgbClr val="1D4ED8"/>
                </a:solidFill>
              </a:rPr>
              <a:t>▶</a:t>
            </a:r>
          </a:p>
        </p:txBody>
      </p:sp>
      <p:sp>
        <p:nvSpPr>
          <p:cNvPr id="41" name="TextBox 40"/>
          <p:cNvSpPr txBox="1"/>
          <p:nvPr/>
        </p:nvSpPr>
        <p:spPr>
          <a:xfrm>
            <a:off x="4415790" y="2011680"/>
            <a:ext cx="1645920" cy="182880"/>
          </a:xfrm>
          <a:prstGeom prst="rect">
            <a:avLst/>
          </a:prstGeom>
          <a:noFill/>
        </p:spPr>
        <p:txBody>
          <a:bodyPr wrap="square">
            <a:spAutoFit/>
          </a:bodyPr>
          <a:lstStyle/>
          <a:p>
            <a:pPr algn="ctr"/>
            <a:r>
              <a:rPr sz="750" b="0" i="0">
                <a:solidFill>
                  <a:srgbClr val="1D4ED8"/>
                </a:solidFill>
              </a:rPr>
              <a:t>run_full_analysis(project, alm_config)</a:t>
            </a:r>
          </a:p>
        </p:txBody>
      </p:sp>
      <p:sp>
        <p:nvSpPr>
          <p:cNvPr id="42" name="Rectangle 41"/>
          <p:cNvSpPr/>
          <p:nvPr/>
        </p:nvSpPr>
        <p:spPr>
          <a:xfrm>
            <a:off x="6094476" y="2505456"/>
            <a:ext cx="1711452" cy="16459"/>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14488" y="2441448"/>
            <a:ext cx="128016" cy="146304"/>
          </a:xfrm>
          <a:prstGeom prst="rect">
            <a:avLst/>
          </a:prstGeom>
          <a:noFill/>
        </p:spPr>
        <p:txBody>
          <a:bodyPr wrap="square">
            <a:spAutoFit/>
          </a:bodyPr>
          <a:lstStyle/>
          <a:p>
            <a:pPr algn="ctr"/>
            <a:r>
              <a:rPr sz="700" b="0" i="0">
                <a:solidFill>
                  <a:srgbClr val="1D4ED8"/>
                </a:solidFill>
              </a:rPr>
              <a:t>▶</a:t>
            </a:r>
          </a:p>
        </p:txBody>
      </p:sp>
      <p:sp>
        <p:nvSpPr>
          <p:cNvPr id="44" name="TextBox 43"/>
          <p:cNvSpPr txBox="1"/>
          <p:nvPr/>
        </p:nvSpPr>
        <p:spPr>
          <a:xfrm>
            <a:off x="6127242" y="2304288"/>
            <a:ext cx="1645920" cy="182880"/>
          </a:xfrm>
          <a:prstGeom prst="rect">
            <a:avLst/>
          </a:prstGeom>
          <a:noFill/>
        </p:spPr>
        <p:txBody>
          <a:bodyPr wrap="square">
            <a:spAutoFit/>
          </a:bodyPr>
          <a:lstStyle/>
          <a:p>
            <a:pPr algn="ctr"/>
            <a:r>
              <a:rPr sz="750" b="0" i="0">
                <a:solidFill>
                  <a:srgbClr val="1D4ED8"/>
                </a:solidFill>
              </a:rPr>
              <a:t>fetch_work_items()</a:t>
            </a:r>
          </a:p>
        </p:txBody>
      </p:sp>
      <p:sp>
        <p:nvSpPr>
          <p:cNvPr id="45" name="Rectangle 44"/>
          <p:cNvSpPr/>
          <p:nvPr/>
        </p:nvSpPr>
        <p:spPr>
          <a:xfrm>
            <a:off x="6094476" y="2798064"/>
            <a:ext cx="1711452" cy="16459"/>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03620" y="2734056"/>
            <a:ext cx="128016" cy="146304"/>
          </a:xfrm>
          <a:prstGeom prst="rect">
            <a:avLst/>
          </a:prstGeom>
          <a:noFill/>
        </p:spPr>
        <p:txBody>
          <a:bodyPr wrap="square">
            <a:spAutoFit/>
          </a:bodyPr>
          <a:lstStyle/>
          <a:p>
            <a:pPr algn="ctr"/>
            <a:r>
              <a:rPr sz="700" b="0" i="0">
                <a:solidFill>
                  <a:srgbClr val="6B7280"/>
                </a:solidFill>
              </a:rPr>
              <a:t>◀</a:t>
            </a:r>
          </a:p>
        </p:txBody>
      </p:sp>
      <p:sp>
        <p:nvSpPr>
          <p:cNvPr id="47" name="TextBox 46"/>
          <p:cNvSpPr txBox="1"/>
          <p:nvPr/>
        </p:nvSpPr>
        <p:spPr>
          <a:xfrm>
            <a:off x="6127242" y="2596896"/>
            <a:ext cx="1645920" cy="182880"/>
          </a:xfrm>
          <a:prstGeom prst="rect">
            <a:avLst/>
          </a:prstGeom>
          <a:noFill/>
        </p:spPr>
        <p:txBody>
          <a:bodyPr wrap="square">
            <a:spAutoFit/>
          </a:bodyPr>
          <a:lstStyle/>
          <a:p>
            <a:pPr algn="ctr"/>
            <a:r>
              <a:rPr sz="750" b="0" i="1">
                <a:solidFill>
                  <a:srgbClr val="6B7280"/>
                </a:solidFill>
              </a:rPr>
              <a:t>← raw work items (Jira / ADO)</a:t>
            </a:r>
          </a:p>
        </p:txBody>
      </p:sp>
      <p:sp>
        <p:nvSpPr>
          <p:cNvPr id="48" name="TextBox 47"/>
          <p:cNvSpPr txBox="1"/>
          <p:nvPr/>
        </p:nvSpPr>
        <p:spPr>
          <a:xfrm>
            <a:off x="5271516" y="2889504"/>
            <a:ext cx="1645920" cy="182880"/>
          </a:xfrm>
          <a:prstGeom prst="rect">
            <a:avLst/>
          </a:prstGeom>
          <a:noFill/>
        </p:spPr>
        <p:txBody>
          <a:bodyPr wrap="square">
            <a:spAutoFit/>
          </a:bodyPr>
          <a:lstStyle/>
          <a:p>
            <a:pPr algn="ctr"/>
            <a:r>
              <a:rPr sz="750" b="0" i="0">
                <a:solidFill>
                  <a:srgbClr val="1D4ED8"/>
                </a:solidFill>
              </a:rPr>
              <a:t>vsm_analyzer  →  benchmark_agent  →  bottleneck_analyzer</a:t>
            </a:r>
          </a:p>
        </p:txBody>
      </p:sp>
      <p:sp>
        <p:nvSpPr>
          <p:cNvPr id="49" name="Rectangle 48"/>
          <p:cNvSpPr/>
          <p:nvPr/>
        </p:nvSpPr>
        <p:spPr>
          <a:xfrm>
            <a:off x="6094476" y="3383280"/>
            <a:ext cx="3422904" cy="16459"/>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425940" y="3319272"/>
            <a:ext cx="128016" cy="146304"/>
          </a:xfrm>
          <a:prstGeom prst="rect">
            <a:avLst/>
          </a:prstGeom>
          <a:noFill/>
        </p:spPr>
        <p:txBody>
          <a:bodyPr wrap="square">
            <a:spAutoFit/>
          </a:bodyPr>
          <a:lstStyle/>
          <a:p>
            <a:pPr algn="ctr"/>
            <a:r>
              <a:rPr sz="700" b="0" i="0">
                <a:solidFill>
                  <a:srgbClr val="1D4ED8"/>
                </a:solidFill>
              </a:rPr>
              <a:t>▶</a:t>
            </a:r>
          </a:p>
        </p:txBody>
      </p:sp>
      <p:sp>
        <p:nvSpPr>
          <p:cNvPr id="51" name="TextBox 50"/>
          <p:cNvSpPr txBox="1"/>
          <p:nvPr/>
        </p:nvSpPr>
        <p:spPr>
          <a:xfrm>
            <a:off x="6982968" y="3182112"/>
            <a:ext cx="1645920" cy="182880"/>
          </a:xfrm>
          <a:prstGeom prst="rect">
            <a:avLst/>
          </a:prstGeom>
          <a:noFill/>
        </p:spPr>
        <p:txBody>
          <a:bodyPr wrap="square">
            <a:spAutoFit/>
          </a:bodyPr>
          <a:lstStyle/>
          <a:p>
            <a:pPr algn="ctr"/>
            <a:r>
              <a:rPr sz="750" b="0" i="0">
                <a:solidFill>
                  <a:srgbClr val="1D4ED8"/>
                </a:solidFill>
              </a:rPr>
              <a:t>enrich_bottlenecks(5-Why prompt)</a:t>
            </a:r>
          </a:p>
        </p:txBody>
      </p:sp>
      <p:sp>
        <p:nvSpPr>
          <p:cNvPr id="52" name="Rectangle 51"/>
          <p:cNvSpPr/>
          <p:nvPr/>
        </p:nvSpPr>
        <p:spPr>
          <a:xfrm>
            <a:off x="6094476" y="3675887"/>
            <a:ext cx="3422904" cy="16459"/>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03620" y="3611879"/>
            <a:ext cx="128016" cy="146304"/>
          </a:xfrm>
          <a:prstGeom prst="rect">
            <a:avLst/>
          </a:prstGeom>
          <a:noFill/>
        </p:spPr>
        <p:txBody>
          <a:bodyPr wrap="square">
            <a:spAutoFit/>
          </a:bodyPr>
          <a:lstStyle/>
          <a:p>
            <a:pPr algn="ctr"/>
            <a:r>
              <a:rPr sz="700" b="0" i="0">
                <a:solidFill>
                  <a:srgbClr val="6B7280"/>
                </a:solidFill>
              </a:rPr>
              <a:t>◀</a:t>
            </a:r>
          </a:p>
        </p:txBody>
      </p:sp>
      <p:sp>
        <p:nvSpPr>
          <p:cNvPr id="54" name="TextBox 53"/>
          <p:cNvSpPr txBox="1"/>
          <p:nvPr/>
        </p:nvSpPr>
        <p:spPr>
          <a:xfrm>
            <a:off x="6982968" y="3474719"/>
            <a:ext cx="1645920" cy="182880"/>
          </a:xfrm>
          <a:prstGeom prst="rect">
            <a:avLst/>
          </a:prstGeom>
          <a:noFill/>
        </p:spPr>
        <p:txBody>
          <a:bodyPr wrap="square">
            <a:spAutoFit/>
          </a:bodyPr>
          <a:lstStyle/>
          <a:p>
            <a:pPr algn="ctr"/>
            <a:r>
              <a:rPr sz="750" b="0" i="1">
                <a:solidFill>
                  <a:srgbClr val="6B7280"/>
                </a:solidFill>
              </a:rPr>
              <a:t>← root causes + narratives</a:t>
            </a:r>
          </a:p>
        </p:txBody>
      </p:sp>
      <p:sp>
        <p:nvSpPr>
          <p:cNvPr id="55" name="TextBox 54"/>
          <p:cNvSpPr txBox="1"/>
          <p:nvPr/>
        </p:nvSpPr>
        <p:spPr>
          <a:xfrm>
            <a:off x="5271516" y="3767328"/>
            <a:ext cx="1645920" cy="182880"/>
          </a:xfrm>
          <a:prstGeom prst="rect">
            <a:avLst/>
          </a:prstGeom>
          <a:noFill/>
        </p:spPr>
        <p:txBody>
          <a:bodyPr wrap="square">
            <a:spAutoFit/>
          </a:bodyPr>
          <a:lstStyle/>
          <a:p>
            <a:pPr algn="ctr"/>
            <a:r>
              <a:rPr sz="750" b="0" i="0">
                <a:solidFill>
                  <a:srgbClr val="1D4ED8"/>
                </a:solidFill>
              </a:rPr>
              <a:t>improvement_generator  →  future_state  →  business_case</a:t>
            </a:r>
          </a:p>
        </p:txBody>
      </p:sp>
      <p:sp>
        <p:nvSpPr>
          <p:cNvPr id="56" name="Rectangle 55"/>
          <p:cNvSpPr/>
          <p:nvPr/>
        </p:nvSpPr>
        <p:spPr>
          <a:xfrm>
            <a:off x="6094476" y="4261104"/>
            <a:ext cx="3422904" cy="16459"/>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25940" y="4197096"/>
            <a:ext cx="128016" cy="146304"/>
          </a:xfrm>
          <a:prstGeom prst="rect">
            <a:avLst/>
          </a:prstGeom>
          <a:noFill/>
        </p:spPr>
        <p:txBody>
          <a:bodyPr wrap="square">
            <a:spAutoFit/>
          </a:bodyPr>
          <a:lstStyle/>
          <a:p>
            <a:pPr algn="ctr"/>
            <a:r>
              <a:rPr sz="700" b="0" i="0">
                <a:solidFill>
                  <a:srgbClr val="1D4ED8"/>
                </a:solidFill>
              </a:rPr>
              <a:t>▶</a:t>
            </a:r>
          </a:p>
        </p:txBody>
      </p:sp>
      <p:sp>
        <p:nvSpPr>
          <p:cNvPr id="58" name="TextBox 57"/>
          <p:cNvSpPr txBox="1"/>
          <p:nvPr/>
        </p:nvSpPr>
        <p:spPr>
          <a:xfrm>
            <a:off x="6982968" y="4059936"/>
            <a:ext cx="1645920" cy="182880"/>
          </a:xfrm>
          <a:prstGeom prst="rect">
            <a:avLst/>
          </a:prstGeom>
          <a:noFill/>
        </p:spPr>
        <p:txBody>
          <a:bodyPr wrap="square">
            <a:spAutoFit/>
          </a:bodyPr>
          <a:lstStyle/>
          <a:p>
            <a:pPr algn="ctr"/>
            <a:r>
              <a:rPr sz="750" b="0" i="0">
                <a:solidFill>
                  <a:srgbClr val="1D4ED8"/>
                </a:solidFill>
              </a:rPr>
              <a:t>playbook_contextualizer(team_context)</a:t>
            </a:r>
          </a:p>
        </p:txBody>
      </p:sp>
      <p:sp>
        <p:nvSpPr>
          <p:cNvPr id="59" name="Rectangle 58"/>
          <p:cNvSpPr/>
          <p:nvPr/>
        </p:nvSpPr>
        <p:spPr>
          <a:xfrm>
            <a:off x="6094476" y="4553712"/>
            <a:ext cx="3422904" cy="16459"/>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03620" y="4489704"/>
            <a:ext cx="128016" cy="146304"/>
          </a:xfrm>
          <a:prstGeom prst="rect">
            <a:avLst/>
          </a:prstGeom>
          <a:noFill/>
        </p:spPr>
        <p:txBody>
          <a:bodyPr wrap="square">
            <a:spAutoFit/>
          </a:bodyPr>
          <a:lstStyle/>
          <a:p>
            <a:pPr algn="ctr"/>
            <a:r>
              <a:rPr sz="700" b="0" i="0">
                <a:solidFill>
                  <a:srgbClr val="6B7280"/>
                </a:solidFill>
              </a:rPr>
              <a:t>◀</a:t>
            </a:r>
          </a:p>
        </p:txBody>
      </p:sp>
      <p:sp>
        <p:nvSpPr>
          <p:cNvPr id="61" name="TextBox 60"/>
          <p:cNvSpPr txBox="1"/>
          <p:nvPr/>
        </p:nvSpPr>
        <p:spPr>
          <a:xfrm>
            <a:off x="6982968" y="4352544"/>
            <a:ext cx="1645920" cy="182880"/>
          </a:xfrm>
          <a:prstGeom prst="rect">
            <a:avLst/>
          </a:prstGeom>
          <a:noFill/>
        </p:spPr>
        <p:txBody>
          <a:bodyPr wrap="square">
            <a:spAutoFit/>
          </a:bodyPr>
          <a:lstStyle/>
          <a:p>
            <a:pPr algn="ctr"/>
            <a:r>
              <a:rPr sz="750" b="0" i="1">
                <a:solidFill>
                  <a:srgbClr val="6B7280"/>
                </a:solidFill>
              </a:rPr>
              <a:t>← sprint plan, RACI, quick wins</a:t>
            </a:r>
          </a:p>
        </p:txBody>
      </p:sp>
      <p:sp>
        <p:nvSpPr>
          <p:cNvPr id="62" name="Rectangle 61"/>
          <p:cNvSpPr/>
          <p:nvPr/>
        </p:nvSpPr>
        <p:spPr>
          <a:xfrm>
            <a:off x="6094476" y="4846320"/>
            <a:ext cx="5134356" cy="16459"/>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137392" y="4782312"/>
            <a:ext cx="128016" cy="146304"/>
          </a:xfrm>
          <a:prstGeom prst="rect">
            <a:avLst/>
          </a:prstGeom>
          <a:noFill/>
        </p:spPr>
        <p:txBody>
          <a:bodyPr wrap="square">
            <a:spAutoFit/>
          </a:bodyPr>
          <a:lstStyle/>
          <a:p>
            <a:pPr algn="ctr"/>
            <a:r>
              <a:rPr sz="700" b="0" i="0">
                <a:solidFill>
                  <a:srgbClr val="1D4ED8"/>
                </a:solidFill>
              </a:rPr>
              <a:t>▶</a:t>
            </a:r>
          </a:p>
        </p:txBody>
      </p:sp>
      <p:sp>
        <p:nvSpPr>
          <p:cNvPr id="64" name="TextBox 63"/>
          <p:cNvSpPr txBox="1"/>
          <p:nvPr/>
        </p:nvSpPr>
        <p:spPr>
          <a:xfrm>
            <a:off x="7838694" y="4645152"/>
            <a:ext cx="1645920" cy="182880"/>
          </a:xfrm>
          <a:prstGeom prst="rect">
            <a:avLst/>
          </a:prstGeom>
          <a:noFill/>
        </p:spPr>
        <p:txBody>
          <a:bodyPr wrap="square">
            <a:spAutoFit/>
          </a:bodyPr>
          <a:lstStyle/>
          <a:p>
            <a:pPr algn="ctr"/>
            <a:r>
              <a:rPr sz="750" b="0" i="0">
                <a:solidFill>
                  <a:srgbClr val="1D4ED8"/>
                </a:solidFill>
              </a:rPr>
              <a:t>persist AnalysisRun result</a:t>
            </a:r>
          </a:p>
        </p:txBody>
      </p:sp>
      <p:sp>
        <p:nvSpPr>
          <p:cNvPr id="65" name="Rectangle 64"/>
          <p:cNvSpPr/>
          <p:nvPr/>
        </p:nvSpPr>
        <p:spPr>
          <a:xfrm>
            <a:off x="2671572" y="5138928"/>
            <a:ext cx="1711452" cy="16459"/>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680716" y="5074920"/>
            <a:ext cx="128016" cy="146304"/>
          </a:xfrm>
          <a:prstGeom prst="rect">
            <a:avLst/>
          </a:prstGeom>
          <a:noFill/>
        </p:spPr>
        <p:txBody>
          <a:bodyPr wrap="square">
            <a:spAutoFit/>
          </a:bodyPr>
          <a:lstStyle/>
          <a:p>
            <a:pPr algn="ctr"/>
            <a:r>
              <a:rPr sz="700" b="0" i="0">
                <a:solidFill>
                  <a:srgbClr val="6B7280"/>
                </a:solidFill>
              </a:rPr>
              <a:t>◀</a:t>
            </a:r>
          </a:p>
        </p:txBody>
      </p:sp>
      <p:sp>
        <p:nvSpPr>
          <p:cNvPr id="67" name="TextBox 66"/>
          <p:cNvSpPr txBox="1"/>
          <p:nvPr/>
        </p:nvSpPr>
        <p:spPr>
          <a:xfrm>
            <a:off x="2704338" y="4937760"/>
            <a:ext cx="1645920" cy="182880"/>
          </a:xfrm>
          <a:prstGeom prst="rect">
            <a:avLst/>
          </a:prstGeom>
          <a:noFill/>
        </p:spPr>
        <p:txBody>
          <a:bodyPr wrap="square">
            <a:spAutoFit/>
          </a:bodyPr>
          <a:lstStyle/>
          <a:p>
            <a:pPr algn="ctr"/>
            <a:r>
              <a:rPr sz="750" b="0" i="1">
                <a:solidFill>
                  <a:srgbClr val="6B7280"/>
                </a:solidFill>
              </a:rPr>
              <a:t>200 OK  +  run_id</a:t>
            </a:r>
          </a:p>
        </p:txBody>
      </p:sp>
      <p:sp>
        <p:nvSpPr>
          <p:cNvPr id="68" name="Rectangle 67"/>
          <p:cNvSpPr/>
          <p:nvPr/>
        </p:nvSpPr>
        <p:spPr>
          <a:xfrm>
            <a:off x="960120" y="5431536"/>
            <a:ext cx="1711452" cy="16459"/>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69264" y="5367528"/>
            <a:ext cx="128016" cy="146304"/>
          </a:xfrm>
          <a:prstGeom prst="rect">
            <a:avLst/>
          </a:prstGeom>
          <a:noFill/>
        </p:spPr>
        <p:txBody>
          <a:bodyPr wrap="square">
            <a:spAutoFit/>
          </a:bodyPr>
          <a:lstStyle/>
          <a:p>
            <a:pPr algn="ctr"/>
            <a:r>
              <a:rPr sz="700" b="0" i="0">
                <a:solidFill>
                  <a:srgbClr val="6B7280"/>
                </a:solidFill>
              </a:rPr>
              <a:t>◀</a:t>
            </a:r>
          </a:p>
        </p:txBody>
      </p:sp>
      <p:sp>
        <p:nvSpPr>
          <p:cNvPr id="70" name="TextBox 69"/>
          <p:cNvSpPr txBox="1"/>
          <p:nvPr/>
        </p:nvSpPr>
        <p:spPr>
          <a:xfrm>
            <a:off x="992886" y="5230368"/>
            <a:ext cx="1645920" cy="182880"/>
          </a:xfrm>
          <a:prstGeom prst="rect">
            <a:avLst/>
          </a:prstGeom>
          <a:noFill/>
        </p:spPr>
        <p:txBody>
          <a:bodyPr wrap="square">
            <a:spAutoFit/>
          </a:bodyPr>
          <a:lstStyle/>
          <a:p>
            <a:pPr algn="ctr"/>
            <a:r>
              <a:rPr sz="750" b="0" i="1">
                <a:solidFill>
                  <a:srgbClr val="6B7280"/>
                </a:solidFill>
              </a:rPr>
              <a:t>Render dashboard, bottlenecks, improvements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How We Built STUMP</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Design philosophy, architecture decisions and five-phase build approach</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17</a:t>
            </a:r>
          </a:p>
        </p:txBody>
      </p:sp>
      <p:sp>
        <p:nvSpPr>
          <p:cNvPr id="12" name="Rectangle 11"/>
          <p:cNvSpPr/>
          <p:nvPr/>
        </p:nvSpPr>
        <p:spPr>
          <a:xfrm>
            <a:off x="256032" y="1097280"/>
            <a:ext cx="2249424" cy="45720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97280"/>
            <a:ext cx="2249424" cy="4937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152144"/>
            <a:ext cx="2084832" cy="182880"/>
          </a:xfrm>
          <a:prstGeom prst="rect">
            <a:avLst/>
          </a:prstGeom>
          <a:noFill/>
        </p:spPr>
        <p:txBody>
          <a:bodyPr wrap="square">
            <a:spAutoFit/>
          </a:bodyPr>
          <a:lstStyle/>
          <a:p>
            <a:pPr algn="l"/>
            <a:r>
              <a:rPr sz="850" b="1" i="0">
                <a:solidFill>
                  <a:srgbClr val="FFFFFF"/>
                </a:solidFill>
              </a:rPr>
              <a:t>Phase 1</a:t>
            </a:r>
          </a:p>
        </p:txBody>
      </p:sp>
      <p:sp>
        <p:nvSpPr>
          <p:cNvPr id="15" name="TextBox 14"/>
          <p:cNvSpPr txBox="1"/>
          <p:nvPr/>
        </p:nvSpPr>
        <p:spPr>
          <a:xfrm>
            <a:off x="365760" y="1335024"/>
            <a:ext cx="2084832" cy="219456"/>
          </a:xfrm>
          <a:prstGeom prst="rect">
            <a:avLst/>
          </a:prstGeom>
          <a:noFill/>
        </p:spPr>
        <p:txBody>
          <a:bodyPr wrap="square">
            <a:spAutoFit/>
          </a:bodyPr>
          <a:lstStyle/>
          <a:p>
            <a:pPr algn="l"/>
            <a:r>
              <a:rPr sz="1100" b="1" i="0">
                <a:solidFill>
                  <a:srgbClr val="FFFFFF"/>
                </a:solidFill>
              </a:rPr>
              <a:t>Foundation</a:t>
            </a:r>
          </a:p>
        </p:txBody>
      </p:sp>
      <p:sp>
        <p:nvSpPr>
          <p:cNvPr id="16" name="Rectangle 15"/>
          <p:cNvSpPr/>
          <p:nvPr/>
        </p:nvSpPr>
        <p:spPr>
          <a:xfrm>
            <a:off x="384048" y="1792224"/>
            <a:ext cx="64008" cy="640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1700784"/>
            <a:ext cx="1901952" cy="914400"/>
          </a:xfrm>
          <a:prstGeom prst="rect">
            <a:avLst/>
          </a:prstGeom>
          <a:noFill/>
        </p:spPr>
        <p:txBody>
          <a:bodyPr wrap="square">
            <a:spAutoFit/>
          </a:bodyPr>
          <a:lstStyle/>
          <a:p>
            <a:pPr algn="l"/>
            <a:r>
              <a:rPr sz="950" b="0" i="0">
                <a:solidFill>
                  <a:srgbClr val="1F2937"/>
                </a:solidFill>
              </a:rPr>
              <a:t>FastAPI skeleton + SQLAlchemy async models</a:t>
            </a:r>
          </a:p>
        </p:txBody>
      </p:sp>
      <p:sp>
        <p:nvSpPr>
          <p:cNvPr id="18" name="Rectangle 17"/>
          <p:cNvSpPr/>
          <p:nvPr/>
        </p:nvSpPr>
        <p:spPr>
          <a:xfrm>
            <a:off x="384048" y="2761488"/>
            <a:ext cx="64008" cy="640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 y="2670048"/>
            <a:ext cx="1901952" cy="914400"/>
          </a:xfrm>
          <a:prstGeom prst="rect">
            <a:avLst/>
          </a:prstGeom>
          <a:noFill/>
        </p:spPr>
        <p:txBody>
          <a:bodyPr wrap="square">
            <a:spAutoFit/>
          </a:bodyPr>
          <a:lstStyle/>
          <a:p>
            <a:pPr algn="l"/>
            <a:r>
              <a:rPr sz="950" b="0" i="0">
                <a:solidFill>
                  <a:srgbClr val="1F2937"/>
                </a:solidFill>
              </a:rPr>
              <a:t>VSMAgentState TypedDict — shared pipeline contract</a:t>
            </a:r>
          </a:p>
        </p:txBody>
      </p:sp>
      <p:sp>
        <p:nvSpPr>
          <p:cNvPr id="20" name="Rectangle 19"/>
          <p:cNvSpPr/>
          <p:nvPr/>
        </p:nvSpPr>
        <p:spPr>
          <a:xfrm>
            <a:off x="384048" y="3730752"/>
            <a:ext cx="64008" cy="640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 y="3639312"/>
            <a:ext cx="1901952" cy="914400"/>
          </a:xfrm>
          <a:prstGeom prst="rect">
            <a:avLst/>
          </a:prstGeom>
          <a:noFill/>
        </p:spPr>
        <p:txBody>
          <a:bodyPr wrap="square">
            <a:spAutoFit/>
          </a:bodyPr>
          <a:lstStyle/>
          <a:p>
            <a:pPr algn="l"/>
            <a:r>
              <a:rPr sz="950" b="0" i="0">
                <a:solidFill>
                  <a:srgbClr val="1F2937"/>
                </a:solidFill>
              </a:rPr>
              <a:t>LangGraph graph compilation + health endpoint</a:t>
            </a:r>
          </a:p>
        </p:txBody>
      </p:sp>
      <p:sp>
        <p:nvSpPr>
          <p:cNvPr id="22" name="Rectangle 21"/>
          <p:cNvSpPr/>
          <p:nvPr/>
        </p:nvSpPr>
        <p:spPr>
          <a:xfrm>
            <a:off x="384048" y="4700016"/>
            <a:ext cx="64008" cy="6400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 y="4608576"/>
            <a:ext cx="1901952" cy="914400"/>
          </a:xfrm>
          <a:prstGeom prst="rect">
            <a:avLst/>
          </a:prstGeom>
          <a:noFill/>
        </p:spPr>
        <p:txBody>
          <a:bodyPr wrap="square">
            <a:spAutoFit/>
          </a:bodyPr>
          <a:lstStyle/>
          <a:p>
            <a:pPr algn="l"/>
            <a:r>
              <a:rPr sz="950" b="0" i="0">
                <a:solidFill>
                  <a:srgbClr val="1F2937"/>
                </a:solidFill>
              </a:rPr>
              <a:t>React + Vite scaffold with Tailwind design system</a:t>
            </a:r>
          </a:p>
        </p:txBody>
      </p:sp>
      <p:sp>
        <p:nvSpPr>
          <p:cNvPr id="24" name="Rectangle 23"/>
          <p:cNvSpPr/>
          <p:nvPr/>
        </p:nvSpPr>
        <p:spPr>
          <a:xfrm>
            <a:off x="2596896" y="1097280"/>
            <a:ext cx="2249424" cy="45720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6896" y="1097280"/>
            <a:ext cx="2249424" cy="49377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06624" y="1152144"/>
            <a:ext cx="2084832" cy="182880"/>
          </a:xfrm>
          <a:prstGeom prst="rect">
            <a:avLst/>
          </a:prstGeom>
          <a:noFill/>
        </p:spPr>
        <p:txBody>
          <a:bodyPr wrap="square">
            <a:spAutoFit/>
          </a:bodyPr>
          <a:lstStyle/>
          <a:p>
            <a:pPr algn="l"/>
            <a:r>
              <a:rPr sz="850" b="1" i="0">
                <a:solidFill>
                  <a:srgbClr val="FFFFFF"/>
                </a:solidFill>
              </a:rPr>
              <a:t>Phase 2</a:t>
            </a:r>
          </a:p>
        </p:txBody>
      </p:sp>
      <p:sp>
        <p:nvSpPr>
          <p:cNvPr id="27" name="TextBox 26"/>
          <p:cNvSpPr txBox="1"/>
          <p:nvPr/>
        </p:nvSpPr>
        <p:spPr>
          <a:xfrm>
            <a:off x="2706624" y="1335024"/>
            <a:ext cx="2084832" cy="219456"/>
          </a:xfrm>
          <a:prstGeom prst="rect">
            <a:avLst/>
          </a:prstGeom>
          <a:noFill/>
        </p:spPr>
        <p:txBody>
          <a:bodyPr wrap="square">
            <a:spAutoFit/>
          </a:bodyPr>
          <a:lstStyle/>
          <a:p>
            <a:pPr algn="l"/>
            <a:r>
              <a:rPr sz="1100" b="1" i="0">
                <a:solidFill>
                  <a:srgbClr val="FFFFFF"/>
                </a:solidFill>
              </a:rPr>
              <a:t>Data &amp; ALM</a:t>
            </a:r>
          </a:p>
        </p:txBody>
      </p:sp>
      <p:sp>
        <p:nvSpPr>
          <p:cNvPr id="28" name="Rectangle 27"/>
          <p:cNvSpPr/>
          <p:nvPr/>
        </p:nvSpPr>
        <p:spPr>
          <a:xfrm>
            <a:off x="2724912" y="1792224"/>
            <a:ext cx="64008" cy="6400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2928" y="1700784"/>
            <a:ext cx="1901952" cy="914400"/>
          </a:xfrm>
          <a:prstGeom prst="rect">
            <a:avLst/>
          </a:prstGeom>
          <a:noFill/>
        </p:spPr>
        <p:txBody>
          <a:bodyPr wrap="square">
            <a:spAutoFit/>
          </a:bodyPr>
          <a:lstStyle/>
          <a:p>
            <a:pPr algn="l"/>
            <a:r>
              <a:rPr sz="950" b="0" i="0">
                <a:solidFill>
                  <a:srgbClr val="1F2937"/>
                </a:solidFill>
              </a:rPr>
              <a:t>ALM Connector Agent — Jira + Azure DevOps clients</a:t>
            </a:r>
          </a:p>
        </p:txBody>
      </p:sp>
      <p:sp>
        <p:nvSpPr>
          <p:cNvPr id="30" name="Rectangle 29"/>
          <p:cNvSpPr/>
          <p:nvPr/>
        </p:nvSpPr>
        <p:spPr>
          <a:xfrm>
            <a:off x="2724912" y="2761488"/>
            <a:ext cx="64008" cy="6400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52928" y="2670048"/>
            <a:ext cx="1901952" cy="914400"/>
          </a:xfrm>
          <a:prstGeom prst="rect">
            <a:avLst/>
          </a:prstGeom>
          <a:noFill/>
        </p:spPr>
        <p:txBody>
          <a:bodyPr wrap="square">
            <a:spAutoFit/>
          </a:bodyPr>
          <a:lstStyle/>
          <a:p>
            <a:pPr algn="l"/>
            <a:r>
              <a:rPr sz="950" b="0" i="0">
                <a:solidFill>
                  <a:srgbClr val="1F2937"/>
                </a:solidFill>
              </a:rPr>
              <a:t>VSM Editor — manual override UI for PT / WT</a:t>
            </a:r>
          </a:p>
        </p:txBody>
      </p:sp>
      <p:sp>
        <p:nvSpPr>
          <p:cNvPr id="32" name="Rectangle 31"/>
          <p:cNvSpPr/>
          <p:nvPr/>
        </p:nvSpPr>
        <p:spPr>
          <a:xfrm>
            <a:off x="2724912" y="3730752"/>
            <a:ext cx="64008" cy="6400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52928" y="3639312"/>
            <a:ext cx="1901952" cy="914400"/>
          </a:xfrm>
          <a:prstGeom prst="rect">
            <a:avLst/>
          </a:prstGeom>
          <a:noFill/>
        </p:spPr>
        <p:txBody>
          <a:bodyPr wrap="square">
            <a:spAutoFit/>
          </a:bodyPr>
          <a:lstStyle/>
          <a:p>
            <a:pPr algn="l"/>
            <a:r>
              <a:rPr sz="950" b="0" i="0">
                <a:solidFill>
                  <a:srgbClr val="1F2937"/>
                </a:solidFill>
              </a:rPr>
              <a:t>DORA Assessment — calibration form + DB persistence</a:t>
            </a:r>
          </a:p>
        </p:txBody>
      </p:sp>
      <p:sp>
        <p:nvSpPr>
          <p:cNvPr id="34" name="Rectangle 33"/>
          <p:cNvSpPr/>
          <p:nvPr/>
        </p:nvSpPr>
        <p:spPr>
          <a:xfrm>
            <a:off x="2724912" y="4700016"/>
            <a:ext cx="64008" cy="6400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52928" y="4608576"/>
            <a:ext cx="1901952" cy="914400"/>
          </a:xfrm>
          <a:prstGeom prst="rect">
            <a:avLst/>
          </a:prstGeom>
          <a:noFill/>
        </p:spPr>
        <p:txBody>
          <a:bodyPr wrap="square">
            <a:spAutoFit/>
          </a:bodyPr>
          <a:lstStyle/>
          <a:p>
            <a:pPr algn="l"/>
            <a:r>
              <a:rPr sz="950" b="0" i="0">
                <a:solidFill>
                  <a:srgbClr val="1F2937"/>
                </a:solidFill>
              </a:rPr>
              <a:t>VSM Snapshot storage — JSON blobs in SQLite</a:t>
            </a:r>
          </a:p>
        </p:txBody>
      </p:sp>
      <p:sp>
        <p:nvSpPr>
          <p:cNvPr id="36" name="Rectangle 35"/>
          <p:cNvSpPr/>
          <p:nvPr/>
        </p:nvSpPr>
        <p:spPr>
          <a:xfrm>
            <a:off x="4937760" y="1097280"/>
            <a:ext cx="2249424" cy="45720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937760" y="1097280"/>
            <a:ext cx="2249424" cy="493776"/>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47488" y="1152144"/>
            <a:ext cx="2084832" cy="182880"/>
          </a:xfrm>
          <a:prstGeom prst="rect">
            <a:avLst/>
          </a:prstGeom>
          <a:noFill/>
        </p:spPr>
        <p:txBody>
          <a:bodyPr wrap="square">
            <a:spAutoFit/>
          </a:bodyPr>
          <a:lstStyle/>
          <a:p>
            <a:pPr algn="l"/>
            <a:r>
              <a:rPr sz="850" b="1" i="0">
                <a:solidFill>
                  <a:srgbClr val="FFFFFF"/>
                </a:solidFill>
              </a:rPr>
              <a:t>Phase 3</a:t>
            </a:r>
          </a:p>
        </p:txBody>
      </p:sp>
      <p:sp>
        <p:nvSpPr>
          <p:cNvPr id="39" name="TextBox 38"/>
          <p:cNvSpPr txBox="1"/>
          <p:nvPr/>
        </p:nvSpPr>
        <p:spPr>
          <a:xfrm>
            <a:off x="5047488" y="1335024"/>
            <a:ext cx="2084832" cy="219456"/>
          </a:xfrm>
          <a:prstGeom prst="rect">
            <a:avLst/>
          </a:prstGeom>
          <a:noFill/>
        </p:spPr>
        <p:txBody>
          <a:bodyPr wrap="square">
            <a:spAutoFit/>
          </a:bodyPr>
          <a:lstStyle/>
          <a:p>
            <a:pPr algn="l"/>
            <a:r>
              <a:rPr sz="1100" b="1" i="0">
                <a:solidFill>
                  <a:srgbClr val="FFFFFF"/>
                </a:solidFill>
              </a:rPr>
              <a:t>Intelligence</a:t>
            </a:r>
          </a:p>
        </p:txBody>
      </p:sp>
      <p:sp>
        <p:nvSpPr>
          <p:cNvPr id="40" name="Rectangle 39"/>
          <p:cNvSpPr/>
          <p:nvPr/>
        </p:nvSpPr>
        <p:spPr>
          <a:xfrm>
            <a:off x="5065776" y="1792224"/>
            <a:ext cx="64008" cy="64008"/>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93792" y="1700784"/>
            <a:ext cx="1901952" cy="914400"/>
          </a:xfrm>
          <a:prstGeom prst="rect">
            <a:avLst/>
          </a:prstGeom>
          <a:noFill/>
        </p:spPr>
        <p:txBody>
          <a:bodyPr wrap="square">
            <a:spAutoFit/>
          </a:bodyPr>
          <a:lstStyle/>
          <a:p>
            <a:pPr algn="l"/>
            <a:r>
              <a:rPr sz="950" b="0" i="0">
                <a:solidFill>
                  <a:srgbClr val="1F2937"/>
                </a:solidFill>
              </a:rPr>
              <a:t>Benchmark library — DORA Elite, Gartner, Lean P50 / P90</a:t>
            </a:r>
          </a:p>
        </p:txBody>
      </p:sp>
      <p:sp>
        <p:nvSpPr>
          <p:cNvPr id="42" name="Rectangle 41"/>
          <p:cNvSpPr/>
          <p:nvPr/>
        </p:nvSpPr>
        <p:spPr>
          <a:xfrm>
            <a:off x="5065776" y="2761488"/>
            <a:ext cx="64008" cy="64008"/>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93792" y="2670048"/>
            <a:ext cx="1901952" cy="914400"/>
          </a:xfrm>
          <a:prstGeom prst="rect">
            <a:avLst/>
          </a:prstGeom>
          <a:noFill/>
        </p:spPr>
        <p:txBody>
          <a:bodyPr wrap="square">
            <a:spAutoFit/>
          </a:bodyPr>
          <a:lstStyle/>
          <a:p>
            <a:pPr algn="l"/>
            <a:r>
              <a:rPr sz="950" b="0" i="0">
                <a:solidFill>
                  <a:srgbClr val="1F2937"/>
                </a:solidFill>
              </a:rPr>
              <a:t>15+ pre-enriched bottleneck catalogue (curated knowledge)</a:t>
            </a:r>
          </a:p>
        </p:txBody>
      </p:sp>
      <p:sp>
        <p:nvSpPr>
          <p:cNvPr id="44" name="Rectangle 43"/>
          <p:cNvSpPr/>
          <p:nvPr/>
        </p:nvSpPr>
        <p:spPr>
          <a:xfrm>
            <a:off x="5065776" y="3730752"/>
            <a:ext cx="64008" cy="64008"/>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93792" y="3639312"/>
            <a:ext cx="1901952" cy="914400"/>
          </a:xfrm>
          <a:prstGeom prst="rect">
            <a:avLst/>
          </a:prstGeom>
          <a:noFill/>
        </p:spPr>
        <p:txBody>
          <a:bodyPr wrap="square">
            <a:spAutoFit/>
          </a:bodyPr>
          <a:lstStyle/>
          <a:p>
            <a:pPr algn="l"/>
            <a:r>
              <a:rPr sz="950" b="0" i="0">
                <a:solidFill>
                  <a:srgbClr val="1F2937"/>
                </a:solidFill>
              </a:rPr>
              <a:t>Improvement catalogue — 15 AI agent prescriptions + ROI</a:t>
            </a:r>
          </a:p>
        </p:txBody>
      </p:sp>
      <p:sp>
        <p:nvSpPr>
          <p:cNvPr id="46" name="Rectangle 45"/>
          <p:cNvSpPr/>
          <p:nvPr/>
        </p:nvSpPr>
        <p:spPr>
          <a:xfrm>
            <a:off x="5065776" y="4700016"/>
            <a:ext cx="64008" cy="64008"/>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93792" y="4608576"/>
            <a:ext cx="1901952" cy="914400"/>
          </a:xfrm>
          <a:prstGeom prst="rect">
            <a:avLst/>
          </a:prstGeom>
          <a:noFill/>
        </p:spPr>
        <p:txBody>
          <a:bodyPr wrap="square">
            <a:spAutoFit/>
          </a:bodyPr>
          <a:lstStyle/>
          <a:p>
            <a:pPr algn="l"/>
            <a:r>
              <a:rPr sz="950" b="0" i="0">
                <a:solidFill>
                  <a:srgbClr val="1F2937"/>
                </a:solidFill>
              </a:rPr>
              <a:t>LLM enrichment — LangChain-OpenAI for unknown activities</a:t>
            </a:r>
          </a:p>
        </p:txBody>
      </p:sp>
      <p:sp>
        <p:nvSpPr>
          <p:cNvPr id="48" name="Rectangle 47"/>
          <p:cNvSpPr/>
          <p:nvPr/>
        </p:nvSpPr>
        <p:spPr>
          <a:xfrm>
            <a:off x="7278624" y="1097280"/>
            <a:ext cx="2249424" cy="45720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278624" y="1097280"/>
            <a:ext cx="2249424" cy="49377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88352" y="1152144"/>
            <a:ext cx="2084832" cy="182880"/>
          </a:xfrm>
          <a:prstGeom prst="rect">
            <a:avLst/>
          </a:prstGeom>
          <a:noFill/>
        </p:spPr>
        <p:txBody>
          <a:bodyPr wrap="square">
            <a:spAutoFit/>
          </a:bodyPr>
          <a:lstStyle/>
          <a:p>
            <a:pPr algn="l"/>
            <a:r>
              <a:rPr sz="850" b="1" i="0">
                <a:solidFill>
                  <a:srgbClr val="FFFFFF"/>
                </a:solidFill>
              </a:rPr>
              <a:t>Phase 4</a:t>
            </a:r>
          </a:p>
        </p:txBody>
      </p:sp>
      <p:sp>
        <p:nvSpPr>
          <p:cNvPr id="51" name="TextBox 50"/>
          <p:cNvSpPr txBox="1"/>
          <p:nvPr/>
        </p:nvSpPr>
        <p:spPr>
          <a:xfrm>
            <a:off x="7388352" y="1335024"/>
            <a:ext cx="2084832" cy="219456"/>
          </a:xfrm>
          <a:prstGeom prst="rect">
            <a:avLst/>
          </a:prstGeom>
          <a:noFill/>
        </p:spPr>
        <p:txBody>
          <a:bodyPr wrap="square">
            <a:spAutoFit/>
          </a:bodyPr>
          <a:lstStyle/>
          <a:p>
            <a:pPr algn="l"/>
            <a:r>
              <a:rPr sz="1100" b="1" i="0">
                <a:solidFill>
                  <a:srgbClr val="FFFFFF"/>
                </a:solidFill>
              </a:rPr>
              <a:t>Transformation</a:t>
            </a:r>
          </a:p>
        </p:txBody>
      </p:sp>
      <p:sp>
        <p:nvSpPr>
          <p:cNvPr id="52" name="Rectangle 51"/>
          <p:cNvSpPr/>
          <p:nvPr/>
        </p:nvSpPr>
        <p:spPr>
          <a:xfrm>
            <a:off x="7406640" y="1792224"/>
            <a:ext cx="64008" cy="64008"/>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34656" y="1700784"/>
            <a:ext cx="1901952" cy="914400"/>
          </a:xfrm>
          <a:prstGeom prst="rect">
            <a:avLst/>
          </a:prstGeom>
          <a:noFill/>
        </p:spPr>
        <p:txBody>
          <a:bodyPr wrap="square">
            <a:spAutoFit/>
          </a:bodyPr>
          <a:lstStyle/>
          <a:p>
            <a:pPr algn="l"/>
            <a:r>
              <a:rPr sz="950" b="0" i="0">
                <a:solidFill>
                  <a:srgbClr val="1F2937"/>
                </a:solidFill>
              </a:rPr>
              <a:t>Future State Designer — 3 scenario generator + DORA targets</a:t>
            </a:r>
          </a:p>
        </p:txBody>
      </p:sp>
      <p:sp>
        <p:nvSpPr>
          <p:cNvPr id="54" name="Rectangle 53"/>
          <p:cNvSpPr/>
          <p:nvPr/>
        </p:nvSpPr>
        <p:spPr>
          <a:xfrm>
            <a:off x="7406640" y="2761488"/>
            <a:ext cx="64008" cy="64008"/>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534656" y="2670048"/>
            <a:ext cx="1901952" cy="914400"/>
          </a:xfrm>
          <a:prstGeom prst="rect">
            <a:avLst/>
          </a:prstGeom>
          <a:noFill/>
        </p:spPr>
        <p:txBody>
          <a:bodyPr wrap="square">
            <a:spAutoFit/>
          </a:bodyPr>
          <a:lstStyle/>
          <a:p>
            <a:pPr algn="l"/>
            <a:r>
              <a:rPr sz="950" b="0" i="0">
                <a:solidFill>
                  <a:srgbClr val="1F2937"/>
                </a:solidFill>
              </a:rPr>
              <a:t>Business Case Builder — investment vs. benefit model</a:t>
            </a:r>
          </a:p>
        </p:txBody>
      </p:sp>
      <p:sp>
        <p:nvSpPr>
          <p:cNvPr id="56" name="Rectangle 55"/>
          <p:cNvSpPr/>
          <p:nvPr/>
        </p:nvSpPr>
        <p:spPr>
          <a:xfrm>
            <a:off x="7406640" y="3730752"/>
            <a:ext cx="64008" cy="64008"/>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34656" y="3639312"/>
            <a:ext cx="1901952" cy="914400"/>
          </a:xfrm>
          <a:prstGeom prst="rect">
            <a:avLst/>
          </a:prstGeom>
          <a:noFill/>
        </p:spPr>
        <p:txBody>
          <a:bodyPr wrap="square">
            <a:spAutoFit/>
          </a:bodyPr>
          <a:lstStyle/>
          <a:p>
            <a:pPr algn="l"/>
            <a:r>
              <a:rPr sz="950" b="0" i="0">
                <a:solidFill>
                  <a:srgbClr val="1F2937"/>
                </a:solidFill>
              </a:rPr>
              <a:t>Playbook Contextualizer — team-personalised sprint planner</a:t>
            </a:r>
          </a:p>
        </p:txBody>
      </p:sp>
      <p:sp>
        <p:nvSpPr>
          <p:cNvPr id="58" name="Rectangle 57"/>
          <p:cNvSpPr/>
          <p:nvPr/>
        </p:nvSpPr>
        <p:spPr>
          <a:xfrm>
            <a:off x="7406640" y="4700016"/>
            <a:ext cx="64008" cy="64008"/>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534656" y="4608576"/>
            <a:ext cx="1901952" cy="914400"/>
          </a:xfrm>
          <a:prstGeom prst="rect">
            <a:avLst/>
          </a:prstGeom>
          <a:noFill/>
        </p:spPr>
        <p:txBody>
          <a:bodyPr wrap="square">
            <a:spAutoFit/>
          </a:bodyPr>
          <a:lstStyle/>
          <a:p>
            <a:pPr algn="l"/>
            <a:r>
              <a:rPr sz="950" b="0" i="0">
                <a:solidFill>
                  <a:srgbClr val="1F2937"/>
                </a:solidFill>
              </a:rPr>
              <a:t>Transformation Readiness — org change impact assessment</a:t>
            </a:r>
          </a:p>
        </p:txBody>
      </p:sp>
      <p:sp>
        <p:nvSpPr>
          <p:cNvPr id="60" name="Rectangle 59"/>
          <p:cNvSpPr/>
          <p:nvPr/>
        </p:nvSpPr>
        <p:spPr>
          <a:xfrm>
            <a:off x="9619488" y="1097280"/>
            <a:ext cx="2249424" cy="4572000"/>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619488" y="1097280"/>
            <a:ext cx="2249424" cy="493776"/>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29216" y="1152144"/>
            <a:ext cx="2084832" cy="182880"/>
          </a:xfrm>
          <a:prstGeom prst="rect">
            <a:avLst/>
          </a:prstGeom>
          <a:noFill/>
        </p:spPr>
        <p:txBody>
          <a:bodyPr wrap="square">
            <a:spAutoFit/>
          </a:bodyPr>
          <a:lstStyle/>
          <a:p>
            <a:pPr algn="l"/>
            <a:r>
              <a:rPr sz="850" b="1" i="0">
                <a:solidFill>
                  <a:srgbClr val="FFFFFF"/>
                </a:solidFill>
              </a:rPr>
              <a:t>Phase 5</a:t>
            </a:r>
          </a:p>
        </p:txBody>
      </p:sp>
      <p:sp>
        <p:nvSpPr>
          <p:cNvPr id="63" name="TextBox 62"/>
          <p:cNvSpPr txBox="1"/>
          <p:nvPr/>
        </p:nvSpPr>
        <p:spPr>
          <a:xfrm>
            <a:off x="9729216" y="1335024"/>
            <a:ext cx="2084832" cy="219456"/>
          </a:xfrm>
          <a:prstGeom prst="rect">
            <a:avLst/>
          </a:prstGeom>
          <a:noFill/>
        </p:spPr>
        <p:txBody>
          <a:bodyPr wrap="square">
            <a:spAutoFit/>
          </a:bodyPr>
          <a:lstStyle/>
          <a:p>
            <a:pPr algn="l"/>
            <a:r>
              <a:rPr sz="1100" b="1" i="0">
                <a:solidFill>
                  <a:srgbClr val="FFFFFF"/>
                </a:solidFill>
              </a:rPr>
              <a:t>Productisation</a:t>
            </a:r>
          </a:p>
        </p:txBody>
      </p:sp>
      <p:sp>
        <p:nvSpPr>
          <p:cNvPr id="64" name="Rectangle 63"/>
          <p:cNvSpPr/>
          <p:nvPr/>
        </p:nvSpPr>
        <p:spPr>
          <a:xfrm>
            <a:off x="9747504" y="1792224"/>
            <a:ext cx="64008" cy="64008"/>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75520" y="1700784"/>
            <a:ext cx="1901952" cy="914400"/>
          </a:xfrm>
          <a:prstGeom prst="rect">
            <a:avLst/>
          </a:prstGeom>
          <a:noFill/>
        </p:spPr>
        <p:txBody>
          <a:bodyPr wrap="square">
            <a:spAutoFit/>
          </a:bodyPr>
          <a:lstStyle/>
          <a:p>
            <a:pPr algn="l"/>
            <a:r>
              <a:rPr sz="950" b="0" i="0">
                <a:solidFill>
                  <a:srgbClr val="1F2937"/>
                </a:solidFill>
              </a:rPr>
              <a:t>APScheduler — automated weekly VSM pipeline</a:t>
            </a:r>
          </a:p>
        </p:txBody>
      </p:sp>
      <p:sp>
        <p:nvSpPr>
          <p:cNvPr id="66" name="Rectangle 65"/>
          <p:cNvSpPr/>
          <p:nvPr/>
        </p:nvSpPr>
        <p:spPr>
          <a:xfrm>
            <a:off x="9747504" y="2761488"/>
            <a:ext cx="64008" cy="64008"/>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75520" y="2670048"/>
            <a:ext cx="1901952" cy="914400"/>
          </a:xfrm>
          <a:prstGeom prst="rect">
            <a:avLst/>
          </a:prstGeom>
          <a:noFill/>
        </p:spPr>
        <p:txBody>
          <a:bodyPr wrap="square">
            <a:spAutoFit/>
          </a:bodyPr>
          <a:lstStyle/>
          <a:p>
            <a:pPr algn="l"/>
            <a:r>
              <a:rPr sz="950" b="0" i="0">
                <a:solidFill>
                  <a:srgbClr val="1F2937"/>
                </a:solidFill>
              </a:rPr>
              <a:t>DevOps Maturity — 73-question 4-dimension scoring agent</a:t>
            </a:r>
          </a:p>
        </p:txBody>
      </p:sp>
      <p:sp>
        <p:nvSpPr>
          <p:cNvPr id="68" name="Rectangle 67"/>
          <p:cNvSpPr/>
          <p:nvPr/>
        </p:nvSpPr>
        <p:spPr>
          <a:xfrm>
            <a:off x="9747504" y="3730752"/>
            <a:ext cx="64008" cy="64008"/>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875520" y="3639312"/>
            <a:ext cx="1901952" cy="914400"/>
          </a:xfrm>
          <a:prstGeom prst="rect">
            <a:avLst/>
          </a:prstGeom>
          <a:noFill/>
        </p:spPr>
        <p:txBody>
          <a:bodyPr wrap="square">
            <a:spAutoFit/>
          </a:bodyPr>
          <a:lstStyle/>
          <a:p>
            <a:pPr algn="l"/>
            <a:r>
              <a:rPr sz="950" b="0" i="0">
                <a:solidFill>
                  <a:srgbClr val="1F2937"/>
                </a:solidFill>
              </a:rPr>
              <a:t>Accuracy feedback loop — user calibration → confidence score</a:t>
            </a:r>
          </a:p>
        </p:txBody>
      </p:sp>
      <p:sp>
        <p:nvSpPr>
          <p:cNvPr id="70" name="Rectangle 69"/>
          <p:cNvSpPr/>
          <p:nvPr/>
        </p:nvSpPr>
        <p:spPr>
          <a:xfrm>
            <a:off x="9747504" y="4700016"/>
            <a:ext cx="64008" cy="64008"/>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875520" y="4608576"/>
            <a:ext cx="1901952" cy="914400"/>
          </a:xfrm>
          <a:prstGeom prst="rect">
            <a:avLst/>
          </a:prstGeom>
          <a:noFill/>
        </p:spPr>
        <p:txBody>
          <a:bodyPr wrap="square">
            <a:spAutoFit/>
          </a:bodyPr>
          <a:lstStyle/>
          <a:p>
            <a:pPr algn="l"/>
            <a:r>
              <a:rPr sz="950" b="0" i="0">
                <a:solidFill>
                  <a:srgbClr val="1F2937"/>
                </a:solidFill>
              </a:rPr>
              <a:t>Governance + AI Assurance — RACI, model cards, fairness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9601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 y="109728"/>
            <a:ext cx="10058400" cy="475488"/>
          </a:xfrm>
          <a:prstGeom prst="rect">
            <a:avLst/>
          </a:prstGeom>
          <a:noFill/>
        </p:spPr>
        <p:txBody>
          <a:bodyPr wrap="square">
            <a:spAutoFit/>
          </a:bodyPr>
          <a:lstStyle/>
          <a:p>
            <a:pPr algn="l"/>
            <a:r>
              <a:rPr sz="2200" b="1" i="0">
                <a:solidFill>
                  <a:srgbClr val="FFFFFF"/>
                </a:solidFill>
              </a:rPr>
              <a:t>Unique Differentiators</a:t>
            </a:r>
          </a:p>
        </p:txBody>
      </p:sp>
      <p:sp>
        <p:nvSpPr>
          <p:cNvPr id="6" name="TextBox 5"/>
          <p:cNvSpPr txBox="1"/>
          <p:nvPr/>
        </p:nvSpPr>
        <p:spPr>
          <a:xfrm>
            <a:off x="256032" y="576072"/>
            <a:ext cx="10058400" cy="292608"/>
          </a:xfrm>
          <a:prstGeom prst="rect">
            <a:avLst/>
          </a:prstGeom>
          <a:noFill/>
        </p:spPr>
        <p:txBody>
          <a:bodyPr wrap="square">
            <a:spAutoFit/>
          </a:bodyPr>
          <a:lstStyle/>
          <a:p>
            <a:pPr algn="l"/>
            <a:r>
              <a:rPr sz="1050" b="0" i="1">
                <a:solidFill>
                  <a:srgbClr val="93C5FD"/>
                </a:solidFill>
              </a:rPr>
              <a:t>What makes STUMP stand apart from generic VSM tools</a:t>
            </a:r>
          </a:p>
        </p:txBody>
      </p:sp>
      <p:sp>
        <p:nvSpPr>
          <p:cNvPr id="7" name="Rectangle 6"/>
          <p:cNvSpPr/>
          <p:nvPr/>
        </p:nvSpPr>
        <p:spPr>
          <a:xfrm>
            <a:off x="0" y="960120"/>
            <a:ext cx="12188952"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01968"/>
            <a:ext cx="12188952" cy="25603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601968"/>
            <a:ext cx="12188952" cy="18288"/>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6620256"/>
            <a:ext cx="9144000" cy="219456"/>
          </a:xfrm>
          <a:prstGeom prst="rect">
            <a:avLst/>
          </a:prstGeom>
          <a:noFill/>
        </p:spPr>
        <p:txBody>
          <a:bodyPr wrap="square">
            <a:spAutoFit/>
          </a:bodyPr>
          <a:lstStyle/>
          <a:p>
            <a:pPr algn="l"/>
            <a:r>
              <a:rPr sz="750" b="0" i="0">
                <a:solidFill>
                  <a:srgbClr val="6B7280"/>
                </a:solidFill>
              </a:rPr>
              <a:t>STUMP · Strategic Transformation Unified Mapping Platform · © 2026 Cognizant · Confidential</a:t>
            </a:r>
          </a:p>
        </p:txBody>
      </p:sp>
      <p:sp>
        <p:nvSpPr>
          <p:cNvPr id="11" name="TextBox 10"/>
          <p:cNvSpPr txBox="1"/>
          <p:nvPr/>
        </p:nvSpPr>
        <p:spPr>
          <a:xfrm>
            <a:off x="11430000" y="6620256"/>
            <a:ext cx="640080" cy="219456"/>
          </a:xfrm>
          <a:prstGeom prst="rect">
            <a:avLst/>
          </a:prstGeom>
          <a:noFill/>
        </p:spPr>
        <p:txBody>
          <a:bodyPr wrap="square">
            <a:spAutoFit/>
          </a:bodyPr>
          <a:lstStyle/>
          <a:p>
            <a:pPr algn="r"/>
            <a:r>
              <a:rPr sz="750" b="0" i="0">
                <a:solidFill>
                  <a:srgbClr val="6B7280"/>
                </a:solidFill>
              </a:rPr>
              <a:t>18</a:t>
            </a:r>
          </a:p>
        </p:txBody>
      </p:sp>
      <p:sp>
        <p:nvSpPr>
          <p:cNvPr id="12" name="Rectangle 11"/>
          <p:cNvSpPr/>
          <p:nvPr/>
        </p:nvSpPr>
        <p:spPr>
          <a:xfrm>
            <a:off x="256032" y="1097280"/>
            <a:ext cx="5614416" cy="157276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097280"/>
            <a:ext cx="5614416"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 y="1499616"/>
            <a:ext cx="329184" cy="329184"/>
          </a:xfrm>
          <a:prstGeom prst="rect">
            <a:avLst/>
          </a:prstGeom>
          <a:solidFill>
            <a:srgbClr val="EFF6FF"/>
          </a:solidFill>
          <a:ln w="952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499616"/>
            <a:ext cx="329184" cy="329184"/>
          </a:xfrm>
          <a:prstGeom prst="rect">
            <a:avLst/>
          </a:prstGeom>
          <a:noFill/>
        </p:spPr>
        <p:txBody>
          <a:bodyPr wrap="square">
            <a:spAutoFit/>
          </a:bodyPr>
          <a:lstStyle/>
          <a:p>
            <a:pPr algn="ctr"/>
            <a:r>
              <a:rPr sz="900" b="1" i="0">
                <a:solidFill>
                  <a:srgbClr val="1E3A8A"/>
                </a:solidFill>
              </a:rPr>
              <a:t>01</a:t>
            </a:r>
          </a:p>
        </p:txBody>
      </p:sp>
      <p:sp>
        <p:nvSpPr>
          <p:cNvPr id="16" name="TextBox 15"/>
          <p:cNvSpPr txBox="1"/>
          <p:nvPr/>
        </p:nvSpPr>
        <p:spPr>
          <a:xfrm>
            <a:off x="384048" y="1152144"/>
            <a:ext cx="5413248" cy="237744"/>
          </a:xfrm>
          <a:prstGeom prst="rect">
            <a:avLst/>
          </a:prstGeom>
          <a:noFill/>
        </p:spPr>
        <p:txBody>
          <a:bodyPr wrap="square">
            <a:spAutoFit/>
          </a:bodyPr>
          <a:lstStyle/>
          <a:p>
            <a:pPr algn="l"/>
            <a:r>
              <a:rPr sz="1050" b="1" i="0">
                <a:solidFill>
                  <a:srgbClr val="FFFFFF"/>
                </a:solidFill>
              </a:rPr>
              <a:t>Pre-Computed Intelligence Library</a:t>
            </a:r>
          </a:p>
        </p:txBody>
      </p:sp>
      <p:sp>
        <p:nvSpPr>
          <p:cNvPr id="17" name="TextBox 16"/>
          <p:cNvSpPr txBox="1"/>
          <p:nvPr/>
        </p:nvSpPr>
        <p:spPr>
          <a:xfrm>
            <a:off x="786384" y="1481328"/>
            <a:ext cx="4974336" cy="1115568"/>
          </a:xfrm>
          <a:prstGeom prst="rect">
            <a:avLst/>
          </a:prstGeom>
          <a:noFill/>
        </p:spPr>
        <p:txBody>
          <a:bodyPr wrap="square">
            <a:spAutoFit/>
          </a:bodyPr>
          <a:lstStyle/>
          <a:p>
            <a:pPr algn="l"/>
            <a:r>
              <a:rPr sz="950" b="0" i="0">
                <a:solidFill>
                  <a:srgbClr val="1F2937"/>
                </a:solidFill>
              </a:rPr>
              <a:t>15+ PDLC activities carry curated root causes, quantified business impact, competitor benchmarks and ROI — zero LLM cost for known bottlenecks. Competitors surface generic waste; STUMP delivers board-ready evidence.</a:t>
            </a:r>
          </a:p>
        </p:txBody>
      </p:sp>
      <p:sp>
        <p:nvSpPr>
          <p:cNvPr id="18" name="Rectangle 17"/>
          <p:cNvSpPr/>
          <p:nvPr/>
        </p:nvSpPr>
        <p:spPr>
          <a:xfrm>
            <a:off x="5980176" y="1097280"/>
            <a:ext cx="5614416" cy="157276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80176" y="1097280"/>
            <a:ext cx="5614416" cy="31089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08192" y="1499616"/>
            <a:ext cx="329184" cy="329184"/>
          </a:xfrm>
          <a:prstGeom prst="rect">
            <a:avLst/>
          </a:prstGeom>
          <a:solidFill>
            <a:srgbClr val="EFF6FF"/>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08192" y="1499616"/>
            <a:ext cx="329184" cy="329184"/>
          </a:xfrm>
          <a:prstGeom prst="rect">
            <a:avLst/>
          </a:prstGeom>
          <a:noFill/>
        </p:spPr>
        <p:txBody>
          <a:bodyPr wrap="square">
            <a:spAutoFit/>
          </a:bodyPr>
          <a:lstStyle/>
          <a:p>
            <a:pPr algn="ctr"/>
            <a:r>
              <a:rPr sz="900" b="1" i="0">
                <a:solidFill>
                  <a:srgbClr val="1D4ED8"/>
                </a:solidFill>
              </a:rPr>
              <a:t>02</a:t>
            </a:r>
          </a:p>
        </p:txBody>
      </p:sp>
      <p:sp>
        <p:nvSpPr>
          <p:cNvPr id="22" name="TextBox 21"/>
          <p:cNvSpPr txBox="1"/>
          <p:nvPr/>
        </p:nvSpPr>
        <p:spPr>
          <a:xfrm>
            <a:off x="6108192" y="1152144"/>
            <a:ext cx="5413248" cy="237744"/>
          </a:xfrm>
          <a:prstGeom prst="rect">
            <a:avLst/>
          </a:prstGeom>
          <a:noFill/>
        </p:spPr>
        <p:txBody>
          <a:bodyPr wrap="square">
            <a:spAutoFit/>
          </a:bodyPr>
          <a:lstStyle/>
          <a:p>
            <a:pPr algn="l"/>
            <a:r>
              <a:rPr sz="1050" b="1" i="0">
                <a:solidFill>
                  <a:srgbClr val="FFFFFF"/>
                </a:solidFill>
              </a:rPr>
              <a:t>Three Automation Scenarios in One Run</a:t>
            </a:r>
          </a:p>
        </p:txBody>
      </p:sp>
      <p:sp>
        <p:nvSpPr>
          <p:cNvPr id="23" name="TextBox 22"/>
          <p:cNvSpPr txBox="1"/>
          <p:nvPr/>
        </p:nvSpPr>
        <p:spPr>
          <a:xfrm>
            <a:off x="6510528" y="1481328"/>
            <a:ext cx="4974336" cy="1115568"/>
          </a:xfrm>
          <a:prstGeom prst="rect">
            <a:avLst/>
          </a:prstGeom>
          <a:noFill/>
        </p:spPr>
        <p:txBody>
          <a:bodyPr wrap="square">
            <a:spAutoFit/>
          </a:bodyPr>
          <a:lstStyle/>
          <a:p>
            <a:pPr algn="l"/>
            <a:r>
              <a:rPr sz="950" b="0" i="0">
                <a:solidFill>
                  <a:srgbClr val="1F2937"/>
                </a:solidFill>
              </a:rPr>
              <a:t>A single pipeline produces three coherent future states — Augmented Human (40 %), Hybrid (65 %), AI-First (85 %) — each with its own DORA targets, investment model and org restructuring plan.</a:t>
            </a:r>
          </a:p>
        </p:txBody>
      </p:sp>
      <p:sp>
        <p:nvSpPr>
          <p:cNvPr id="24" name="Rectangle 23"/>
          <p:cNvSpPr/>
          <p:nvPr/>
        </p:nvSpPr>
        <p:spPr>
          <a:xfrm>
            <a:off x="256032" y="2743200"/>
            <a:ext cx="5614416" cy="157276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6032" y="2743200"/>
            <a:ext cx="5614416" cy="310896"/>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4048" y="3145536"/>
            <a:ext cx="329184" cy="329184"/>
          </a:xfrm>
          <a:prstGeom prst="rect">
            <a:avLst/>
          </a:prstGeom>
          <a:solidFill>
            <a:srgbClr val="EFF6FF"/>
          </a:solidFill>
          <a:ln w="9525">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145536"/>
            <a:ext cx="329184" cy="329184"/>
          </a:xfrm>
          <a:prstGeom prst="rect">
            <a:avLst/>
          </a:prstGeom>
          <a:noFill/>
        </p:spPr>
        <p:txBody>
          <a:bodyPr wrap="square">
            <a:spAutoFit/>
          </a:bodyPr>
          <a:lstStyle/>
          <a:p>
            <a:pPr algn="ctr"/>
            <a:r>
              <a:rPr sz="900" b="1" i="0">
                <a:solidFill>
                  <a:srgbClr val="065F46"/>
                </a:solidFill>
              </a:rPr>
              <a:t>03</a:t>
            </a:r>
          </a:p>
        </p:txBody>
      </p:sp>
      <p:sp>
        <p:nvSpPr>
          <p:cNvPr id="28" name="TextBox 27"/>
          <p:cNvSpPr txBox="1"/>
          <p:nvPr/>
        </p:nvSpPr>
        <p:spPr>
          <a:xfrm>
            <a:off x="384048" y="2798064"/>
            <a:ext cx="5413248" cy="237744"/>
          </a:xfrm>
          <a:prstGeom prst="rect">
            <a:avLst/>
          </a:prstGeom>
          <a:noFill/>
        </p:spPr>
        <p:txBody>
          <a:bodyPr wrap="square">
            <a:spAutoFit/>
          </a:bodyPr>
          <a:lstStyle/>
          <a:p>
            <a:pPr algn="l"/>
            <a:r>
              <a:rPr sz="1050" b="1" i="0">
                <a:solidFill>
                  <a:srgbClr val="FFFFFF"/>
                </a:solidFill>
              </a:rPr>
              <a:t>DORA ↔ VSM Calibration Loop</a:t>
            </a:r>
          </a:p>
        </p:txBody>
      </p:sp>
      <p:sp>
        <p:nvSpPr>
          <p:cNvPr id="29" name="TextBox 28"/>
          <p:cNvSpPr txBox="1"/>
          <p:nvPr/>
        </p:nvSpPr>
        <p:spPr>
          <a:xfrm>
            <a:off x="786384" y="3127248"/>
            <a:ext cx="4974336" cy="1115568"/>
          </a:xfrm>
          <a:prstGeom prst="rect">
            <a:avLst/>
          </a:prstGeom>
          <a:noFill/>
        </p:spPr>
        <p:txBody>
          <a:bodyPr wrap="square">
            <a:spAutoFit/>
          </a:bodyPr>
          <a:lstStyle/>
          <a:p>
            <a:pPr algn="l"/>
            <a:r>
              <a:rPr sz="950" b="0" i="0">
                <a:solidFill>
                  <a:srgbClr val="1F2937"/>
                </a:solidFill>
              </a:rPr>
              <a:t>Unique calibration engine connects measured DORA metrics to VSM phase wait times, making the analysis accurate even before manual data entry. Bridges the gap between Lean VSM theory and real delivery telemetry.</a:t>
            </a:r>
          </a:p>
        </p:txBody>
      </p:sp>
      <p:sp>
        <p:nvSpPr>
          <p:cNvPr id="30" name="Rectangle 29"/>
          <p:cNvSpPr/>
          <p:nvPr/>
        </p:nvSpPr>
        <p:spPr>
          <a:xfrm>
            <a:off x="5980176" y="2743200"/>
            <a:ext cx="5614416" cy="157276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80176" y="2743200"/>
            <a:ext cx="5614416" cy="310896"/>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08192" y="3145536"/>
            <a:ext cx="329184" cy="329184"/>
          </a:xfrm>
          <a:prstGeom prst="rect">
            <a:avLst/>
          </a:prstGeom>
          <a:solidFill>
            <a:srgbClr val="EFF6FF"/>
          </a:solidFill>
          <a:ln w="9525">
            <a:solidFill>
              <a:srgbClr val="4C1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08192" y="3145536"/>
            <a:ext cx="329184" cy="329184"/>
          </a:xfrm>
          <a:prstGeom prst="rect">
            <a:avLst/>
          </a:prstGeom>
          <a:noFill/>
        </p:spPr>
        <p:txBody>
          <a:bodyPr wrap="square">
            <a:spAutoFit/>
          </a:bodyPr>
          <a:lstStyle/>
          <a:p>
            <a:pPr algn="ctr"/>
            <a:r>
              <a:rPr sz="900" b="1" i="0">
                <a:solidFill>
                  <a:srgbClr val="4C1D95"/>
                </a:solidFill>
              </a:rPr>
              <a:t>04</a:t>
            </a:r>
          </a:p>
        </p:txBody>
      </p:sp>
      <p:sp>
        <p:nvSpPr>
          <p:cNvPr id="34" name="TextBox 33"/>
          <p:cNvSpPr txBox="1"/>
          <p:nvPr/>
        </p:nvSpPr>
        <p:spPr>
          <a:xfrm>
            <a:off x="6108192" y="2798064"/>
            <a:ext cx="5413248" cy="237744"/>
          </a:xfrm>
          <a:prstGeom prst="rect">
            <a:avLst/>
          </a:prstGeom>
          <a:noFill/>
        </p:spPr>
        <p:txBody>
          <a:bodyPr wrap="square">
            <a:spAutoFit/>
          </a:bodyPr>
          <a:lstStyle/>
          <a:p>
            <a:pPr algn="l"/>
            <a:r>
              <a:rPr sz="1050" b="1" i="0">
                <a:solidFill>
                  <a:srgbClr val="FFFFFF"/>
                </a:solidFill>
              </a:rPr>
              <a:t>Team-Personalised Implementation Playbook</a:t>
            </a:r>
          </a:p>
        </p:txBody>
      </p:sp>
      <p:sp>
        <p:nvSpPr>
          <p:cNvPr id="35" name="TextBox 34"/>
          <p:cNvSpPr txBox="1"/>
          <p:nvPr/>
        </p:nvSpPr>
        <p:spPr>
          <a:xfrm>
            <a:off x="6510528" y="3127248"/>
            <a:ext cx="4974336" cy="1115568"/>
          </a:xfrm>
          <a:prstGeom prst="rect">
            <a:avLst/>
          </a:prstGeom>
          <a:noFill/>
        </p:spPr>
        <p:txBody>
          <a:bodyPr wrap="square">
            <a:spAutoFit/>
          </a:bodyPr>
          <a:lstStyle/>
          <a:p>
            <a:pPr algn="l"/>
            <a:r>
              <a:rPr sz="950" b="0" i="0">
                <a:solidFill>
                  <a:srgbClr val="1F2937"/>
                </a:solidFill>
              </a:rPr>
              <a:t>Playbook Contextualizer uses the team's actual Jira project names, GitHub branches and CI/CD steps — not generic advice — with accuracy scored 0 – 95 % based on context completeness.</a:t>
            </a:r>
          </a:p>
        </p:txBody>
      </p:sp>
      <p:sp>
        <p:nvSpPr>
          <p:cNvPr id="36" name="Rectangle 35"/>
          <p:cNvSpPr/>
          <p:nvPr/>
        </p:nvSpPr>
        <p:spPr>
          <a:xfrm>
            <a:off x="256032" y="4389120"/>
            <a:ext cx="5614416" cy="157276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56032" y="4389120"/>
            <a:ext cx="5614416" cy="310896"/>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84048" y="4791456"/>
            <a:ext cx="329184" cy="329184"/>
          </a:xfrm>
          <a:prstGeom prst="rect">
            <a:avLst/>
          </a:prstGeom>
          <a:solidFill>
            <a:srgbClr val="EFF6FF"/>
          </a:solidFill>
          <a:ln w="9525">
            <a:solidFill>
              <a:srgbClr val="B45A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4048" y="4791456"/>
            <a:ext cx="329184" cy="329184"/>
          </a:xfrm>
          <a:prstGeom prst="rect">
            <a:avLst/>
          </a:prstGeom>
          <a:noFill/>
        </p:spPr>
        <p:txBody>
          <a:bodyPr wrap="square">
            <a:spAutoFit/>
          </a:bodyPr>
          <a:lstStyle/>
          <a:p>
            <a:pPr algn="ctr"/>
            <a:r>
              <a:rPr sz="900" b="1" i="0">
                <a:solidFill>
                  <a:srgbClr val="B45A09"/>
                </a:solidFill>
              </a:rPr>
              <a:t>05</a:t>
            </a:r>
          </a:p>
        </p:txBody>
      </p:sp>
      <p:sp>
        <p:nvSpPr>
          <p:cNvPr id="40" name="TextBox 39"/>
          <p:cNvSpPr txBox="1"/>
          <p:nvPr/>
        </p:nvSpPr>
        <p:spPr>
          <a:xfrm>
            <a:off x="384048" y="4443984"/>
            <a:ext cx="5413248" cy="237744"/>
          </a:xfrm>
          <a:prstGeom prst="rect">
            <a:avLst/>
          </a:prstGeom>
          <a:noFill/>
        </p:spPr>
        <p:txBody>
          <a:bodyPr wrap="square">
            <a:spAutoFit/>
          </a:bodyPr>
          <a:lstStyle/>
          <a:p>
            <a:pPr algn="l"/>
            <a:r>
              <a:rPr sz="1050" b="1" i="0">
                <a:solidFill>
                  <a:srgbClr val="FFFFFF"/>
                </a:solidFill>
              </a:rPr>
              <a:t>Hybrid AI Architecture</a:t>
            </a:r>
          </a:p>
        </p:txBody>
      </p:sp>
      <p:sp>
        <p:nvSpPr>
          <p:cNvPr id="41" name="TextBox 40"/>
          <p:cNvSpPr txBox="1"/>
          <p:nvPr/>
        </p:nvSpPr>
        <p:spPr>
          <a:xfrm>
            <a:off x="786384" y="4773168"/>
            <a:ext cx="4974336" cy="1115568"/>
          </a:xfrm>
          <a:prstGeom prst="rect">
            <a:avLst/>
          </a:prstGeom>
          <a:noFill/>
        </p:spPr>
        <p:txBody>
          <a:bodyPr wrap="square">
            <a:spAutoFit/>
          </a:bodyPr>
          <a:lstStyle/>
          <a:p>
            <a:pPr algn="l"/>
            <a:r>
              <a:rPr sz="950" b="0" i="0">
                <a:solidFill>
                  <a:srgbClr val="1F2937"/>
                </a:solidFill>
              </a:rPr>
              <a:t>LLM enrichment for novel bottlenecks; deterministic pre-built library for known ones. Full offline capability — 80 % of analyses require zero LLM calls. Accuracy score tells stakeholders exactly when to trust AI outputs.</a:t>
            </a:r>
          </a:p>
        </p:txBody>
      </p:sp>
      <p:sp>
        <p:nvSpPr>
          <p:cNvPr id="42" name="Rectangle 41"/>
          <p:cNvSpPr/>
          <p:nvPr/>
        </p:nvSpPr>
        <p:spPr>
          <a:xfrm>
            <a:off x="5980176" y="4389120"/>
            <a:ext cx="5614416" cy="1572768"/>
          </a:xfrm>
          <a:prstGeom prst="rect">
            <a:avLst/>
          </a:prstGeom>
          <a:solidFill>
            <a:srgbClr val="FFFF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80176" y="4389120"/>
            <a:ext cx="5614416" cy="310896"/>
          </a:xfrm>
          <a:prstGeom prst="rect">
            <a:avLst/>
          </a:prstGeom>
          <a:solidFill>
            <a:srgbClr val="0E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08192" y="4791456"/>
            <a:ext cx="329184" cy="329184"/>
          </a:xfrm>
          <a:prstGeom prst="rect">
            <a:avLst/>
          </a:prstGeom>
          <a:solidFill>
            <a:srgbClr val="EFF6FF"/>
          </a:solidFill>
          <a:ln w="9525">
            <a:solidFill>
              <a:srgbClr val="0E47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08192" y="4791456"/>
            <a:ext cx="329184" cy="329184"/>
          </a:xfrm>
          <a:prstGeom prst="rect">
            <a:avLst/>
          </a:prstGeom>
          <a:noFill/>
        </p:spPr>
        <p:txBody>
          <a:bodyPr wrap="square">
            <a:spAutoFit/>
          </a:bodyPr>
          <a:lstStyle/>
          <a:p>
            <a:pPr algn="ctr"/>
            <a:r>
              <a:rPr sz="900" b="1" i="0">
                <a:solidFill>
                  <a:srgbClr val="0E478A"/>
                </a:solidFill>
              </a:rPr>
              <a:t>06</a:t>
            </a:r>
          </a:p>
        </p:txBody>
      </p:sp>
      <p:sp>
        <p:nvSpPr>
          <p:cNvPr id="46" name="TextBox 45"/>
          <p:cNvSpPr txBox="1"/>
          <p:nvPr/>
        </p:nvSpPr>
        <p:spPr>
          <a:xfrm>
            <a:off x="6108192" y="4443984"/>
            <a:ext cx="5413248" cy="237744"/>
          </a:xfrm>
          <a:prstGeom prst="rect">
            <a:avLst/>
          </a:prstGeom>
          <a:noFill/>
        </p:spPr>
        <p:txBody>
          <a:bodyPr wrap="square">
            <a:spAutoFit/>
          </a:bodyPr>
          <a:lstStyle/>
          <a:p>
            <a:pPr algn="l"/>
            <a:r>
              <a:rPr sz="1050" b="1" i="0">
                <a:solidFill>
                  <a:srgbClr val="FFFFFF"/>
                </a:solidFill>
              </a:rPr>
              <a:t>End-to-End Transformation OS</a:t>
            </a:r>
          </a:p>
        </p:txBody>
      </p:sp>
      <p:sp>
        <p:nvSpPr>
          <p:cNvPr id="47" name="TextBox 46"/>
          <p:cNvSpPr txBox="1"/>
          <p:nvPr/>
        </p:nvSpPr>
        <p:spPr>
          <a:xfrm>
            <a:off x="6510528" y="4773168"/>
            <a:ext cx="4974336" cy="1115568"/>
          </a:xfrm>
          <a:prstGeom prst="rect">
            <a:avLst/>
          </a:prstGeom>
          <a:noFill/>
        </p:spPr>
        <p:txBody>
          <a:bodyPr wrap="square">
            <a:spAutoFit/>
          </a:bodyPr>
          <a:lstStyle/>
          <a:p>
            <a:pPr algn="l"/>
            <a:r>
              <a:rPr sz="950" b="0" i="0">
                <a:solidFill>
                  <a:srgbClr val="1F2937"/>
                </a:solidFill>
              </a:rPr>
              <a:t>Ingestion → diagnosis → improvement → scenario design → business case → playbook → governance → AI assurance in a single platform, replacing 6 – 8 point solutions typically used across a transformation programme.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 y="0"/>
            <a:ext cx="54864"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6304" y="1463040"/>
            <a:ext cx="12042648" cy="36576"/>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 y="5852160"/>
            <a:ext cx="12042648" cy="36576"/>
          </a:xfrm>
          <a:prstGeom prst="rect">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600200"/>
            <a:ext cx="10058400" cy="1234440"/>
          </a:xfrm>
          <a:prstGeom prst="rect">
            <a:avLst/>
          </a:prstGeom>
          <a:noFill/>
        </p:spPr>
        <p:txBody>
          <a:bodyPr wrap="square">
            <a:spAutoFit/>
          </a:bodyPr>
          <a:lstStyle/>
          <a:p>
            <a:pPr algn="l"/>
            <a:r>
              <a:rPr sz="7200" b="1" i="0">
                <a:solidFill>
                  <a:srgbClr val="1E3A8A"/>
                </a:solidFill>
              </a:rPr>
              <a:t>STUMP</a:t>
            </a:r>
          </a:p>
        </p:txBody>
      </p:sp>
      <p:sp>
        <p:nvSpPr>
          <p:cNvPr id="8" name="TextBox 7"/>
          <p:cNvSpPr txBox="1"/>
          <p:nvPr/>
        </p:nvSpPr>
        <p:spPr>
          <a:xfrm>
            <a:off x="411480" y="2697480"/>
            <a:ext cx="10515600" cy="475488"/>
          </a:xfrm>
          <a:prstGeom prst="rect">
            <a:avLst/>
          </a:prstGeom>
          <a:noFill/>
        </p:spPr>
        <p:txBody>
          <a:bodyPr wrap="square">
            <a:spAutoFit/>
          </a:bodyPr>
          <a:lstStyle/>
          <a:p>
            <a:pPr algn="l"/>
            <a:r>
              <a:rPr sz="1700" b="0" i="1">
                <a:solidFill>
                  <a:srgbClr val="1D4ED8"/>
                </a:solidFill>
              </a:rPr>
              <a:t>Transforming how teams see, measure and evolve their value streams.</a:t>
            </a:r>
          </a:p>
        </p:txBody>
      </p:sp>
      <p:sp>
        <p:nvSpPr>
          <p:cNvPr id="9" name="TextBox 8"/>
          <p:cNvSpPr txBox="1"/>
          <p:nvPr/>
        </p:nvSpPr>
        <p:spPr>
          <a:xfrm>
            <a:off x="411480" y="3218688"/>
            <a:ext cx="10058400" cy="347472"/>
          </a:xfrm>
          <a:prstGeom prst="rect">
            <a:avLst/>
          </a:prstGeom>
          <a:noFill/>
        </p:spPr>
        <p:txBody>
          <a:bodyPr wrap="square">
            <a:spAutoFit/>
          </a:bodyPr>
          <a:lstStyle/>
          <a:p>
            <a:pPr algn="l"/>
            <a:r>
              <a:rPr sz="1200" b="0" i="0">
                <a:solidFill>
                  <a:srgbClr val="6B7280"/>
                </a:solidFill>
              </a:rPr>
              <a:t>One platform.  Eight agents.  End-to-end transformation intelligence.</a:t>
            </a:r>
          </a:p>
        </p:txBody>
      </p:sp>
      <p:sp>
        <p:nvSpPr>
          <p:cNvPr id="10" name="Rectangle 9"/>
          <p:cNvSpPr/>
          <p:nvPr/>
        </p:nvSpPr>
        <p:spPr>
          <a:xfrm>
            <a:off x="411480" y="3767328"/>
            <a:ext cx="1792224" cy="822960"/>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3822192"/>
            <a:ext cx="1792224" cy="475488"/>
          </a:xfrm>
          <a:prstGeom prst="rect">
            <a:avLst/>
          </a:prstGeom>
          <a:noFill/>
        </p:spPr>
        <p:txBody>
          <a:bodyPr wrap="square">
            <a:spAutoFit/>
          </a:bodyPr>
          <a:lstStyle/>
          <a:p>
            <a:pPr algn="ctr"/>
            <a:r>
              <a:rPr sz="2600" b="1" i="0">
                <a:solidFill>
                  <a:srgbClr val="1E3A8A"/>
                </a:solidFill>
              </a:rPr>
              <a:t>8</a:t>
            </a:r>
          </a:p>
        </p:txBody>
      </p:sp>
      <p:sp>
        <p:nvSpPr>
          <p:cNvPr id="12" name="TextBox 11"/>
          <p:cNvSpPr txBox="1"/>
          <p:nvPr/>
        </p:nvSpPr>
        <p:spPr>
          <a:xfrm>
            <a:off x="411480" y="4297680"/>
            <a:ext cx="1792224" cy="256032"/>
          </a:xfrm>
          <a:prstGeom prst="rect">
            <a:avLst/>
          </a:prstGeom>
          <a:noFill/>
        </p:spPr>
        <p:txBody>
          <a:bodyPr wrap="square">
            <a:spAutoFit/>
          </a:bodyPr>
          <a:lstStyle/>
          <a:p>
            <a:pPr algn="ctr"/>
            <a:r>
              <a:rPr sz="900" b="0" i="0">
                <a:solidFill>
                  <a:srgbClr val="6B7280"/>
                </a:solidFill>
              </a:rPr>
              <a:t>AI Agents</a:t>
            </a:r>
          </a:p>
        </p:txBody>
      </p:sp>
      <p:sp>
        <p:nvSpPr>
          <p:cNvPr id="13" name="Rectangle 12"/>
          <p:cNvSpPr/>
          <p:nvPr/>
        </p:nvSpPr>
        <p:spPr>
          <a:xfrm>
            <a:off x="2313432" y="3767328"/>
            <a:ext cx="1792224" cy="822960"/>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13432" y="3822192"/>
            <a:ext cx="1792224" cy="475488"/>
          </a:xfrm>
          <a:prstGeom prst="rect">
            <a:avLst/>
          </a:prstGeom>
          <a:noFill/>
        </p:spPr>
        <p:txBody>
          <a:bodyPr wrap="square">
            <a:spAutoFit/>
          </a:bodyPr>
          <a:lstStyle/>
          <a:p>
            <a:pPr algn="ctr"/>
            <a:r>
              <a:rPr sz="2600" b="1" i="0">
                <a:solidFill>
                  <a:srgbClr val="1E3A8A"/>
                </a:solidFill>
              </a:rPr>
              <a:t>7</a:t>
            </a:r>
          </a:p>
        </p:txBody>
      </p:sp>
      <p:sp>
        <p:nvSpPr>
          <p:cNvPr id="15" name="TextBox 14"/>
          <p:cNvSpPr txBox="1"/>
          <p:nvPr/>
        </p:nvSpPr>
        <p:spPr>
          <a:xfrm>
            <a:off x="2313432" y="4297680"/>
            <a:ext cx="1792224" cy="256032"/>
          </a:xfrm>
          <a:prstGeom prst="rect">
            <a:avLst/>
          </a:prstGeom>
          <a:noFill/>
        </p:spPr>
        <p:txBody>
          <a:bodyPr wrap="square">
            <a:spAutoFit/>
          </a:bodyPr>
          <a:lstStyle/>
          <a:p>
            <a:pPr algn="ctr"/>
            <a:r>
              <a:rPr sz="900" b="0" i="0">
                <a:solidFill>
                  <a:srgbClr val="6B7280"/>
                </a:solidFill>
              </a:rPr>
              <a:t>PDLC Phases</a:t>
            </a:r>
          </a:p>
        </p:txBody>
      </p:sp>
      <p:sp>
        <p:nvSpPr>
          <p:cNvPr id="16" name="Rectangle 15"/>
          <p:cNvSpPr/>
          <p:nvPr/>
        </p:nvSpPr>
        <p:spPr>
          <a:xfrm>
            <a:off x="4215384" y="3767328"/>
            <a:ext cx="1792224" cy="822960"/>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5384" y="3822192"/>
            <a:ext cx="1792224" cy="475488"/>
          </a:xfrm>
          <a:prstGeom prst="rect">
            <a:avLst/>
          </a:prstGeom>
          <a:noFill/>
        </p:spPr>
        <p:txBody>
          <a:bodyPr wrap="square">
            <a:spAutoFit/>
          </a:bodyPr>
          <a:lstStyle/>
          <a:p>
            <a:pPr algn="ctr"/>
            <a:r>
              <a:rPr sz="2600" b="1" i="0">
                <a:solidFill>
                  <a:srgbClr val="1E3A8A"/>
                </a:solidFill>
              </a:rPr>
              <a:t>3</a:t>
            </a:r>
          </a:p>
        </p:txBody>
      </p:sp>
      <p:sp>
        <p:nvSpPr>
          <p:cNvPr id="18" name="TextBox 17"/>
          <p:cNvSpPr txBox="1"/>
          <p:nvPr/>
        </p:nvSpPr>
        <p:spPr>
          <a:xfrm>
            <a:off x="4215384" y="4297680"/>
            <a:ext cx="1792224" cy="256032"/>
          </a:xfrm>
          <a:prstGeom prst="rect">
            <a:avLst/>
          </a:prstGeom>
          <a:noFill/>
        </p:spPr>
        <p:txBody>
          <a:bodyPr wrap="square">
            <a:spAutoFit/>
          </a:bodyPr>
          <a:lstStyle/>
          <a:p>
            <a:pPr algn="ctr"/>
            <a:r>
              <a:rPr sz="900" b="0" i="0">
                <a:solidFill>
                  <a:srgbClr val="6B7280"/>
                </a:solidFill>
              </a:rPr>
              <a:t>Future Scenarios</a:t>
            </a:r>
          </a:p>
        </p:txBody>
      </p:sp>
      <p:sp>
        <p:nvSpPr>
          <p:cNvPr id="19" name="Rectangle 18"/>
          <p:cNvSpPr/>
          <p:nvPr/>
        </p:nvSpPr>
        <p:spPr>
          <a:xfrm>
            <a:off x="6117336" y="3767328"/>
            <a:ext cx="1792224" cy="822960"/>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17336" y="3822192"/>
            <a:ext cx="1792224" cy="475488"/>
          </a:xfrm>
          <a:prstGeom prst="rect">
            <a:avLst/>
          </a:prstGeom>
          <a:noFill/>
        </p:spPr>
        <p:txBody>
          <a:bodyPr wrap="square">
            <a:spAutoFit/>
          </a:bodyPr>
          <a:lstStyle/>
          <a:p>
            <a:pPr algn="ctr"/>
            <a:r>
              <a:rPr sz="2600" b="1" i="0">
                <a:solidFill>
                  <a:srgbClr val="1E3A8A"/>
                </a:solidFill>
              </a:rPr>
              <a:t>5.5×</a:t>
            </a:r>
          </a:p>
        </p:txBody>
      </p:sp>
      <p:sp>
        <p:nvSpPr>
          <p:cNvPr id="21" name="TextBox 20"/>
          <p:cNvSpPr txBox="1"/>
          <p:nvPr/>
        </p:nvSpPr>
        <p:spPr>
          <a:xfrm>
            <a:off x="6117336" y="4297680"/>
            <a:ext cx="1792224" cy="256032"/>
          </a:xfrm>
          <a:prstGeom prst="rect">
            <a:avLst/>
          </a:prstGeom>
          <a:noFill/>
        </p:spPr>
        <p:txBody>
          <a:bodyPr wrap="square">
            <a:spAutoFit/>
          </a:bodyPr>
          <a:lstStyle/>
          <a:p>
            <a:pPr algn="ctr"/>
            <a:r>
              <a:rPr sz="900" b="0" i="0">
                <a:solidFill>
                  <a:srgbClr val="6B7280"/>
                </a:solidFill>
              </a:rPr>
              <a:t>Max ROI</a:t>
            </a:r>
          </a:p>
        </p:txBody>
      </p:sp>
      <p:sp>
        <p:nvSpPr>
          <p:cNvPr id="22" name="Rectangle 21"/>
          <p:cNvSpPr/>
          <p:nvPr/>
        </p:nvSpPr>
        <p:spPr>
          <a:xfrm>
            <a:off x="8019288" y="3767328"/>
            <a:ext cx="1792224" cy="822960"/>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19288" y="3822192"/>
            <a:ext cx="1792224" cy="475488"/>
          </a:xfrm>
          <a:prstGeom prst="rect">
            <a:avLst/>
          </a:prstGeom>
          <a:noFill/>
        </p:spPr>
        <p:txBody>
          <a:bodyPr wrap="square">
            <a:spAutoFit/>
          </a:bodyPr>
          <a:lstStyle/>
          <a:p>
            <a:pPr algn="ctr"/>
            <a:r>
              <a:rPr sz="2600" b="1" i="0">
                <a:solidFill>
                  <a:srgbClr val="1E3A8A"/>
                </a:solidFill>
              </a:rPr>
              <a:t>88%</a:t>
            </a:r>
          </a:p>
        </p:txBody>
      </p:sp>
      <p:sp>
        <p:nvSpPr>
          <p:cNvPr id="24" name="TextBox 23"/>
          <p:cNvSpPr txBox="1"/>
          <p:nvPr/>
        </p:nvSpPr>
        <p:spPr>
          <a:xfrm>
            <a:off x="8019288" y="4297680"/>
            <a:ext cx="1792224" cy="256032"/>
          </a:xfrm>
          <a:prstGeom prst="rect">
            <a:avLst/>
          </a:prstGeom>
          <a:noFill/>
        </p:spPr>
        <p:txBody>
          <a:bodyPr wrap="square">
            <a:spAutoFit/>
          </a:bodyPr>
          <a:lstStyle/>
          <a:p>
            <a:pPr algn="ctr"/>
            <a:r>
              <a:rPr sz="900" b="0" i="0">
                <a:solidFill>
                  <a:srgbClr val="6B7280"/>
                </a:solidFill>
              </a:rPr>
              <a:t>Max WT Reduction</a:t>
            </a:r>
          </a:p>
        </p:txBody>
      </p:sp>
      <p:sp>
        <p:nvSpPr>
          <p:cNvPr id="25" name="Rectangle 24"/>
          <p:cNvSpPr/>
          <p:nvPr/>
        </p:nvSpPr>
        <p:spPr>
          <a:xfrm>
            <a:off x="9921240" y="3767328"/>
            <a:ext cx="1792224" cy="822960"/>
          </a:xfrm>
          <a:prstGeom prst="rect">
            <a:avLst/>
          </a:prstGeom>
          <a:solidFill>
            <a:srgbClr val="EFF6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21240" y="3822192"/>
            <a:ext cx="1792224" cy="475488"/>
          </a:xfrm>
          <a:prstGeom prst="rect">
            <a:avLst/>
          </a:prstGeom>
          <a:noFill/>
        </p:spPr>
        <p:txBody>
          <a:bodyPr wrap="square">
            <a:spAutoFit/>
          </a:bodyPr>
          <a:lstStyle/>
          <a:p>
            <a:pPr algn="ctr"/>
            <a:r>
              <a:rPr sz="2600" b="1" i="0">
                <a:solidFill>
                  <a:srgbClr val="1E3A8A"/>
                </a:solidFill>
              </a:rPr>
              <a:t>95%</a:t>
            </a:r>
          </a:p>
        </p:txBody>
      </p:sp>
      <p:sp>
        <p:nvSpPr>
          <p:cNvPr id="27" name="TextBox 26"/>
          <p:cNvSpPr txBox="1"/>
          <p:nvPr/>
        </p:nvSpPr>
        <p:spPr>
          <a:xfrm>
            <a:off x="9921240" y="4297680"/>
            <a:ext cx="1792224" cy="256032"/>
          </a:xfrm>
          <a:prstGeom prst="rect">
            <a:avLst/>
          </a:prstGeom>
          <a:noFill/>
        </p:spPr>
        <p:txBody>
          <a:bodyPr wrap="square">
            <a:spAutoFit/>
          </a:bodyPr>
          <a:lstStyle/>
          <a:p>
            <a:pPr algn="ctr"/>
            <a:r>
              <a:rPr sz="900" b="0" i="0">
                <a:solidFill>
                  <a:srgbClr val="6B7280"/>
                </a:solidFill>
              </a:rPr>
              <a:t>Max Accuracy Score</a:t>
            </a:r>
          </a:p>
        </p:txBody>
      </p:sp>
      <p:sp>
        <p:nvSpPr>
          <p:cNvPr id="28" name="TextBox 27"/>
          <p:cNvSpPr txBox="1"/>
          <p:nvPr/>
        </p:nvSpPr>
        <p:spPr>
          <a:xfrm>
            <a:off x="411480" y="6080760"/>
            <a:ext cx="7315200" cy="274320"/>
          </a:xfrm>
          <a:prstGeom prst="rect">
            <a:avLst/>
          </a:prstGeom>
          <a:noFill/>
        </p:spPr>
        <p:txBody>
          <a:bodyPr wrap="square">
            <a:spAutoFit/>
          </a:bodyPr>
          <a:lstStyle/>
          <a:p>
            <a:pPr algn="l"/>
            <a:r>
              <a:rPr sz="1000" b="0" i="0">
                <a:solidFill>
                  <a:srgbClr val="6B7280"/>
                </a:solidFill>
              </a:rPr>
              <a:t>© 2026 Cognizant  ·  Confidential  ·  STUMP v1.0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