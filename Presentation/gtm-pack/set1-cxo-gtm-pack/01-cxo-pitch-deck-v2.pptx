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70832"/>
            <a:ext cx="12188952" cy="54864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  <a:latin typeface="Calibri"/>
              </a:rPr>
              <a:t>[CLIENT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BFDBFE"/>
                </a:solidFill>
                <a:latin typeface="Calibri"/>
              </a:rPr>
              <a:t>From Value Stream Diagnosis to Fully Agentic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3C5FD"/>
                </a:solidFill>
                <a:latin typeface="Calibri"/>
              </a:rPr>
              <a:t>A consulting offering delivered 5× faster and at optimal cost
through the STUMP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[DATE]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30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E"/>
                </a:solidFill>
                <a:latin typeface="Calibri"/>
              </a:rPr>
              <a:t>Powered by LangGraph AI Agents +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Delivery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Why acting now costs less than waiting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408A"/>
                </a:solidFill>
                <a:latin typeface="Calibri"/>
              </a:rPr>
              <a:t>Your engineering teams are delivering at a fraction of their potential.
The cause is invisible in your sprint reports — and measurable in hours and dollars.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2606040" cy="2286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34–47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Average feature lead time in Financial Services
— most of it sitting in queues, not being worked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83080"/>
            <a:ext cx="2606040" cy="2286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74519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17.8%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Typical flow efficiency — 82¢ of every $1 spent
on engineering goes to wait time, not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2606040" cy="2286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3–6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Time a traditional consultancy takes to map
your value stream and identify bottlenecks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783080"/>
            <a:ext cx="2606040" cy="22860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874519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6060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Value delivered during that 3–6 month diagnosis
before any improvement even starts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F2D5E"/>
                </a:solidFill>
                <a:latin typeface="Calibri"/>
              </a:rPr>
              <a:t>The question is not whether to transform your PDLC — it's which pathway fits your risk appetite, and how quickly you can get the evidence to make the investment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That's exactly what this engagement is designed to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Our Consulting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Three phases — from diagnosis to transformation in 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3703320" cy="62179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07899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1
DIAGNOSE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630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2–4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673352"/>
            <a:ext cx="3703320" cy="374903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755648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AI-generated Current State VSM from your Jira / ADO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231136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Lead time, flow efficiency, and waste quantified per PDLC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706624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Top 5 bottlenecks: speed / productivity / quality impact scored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18211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Sector benchmark comparison (12 peer organisations)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5422392"/>
            <a:ext cx="370332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5449824"/>
            <a:ext cx="3483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Deliverable: VSM Dashboard + Bottleneck Impact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5" y="21488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4215" y="1051560"/>
            <a:ext cx="3703320" cy="62179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1" y="107899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2
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1" y="14630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2–3 weeks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14215" y="1673352"/>
            <a:ext cx="3703320" cy="374903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755648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Three AI transformation options modelled on your actual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231136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Option A: AI-Augmented  |  Option B: Agents-in-Loop  |  Option C: Above-the-Loop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706624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Business case: ROI, payback, NPV for each 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18211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Risk and dependency analysis per pathway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14215" y="5422392"/>
            <a:ext cx="370332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23944" y="5449824"/>
            <a:ext cx="3483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Deliverable: Options Paper + Business Case (3 scenarios)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3" y="2148840"/>
            <a:ext cx="109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1051560"/>
            <a:ext cx="3703320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07899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PHASE 3
DELIVER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1463040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Ongoing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7264" y="1673352"/>
            <a:ext cx="3703320" cy="3749039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755648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Week-by-week implementation playbook for chosen option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2231136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Change management and governance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2706624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Platform-tracked benefits realisation vs. business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3182112"/>
            <a:ext cx="3410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Continuous DORA maturity improvement programme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27264" y="5422392"/>
            <a:ext cx="37033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6992" y="5449824"/>
            <a:ext cx="3483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Deliverable: Playbook + Governance Model + Benefits Tracker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998464"/>
            <a:ext cx="12188952" cy="859536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0350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Platform Advantage:  STUMP compresses Phase 1 from 3 months → 2 weeks, Phase 2 from 6 weeks → 3 weeks, and makes Phase 3 continuous — turning a one-off consulting project into a live operating capability.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Phase 1: Diagnose — Current State Value Stream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From ALM data to board-ready baseline in 2 weeks, not 3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572768" cy="5669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24h
WT: 108h
FE: 18%</a:t>
            </a:r>
          </a:p>
        </p:txBody>
      </p:sp>
      <p:sp>
        <p:nvSpPr>
          <p:cNvPr id="9" name="Rectangle 8"/>
          <p:cNvSpPr/>
          <p:nvPr/>
        </p:nvSpPr>
        <p:spPr>
          <a:xfrm>
            <a:off x="1837943" y="1051560"/>
            <a:ext cx="1572768" cy="5669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3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Design &amp;
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7943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3663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31h
WT: 176h
FE: 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1051560"/>
            <a:ext cx="157276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7288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62h
WT: 48h
FE: 56%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6632" y="1051560"/>
            <a:ext cx="1572768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Code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6632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2352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16h
WT: 32h
FE: 33%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5976" y="1051560"/>
            <a:ext cx="1572768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Cont. 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65976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31h
WT: 240h
FE: 11%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051560"/>
            <a:ext cx="1572768" cy="5669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Deploy Prep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8h
WT: 88h
FE: 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84664" y="1051560"/>
            <a:ext cx="1572768" cy="5669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1051560"/>
            <a:ext cx="15727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Release &amp;
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4664" y="1618488"/>
            <a:ext cx="1572768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0384" y="1645920"/>
            <a:ext cx="14813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PT: 6h
WT: 32h
FE: 16%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423160"/>
            <a:ext cx="11521440" cy="457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5146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D5E"/>
                </a:solidFill>
                <a:latin typeface="Calibri"/>
              </a:rPr>
              <a:t>TOTAL LEAD TIME: 42 DAYS  |  FLOW EFFICIENCY: 17.8%  |  PROCESS TIME: 178h  |  WAIT TIME: 724h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290779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■ RED phases (FE &lt; 15%) = critical waste zones   ■ Source: 2,847 Jira tickets, Team Phoenix, Jan–Dec 2024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3273552"/>
            <a:ext cx="12188952" cy="329184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3101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BOTTLENECK IMPACT BY DIMENSION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630168"/>
            <a:ext cx="3794760" cy="3657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63016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0507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Manual SIT/UAT: 240h wait per feature = 30 days additional 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416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Architecture Review Gate: 176h wait = 22 days per feature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Combined: 48% of total lead time is two bottlenecks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4" y="3630168"/>
            <a:ext cx="3794760" cy="3657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15384" y="363016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6824" y="40507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Dev teams blocked 30% of sprint time waiting for test environments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6824" y="4416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Peer review queue averages 4 days — bottleneck for 78% of tickets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6824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$2.1M/yr in engineering time sitting in queues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02168" y="3630168"/>
            <a:ext cx="3794760" cy="3657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2168" y="3630168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3608" y="405079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Testing phase FE = 11% — 89% of testing cycle is scheduling overhead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4416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Late defect discovery (Phase 5/6) costs 5–10× more than Phase 2 catch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3608" y="47823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Change failure rate 2.3× sector average due to compressed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5 Bottlenecks — Speed, Productivity &amp; Quality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Ranked by annual waste cost — with peer benchmark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78992"/>
            <a:ext cx="10972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24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Manual SIT / UAT (Phase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8A"/>
                </a:solidFill>
                <a:latin typeface="Calibri"/>
              </a:rPr>
              <a:t>Impact: Speed +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1704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170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240h WT/feature  |  $1.4M/yr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17043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Peer benchmark: 48h WT  |  Gap: 192h  |  Humana: 96% automated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39112"/>
            <a:ext cx="109728" cy="8046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84831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Architecture Review Gate (Phase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8A"/>
                </a:solidFill>
                <a:latin typeface="Calibri"/>
              </a:rPr>
              <a:t>Impact: Speed + Productivity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305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1305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176h WT/feature  |  $960K/yr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3055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Peer benchmark: 24h WT  |  Gap: 152h  |  JPMorgan: async review 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99232"/>
            <a:ext cx="109728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449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CAB Release Approval (Phase 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8A"/>
                </a:solidFill>
                <a:latin typeface="Calibri"/>
              </a:rPr>
              <a:t>Impact: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9067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7316"/>
                </a:solidFill>
                <a:latin typeface="Calibri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090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88h WT/feature  |  $480K/yr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09067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Peer benchmark: 8h WT  |  Gap: 80h  |  Citigroup: AI-gated approval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959352"/>
            <a:ext cx="109728" cy="8046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05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Peer Code Review Queue (Phase 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8A"/>
                </a:solidFill>
                <a:latin typeface="Calibri"/>
              </a:rPr>
              <a:t>Impact: Productivity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50791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7316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05079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32h WT/feature  |  $175K/yr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050791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Peer benchmark: 12h WT  |  Gap: 20h  |  Commonwealth Bank: AI reviewer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919472"/>
            <a:ext cx="109728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651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Test Environment Provisioning (Phase 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949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408A"/>
                </a:solidFill>
                <a:latin typeface="Calibri"/>
              </a:rPr>
              <a:t>Impact: Productivity +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01091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5010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24h WT/feature  |  $130K/yr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010912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408A"/>
                </a:solidFill>
                <a:latin typeface="Calibri"/>
              </a:rPr>
              <a:t>Peer benchmark: 1h WT  |  Gap: 23h  |  ANZ: on-demand ephemeral envs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0350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Total identified waste:  $3.1M/yr  |  Fully recoverable with Options A–C below  |  Partial recovery in 90 days with Quick Wins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Phase 2: Design — Three AI Transformation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Choose the pathway that matches your risk appetite, investment capacity, and transformation ambition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959352" cy="47548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18288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74320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AI-AUGMENTED PDLC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75488"/>
            <a:ext cx="3959352" cy="5715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56692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copilots embedded in each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" y="10789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Engineers use AI tools — humans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" y="159105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No process redesign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" y="210312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Adoption in 30–60 days per 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261518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$300K–$600K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" y="31272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Effort reduction: 15–25% per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" y="363931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DORA band improvement: +0.5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" y="415137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Good for: risk-averse orgs, regulated teams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190488"/>
            <a:ext cx="3959352" cy="66751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" y="6217920"/>
            <a:ext cx="3776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Speed +25% · Productivity +20% · Quality +15%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0"/>
            <a:ext cx="3959352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18288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B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274320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AI AGENTS + HUMAN GATES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475488"/>
            <a:ext cx="3959352" cy="5715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56692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agents execute tasks; humans 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8" y="10789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Decision gates at phase transitions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7368" y="159105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40–60% effort reduction possible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87368" y="210312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3–6 month process redesign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8" y="261518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$1.2M–$2.0M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7368" y="31272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ROI: 4–6×  |  Payback: 10–14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363931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DORA band improvement: +1.0–1.5 levels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415137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Good for: growth-focused, mid-risk orgs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6190488"/>
            <a:ext cx="3959352" cy="6675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79" y="6217920"/>
            <a:ext cx="3776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Speed +55% · Productivity +50% · Quality +35%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0"/>
            <a:ext cx="3959352" cy="47548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18288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74320"/>
            <a:ext cx="3959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FULLY AGENTIC PDLC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475488"/>
            <a:ext cx="3959352" cy="5715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7" y="56692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agents run PDLC end-to-end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7" y="107899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Humans set objectives; review exceptions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7" y="159105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70–80% effort reduction achieved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7" y="2103120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Full operating model transformation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7" y="2615184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Investment: $3M–$5M over 18 months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7" y="3127248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ROI: 8–12×  |  Payback: 14–20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7" y="3639312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DORA band improvement: +2.0 levels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7" y="4151376"/>
            <a:ext cx="37398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Good for: digital leaders, greenfield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6190488"/>
            <a:ext cx="3959352" cy="6675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6217920"/>
            <a:ext cx="3776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Speed +75% · Productivity +75% · Quality +60%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656539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★ Option B is recommended for most Financial Services organisations — optimal risk-adjusted ROI, achievable within 12 months, board-approvable investment.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Option A: AI-Augmented PDLC — Human in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 enhances every engineer's capability without changing how your PDLC is governed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Engineers use AI tools at every phase. Every decision stays with a human. No process redesign — just better tools doing more of the heavy lifting.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1170432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requirement quality scorer + gap analyser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24h → 18h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$280K/yr saved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76272"/>
            <a:ext cx="11704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4942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Design &amp; 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494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architecture review assistant + risk flagging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494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176h → 90h 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2494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$520K/yr saved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779776"/>
            <a:ext cx="1170432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852928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852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code copilot (GitHub Copilot / Cursor)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8529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62h → 46h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52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$350K/yr saved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383280"/>
            <a:ext cx="11704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564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4564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AI-assisted review: auto-flags issues before peer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456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32h → 18h WT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3456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$175K/yr saved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986784"/>
            <a:ext cx="1170432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05993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Continuous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0599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test generation + prioritised test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0599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240h → 160h 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0599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$480K/yr saved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590288"/>
            <a:ext cx="11704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Deployment Prep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release note generator + risk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663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88h → 60h WT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$168K/yr saved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193792"/>
            <a:ext cx="11704320" cy="5669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2669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Release &amp; 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26694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incident correlator + run-book auto-generator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2669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408A"/>
                </a:solidFill>
                <a:latin typeface="Calibri"/>
              </a:rPr>
              <a:t>32h → 18h WT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52669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F2D5E"/>
                </a:solidFill>
                <a:latin typeface="Calibri"/>
              </a:rPr>
              <a:t>$84K/yr saved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A Business Case:   Investment $350–600K   |   Annual Benefit $2.1M   |   ROI 2.5–3×   |   Payback 6–9 months   |   Risk: 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Option B: AI Agents with Human Gates — Human on the Loop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 executes tasks; engineered approval gates keep humans accountable — without slowing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AI agents handle the work. Humans set the standards, define the gates, and approve exceptions. The pipeline moves at AI speed — with human judgement at every critical decision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1170432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6420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Requirements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6420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Auto-generates acceptance criteria, user stories, and DoD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66420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Product Owner approves before dev starts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86000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3774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Architecture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377440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Automated risk scoring + dependency mapping + ADR draft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37744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Architect reviews flag list (not full doc)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99232"/>
            <a:ext cx="1170432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09067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Development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090672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AI writes boilerplate; human engineers own logic +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090672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Code review of AI-generated sections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712463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803903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QA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803903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AI generates and runs full regression suite; raises defects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803903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Engineer validates Critical/High defects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425696"/>
            <a:ext cx="11704320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17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Release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517136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AI assembles release package + change record + rollback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451713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Change Manager approves risk score &gt; 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138928"/>
            <a:ext cx="117043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23036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Ops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5230368"/>
            <a:ext cx="4754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AI monitors, correlates incidents, auto-remediates known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23036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Human gate: SRE reviews auto-remediation above P2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B Business Case:   Investment $1.2–2.0M   |   Annual Benefit $5.5M   |   ROI 4.2×   |   Payback 10–14 months   |   5-Year NPV $31.2M   |   Risk: MEDIUM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Option C: Fully Agentic PDLC — Human Above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Humans set strategy and define standards. AI agents own execution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The fully agentic PDLC is not about removing humans — it's about repositioning them. Humans become product strategists, quality standard setters, and exception adjudicators. AI agents do everything else.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27632"/>
            <a:ext cx="1170432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8249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HUMAN ROLE: Set objectives  |  Define quality standards  |  Adjudicate exceptions  |  Approve strategic decisions  |  Monitor via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Discovery
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Reads market, user research, competitor data
→ Auto-generates PRDs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2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21992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Design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Architecture options + trade-off analysis
→ Selects optimal pattern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5384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4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Development
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Writes, reviews, and merges code
→ Human owns product logic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QA
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Full test generation + execution + defect triage
→ Zero manual regression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02168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Release
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Assembles, risk-scores, schedules, deploys
→ Human approves P1 changes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60" y="2221992"/>
            <a:ext cx="18288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95560" y="2221992"/>
            <a:ext cx="1828800" cy="3840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22219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Ops
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68712" y="2651760"/>
            <a:ext cx="16916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24/7 monitoring, auto-remediation, post-incident
→ Human reviews weekly digest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749039"/>
            <a:ext cx="11704320" cy="3200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7764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OUTCOMES — OPTION 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75–80%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 Reduction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 → 1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1992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Average Lead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5384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15384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85–90%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15384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$8–12M/yr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Annual Benefit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02168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2168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8–12×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ROI Multiple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95560" y="4114800"/>
            <a:ext cx="182880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417880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2.0 bands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DORA Improvement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5212080"/>
            <a:ext cx="1170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Prerequisite: Organisations pursuing Option C should have completed Option B or equivalent — agentic PDLC requires mature CI/CD, test automation ≥70%, and strong engineering governance.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5733288"/>
            <a:ext cx="12188952" cy="11247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779008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 C Business Case:   Investment $3.0–5.0M   |   Annual Benefit $18–30M   |   ROI 8–12×   |   Payback 14–20 months   |   5-Year NPV $80–130M   |   Risk: MEDIUM-HIGH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Business Case Comparison — Three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Conservative to optimistic scenarios — same data, different transformation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All three options are modelled on your actual ALM data and DORA scores. Option B is recommended for most organisations — best risk-adjusted return.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36192"/>
            <a:ext cx="2834640" cy="5669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3619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536192"/>
            <a:ext cx="2834640" cy="5669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153619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A
AI-Augmented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536192"/>
            <a:ext cx="2834640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53619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B ★
Agents + Gates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98864" y="1536192"/>
            <a:ext cx="2834640" cy="5669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8864" y="153619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OPTION C
Fully Agentic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148840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854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2148840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21854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$350–600K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2148840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1854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$1.2–2.0M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2148840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21854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$3.0–5.0M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532888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5694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Annual Benefit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2532888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0128" y="25694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$2.1M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2532888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25694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$5.5M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2532888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0304" y="256946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$18–30M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916936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53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ROI Multiple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2916936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0128" y="2953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2.5–3×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2916936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2953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4–6×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98864" y="2916936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29535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8–12×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300984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3375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Payback Period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8688" y="3300984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0128" y="33375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6–9 months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08776" y="3300984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33375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10–14 months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98864" y="3300984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90304" y="333756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14–20 months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685032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721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5-Year NPV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18688" y="3685032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10128" y="3721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$9–11M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3685032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0216" y="3721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$28–35M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98864" y="3685032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0304" y="372160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$80–130M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069080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105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Lead Time Reduction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18688" y="4069080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10128" y="4105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25–35%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08776" y="4069080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0216" y="4105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55–70%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98864" y="4069080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0304" y="410565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75–85%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453128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" y="44897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Flow Efficiency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18688" y="4453128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10128" y="44897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18% → 30%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08776" y="4453128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0216" y="44897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18% → 55%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98864" y="4453128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90304" y="44897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18% → 85%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837176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4873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DORA Improvement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18688" y="4837176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10128" y="4873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+0.5 bands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08776" y="4837176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00216" y="4873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+1.0–1.5 bands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98864" y="4837176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90304" y="487375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+2.0 bands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5221224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Risk Level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18688" y="5221224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0128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08776" y="5221224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0216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MEDIUM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98864" y="5221224"/>
            <a:ext cx="283464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90304" y="52578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MEDIUM–HIGH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5605272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5641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Timeline to Full ROI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18688" y="5605272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10128" y="5641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408A"/>
                </a:solidFill>
                <a:latin typeface="Calibri"/>
              </a:rPr>
              <a:t>6–9 months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08776" y="5605272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0216" y="5641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563EB"/>
                </a:solidFill>
                <a:latin typeface="Calibri"/>
              </a:rPr>
              <a:t>12–18 months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98864" y="5605272"/>
            <a:ext cx="2834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90304" y="564184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24–36 months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6181344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★ Option B Recommendation: $1.2–2.0M investment recovers $5.5M/yr — 4.2× ROI. Board-approvable in most FS organisations. Achievable within 12 months. Platform-accelerated design and tracking included.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Implementation Playbook — Option B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Week-by-week programme from business case approval to first Quick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The playbook is generated by AI, grounded in your VSM data, and tracked live in the platform. Every action item has a named owner, effort estimate, and expected LT/FE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536192"/>
            <a:ext cx="3703320" cy="6858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554480"/>
            <a:ext cx="34472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QUICK WINS
0–90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93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3C5FD"/>
                </a:solidFill>
                <a:latin typeface="Calibri"/>
              </a:rPr>
              <a:t>$350K investment → $1.4M/yr benefit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221992"/>
            <a:ext cx="3703320" cy="3429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304288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Deploy AI UAT Agent — eliminate 192h/feature testing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834640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Implement AI Architecture Review Board — reduce 152h gate to 24h async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364991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AI Release Risk Classifier — CAB approval automated for 85% of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3895344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First VSM re-run: validate 10-day lead time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4425696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Expected: LT 42 → 32 days, FE 17% → 28%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14215" y="1536192"/>
            <a:ext cx="3703320" cy="6858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1" y="1554480"/>
            <a:ext cx="34472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MEDIUM-TERM
3–6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1993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3C5FD"/>
                </a:solidFill>
                <a:latin typeface="Calibri"/>
              </a:rPr>
              <a:t>$600K investment → $2.1M/yr incremental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4215" y="2221992"/>
            <a:ext cx="3703320" cy="3429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2304288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AI Development Agents — code review automation for boilerplate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834640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Requirements Agent — auto-generate acceptance criteria from PRDs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364991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Ops Agent — 24/7 monitoring + auto-remediation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895344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Process redesign: define human gates at phase boundaries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425696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Expected: LT 32 → 18 days, FE 28% → 45%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1536192"/>
            <a:ext cx="37033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1554480"/>
            <a:ext cx="344728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STRATEGIC
6–12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1993392"/>
            <a:ext cx="34472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3C5FD"/>
                </a:solidFill>
                <a:latin typeface="Calibri"/>
              </a:rPr>
              <a:t>$1.0M investment → $2.0M/yr incremental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7264" y="2221992"/>
            <a:ext cx="3703320" cy="3429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2304288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Full agent orchestration across all 7 PDLC phases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834640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Human gate governance model: defined approval thresholds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3364991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DORA maturity: WALK → RUN (score 2.1 → 3.5)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895344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Benefits realisation review vs. business case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4425696"/>
            <a:ext cx="34107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• Expected: LT 18 → 8 days, FE 45% → 61%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742432"/>
            <a:ext cx="12188952" cy="111556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779008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 playbook with week-by-week actions, owners, and expected metrics is generated automatically by the STUMP from your Jira data. No generic templates — every action is grounded in your actual bottleneck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New Engineering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 doesn't augment how engineers work — it restructures what engineering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3657600" cy="47548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Current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27048"/>
            <a:ext cx="3657600" cy="3931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Humans write code, AI assists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Sprints plan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44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Jira tracks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027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PR reviews gate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611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QA teams verify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1051560"/>
            <a:ext cx="3657600" cy="47548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10515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Transition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1527048"/>
            <a:ext cx="3657600" cy="3931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62763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copilots → AI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286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Batched sprints → continuous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2944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Tickets → spec-driven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36027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Manual review → AI-first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42611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Manual QA → AI-assisted validation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1051560"/>
            <a:ext cx="365760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10515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AI-Native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6136" y="1527048"/>
            <a:ext cx="3657600" cy="3931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3296" y="162763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writes code, humans direct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22860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Continuous autonomous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29443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Specs trigger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36027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self-reviews with human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42611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validates, humans audit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596128"/>
            <a:ext cx="1218895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6692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This is not a tool upgrade. It is an operating model transformation.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User Stories to Machine-Readable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The way requirements are defined must change for AI-driven pipelines to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3657600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07899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1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33502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User Stories in Jira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00200"/>
            <a:ext cx="3657600" cy="3931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007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Product Owners write user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865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Acceptance criteria informal or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0723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has no structured input to act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581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Stories interpreted differently by each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3" y="29260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051560"/>
            <a:ext cx="365760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107899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2 (Transition)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7096" y="133502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Structured Specs + Jira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87368" y="1600200"/>
            <a:ext cx="3657600" cy="39319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7007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User stories supplemented with structured spec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23865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Acceptance criteria formalised in machine-readable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0723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Jira becomes a hybrid — tickets + spec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37581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can consume spec fields to assist code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92608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6136" y="1051560"/>
            <a:ext cx="365760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863" y="1078992"/>
            <a:ext cx="3438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3 (AI-Native)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3" y="1335024"/>
            <a:ext cx="34381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DBFE"/>
                </a:solidFill>
                <a:latin typeface="Calibri"/>
              </a:rPr>
              <a:t>Spec-Driven Development in Git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6136" y="1600200"/>
            <a:ext cx="3657600" cy="3931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3296" y="17007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Specs define intent, constraints, and acceptance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23865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AI generates code, tests, and docs from specs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30723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Pipeline triggers directly from spec commits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3296" y="375818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Human reviews intent, not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596128"/>
            <a:ext cx="1218895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6692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Key insight: Specs define intent, constraints, and acceptance criteria in machine-readable format — enabling AI to generate code, tests, and documentation autonomously.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Tooling Evolution — What Stays,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Not all current tools survive the transition to autonomous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2286000" cy="4389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078992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Tool /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051560"/>
            <a:ext cx="2743200" cy="43891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2" y="1078992"/>
            <a:ext cx="25968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Current 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051560"/>
            <a:ext cx="320040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1078992"/>
            <a:ext cx="3054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AI-Native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051560"/>
            <a:ext cx="2194560" cy="4389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078992"/>
            <a:ext cx="20482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536192"/>
            <a:ext cx="22860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160934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Jira / 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536192"/>
            <a:ext cx="27432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1609344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Ticket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536192"/>
            <a:ext cx="32004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160934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Intent registry or replaced by Git specs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1536192"/>
            <a:ext cx="219456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1609344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8A"/>
                </a:solidFill>
                <a:latin typeface="Calibri"/>
              </a:rPr>
              <a:t>Evolves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066543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2139696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Git / GitHub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2066543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2" y="2139696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Code repository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2066543"/>
            <a:ext cx="3200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0952" y="2139696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Source of truth: specs + code +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2066543"/>
            <a:ext cx="21945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2139696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596896"/>
            <a:ext cx="22860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2670048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CI/CD Pipelines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2596896"/>
            <a:ext cx="27432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7752" y="2670048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Build +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596896"/>
            <a:ext cx="32004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0952" y="2670048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Spec-triggered autonomous 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200" y="2596896"/>
            <a:ext cx="219456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2670048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Stays + Expands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127248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" y="3200400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Sprint Planning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3127248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87752" y="3200400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Work allocation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3127248"/>
            <a:ext cx="3200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0952" y="320040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Exception handling + goal setting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3127248"/>
            <a:ext cx="21945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3200400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8A"/>
                </a:solidFill>
                <a:latin typeface="Calibri"/>
              </a:rPr>
              <a:t>Transforms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657600"/>
            <a:ext cx="22860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" y="3730752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Code Review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3657600"/>
            <a:ext cx="27432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87752" y="3730752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Quality gate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3657600"/>
            <a:ext cx="32004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0952" y="3730752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AI-first + human exception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3657600"/>
            <a:ext cx="219456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31352" y="3730752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8A"/>
                </a:solidFill>
                <a:latin typeface="Calibri"/>
              </a:rPr>
              <a:t>Transforms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187952"/>
            <a:ext cx="22860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" y="4261104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Test Automation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4187952"/>
            <a:ext cx="27432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87752" y="4261104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Coverage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4187952"/>
            <a:ext cx="320040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952" y="4261104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AI-generated full regression suite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4187952"/>
            <a:ext cx="219456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31352" y="4261104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Stays + Expands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718303"/>
            <a:ext cx="22860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" y="4791455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D5E"/>
                </a:solidFill>
                <a:latin typeface="Calibri"/>
              </a:rPr>
              <a:t>Architecture Docs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14600" y="4718303"/>
            <a:ext cx="27432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87752" y="4791455"/>
            <a:ext cx="2596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Static documentation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718303"/>
            <a:ext cx="320040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30952" y="4791455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Living AI-maintained specs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200" y="4718303"/>
            <a:ext cx="2194560" cy="493776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31352" y="4791455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408A"/>
                </a:solidFill>
                <a:latin typeface="Calibri"/>
              </a:rPr>
              <a:t>Transforms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053328"/>
            <a:ext cx="1218895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12648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shift is from human-operated toolchains to AI-orchestrated delivery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 Sprints Still Make Sense?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Agile was designed for human teams. Autonomous delivery needs a different rhythm.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5669280" cy="38404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881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Agile Was Designed This 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5156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881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Changes With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Human coordination required explicit synchronisation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 doesn't need coordination ceremonies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984248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4825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Time-boxing created focus and forced prioritisation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84248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04825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Delivery becomes continuous — not batched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459736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523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Ceremonies aligned distributed teams on goals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59736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523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Human role shifts to goal-setting and exception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935224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2-week cadence matched human cognitive load and planning horizon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935224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Cadence becomes event-driven, not calendar-driven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410712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Retrospectives enabled continuous learning for human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410712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 learns continuously — retrospectives become automated telemetry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50208"/>
            <a:ext cx="11704320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98678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REPLACES SPRINTS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343400"/>
            <a:ext cx="2834640" cy="9144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4074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Outcome-based goals
(quarterly)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4343400"/>
            <a:ext cx="28346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4074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Continuous autonomous
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27064" y="4343400"/>
            <a:ext cx="2834640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3" y="44074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Exception-triggered
human reviews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26296" y="4343400"/>
            <a:ext cx="2834640" cy="9144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4407408"/>
            <a:ext cx="2651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Weekly strategic steering
(not planning)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394960"/>
            <a:ext cx="12188952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458968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SAFe / PI Planning evolves to Transformation Portfolio Reviews — quarterly, outcome-focused, AI-progress reviewed by senior leaders rather than planning teams.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Real Challenge: From 3 Teams to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 success in isolated teams is not the same as enterprise-wide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17043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011680" cy="10972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99031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12471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Challenge: Teams build own agents and templates in isolation — no shared standards.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1848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D5E"/>
                </a:solidFill>
                <a:latin typeface="Calibri"/>
              </a:rPr>
              <a:t>Solution: Centralised AI agent catalogue. Shared guardrail framework. Enterprise-wide prompt governance.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1161288"/>
            <a:ext cx="4754880" cy="87782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1216151"/>
            <a:ext cx="45171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2D5E"/>
                </a:solidFill>
                <a:latin typeface="Calibri"/>
              </a:rPr>
              <a:t>Centralised AI agent catalogue. Shared guardrail framework. Enterprise-wide prompt governance.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240280"/>
            <a:ext cx="11704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240280"/>
            <a:ext cx="2011680" cy="109728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8775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31343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Challenge: Each team defines its own AI rules — leading to conflicting policies and unmanaged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80720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D5E"/>
                </a:solidFill>
                <a:latin typeface="Calibri"/>
              </a:rPr>
              <a:t>Solution: Enterprise AI policy layer, configurable per team. Immutable audit log across all 30+ teams.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350008"/>
            <a:ext cx="4754880" cy="87782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404872"/>
            <a:ext cx="45171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2D5E"/>
                </a:solidFill>
                <a:latin typeface="Calibri"/>
              </a:rPr>
              <a:t>Enterprise AI policy layer, configurable per team. Immutable audit log across all 30+ teams.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429000"/>
            <a:ext cx="117043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429000"/>
            <a:ext cx="201168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77647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50215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Challenge: AI capability concentrated in a few engineers — the rest are locked out or left behind.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99592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D5E"/>
                </a:solidFill>
                <a:latin typeface="Calibri"/>
              </a:rPr>
              <a:t>Solution: AI literacy programme for all engineers. Citizen-developer enablement. No-code agent builder.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3538728"/>
            <a:ext cx="4754880" cy="87782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3593592"/>
            <a:ext cx="45171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2D5E"/>
                </a:solidFill>
                <a:latin typeface="Calibri"/>
              </a:rPr>
              <a:t>AI literacy programme for all engineers. Citizen-developer enablement. No-code agent builder.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617720"/>
            <a:ext cx="11704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617720"/>
            <a:ext cx="2011680" cy="109728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965192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Measurement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469087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Calibri"/>
              </a:rPr>
              <a:t>Challenge: No common baseline across teams — impossible to compare progress or aggregate ROI.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18464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D5E"/>
                </a:solidFill>
                <a:latin typeface="Calibri"/>
              </a:rPr>
              <a:t>Solution: Portfolio-level VSM. DORA metrics aggregated across all 30+ teams. Single executive dashboard.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4727448"/>
            <a:ext cx="4754880" cy="877824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4782312"/>
            <a:ext cx="45171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F2D5E"/>
                </a:solidFill>
                <a:latin typeface="Calibri"/>
              </a:rPr>
              <a:t>Portfolio-level VSM. DORA metrics aggregated across all 30+ teams. Single executive dashboard.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870448"/>
            <a:ext cx="12188952" cy="8046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94360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Standardisation without stifling. Governance without bureaucracy.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Autonomous Code. Accountable Humans.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Fully autonomous, unchecked code is not acceptable — especially in regulated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1704320" cy="1051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828800" cy="10515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Code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124712"/>
            <a:ext cx="5669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AI writes, AI reviews (static analysis + semantic). Human reviews flagged risk items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1143000"/>
            <a:ext cx="3749039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1234439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F2D5E"/>
                </a:solidFill>
                <a:latin typeface="Calibri"/>
              </a:rPr>
              <a:t>Gate: Human gate: approves before merge when risk score &gt;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94560"/>
            <a:ext cx="11704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194560"/>
            <a:ext cx="1828800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51460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QA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2267712"/>
            <a:ext cx="5669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AI generates full regression suite, runs on every commit, AI triages failures. Human reviews P1/P2 defects.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2286000"/>
            <a:ext cx="3749039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377440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F2D5E"/>
                </a:solidFill>
                <a:latin typeface="Calibri"/>
              </a:rPr>
              <a:t>Gate: Gate: zero P1s before production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337560"/>
            <a:ext cx="11704320" cy="10515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337560"/>
            <a:ext cx="1828800" cy="10515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65760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 Standards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410712"/>
            <a:ext cx="5669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AI checks every PR against Architecture Decision Records (ADRs). Violations flagged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3429000"/>
            <a:ext cx="3749039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3520440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F2D5E"/>
                </a:solidFill>
                <a:latin typeface="Calibri"/>
              </a:rPr>
              <a:t>Gate: Architect reviews violations only — not every PR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80560"/>
            <a:ext cx="11704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4480560"/>
            <a:ext cx="1828800" cy="10515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060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Human Accountability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4553712"/>
            <a:ext cx="56692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Named human owner per AI agent. Full audit trail. Override capability always 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4572000"/>
            <a:ext cx="3749039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663440"/>
            <a:ext cx="35478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0F2D5E"/>
                </a:solidFill>
                <a:latin typeface="Calibri"/>
              </a:rPr>
              <a:t>Gate: Board-reportable governance artefacts produced automatically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687568"/>
            <a:ext cx="12188952" cy="98755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Option B's gate model is designed to meet FSI audit requirements. Every AI action is logged, traceable, and reversible.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Legacy Question: You Can't Ignore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Most organisations have 10–20 years of code that cannot be rewritten. AI must work with what exists.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117043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737360" cy="10241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441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Inventory &amp;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1161288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Knowledge Graph readiness assessment per application — measuring coupling, testability, API surface area, and documentation quality. Produces a modernisation-readiness score for every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167128"/>
            <a:ext cx="117043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2167128"/>
            <a:ext cx="1737360" cy="10241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4597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2276856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Replatform (cloud-ready, minimal change)  |  Reengineer (modernise for AI pipeline compatibility)  |  Decompose (strangler-fig into microservices)  |  Maintain (stable, low-value, AI-assisted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282696"/>
            <a:ext cx="117043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282696"/>
            <a:ext cx="1737360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575303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Prioritise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1" y="3392424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Start with highest-value, lowest-coupling applications — quick AI wins without legacy risk. Avoid the temptation to start with the biggest, most complex system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398264"/>
            <a:ext cx="117043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398264"/>
            <a:ext cx="1737360" cy="102412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6908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Progressively Modernise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4507992"/>
            <a:ext cx="9692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AI-assisted reverse engineering generates specs from existing code. New features added via spec-driven development. Old code progressively replaced — one service, one module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541264"/>
            <a:ext cx="12188952" cy="8046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614416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goal is not to rewrite legacy. It is to make it AI-compatible — one service, one module at a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Industry Precedents — What Large-Scale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AI-driven engineering at scale is not theoretical — it is happening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408A"/>
                </a:solidFill>
                <a:latin typeface="Calibri"/>
              </a:rPr>
              <a:t>The following examples illustrate how large organisations are approaching AI-native engineering transformation — and what they are learning.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11704320" cy="960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1645920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691639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Global Bank (10,000+ Engineers)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15819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Deployed AI code generation across 200 teams. Lead time reduced 40%.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984248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293B"/>
                </a:solidFill>
                <a:latin typeface="Calibri"/>
              </a:rPr>
              <a:t>Key learning: Governance framework needed BEFORE rollout, not after. Teams without guardrails produced unreviewable code at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60320"/>
            <a:ext cx="11704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560320"/>
            <a:ext cx="1645920" cy="9601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743200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Tier-1 Insurance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6334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Spec-driven development piloted in 3 teams, now scaling to 40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3035808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293B"/>
                </a:solidFill>
                <a:latin typeface="Calibri"/>
              </a:rPr>
              <a:t>Key learning: Jira replaced by Git-based spec registry for AI-facing teams. Human stories retained for stakeholder communication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11879"/>
            <a:ext cx="11704320" cy="9601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611879"/>
            <a:ext cx="1645920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3794759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Payments Platform (FinTech)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68503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Fully autonomous testing pipeline. 94% test coverage with zero manual test writers.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4087368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293B"/>
                </a:solidFill>
                <a:latin typeface="Calibri"/>
              </a:rPr>
              <a:t>Key learning: QA team redeployed to exploratory and adversarial testing — higher-value work that AI cannot replicate.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663440"/>
            <a:ext cx="11704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663440"/>
            <a:ext cx="1645920" cy="9601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4846320"/>
            <a:ext cx="151790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Retail Bank (Australia)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47365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Legacy modernisation using AI reverse-engineering.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5138927"/>
            <a:ext cx="9692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E293B"/>
                </a:solidFill>
                <a:latin typeface="Calibri"/>
              </a:rPr>
              <a:t>Key learning: 40% of 15-year-old monolith decomposed into microservices in 12 months using AI-generated specs from existing code.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42432"/>
            <a:ext cx="12188952" cy="84124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15584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Pattern: Organisations that standardise FIRST, then automate, consistently outperform those that automate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More Outcomes. Same Investment.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How AI transforms the Risk Intelligence engineering function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5669280" cy="38404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881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Current State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51560"/>
            <a:ext cx="5669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8813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AI-Enabled State Outcomes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08760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Manual data pipeline maintenance consumes significant engineer capacity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08760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AI-maintained data pipelines — self-healing, self-documenting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984248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4825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High toil in compliance reporting — repeated, low-value manual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84248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04825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Automated compliance evidence generation — audit-ready continuously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459736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523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Slow feature delivery due to risk and compliance overhead at every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59736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25237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AI-first delivery with built-in regulatory gates — faster and safer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935224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QA bottlenecks on regulated code — each change requires manual sign-off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935224"/>
            <a:ext cx="56692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AI-generated test suites for regulated code — zero manual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410712"/>
            <a:ext cx="5669280" cy="4389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Talent cost pressure — scarce specialist engineers doing commodity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410712"/>
            <a:ext cx="5669280" cy="4389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Same outcomes with optimised team structure — specialists on high-value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05072"/>
            <a:ext cx="11704320" cy="3474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0416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THREE FINANCIAL LEVERS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407408"/>
            <a:ext cx="3749039" cy="9601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4462272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Capacity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4791456"/>
            <a:ext cx="3529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30–40% of engineer time currently spent on toil → redirected to value-add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407408"/>
            <a:ext cx="3749039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4462272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Velocity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0248" y="4791456"/>
            <a:ext cx="3529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2–4× throughput increase → more risk products shipped per quarter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4407408"/>
            <a:ext cx="3749039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4462272"/>
            <a:ext cx="3529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7" y="4791456"/>
            <a:ext cx="3529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AI-enforced standards → fewer production incidents, lower remediation cost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5504688"/>
            <a:ext cx="12188952" cy="8046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57784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The question is not whether to transform. It is whether to lead the transformation or respond to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STUMP — 21 Modules Across 7 Capability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Five new capabilities address the full transformation lifecycle: Legacy, Operations, Governance, AI Assurance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STUMP's 21-module platform covers every dimension of an AI-powered engineering transformation — from initial diagnosis through to continuous governance and legacy modernisation.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11704320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572768"/>
            <a:ext cx="2103120" cy="80467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556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Legacy Modernisation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4592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Knowledge Graph readiness scoring for all legacy applications. Per-system modernisation strategy: replatform, reengineer, or decompose. Integrated into transformation roadmap so brownfield complexity is never a transformation blocker.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18288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408A"/>
                </a:solidFill>
                <a:latin typeface="Calibri"/>
              </a:rPr>
              <a:t>Phase 1 Diagnose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441448"/>
            <a:ext cx="11704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441448"/>
            <a:ext cx="210312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624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Operations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AIOps maturity model (Reactive → Proactive → Predictive → Autonomous). Live operations metrics: MTTR, MTTD, auto-resolution rate, alert noise ratio. Phase 7 (Production &amp; Operations) deep-dive activities.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69748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408A"/>
                </a:solidFill>
                <a:latin typeface="Calibri"/>
              </a:rPr>
              <a:t>Phase 1 Diagnose / Phase 3 Deliver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310128"/>
            <a:ext cx="11704320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310128"/>
            <a:ext cx="210312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93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Transformation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38328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5-dimension readiness assessment (culture, process, technology, data, governance). Role evolution mapping — current → AI-augmented → autonomous for all 7 PDLC phases. Change management plan with effort/duration/headcount estimates.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566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408A"/>
                </a:solidFill>
                <a:latin typeface="Calibri"/>
              </a:rPr>
              <a:t>Phase 2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178807"/>
            <a:ext cx="11704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178807"/>
            <a:ext cx="2103120" cy="8046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3616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Governance &amp; 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51959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Agent accountability matrix (8 agents, named human owners, risk tiers). Configurable guardrail toggles by category (data privacy, PII, financial impact, regulatory). Immutable audit log. Responsible AI Scorecard.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44348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408A"/>
                </a:solidFill>
                <a:latin typeface="Calibri"/>
              </a:rPr>
              <a:t>Phase 2 Design / Phase 3 Deliver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047488"/>
            <a:ext cx="11704320" cy="80467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047488"/>
            <a:ext cx="2103120" cy="80467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2303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AI Assurance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12064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6-gate validation per agent output: hallucination detection, citation accuracy, bias monitoring, drift detection, output quality scoring, CI/CD gate integration. For FSI: artefact set maps to DORA Articles 28–44.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5303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408A"/>
                </a:solidFill>
                <a:latin typeface="Calibri"/>
              </a:rPr>
              <a:t>Phase 2 Design / Phase 3 Deliver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181344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These 5 modules address the #1 reasons AI transformation programmes fail: ungoverned autonomy, legacy lock-in, unprepared organisations, and unvalidated AI outputs.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the STUMP Transforms the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5× faster, AI-accurate, lower cost — the platform makes the consulting offering possible at this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Without the platform, this engagement looks like any other consulting project — expensive, slow, and gone when the consultants leave. The platform makes it permanent, continuous, and self-improving.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64208"/>
            <a:ext cx="117043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664208"/>
            <a:ext cx="1554480" cy="10241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7190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Traditional: Traditional: 3–6 months, $500K–$1M in consulting fees, manual spreadsheet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✓  Platform: With Platform: 2 weeks, included in pilot fee, AI-generated from your live ALM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5×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67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408A"/>
                </a:solidFill>
                <a:latin typeface="Calibri"/>
              </a:rPr>
              <a:t>vs. traditional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761488"/>
            <a:ext cx="117043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761488"/>
            <a:ext cx="1554480" cy="10241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017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OPTION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163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Traditional: Traditional: 4–8 weeks of workshops, 200-slide options paper, subjective ROI estimates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✓  Platform: With Platform: 3 weeks, AI models all 3 options against your actual data, auditable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5× faster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64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408A"/>
                </a:solidFill>
                <a:latin typeface="Calibri"/>
              </a:rPr>
              <a:t>vs. traditional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58768"/>
            <a:ext cx="11704320" cy="102412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858768"/>
            <a:ext cx="1554480" cy="10241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114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136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Traditional: Traditional: Consultants leave after readout; no live tracking; benefits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✓  Platform: With Platform: Always-on VSM dashboard; real-time FE and LT tracking; AI detects new bottlenecks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319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5×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61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408A"/>
                </a:solidFill>
                <a:latin typeface="Calibri"/>
              </a:rPr>
              <a:t>vs. traditional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956048"/>
            <a:ext cx="1170432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956048"/>
            <a:ext cx="1554480" cy="102412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212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BENEFITS REALISATION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0109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Traditional: Traditional: Annual review project, manual comparison to baseline, no continuous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2D5E"/>
                </a:solidFill>
                <a:latin typeface="Calibri"/>
              </a:rPr>
              <a:t>✓  Platform: With Platform: Automated monthly ROI report; board-ready from the platform in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29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563EB"/>
                </a:solidFill>
                <a:latin typeface="Calibri"/>
              </a:rPr>
              <a:t>5× faster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458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408A"/>
                </a:solidFill>
                <a:latin typeface="Calibri"/>
              </a:rPr>
              <a:t>vs. traditional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Proof of Concept — US Bank / Team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Financial Services  |  Option B engagement  |  8-week pilot → 12-month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Starting from the same 42-day lead time and 17.8% flow efficiency that your data currently shows.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828800" cy="132588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42 → 8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Lead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1554480"/>
            <a:ext cx="1828800" cy="132588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17.8% → 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1104" y="1554480"/>
            <a:ext cx="182880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1104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Platform Investment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554480"/>
            <a:ext cx="1828800" cy="13258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$8.4M/yr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Annual Benefits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554480"/>
            <a:ext cx="182880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4.2×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ROI (Option 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1554480"/>
            <a:ext cx="1828800" cy="132588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1609344"/>
            <a:ext cx="1828800" cy="68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243937"/>
            <a:ext cx="1828800" cy="60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017520"/>
            <a:ext cx="1325880" cy="4389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3072384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Weeks 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30723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Platform deployed on US Bank infra. ALM connector loaded 2,847 tickets. VSM generated in 6 minutes.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520439"/>
            <a:ext cx="1325880" cy="438912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575303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Weeks 3–4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357530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DORA assessment: 73 questions across 4 sources. Band: WALK (2.1/5.0). 5 bottlenecks identified.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023360"/>
            <a:ext cx="1325880" cy="43891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4078224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Weeks 5–6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4078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Option B selected. Business case approved by CFO. Quick Wins programme kicked off.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526280"/>
            <a:ext cx="1325880" cy="43891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4581144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Weeks 7–8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458114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 UAT Agent deployed. First month: testing queue reduced from 240h to 96h per feature.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029200"/>
            <a:ext cx="1325880" cy="438912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5084064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4208" y="50840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Architecture Review Agent live. LT: 42 → 28 days. Quick Win 2 (CAB AI) in deployment.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5532120"/>
            <a:ext cx="132588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5586983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Month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64208" y="558698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All Quick Wins complete. LT: 28 → 18 days. FE: 17.8% → 38%. Phase 2 agents starting.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6035040"/>
            <a:ext cx="132588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6089903"/>
            <a:ext cx="1271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Month 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64208" y="6089903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Full Option B complete. LT: 8 days. FE: 61%. ROI: 4.2×. Board presentation delivered.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Outcome-linked pricing — we share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Our engagement model is structured so that we only succeed when you succeed. The pilot is fixed-fee with a savings guarantee.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554480"/>
            <a:ext cx="182880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755648"/>
            <a:ext cx="17739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1
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554480"/>
            <a:ext cx="219456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1" y="1810512"/>
            <a:ext cx="21396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$150,000
(fixed fee)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554480"/>
            <a:ext cx="50292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27632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8-week engagement: VSM, DORA, Top 5 Bottlenecks, Business Case (3 options), Playbook, Executive Readout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554480"/>
            <a:ext cx="2633472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27632"/>
            <a:ext cx="24231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Guarantee: Full refund if we don't identify ≥ $500K annual savings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3035808"/>
            <a:ext cx="182880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3236976"/>
            <a:ext cx="17739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2
Quick Wins
Programme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035808"/>
            <a:ext cx="219456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1" y="3291840"/>
            <a:ext cx="21396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$300–600K
(fixed fee)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035808"/>
            <a:ext cx="50292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108960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90-day Quick Wins implementation: 3 AI agent deployments, process redesign, first ROI realisation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3035808"/>
            <a:ext cx="2633472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3108960"/>
            <a:ext cx="24231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Guarantee: Milestone-linked: 50% paid on delivery, 50% on measured LT reduction ≥ 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17136"/>
            <a:ext cx="182880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4718304"/>
            <a:ext cx="17739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Phase 3
Scale
Programme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4517136"/>
            <a:ext cx="219456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1" y="4773168"/>
            <a:ext cx="21396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$600K–1.4M
(outcome-linked)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4517136"/>
            <a:ext cx="502920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590288"/>
            <a:ext cx="4800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6–12 month programme: full Option B/C implementation, governance, training, benefits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4517136"/>
            <a:ext cx="2633472" cy="13716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4590288"/>
            <a:ext cx="24231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F2D5E"/>
                </a:solidFill>
                <a:latin typeface="Calibri"/>
              </a:rPr>
              <a:t>Guarantee: 30% of fee at-risk and tied to measured ROI vs. business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089904"/>
            <a:ext cx="12188952" cy="768096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126480"/>
            <a:ext cx="11430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Total Programme (Phase 1–3, Option B):  $1.2–2.2M investment  →  $5.5M annual benefit  →  4.2× ROI  →  14-month payback  →  $31.2M 5-year NPV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L1–L5 Interim Maturity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Prompting → orchestration · the legacy Options A / B / C map onto the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167128" cy="603504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133856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L1 · Assisted Prompting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00784"/>
            <a:ext cx="2167128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75564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8A"/>
                </a:solidFill>
                <a:latin typeface="Calibri"/>
              </a:rPr>
              <a:t>ML1 ·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48256"/>
            <a:ext cx="20208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E293B"/>
                </a:solidFill>
                <a:latin typeface="Calibri"/>
              </a:rPr>
              <a:t>AI via simple prompting in a few phases (mainly Dev &amp; Test). Humans do the work; AI suggests.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703320"/>
            <a:ext cx="2020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Agents: none
HITL: all outputs
Automation: ~20%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2167128" cy="329184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4599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pre-Option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4056" y="1097280"/>
            <a:ext cx="2167128" cy="603504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133856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L2 · Agent Co-pilots (assistive)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34056" y="1700784"/>
            <a:ext cx="2167128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175564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8A"/>
                </a:solidFill>
                <a:latin typeface="Calibri"/>
              </a:rPr>
              <a:t>ML2 ·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048256"/>
            <a:ext cx="20208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E293B"/>
                </a:solidFill>
                <a:latin typeface="Calibri"/>
              </a:rPr>
              <a:t>Assistive/companion agents across most phases; every output human-reviewed. Agents draft, humans approve.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3703320"/>
            <a:ext cx="2020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Agents: assistant
HITL: all outputs
Automation: ~40%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34056" y="4572000"/>
            <a:ext cx="2167128" cy="329184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4599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Option A — Human in the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097280"/>
            <a:ext cx="2167128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1133856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L3 · Supervised Independent 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0912" y="1700784"/>
            <a:ext cx="2167128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175564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8A"/>
                </a:solidFill>
                <a:latin typeface="Calibri"/>
              </a:rPr>
              <a:t>ML3 ·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2048256"/>
            <a:ext cx="20208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E293B"/>
                </a:solidFill>
                <a:latin typeface="Calibri"/>
              </a:rPr>
              <a:t>Agents act independently on standard cases and interact; humans review exceptions and quality gates.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3703320"/>
            <a:ext cx="2020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Agents: independent
HITL: exceptions
Automation: ~62%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0912" y="4572000"/>
            <a:ext cx="216712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4599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Option B (lower) — Human on the Loop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87768" y="1097280"/>
            <a:ext cx="2167128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2" y="1133856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L4 · Orchestrated Agents (oversight)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7768" y="1700784"/>
            <a:ext cx="2167128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175564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8A"/>
                </a:solidFill>
                <a:latin typeface="Calibri"/>
              </a:rPr>
              <a:t>ML4 · Transformation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048256"/>
            <a:ext cx="20208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E293B"/>
                </a:solidFill>
                <a:latin typeface="Calibri"/>
              </a:rPr>
              <a:t>Most phases agent-run with multi-agent orchestration end-to-end; humans govern and handle escalations.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703320"/>
            <a:ext cx="2020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Agents: orchestrated
HITL: gates
Automation: ~78%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87768" y="4572000"/>
            <a:ext cx="2167128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2" y="4599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Option B (upper) — Human on the Loop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1097280"/>
            <a:ext cx="2167128" cy="603504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9488" y="1133856"/>
            <a:ext cx="2057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L5 · Autonomous ADLC (North Star)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64624" y="1700784"/>
            <a:ext cx="2167128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37776" y="1755648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408A"/>
                </a:solidFill>
                <a:latin typeface="Calibri"/>
              </a:rPr>
              <a:t>ML5 · Reinvention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7776" y="2048256"/>
            <a:ext cx="20208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E293B"/>
                </a:solidFill>
                <a:latin typeface="Calibri"/>
              </a:rPr>
              <a:t>Fully orchestrated agents across the SDLC/PDLC. Only humans: Product Definer, Product Builder, Architect (incl. risk).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7776" y="3703320"/>
            <a:ext cx="2020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Agents: orchestrated
HITL: strategic
Automation: ~90%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64624" y="4572000"/>
            <a:ext cx="2167128" cy="329184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9488" y="4599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Option C — Human Above the Loop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212080"/>
            <a:ext cx="12188952" cy="10058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035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Current state is auto-derived from your VSM (e.g. L0–L1). You choose the North-Star level (often L4–L5) and how to get there — in one move, or via 1–2 interim steps sized to your maturity and risk appetite.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Target State Studio — Define It, Then Choose How to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North-Star + delivery platform → auto-generated interim roadmap, operating model &amp;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E408A"/>
                </a:solidFill>
                <a:latin typeface="Calibri"/>
              </a:rPr>
              <a:t>Pick the delivery platform for your target ADLC. Home-grown is the US Bank target baseline; COTS and service-provider options overlay their own agents, tooling, economics and timeline.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745992" cy="4572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2821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Home-grown / Custom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3072" y="174650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Home-grown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US Bank target baseline — full control, no vendor lock-in; build agents in-house (LangGraph + Azure OpenAI).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9864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Max control &amp; best unit economics at scale; no lock-in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8269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Largest in-house platform team; slowest to value; scarce LLMOps talent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1480" y="1691640"/>
            <a:ext cx="374599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920" y="172821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BMAD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8792" y="174650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COTS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1480" y="214884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920" y="220370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Open-source agentic methodology — bring your own LLM, lowest licence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2920" y="289864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No licence; LLM-agnostic; pre-curated agent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2920" y="328269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Framework only; smaller community; compliance evidence not bundled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200" y="1691640"/>
            <a:ext cx="374599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640" y="172821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GitHub Copilot Workspace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4512" y="174650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COTS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7200" y="214884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8640" y="220370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Vendor-managed agentic workspace inside the IDE/GitHub flow — fastest setup.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640" y="289864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Lowest internal capability needed; frontier models bundled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328269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Per-seat cost scales; data exposure review; weaker on non-dev phases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31920"/>
            <a:ext cx="374599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96849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Devin (Cognition)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3072" y="39867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COTS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8912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4398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Autonomous SWE agent — assign tickets; plans, codes, tests, opens PRs.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3892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Fastest dev-phase autonomy; parallel sessions scale throughput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2297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Dev/test-skewed; needs supervision on ambiguous work; per-seat cost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1480" y="3931920"/>
            <a:ext cx="3745992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2920" y="396849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Cursor (Anysphere)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8792" y="39867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COTS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1480" y="438912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2920" y="444398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AI-native IDE + background agents — high developer adoption.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2920" y="513892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Highest dev adoption; strong multi-file edits; low switching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2920" y="552297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Assistive by default; limited non-dev coverage; per-seat cost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77200" y="3931920"/>
            <a:ext cx="3745992" cy="4572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8640" y="3968496"/>
            <a:ext cx="319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Cognizant Flowsource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4512" y="3986784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Service provider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77200" y="4389120"/>
            <a:ext cx="3745992" cy="1645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8640" y="4443984"/>
            <a:ext cx="356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AI-led SDLC platform — pre-integrated toolchain, accelerators and managed delivery agents.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8640" y="5138928"/>
            <a:ext cx="356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563EB"/>
                </a:solidFill>
                <a:latin typeface="Calibri"/>
              </a:rPr>
              <a:t>+ Fastest broad coverage; managed delivery; built-in governance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640" y="5522976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408A"/>
                </a:solidFill>
                <a:latin typeface="Calibri"/>
              </a:rPr>
              <a:t>– Highest partner dependency; customisation within guardrails; recurring fee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Business Case — DORA J-Curve ROI (cost-only)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Investment → tuition-cost dip → breakeven → compounding savings. Excludes feature revenue.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74320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Hard costs up front: licences + agent/token usage + enablement/training + AI infrastructure.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28600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143000"/>
            <a:ext cx="274320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18872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J-Curve dip (tuition cost)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164592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171907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Early sprints carry a productivity dip — the learning curve + verification tax (reviewing AI output) — so net savings start negative.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8600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143000"/>
            <a:ext cx="27432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118872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64592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71907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As adoption ramps and the dip fades, net savings turn positive and cumulative benefit crosses zero.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28600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D5E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1143000"/>
            <a:ext cx="274320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118872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Compounding 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89136" y="164592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171907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Net savings grow sprint-on-sprint; freed capacity is reinvested (cost avoided), not headcount cut.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11430000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Ongoing cost is platform-aware and INCLUDES agent/token spend:  home-grown = token + platform-eng team; COTS = per-seat licence + token; service-provider = managed fee + token. Shared platform costs are prorated across pods.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754880"/>
            <a:ext cx="12188952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ROI % = (Value − Investment) ÷ Investment   —   Value = cost-avoidance (freed capacity), NOT new-feature revenue
Business growth from new features is intentionally excluded — value is engineering cost-efficiency and capacity reinvestment 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DORA sample levers (override per engagement): J-Curve drop 15% over 3 months; AI licence ~$250/user/yr; token/usage variable; training; infra.  Editable per engagement.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Always-On Measurement — The Outcome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Three monitoring perspectives, computed from live data with per-chart inferences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5992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5214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745992" cy="3291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How deeply agents/tools are adopted across the PDLC.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7744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Utilisation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68833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Acceptance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99923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 Override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31012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Time Saved / Agent /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2102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ROI Multiple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1480" y="1097280"/>
            <a:ext cx="374599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920" y="115214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PDLC Performance (Outcomes)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1480" y="1645920"/>
            <a:ext cx="3745992" cy="3291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920" y="171907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Delivery outcomes — flow, speed, stability &amp; productivity.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1208" y="237744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1208" y="268833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Cycle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1208" y="299923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Flow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1208" y="331012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Deployment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1208" y="362102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Change Failure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1208" y="393192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MTTR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1208" y="424281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Cost per Story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1208" y="455371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Productivity (SP/person-day)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7200" y="1097280"/>
            <a:ext cx="3745992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115214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Ops &amp; Assurance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77200" y="1645920"/>
            <a:ext cx="3745992" cy="3291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8640" y="171907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Token economics, agent quality, bias, explainability &amp;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6928" y="237744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Token Usage &amp; Cost / Sprint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6928" y="268833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Cost / Story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299923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Success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6928" y="331012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Hallucination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6928" y="362102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RAG Groundedness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6928" y="393192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Bias / Fairness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6928" y="424281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Explainability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6928" y="455371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Guardrail Compliance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166360"/>
            <a:ext cx="12188952" cy="10515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57800"/>
            <a:ext cx="11338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Real-time data sources: Jira / ADO, GitHub, CI/CD, ServiceNow/PagerDuty, AI-platform billing &amp; agent-framework telemetry — zero manual entry; metrics computed via documented formulas with per-chart inference &amp; action points.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From this meeting to your first VSM dashboard in 2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E408A"/>
                </a:solidFill>
                <a:latin typeface="Calibri"/>
              </a:rPr>
              <a:t>We can have your current state PDLC mapped, benchmarked, and presented to your CFO in 8 weeks. Here's how to start: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2768"/>
            <a:ext cx="146304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664208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6420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Share this deck with your CTO / CFO. Identify the executive sponsor for the pilot.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231136"/>
            <a:ext cx="146304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2322576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2257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Export your Jira / ADO data (30-min task for your IT team — we send the field spec today).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889504"/>
            <a:ext cx="1463040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980944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80944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Sign pilot SOW ($150K fixed fee). Platform deployed on your infrastructure or cloud. Kick-off meeting.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547872"/>
            <a:ext cx="1463040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3639312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39312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ALM connector live. First VSM dashboard visible. DORA assessment started.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06240"/>
            <a:ext cx="1463040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4297679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97679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Top 5 bottlenecks identified. All three AI transformation options modelled on your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864607"/>
            <a:ext cx="14630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956047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56047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Executive readout: CFO-ready business case, board deck, and implementation playbook ready.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522976"/>
            <a:ext cx="146304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5614416"/>
            <a:ext cx="1408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WEEK 9+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614416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Choose your option. Quick Wins programme starts. First ROI measured within 90 days.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181344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Contact:  [PARTNER NAME]  |  [email@firm.com]  |  [+xx xxx xxxx]  |  Accelerated by STUMP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