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333750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80000"/>
            <a:ext cx="1263375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D5E"/>
                </a:solidFill>
                <a:latin typeface="Calibri"/>
              </a:rPr>
              <a:t>PDLC VSM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000" y="460000"/>
            <a:ext cx="12633750" cy="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0000" y="560000"/>
            <a:ext cx="12633750" cy="140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600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2563EB"/>
                </a:solidFill>
                <a:latin typeface="Calibr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620000"/>
            <a:ext cx="1173375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F2D5E"/>
                </a:solidFill>
                <a:latin typeface="Calibri"/>
              </a:rPr>
              <a:t>Quantify every hour of PDLC waste across 7 phases, identify AI agents for every bottleneck, and deliver a funded transformation roadmap — in 4 weeks. Powered by 8 LangGraph AI agents, benchmarked against 2,400+ industry data points.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2060000"/>
            <a:ext cx="4800825" cy="145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2140000"/>
            <a:ext cx="46008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2410000"/>
            <a:ext cx="46008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Engineering teams lose 80%+ of lead time to invisible wait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660000"/>
            <a:ext cx="46008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Average FSI team: 17.8% flow efficiency — world-class is 40%+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2910000"/>
            <a:ext cx="46008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Teams cannot quantify waste without a VSM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3160000"/>
            <a:ext cx="46008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DORA metrics sit in dashboards, not actioned into transformation plans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0825" y="2060000"/>
            <a:ext cx="4042800" cy="145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0825" y="2140000"/>
            <a:ext cx="3842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0825" y="2410000"/>
            <a:ext cx="3842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AI-powered 7-phase VSM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825" y="2660000"/>
            <a:ext cx="3842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DORA 73-question assessment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0825" y="2910000"/>
            <a:ext cx="3842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36-agent improvement catalogue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0825" y="3160000"/>
            <a:ext cx="3842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Financial business case model (ROI/payback/NPV)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3625" y="2060000"/>
            <a:ext cx="3790125" cy="145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3625" y="2140000"/>
            <a:ext cx="35901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TIMELINES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3625" y="2410000"/>
            <a:ext cx="35901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2–4 weeks: VSM assessment &amp;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3625" y="2660000"/>
            <a:ext cx="35901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4–8 weeks: DORA + pilot quick wins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3625" y="2910000"/>
            <a:ext cx="3590125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12–18 months: full transformation programme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000" y="3610000"/>
            <a:ext cx="3158437" cy="2050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" y="3610000"/>
            <a:ext cx="3158437" cy="2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000" y="3670000"/>
            <a:ext cx="2998437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MARKET TRENDS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000" y="3930000"/>
            <a:ext cx="2998437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D5E"/>
                </a:solidFill>
                <a:latin typeface="Calibri"/>
              </a:rPr>
              <a:t>17.8%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000" y="4470000"/>
            <a:ext cx="2998437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293B"/>
                </a:solidFill>
                <a:latin typeface="Calibri"/>
              </a:rPr>
              <a:t>avg flow efficiency in FSI — 83% of time is non-value-adding wait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8437" y="3610000"/>
            <a:ext cx="3158437" cy="2050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8437" y="3610000"/>
            <a:ext cx="3158437" cy="2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8437" y="3670000"/>
            <a:ext cx="2998437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FOCUS AREAS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8437" y="3920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  <a:latin typeface="Calibri"/>
              </a:rPr>
              <a:t>▶ Lean VSM across 7 PDLC phases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8437" y="4255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DORA maturity (73 questions)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8437" y="4590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AI bottleneck identification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8437" y="4925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Future state modelling (A/B/C)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8437" y="5260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Funded business case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6874" y="3610000"/>
            <a:ext cx="3158437" cy="2050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66874" y="3610000"/>
            <a:ext cx="3158437" cy="2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6874" y="3670000"/>
            <a:ext cx="2998437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EXPECTED 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6874" y="3920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  <a:latin typeface="Calibri"/>
              </a:rPr>
              <a:t>▶ Quantified current-state VSM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6874" y="4255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DORA score + band + calibration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6874" y="4590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Top 5 bottleneck cards with root cause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6874" y="4925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3 future-state VSM scenarios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6874" y="5260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ROI business case with payback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5311" y="3610000"/>
            <a:ext cx="3158437" cy="2050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25311" y="3610000"/>
            <a:ext cx="3158437" cy="2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5311" y="3670000"/>
            <a:ext cx="2998437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SUCCESS 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5311" y="3920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2D5E"/>
                </a:solidFill>
                <a:latin typeface="Calibri"/>
              </a:rPr>
              <a:t>▶ 42→8 day lead time — US Bank Team Phoenix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5311" y="4255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8.1%→61% flow efficiency in 18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5311" y="4590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4.2× ROI on $3M investment (Option B)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05311" y="4925000"/>
            <a:ext cx="2998437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• 14-month payback | $31.2M 5-yr NPV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0000" y="5760000"/>
            <a:ext cx="12633750" cy="164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000" y="5840000"/>
            <a:ext cx="30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OUTCOMES / VALUE DELIVERED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0000" y="6140000"/>
            <a:ext cx="2326750" cy="114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000" y="6180000"/>
            <a:ext cx="228675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Lean VSM
Baseline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76750" y="6140000"/>
            <a:ext cx="2326750" cy="114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6750" y="6180000"/>
            <a:ext cx="228675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AI Bottleneck
Elimination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03500" y="6140000"/>
            <a:ext cx="2326750" cy="114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23500" y="6180000"/>
            <a:ext cx="228675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DORA Maturity
Improvement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30250" y="6140000"/>
            <a:ext cx="2326750" cy="114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50250" y="6180000"/>
            <a:ext cx="228675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Transformation
Roadmap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557000" y="6140000"/>
            <a:ext cx="2326750" cy="114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77000" y="6180000"/>
            <a:ext cx="228675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Funded
Business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