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AI-POWERED PDLC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91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FDBFE"/>
                </a:solidFill>
                <a:latin typeface="Calibri"/>
              </a:rPr>
              <a:t>A consulting offering accelerated by the STUMP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1612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E408A"/>
                </a:solidFill>
                <a:latin typeface="Calibri"/>
              </a:rPr>
              <a:t>Quantify the hidden cost in your delivery pipeline. Design the right AI transformation pathway. Implement with a board-ready business case and a week-by-week playbook.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152144"/>
            <a:ext cx="3822191" cy="47548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FDBFE"/>
                </a:solidFill>
                <a:latin typeface="Calibr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53312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DIAGNOSE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627632"/>
            <a:ext cx="3822191" cy="106070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682495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Map your current PDLC as a value 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194767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AI-quantify lead time, flow efficiency &amp; waste per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2128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Identify top 5 bottlenecks: speed / productivity / quality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47802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Benchmark vs. sector peers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95927" y="1719072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D5E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79" y="1152144"/>
            <a:ext cx="3822191" cy="475488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78807" y="117043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FDBFE"/>
                </a:solidFill>
                <a:latin typeface="Calibri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7" y="1353312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79" y="1627632"/>
            <a:ext cx="3822191" cy="106070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7095" y="1682495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Target State Studio: pick North-Star level + delivery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7095" y="194767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L1–L5 interim ladder (A≈L2 · B≈L3–L4 · C≈L5 Autonomous ADLC)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7095" y="22128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Platform choice: home-grown / COTS / Cognizant Flowsource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7095" y="247802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DORA J-Curve business case per interim step (cost-only)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0415" y="1719072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D5E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3567" y="1152144"/>
            <a:ext cx="3822191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83295" y="117043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FDBFE"/>
                </a:solidFill>
                <a:latin typeface="Calibri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5" y="1353312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DELIVER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73567" y="1627632"/>
            <a:ext cx="3822191" cy="106070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01583" y="1682495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Execute interim steps with operating model + agents/tools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3" y="194767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Continuous 3-perspective Outcome Dashboard (adoption · performance · AI-ops)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1583" y="22128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Investment → J-Curve dip → breakeven → compounding savings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1583" y="247802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Progress tracked vs interim / target maturity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2816352"/>
            <a:ext cx="3822191" cy="420624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2834640"/>
            <a:ext cx="10972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3C5FD"/>
                </a:solidFill>
                <a:latin typeface="Calibri"/>
              </a:rPr>
              <a:t>OPTION A  ·  L2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9992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AI-AUGMENTED PDLC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209544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Human in the Loop  ·  L2 Agent Co-pilots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" y="3410712"/>
            <a:ext cx="3822191" cy="594359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4564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AI copilots assist at each PDLC phase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36850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Humans retain all decision rights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39136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Effort reduction: 15–25% per phase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1422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Fastest to adopt — no process redesign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43708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Cost-only ROI on the J-Curve  |  earliest breakeven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" y="4005072"/>
            <a:ext cx="3822191" cy="384048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7744" y="4023359"/>
            <a:ext cx="36758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Speed +25%  |  Productivity +20%  |  Quality +15%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79" y="2816352"/>
            <a:ext cx="3822191" cy="4206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78807" y="2834640"/>
            <a:ext cx="10972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3C5FD"/>
                </a:solidFill>
                <a:latin typeface="Calibri"/>
              </a:rPr>
              <a:t>OPTION B  ·  L3–L4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78807" y="29992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AI AGENTS + HUMAN GATES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78807" y="3209544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Human on the Loop  ·  L3–L4 Supervised → Orchestrated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69079" y="3410712"/>
            <a:ext cx="3822191" cy="594359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78807" y="34564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AI agents execute PDLC tasks autonomously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78807" y="36850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Humans review and approve at defined gates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78807" y="39136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Effort reduction: 40–60% across value stream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78807" y="41422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Requires 3–6 month process redesign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78807" y="43708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Strong cost-only ROI  |  breakeven after the J-Curve dip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69079" y="4005072"/>
            <a:ext cx="3822191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42231" y="4023359"/>
            <a:ext cx="36758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Speed +55%  |  Productivity +50%  |  Quality +35%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73567" y="2816352"/>
            <a:ext cx="3822191" cy="420624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83295" y="2834640"/>
            <a:ext cx="10972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3C5FD"/>
                </a:solidFill>
                <a:latin typeface="Calibri"/>
              </a:rPr>
              <a:t>OPTION C  ·  L5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83295" y="29992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FULLY AGENTIC ADLC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83295" y="3209544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Human Above the Loop  ·  L5 Autonomous ADLC (North Star)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73567" y="3410712"/>
            <a:ext cx="3822191" cy="594359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83295" y="34564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AI agents own end-to-end PDLC execution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83295" y="36850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Humans set objectives, review exceptions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83295" y="39136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Effort reduction: 70–80% across value stream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83295" y="41422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Full operating model transformation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83295" y="4370832"/>
            <a:ext cx="3602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Highest ROI at scale  |  largest up-front J-Curve investment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73567" y="4005072"/>
            <a:ext cx="3822191" cy="38404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46719" y="4023359"/>
            <a:ext cx="36758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Speed +75%  |  Productivity +75%  |  Quality +60%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4592" y="4480560"/>
            <a:ext cx="1185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  <a:latin typeface="Calibri"/>
              </a:rPr>
              <a:t>PDLC VSM PLATFORM — THE DELIVERY ACCELERATOR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4592" y="4773168"/>
            <a:ext cx="3898392" cy="71323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6032" y="4809744"/>
            <a:ext cx="3715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MINUTES-NOT-MONTHS DIAGNOSIS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6032" y="5047488"/>
            <a:ext cx="3715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AI ingests your Jira/ADO data and generates a validated VSM + bottleneck analysis in minutes; current maturity level auto-derived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45280" y="4773168"/>
            <a:ext cx="3898392" cy="71323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36720" y="4809744"/>
            <a:ext cx="3715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TARGET STATE STUDIO + J-CURVE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36720" y="5047488"/>
            <a:ext cx="3715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Configure North-Star level + platform (home-grown/COTS/Flowsource); auto-generate the L1–L5 interim roadmap with a DORA J-Curve business case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25968" y="4773168"/>
            <a:ext cx="3898392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17408" y="4809744"/>
            <a:ext cx="3715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3-PERSPECTIVE OUTCOME DASHBOARD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17408" y="5047488"/>
            <a:ext cx="3715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Always-on measurement across AI Adoption · PDLC Performance · AI Ops &amp; Assurance — investment, breakeven and compounding savings tracked live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0" y="5577840"/>
            <a:ext cx="1218895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28600" y="5596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  <a:latin typeface="Calibri"/>
              </a:rPr>
              <a:t>TYPICAL CLIENT OUTCOMES  (US Bank, Team Phoenix — Financial Services)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600" y="5888736"/>
            <a:ext cx="20619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2D5E"/>
                </a:solidFill>
                <a:latin typeface="Calibri"/>
              </a:rPr>
              <a:t>42 → 8 days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8600" y="6236208"/>
            <a:ext cx="20619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08A"/>
                </a:solidFill>
                <a:latin typeface="Calibri"/>
              </a:rPr>
              <a:t>Lead Time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36292" y="5888736"/>
            <a:ext cx="20619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2D5E"/>
                </a:solidFill>
                <a:latin typeface="Calibri"/>
              </a:rPr>
              <a:t>17.8% → 61%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36292" y="6236208"/>
            <a:ext cx="20619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08A"/>
                </a:solidFill>
                <a:latin typeface="Calibri"/>
              </a:rPr>
              <a:t>Flow Efficiency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43984" y="5888736"/>
            <a:ext cx="20619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2D5E"/>
                </a:solidFill>
                <a:latin typeface="Calibri"/>
              </a:rPr>
              <a:t>4.2×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43984" y="6236208"/>
            <a:ext cx="20619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08A"/>
                </a:solidFill>
                <a:latin typeface="Calibri"/>
              </a:rPr>
              <a:t>ROI (Option B)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51676" y="5888736"/>
            <a:ext cx="20619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2D5E"/>
                </a:solidFill>
                <a:latin typeface="Calibri"/>
              </a:rPr>
              <a:t>$3M invest.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51676" y="6236208"/>
            <a:ext cx="20619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08A"/>
                </a:solidFill>
                <a:latin typeface="Calibri"/>
              </a:rPr>
              <a:t>$8.4M/yr benefit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59368" y="5888736"/>
            <a:ext cx="20619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2D5E"/>
                </a:solidFill>
                <a:latin typeface="Calibri"/>
              </a:rPr>
              <a:t>14 months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59368" y="6236208"/>
            <a:ext cx="20619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08A"/>
                </a:solidFill>
                <a:latin typeface="Calibri"/>
              </a:rPr>
              <a:t>Payback Period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767060" y="5888736"/>
            <a:ext cx="20619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2D5E"/>
                </a:solidFill>
                <a:latin typeface="Calibri"/>
              </a:rPr>
              <a:t>$31.2M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67060" y="6236208"/>
            <a:ext cx="20619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08A"/>
                </a:solidFill>
                <a:latin typeface="Calibri"/>
              </a:rPr>
              <a:t>5-Year NPV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