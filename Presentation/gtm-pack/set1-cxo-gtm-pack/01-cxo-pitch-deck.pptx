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3333750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50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00000"/>
            <a:ext cx="1263375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PDLC VSM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820000"/>
            <a:ext cx="1263375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BEAFE"/>
                </a:solidFill>
                <a:latin typeface="Calibri"/>
              </a:rPr>
              <a:t>From 42-Day Lead Time to 8 Days in 18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1220000"/>
            <a:ext cx="126337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BEAFE"/>
                </a:solidFill>
                <a:latin typeface="Calibri"/>
              </a:rPr>
              <a:t>AI-Powered Value Stream Transformation for Engineering Organisations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6875" y="2900000"/>
            <a:ext cx="3800000" cy="7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6875" y="2980000"/>
            <a:ext cx="3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2D5E"/>
                </a:solidFill>
                <a:latin typeface="Calibri"/>
              </a:rPr>
              <a:t>42→8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6875" y="3300000"/>
            <a:ext cx="36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2D5E"/>
                </a:solidFill>
                <a:latin typeface="Calibri"/>
              </a:rPr>
              <a:t>Lead Time Reduction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6875" y="2900000"/>
            <a:ext cx="3800000" cy="7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875" y="2980000"/>
            <a:ext cx="3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2D5E"/>
                </a:solidFill>
                <a:latin typeface="Calibri"/>
              </a:rPr>
              <a:t>8%→61%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875" y="3300000"/>
            <a:ext cx="36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2D5E"/>
                </a:solidFill>
                <a:latin typeface="Calibri"/>
              </a:rPr>
              <a:t>Flow Efficiency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6875" y="2900000"/>
            <a:ext cx="3800000" cy="7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46875" y="2980000"/>
            <a:ext cx="3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2D5E"/>
                </a:solidFill>
                <a:latin typeface="Calibri"/>
              </a:rPr>
              <a:t>4.2×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46875" y="3300000"/>
            <a:ext cx="36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2D5E"/>
                </a:solidFill>
                <a:latin typeface="Calibri"/>
              </a:rPr>
              <a:t>14-Month Payback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The Window for Transformation Leadership Is Narrowing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900000"/>
            <a:ext cx="3900000" cy="42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900000"/>
            <a:ext cx="3900000" cy="38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000" y="1000000"/>
            <a:ext cx="36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0" y="1350000"/>
            <a:ext cx="36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73% of CTOs cite delivery speed as #1 concern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0" y="1730000"/>
            <a:ext cx="36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Boards demand ROI on transformation in 12–18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0" y="2110000"/>
            <a:ext cx="36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AI-native competitors shipping 3× faster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0000" y="900000"/>
            <a:ext cx="3900000" cy="42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0000" y="900000"/>
            <a:ext cx="3900000" cy="38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0000" y="1000000"/>
            <a:ext cx="36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0000" y="1350000"/>
            <a:ext cx="36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Average team flow efficiency = 17% (world-class = 40%+)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0000" y="1730000"/>
            <a:ext cx="36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9–14 months to produce a transformation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0000" y="2110000"/>
            <a:ext cx="36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Only 23% of teams can quantify PDLC waste in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0000" y="900000"/>
            <a:ext cx="3900000" cy="42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50000" y="900000"/>
            <a:ext cx="3900000" cy="38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70000" y="1000000"/>
            <a:ext cx="36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0000" y="1350000"/>
            <a:ext cx="36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$47M average wasted per failed 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0000" y="1730000"/>
            <a:ext cx="36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2–4% revenue share lost per year of 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0000" y="2110000"/>
            <a:ext cx="36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80%+ of lead time is invisible, unquantified wait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Traditional Approaches Cannot See the Waste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800000"/>
            <a:ext cx="126337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2D5E"/>
                </a:solidFill>
                <a:latin typeface="Calibri"/>
              </a:rPr>
              <a:t>[ALM Data]  →  ???  →  [Insight]  →  ???  →  [Plan]  →  ???  →  [ROI]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1150000"/>
            <a:ext cx="126337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E293B"/>
                </a:solidFill>
                <a:latin typeface="Calibri"/>
              </a:rPr>
              <a:t>At every arrow: data is locked in siloed tools, insights are consultant opinion, plans lack financial grounding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000" y="1700000"/>
            <a:ext cx="12633750" cy="75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78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No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0000" y="1780000"/>
            <a:ext cx="1013375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Teams cannot quantify how much of their lead time is waste — they guess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2600000"/>
            <a:ext cx="12633750" cy="75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268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No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0000" y="2680000"/>
            <a:ext cx="1013375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DORA metrics sit in dashboards, disconnected from VSM phase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000" y="3500000"/>
            <a:ext cx="12633750" cy="75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358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No prioritisation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0000" y="3580000"/>
            <a:ext cx="1013375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Bottleneck identification is workshop opinion, not AI-driven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4400000"/>
            <a:ext cx="12633750" cy="75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448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No financial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0000" y="4480000"/>
            <a:ext cx="1013375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Improvement ideas lack ROI, payback, or NPV — finance rejects them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000" y="5300000"/>
            <a:ext cx="12633750" cy="75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538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No playbook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0000" y="5380000"/>
            <a:ext cx="1013375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Even great plans fail without a compliance-aware implementation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The PDLC VSM Platform: See It, Measure It, Fix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00000"/>
            <a:ext cx="12633750" cy="14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0000" y="900000"/>
            <a:ext cx="1223375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[1. ALM Connect] → [2. DORA Assessment] → [3. Current State VSM] → [4. VSM Editor]
                                                                              ↓
[9. Playbook] ← [8. Business Case] ← [7. Future State VSM] ← [5/6. Bottlenecks + Improvements]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000" y="2600000"/>
            <a:ext cx="3600000" cy="9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2600000"/>
            <a:ext cx="36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0" y="2660000"/>
            <a:ext cx="33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AI-Powered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0" y="2940000"/>
            <a:ext cx="336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8 LangGraph agents run automatically — no manual data wrangling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0000" y="2600000"/>
            <a:ext cx="3600000" cy="9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50000" y="2600000"/>
            <a:ext cx="36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000" y="2660000"/>
            <a:ext cx="33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Evidence-Based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000" y="2940000"/>
            <a:ext cx="336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Every recommendation is benchmarked against industry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0000" y="2600000"/>
            <a:ext cx="3600000" cy="9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0000" y="2600000"/>
            <a:ext cx="36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0000" y="2660000"/>
            <a:ext cx="33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Finance-Ready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0000" y="2940000"/>
            <a:ext cx="336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Business case with ROI, payback, NPV ready for the CFO in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8 AI Agents. One Seamless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50000"/>
            <a:ext cx="5800000" cy="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850000"/>
            <a:ext cx="320000" cy="5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0000" y="990000"/>
            <a:ext cx="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000" y="91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ALM Connector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000" y="1150000"/>
            <a:ext cx="5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Ingests CSV/API data from Jira, ADO, Rally — maps to 7 PDLC phases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0000" y="850000"/>
            <a:ext cx="5800000" cy="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50000" y="850000"/>
            <a:ext cx="320000" cy="5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0000" y="990000"/>
            <a:ext cx="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000" y="91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VSM 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000" y="1150000"/>
            <a:ext cx="5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Computes PT, WT, FE% per phase — generates executive narrative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00" y="1490000"/>
            <a:ext cx="5800000" cy="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" y="1490000"/>
            <a:ext cx="320000" cy="5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000" y="1630000"/>
            <a:ext cx="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000" y="155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Benchmark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000" y="1790000"/>
            <a:ext cx="5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Compares team metrics against industry benchmarks (FSI, Healthcare, Telecoms)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50000" y="1490000"/>
            <a:ext cx="5800000" cy="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50000" y="1490000"/>
            <a:ext cx="320000" cy="5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0000" y="1630000"/>
            <a:ext cx="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000" y="155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Bottleneck Analyzer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000" y="1790000"/>
            <a:ext cx="5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Identifies top flow impediments with severity, root cause, lean waste 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000" y="2130000"/>
            <a:ext cx="5800000" cy="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" y="2130000"/>
            <a:ext cx="320000" cy="5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000" y="2270000"/>
            <a:ext cx="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000" y="219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Improvement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000" y="2430000"/>
            <a:ext cx="5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Maps 36 AI agents to each bottleneck — with ROI and quick-win flags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50000" y="2130000"/>
            <a:ext cx="5800000" cy="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50000" y="2130000"/>
            <a:ext cx="320000" cy="5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0000" y="2270000"/>
            <a:ext cx="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000" y="219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Future State Designer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000" y="2430000"/>
            <a:ext cx="5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Models 3 transformation scenarios (Option A/B/C) with projected metrics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0000" y="2770000"/>
            <a:ext cx="5800000" cy="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0000" y="2770000"/>
            <a:ext cx="320000" cy="5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000" y="2910000"/>
            <a:ext cx="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0000" y="283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Business Case Builder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0000" y="3070000"/>
            <a:ext cx="5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Builds full financial model: ROI, payback period, 5-year NPV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50000" y="2770000"/>
            <a:ext cx="5800000" cy="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50000" y="2770000"/>
            <a:ext cx="320000" cy="5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0000" y="2910000"/>
            <a:ext cx="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000" y="2830000"/>
            <a:ext cx="1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Playbook Contextualizer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000" y="3070000"/>
            <a:ext cx="5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Generates personalised implementation guide from your uploaded 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See Exactly Where Your PDLC Is Losing Time — US Bank / Team Phoenix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50000"/>
            <a:ext cx="9400000" cy="3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0000" y="930000"/>
            <a:ext cx="36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0000" y="93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PT (hours)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0000" y="93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WT (hours)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30000" y="930000"/>
            <a:ext cx="14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Flow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0000" y="930000"/>
            <a:ext cx="10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190000"/>
            <a:ext cx="9400000" cy="3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000" y="1270000"/>
            <a:ext cx="36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Backlog &amp;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0000" y="127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0000" y="127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0000" y="1270000"/>
            <a:ext cx="14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25.8%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0000" y="1270000"/>
            <a:ext cx="10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000" y="1540000"/>
            <a:ext cx="9400000" cy="32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000" y="1620000"/>
            <a:ext cx="36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Architecture &amp;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0000" y="162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0000" y="162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1620000"/>
            <a:ext cx="14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17.0%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0000" y="1620000"/>
            <a:ext cx="10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000" y="1890000"/>
            <a:ext cx="9400000" cy="3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000" y="1970000"/>
            <a:ext cx="36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Code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0000" y="197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0000" y="197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0000" y="1970000"/>
            <a:ext cx="14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41.9%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0000" y="1970000"/>
            <a:ext cx="10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Green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0000" y="2240000"/>
            <a:ext cx="9400000" cy="32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0000" y="2320000"/>
            <a:ext cx="36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Continuous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0000" y="232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0000" y="232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0000" y="2320000"/>
            <a:ext cx="14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42.9%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0000" y="2320000"/>
            <a:ext cx="10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Green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0000" y="2590000"/>
            <a:ext cx="9400000" cy="3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000" y="2670000"/>
            <a:ext cx="36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Continuous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0000" y="267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30000" y="267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240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0000" y="2670000"/>
            <a:ext cx="14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11.4%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0000" y="2670000"/>
            <a:ext cx="10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0000" y="2940000"/>
            <a:ext cx="9400000" cy="32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000" y="3020000"/>
            <a:ext cx="36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Continuous 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0000" y="302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0000" y="302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0000" y="3020000"/>
            <a:ext cx="14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17.6%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30000" y="3020000"/>
            <a:ext cx="10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0000" y="3290000"/>
            <a:ext cx="9400000" cy="3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0000" y="3370000"/>
            <a:ext cx="36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Monitoring &amp; Feedback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30000" y="337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0000" y="337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30000" y="3370000"/>
            <a:ext cx="14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18.9%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0000" y="3370000"/>
            <a:ext cx="10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Amber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0000" y="3640000"/>
            <a:ext cx="9400000" cy="32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0000" y="3720000"/>
            <a:ext cx="36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30000" y="372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0000" y="3720000"/>
            <a:ext cx="12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30000" y="3720000"/>
            <a:ext cx="14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17.8%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30000" y="3720000"/>
            <a:ext cx="10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000" y="6900000"/>
            <a:ext cx="126337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Calibri"/>
              </a:rPr>
              <a:t>Total Lead Time: 46.4 days  |  80%+ of time is non-value-adding wait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73 Questions. 4 Dimensions. DORA-Calibrated VSM.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50000"/>
            <a:ext cx="2900000" cy="9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850000"/>
            <a:ext cx="29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91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Cultural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18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18 Qs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41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Team autonomy, safety, learning culture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0000" y="850000"/>
            <a:ext cx="2900000" cy="9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0000" y="850000"/>
            <a:ext cx="29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0000" y="91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Measurement &amp;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0000" y="118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20 Qs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000" y="141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Observability, SLOs, 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0000" y="850000"/>
            <a:ext cx="2900000" cy="9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50000" y="850000"/>
            <a:ext cx="29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0000" y="91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Process &amp;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0000" y="118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18 Qs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0000" y="141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Sprint cadence, WIP, deployment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50000" y="850000"/>
            <a:ext cx="2900000" cy="9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50000" y="850000"/>
            <a:ext cx="29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0000" y="91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Technical Practices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0000" y="118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17 Qs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0000" y="141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CI/CD, test automation, security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00" y="1900000"/>
            <a:ext cx="1263375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DORA → VSM Calibration: How Scores Adjust Your Phase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2280000"/>
            <a:ext cx="12633750" cy="29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234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Deployment Frequency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0000" y="234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  Phase 6 WT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0000" y="2340000"/>
            <a:ext cx="76337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Lower freq = higher deploy queue wait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000" y="2620000"/>
            <a:ext cx="12633750" cy="29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0000" y="268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Lead Time for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0000" y="268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  Phases 3–6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0000" y="2680000"/>
            <a:ext cx="76337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Proportional WT scaling across code→delivery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2960000"/>
            <a:ext cx="12633750" cy="29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302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Change Failure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0000" y="302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  Phase 5 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0000" y="3020000"/>
            <a:ext cx="76337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CFR multiplier on testing rework 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000" y="3300000"/>
            <a:ext cx="12633750" cy="29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0000" y="336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MTTR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0000" y="336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  Phase 7 WT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0000" y="3360000"/>
            <a:ext cx="76337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MTTR hours = monitoring/feedback wait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AI Pinpoints Every Bottleneck — Root Cause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50000"/>
            <a:ext cx="9800000" cy="32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0000" y="93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0000" y="930000"/>
            <a:ext cx="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0000" y="930000"/>
            <a:ext cx="2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0000" y="930000"/>
            <a:ext cx="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Wait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0000" y="930000"/>
            <a:ext cx="4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170000"/>
            <a:ext cx="9800000" cy="41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000" y="1270000"/>
            <a:ext cx="1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  <a:latin typeface="Calibri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0000" y="1270000"/>
            <a:ext cx="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Phase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0000" y="1270000"/>
            <a:ext cx="2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Manual SIT / UAT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0000" y="1270000"/>
            <a:ext cx="7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240h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0000" y="1270000"/>
            <a:ext cx="43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No parallel execution; manual env setup; test data dependency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000" y="1610000"/>
            <a:ext cx="9800000" cy="41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000" y="1710000"/>
            <a:ext cx="1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0000" y="1710000"/>
            <a:ext cx="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0000" y="1710000"/>
            <a:ext cx="2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Architecture Review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0000" y="1710000"/>
            <a:ext cx="7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176h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0000" y="1710000"/>
            <a:ext cx="43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Sequential reviews; 3-day advance scheduling; limited reviewers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000" y="2050000"/>
            <a:ext cx="9800000" cy="41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000" y="2150000"/>
            <a:ext cx="1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  <a:latin typeface="Calibri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0000" y="2150000"/>
            <a:ext cx="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Phase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0000" y="2150000"/>
            <a:ext cx="2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Release Approval / CAB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0000" y="2150000"/>
            <a:ext cx="7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56h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0000" y="2150000"/>
            <a:ext cx="43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72h advance CAB notice; manual risk assessment process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0000" y="2490000"/>
            <a:ext cx="9800000" cy="41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0000" y="2590000"/>
            <a:ext cx="1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  <a:latin typeface="Calibri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0000" y="2590000"/>
            <a:ext cx="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Phase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10000" y="2590000"/>
            <a:ext cx="2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Feature Refinement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0000" y="2590000"/>
            <a:ext cx="7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48h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0000" y="2590000"/>
            <a:ext cx="43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Incomplete requirements; stakeholder availability gaps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0000" y="2930000"/>
            <a:ext cx="9800000" cy="41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000" y="3030000"/>
            <a:ext cx="1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  <a:latin typeface="Calibri"/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0000" y="3030000"/>
            <a:ext cx="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Phase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0000" y="3030000"/>
            <a:ext cx="20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Peer Code Review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0000" y="3030000"/>
            <a:ext cx="7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18h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0000" y="3030000"/>
            <a:ext cx="43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Average PR size 850 lines; 2 senior reviewer bottleneck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Three Transformation Horizons — You Choose the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50000"/>
            <a:ext cx="8600000" cy="32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0000" y="930000"/>
            <a:ext cx="24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Attribute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0000" y="930000"/>
            <a:ext cx="18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Option A — AI Augment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000" y="930000"/>
            <a:ext cx="18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Option B — Hybrid Intel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000" y="930000"/>
            <a:ext cx="18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Option C — ADLC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170000"/>
            <a:ext cx="8600000" cy="41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0000" y="1270000"/>
            <a:ext cx="24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0000" y="127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000" y="127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18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000" y="127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24–36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00" y="1600000"/>
            <a:ext cx="8600000" cy="41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000" y="1700000"/>
            <a:ext cx="24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AI Agents Deployed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0000" y="170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000" y="170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000" y="170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22+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2030000"/>
            <a:ext cx="8600000" cy="41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0000" y="2130000"/>
            <a:ext cx="24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Flow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0000" y="213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~42%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000" y="213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~61%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000" y="213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~78%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000" y="2460000"/>
            <a:ext cx="8600000" cy="41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0000" y="2560000"/>
            <a:ext cx="24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Lead Time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0000" y="256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~57%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000" y="256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~81%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000" y="256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~93%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000" y="2890000"/>
            <a:ext cx="8600000" cy="41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0000" y="2990000"/>
            <a:ext cx="24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Investment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0000" y="299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$1.2M–$1.8M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000" y="299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$2.5M–$3.5M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0000" y="299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$4M–$6M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0000" y="3320000"/>
            <a:ext cx="8600000" cy="41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000" y="3420000"/>
            <a:ext cx="24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Risk Level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0000" y="342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000" y="342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0000" y="342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000" y="3750000"/>
            <a:ext cx="8600000" cy="41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0000" y="3850000"/>
            <a:ext cx="24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Team Change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0000" y="385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Augmentation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0000" y="385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Hybrid human+AI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0000" y="385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AI-first (2 human roles)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0000" y="4180000"/>
            <a:ext cx="8600000" cy="41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000" y="4280000"/>
            <a:ext cx="24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DORA 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0000" y="428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0000" y="428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High→Elite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0000" y="4280000"/>
            <a:ext cx="1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Elite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000" y="6950000"/>
            <a:ext cx="8600000" cy="3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0000" y="7040000"/>
            <a:ext cx="8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⭐  Recommended: Option B — Best balance of investment, risk, and transformation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Option B: $3M Investment → $31.2M Five-Year NPV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00000"/>
            <a:ext cx="5500000" cy="48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880000"/>
            <a:ext cx="5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INVESTMENT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22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D5E"/>
                </a:solidFill>
                <a:latin typeface="Calibri"/>
              </a:rPr>
              <a:t>• Platform licensing (Year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0000" y="1220000"/>
            <a:ext cx="3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E293B"/>
                </a:solidFill>
                <a:latin typeface="Calibri"/>
              </a:rPr>
              <a:t>$200,000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9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D5E"/>
                </a:solidFill>
                <a:latin typeface="Calibri"/>
              </a:rPr>
              <a:t>• Implementation &amp;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0000" y="1490000"/>
            <a:ext cx="3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E293B"/>
                </a:solidFill>
                <a:latin typeface="Calibri"/>
              </a:rPr>
              <a:t>$1,100,000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76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D5E"/>
                </a:solidFill>
                <a:latin typeface="Calibri"/>
              </a:rPr>
              <a:t>• Change management &amp;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0000" y="1760000"/>
            <a:ext cx="3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E293B"/>
                </a:solidFill>
                <a:latin typeface="Calibri"/>
              </a:rPr>
              <a:t>$400,000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203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D5E"/>
                </a:solidFill>
                <a:latin typeface="Calibri"/>
              </a:rPr>
              <a:t>• Infrastructure / cloud delta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0000" y="2030000"/>
            <a:ext cx="3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E293B"/>
                </a:solidFill>
                <a:latin typeface="Calibri"/>
              </a:rPr>
              <a:t>$300,000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230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• TOTAL YEAR 1 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0000" y="2300000"/>
            <a:ext cx="3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563EB"/>
                </a:solidFill>
                <a:latin typeface="Calibri"/>
              </a:rPr>
              <a:t>$2,000,000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0000" y="800000"/>
            <a:ext cx="5500000" cy="48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0000" y="880000"/>
            <a:ext cx="5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ANNUAL BENEFITS — OPTION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0000" y="1220000"/>
            <a:ext cx="47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D5E"/>
                </a:solidFill>
                <a:latin typeface="Calibri"/>
              </a:rPr>
              <a:t>• Labour savings (80% FTE automation)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0000" y="1220000"/>
            <a:ext cx="3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E293B"/>
                </a:solidFill>
                <a:latin typeface="Calibri"/>
              </a:rPr>
              <a:t>$3.2M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0000" y="1490000"/>
            <a:ext cx="47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D5E"/>
                </a:solidFill>
                <a:latin typeface="Calibri"/>
              </a:rPr>
              <a:t>• Quality improvement (defect reduction)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0000" y="1490000"/>
            <a:ext cx="3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E293B"/>
                </a:solidFill>
                <a:latin typeface="Calibri"/>
              </a:rPr>
              <a:t>$1.8M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1760000"/>
            <a:ext cx="47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D5E"/>
                </a:solidFill>
                <a:latin typeface="Calibri"/>
              </a:rPr>
              <a:t>• Speed-to-market (faster feature delivery)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0000" y="1760000"/>
            <a:ext cx="3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E293B"/>
                </a:solidFill>
                <a:latin typeface="Calibri"/>
              </a:rPr>
              <a:t>$2.1M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0000" y="2030000"/>
            <a:ext cx="47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D5E"/>
                </a:solidFill>
                <a:latin typeface="Calibri"/>
              </a:rPr>
              <a:t>• Risk reduction (compliance/incidents)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0000" y="2030000"/>
            <a:ext cx="3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E293B"/>
                </a:solidFill>
                <a:latin typeface="Calibri"/>
              </a:rPr>
              <a:t>$0.9M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0000" y="2300000"/>
            <a:ext cx="47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D5E"/>
                </a:solidFill>
                <a:latin typeface="Calibri"/>
              </a:rPr>
              <a:t>• Platform cost avoidance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0000" y="2300000"/>
            <a:ext cx="3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E293B"/>
                </a:solidFill>
                <a:latin typeface="Calibri"/>
              </a:rPr>
              <a:t>$0.4M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000" y="2570000"/>
            <a:ext cx="47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• TOTAL ANNUAL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0000" y="2570000"/>
            <a:ext cx="3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563EB"/>
                </a:solidFill>
                <a:latin typeface="Calibri"/>
              </a:rPr>
              <a:t>$8.4M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000" y="6850000"/>
            <a:ext cx="3400000" cy="48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000" y="6900000"/>
            <a:ext cx="3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4.2×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000" y="7130000"/>
            <a:ext cx="3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  <a:latin typeface="Calibri"/>
              </a:rPr>
              <a:t>ROI Multiple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0000" y="6850000"/>
            <a:ext cx="3400000" cy="48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50000" y="6900000"/>
            <a:ext cx="3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14 Months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0000" y="7130000"/>
            <a:ext cx="3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  <a:latin typeface="Calibri"/>
              </a:rPr>
              <a:t>Payback Period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0000" y="6850000"/>
            <a:ext cx="3400000" cy="48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50000" y="6900000"/>
            <a:ext cx="3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$31.2M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0000" y="7130000"/>
            <a:ext cx="3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  <a:latin typeface="Calibri"/>
              </a:rPr>
              <a:t>5-Year NPV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Purpose-Built for PDLC — Not Adapted From Somewhere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00000"/>
            <a:ext cx="3800000" cy="32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870000"/>
            <a:ext cx="36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OUR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0000" y="800000"/>
            <a:ext cx="3800000" cy="3200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0000" y="870000"/>
            <a:ext cx="36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MANAGEMENT CONSULTANTS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50000" y="800000"/>
            <a:ext cx="3800000" cy="3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0000" y="870000"/>
            <a:ext cx="36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GENERIC VSM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180000"/>
            <a:ext cx="11800000" cy="5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132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Quantified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000" y="132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2D5E"/>
                </a:solidFill>
                <a:latin typeface="Calibri"/>
              </a:rPr>
              <a:t>✓ In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0000" y="132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✗ 3–4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0000" y="132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563EB"/>
                </a:solidFill>
                <a:latin typeface="Calibri"/>
              </a:rPr>
              <a:t>△ Partial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1730000"/>
            <a:ext cx="11800000" cy="52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000" y="187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DORA 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0000" y="187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2D5E"/>
                </a:solidFill>
                <a:latin typeface="Calibri"/>
              </a:rPr>
              <a:t>✓ Automated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0000" y="187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✗ Manual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0000" y="187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✗ Not included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000" y="2280000"/>
            <a:ext cx="11800000" cy="5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000" y="242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AI bottleneck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0000" y="242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2D5E"/>
                </a:solidFill>
                <a:latin typeface="Calibri"/>
              </a:rPr>
              <a:t>✓ 8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0000" y="242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✗ Consultant opinion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0000" y="242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✗ Not included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2830000"/>
            <a:ext cx="11800000" cy="52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000" y="297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Business case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0000" y="297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2D5E"/>
                </a:solidFill>
                <a:latin typeface="Calibri"/>
              </a:rPr>
              <a:t>✓ Built-in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0000" y="297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2D5E"/>
                </a:solidFill>
                <a:latin typeface="Calibri"/>
              </a:rPr>
              <a:t>✓ Expensive add-on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0000" y="297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✗ Not included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000" y="3380000"/>
            <a:ext cx="11800000" cy="5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000" y="352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Compliance-aware playbook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0000" y="352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2D5E"/>
                </a:solidFill>
                <a:latin typeface="Calibri"/>
              </a:rPr>
              <a:t>✓ RAG-powered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0000" y="352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563EB"/>
                </a:solidFill>
                <a:latin typeface="Calibri"/>
              </a:rPr>
              <a:t>△ Generic templates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0000" y="352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✗ Not included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000" y="3930000"/>
            <a:ext cx="11800000" cy="52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0000" y="407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0000" y="407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2D5E"/>
                </a:solidFill>
                <a:latin typeface="Calibri"/>
              </a:rPr>
              <a:t>✓ $150K–$1.2M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0000" y="407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✗ $2M–$8M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0000" y="4070000"/>
            <a:ext cx="3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563EB"/>
                </a:solidFill>
                <a:latin typeface="Calibri"/>
              </a:rPr>
              <a:t>△ $50K–$200K (no services)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A $12B Market With No Dominant AI-Native Player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00000"/>
            <a:ext cx="3800000" cy="16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800000"/>
            <a:ext cx="3800000" cy="28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86000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Total Addressable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14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2D5E"/>
                </a:solidFill>
                <a:latin typeface="Calibri"/>
              </a:rPr>
              <a:t>$12B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680000"/>
            <a:ext cx="360000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VSM + DevOps transformation consulting globally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0000" y="800000"/>
            <a:ext cx="3800000" cy="16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0000" y="800000"/>
            <a:ext cx="3800000" cy="28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00" y="86000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00" y="114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2D5E"/>
                </a:solidFill>
                <a:latin typeface="Calibri"/>
              </a:rPr>
              <a:t>$3.2B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00" y="1680000"/>
            <a:ext cx="360000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AI-augmented delivery transformation — FSI, Healthcare, Telecoms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50000" y="800000"/>
            <a:ext cx="3800000" cy="16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50000" y="800000"/>
            <a:ext cx="3800000" cy="28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0000" y="86000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Year 3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0000" y="114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2D5E"/>
                </a:solidFill>
                <a:latin typeface="Calibri"/>
              </a:rPr>
              <a:t>$180M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000" y="1680000"/>
            <a:ext cx="360000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Conservative 5.6% SAM capture in priority sectors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000" y="2600000"/>
            <a:ext cx="1263375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Market Drivers: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" y="2900000"/>
            <a:ext cx="126337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AI adoption pressure: 78% of CTOs have a board mandate to deploy AI in engineering in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000" y="3250000"/>
            <a:ext cx="126337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Regulatory compliance: DORA (Digital Operational Resilience Act) driving measurement requirements in FSI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00" y="3600000"/>
            <a:ext cx="126337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DORA framework adoption: Gartner predicts 85% of enterprises will formally measure DORA metrics by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000" y="3950000"/>
            <a:ext cx="126337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Cost pressure: $47M average wasted per failed transformation creates urgent demand for evidence-based approaches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Four Buyer Personas. One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00000"/>
            <a:ext cx="5600000" cy="19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800000"/>
            <a:ext cx="56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000" y="860000"/>
            <a:ext cx="53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0" y="1150000"/>
            <a:ext cx="5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'How do I prove AI is improving delivery speed?'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0" y="1560000"/>
            <a:ext cx="53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Resonates: Lead time reduction proof / DORA Elite path / Board-ready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0000" y="800000"/>
            <a:ext cx="5600000" cy="19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0000" y="800000"/>
            <a:ext cx="56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0000" y="860000"/>
            <a:ext cx="53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VP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0000" y="1150000"/>
            <a:ext cx="5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'My team is overwhelmed — where do I focus?'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0000" y="1560000"/>
            <a:ext cx="53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Resonates: Bottleneck prioritisation / Quick wins in 90 days / Agent deployment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00" y="2900000"/>
            <a:ext cx="5600000" cy="19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" y="2900000"/>
            <a:ext cx="56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0" y="2960000"/>
            <a:ext cx="53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0" y="3250000"/>
            <a:ext cx="5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'What data do I need to drive transformation?'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0" y="3660000"/>
            <a:ext cx="53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Resonates: VSM data as transformation evidence / Benchmark comparison / Continuous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0000" y="2900000"/>
            <a:ext cx="5600000" cy="19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0000" y="2900000"/>
            <a:ext cx="5600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0000" y="2960000"/>
            <a:ext cx="53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0000" y="3250000"/>
            <a:ext cx="5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'What's the ROI and when do I see payback?'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0000" y="3660000"/>
            <a:ext cx="53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Resonates: Business case financials / 14-month payback / 5-year NPV / Benefits by stream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Three Phases. Eighteen Months. Measurable Value at Every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00000"/>
            <a:ext cx="3700000" cy="50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800000"/>
            <a:ext cx="3700000" cy="60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880000"/>
            <a:ext cx="35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1
ASSESS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48000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4 Weeks | $150K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0" y="180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ALM data ingestion &amp; VSM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0" y="245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DORA 73-question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" y="310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Current state VSM +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0" y="375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Top 5 bottlenecks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" y="440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Business case for transformation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0000" y="800000"/>
            <a:ext cx="3700000" cy="50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0000" y="800000"/>
            <a:ext cx="3700000" cy="60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00" y="880000"/>
            <a:ext cx="35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2
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000" y="148000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12 Weeks | $450K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000" y="180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Quick wins deployed (8 agents)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000" y="245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Full future state VSM modelled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0000" y="310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Implementation roadmap finalised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0000" y="375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Change management programme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0000" y="440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Ongoing coaching &amp; review gates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50000" y="800000"/>
            <a:ext cx="3700000" cy="50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50000" y="800000"/>
            <a:ext cx="3700000" cy="60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0000" y="880000"/>
            <a:ext cx="35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3
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0000" y="148000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Ongoing | $200K/qtr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0000" y="180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Multi-team VSM rollout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0000" y="245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Centre of Excellence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0000" y="310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Continuous DORA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0000" y="375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Benefits realisation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0000" y="4400000"/>
            <a:ext cx="3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Portfolio-level VSM aggregation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" y="120000"/>
            <a:ext cx="1263375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2D5E"/>
                </a:solidFill>
                <a:latin typeface="Calibri"/>
              </a:rPr>
              <a:t>PDLC VSM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490000"/>
            <a:ext cx="12633750" cy="5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0000" y="580000"/>
            <a:ext cx="12633750" cy="1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0000" y="6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563EB"/>
                </a:solidFill>
                <a:latin typeface="Calibr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000" y="680000"/>
            <a:ext cx="1193375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F2D5E"/>
                </a:solidFill>
                <a:latin typeface="Calibri"/>
              </a:rPr>
              <a:t>Quantify every hour of PDLC waste across 7 phases, identify AI agents for every bottleneck, and deliver a funded transformation roadmap — in 4 weeks. Powered by 8 LangGraph AI agents and benchmarked against industry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2180000"/>
            <a:ext cx="4800825" cy="14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2260000"/>
            <a:ext cx="460082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2540000"/>
            <a:ext cx="460082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Engineering teams lose 80%+ of lead time to waste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780000"/>
            <a:ext cx="460082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Average PDLC flow efficiency: 17.8% (FSI sector)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3020000"/>
            <a:ext cx="460082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Teams cannot quantify waste without VSM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3260000"/>
            <a:ext cx="460082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DORA metrics are measured but not actioned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0825" y="2180000"/>
            <a:ext cx="4042800" cy="14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0825" y="2260000"/>
            <a:ext cx="38428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0825" y="2540000"/>
            <a:ext cx="38428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AI-powered VSM canvas (7 phases)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825" y="2780000"/>
            <a:ext cx="38428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DORA 73-question assessment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0825" y="3020000"/>
            <a:ext cx="38428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36-agent improvement catalogue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0825" y="3260000"/>
            <a:ext cx="38428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Financial business case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3625" y="2180000"/>
            <a:ext cx="3790125" cy="14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3625" y="2260000"/>
            <a:ext cx="359012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TIMELINES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3625" y="2540000"/>
            <a:ext cx="359012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2–4 weeks: VSM assessment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3625" y="2780000"/>
            <a:ext cx="359012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4–8 weeks: pilot + quick wins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3625" y="3020000"/>
            <a:ext cx="359012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• 12–18 months: full transformation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000" y="3680000"/>
            <a:ext cx="3158437" cy="2000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" y="3680000"/>
            <a:ext cx="3158437" cy="2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000" y="3740000"/>
            <a:ext cx="299843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MARKET TRENDS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000" y="4000000"/>
            <a:ext cx="2998437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D5E"/>
                </a:solidFill>
                <a:latin typeface="Calibri"/>
              </a:rPr>
              <a:t>17.8%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000" y="4520000"/>
            <a:ext cx="2998437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293B"/>
                </a:solidFill>
                <a:latin typeface="Calibri"/>
              </a:rPr>
              <a:t>avg flow efficiency in regulated industries — 80%+ of time is waste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8437" y="3680000"/>
            <a:ext cx="3158437" cy="2000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8437" y="3680000"/>
            <a:ext cx="3158437" cy="2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8437" y="3740000"/>
            <a:ext cx="299843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FOCUS AREAS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8437" y="400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Lean VSM measurement (7 PDLC phases)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8437" y="429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DORA maturity assessment (73 Qs)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8437" y="458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AI bottleneck identification + root cause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8437" y="487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Future state modelling (3 scenarios)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8437" y="516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Business case with ROI / payback / NPV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6874" y="3680000"/>
            <a:ext cx="3158437" cy="2000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66874" y="3680000"/>
            <a:ext cx="3158437" cy="2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6874" y="3740000"/>
            <a:ext cx="299843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EXPECTED 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6874" y="400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Quantified current-state VSM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6874" y="429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DORA maturity score + calibration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6874" y="458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Top 5 bottleneck cards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6874" y="487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3 future-state transformation options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6874" y="516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ROI-validated business case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5311" y="3680000"/>
            <a:ext cx="3158437" cy="2000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25311" y="3680000"/>
            <a:ext cx="3158437" cy="2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5311" y="3740000"/>
            <a:ext cx="299843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SUCCESS 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5311" y="400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42→8 day lead time for US Bank Team Phoenix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5311" y="429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8.1%→61% flow efficiency in 18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5311" y="458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4.2× ROI on $3M investment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05311" y="487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14-month payback period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5311" y="5160000"/>
            <a:ext cx="2998437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$31.2M five-year NPV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0000" y="5780000"/>
            <a:ext cx="12633750" cy="14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0000" y="58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OUTCOMES / VALUE DELIVERED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63375" y="613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000" y="6580000"/>
            <a:ext cx="240675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Lean VSM Baseline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90125" y="613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36750" y="6580000"/>
            <a:ext cx="240675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AI Bottleneck Elimination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6875" y="613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63500" y="6580000"/>
            <a:ext cx="240675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DORA Maturity Score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43625" y="613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90250" y="6580000"/>
            <a:ext cx="240675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Transformation Roadmap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70375" y="613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7000" y="6580000"/>
            <a:ext cx="240675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Funded Business Case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Simple, Transparent Investment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00000"/>
            <a:ext cx="3800000" cy="4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800000"/>
            <a:ext cx="3800000" cy="6000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88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130000"/>
            <a:ext cx="3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$150,000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0" y="150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1 team VSM assessment (4 weeks)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0" y="206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DORA 73-question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" y="262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Current state VSM +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0" y="318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Top 5 bottlenecks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" y="374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Business case for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" y="430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Platform access for 6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0000" y="800000"/>
            <a:ext cx="3800000" cy="4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50000" y="800000"/>
            <a:ext cx="3800000" cy="60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0000" y="88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PROFESSIONAL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0000" y="1130000"/>
            <a:ext cx="3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BEAFE"/>
                </a:solidFill>
                <a:latin typeface="Calibri"/>
              </a:rPr>
              <a:t>$450,000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0000" y="150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Up to 5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0000" y="206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Full transformation programme (18 weeks)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0000" y="262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All Starter 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0000" y="318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Quick wins implementation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0000" y="374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Future state VSM (3 options)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0000" y="430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Change management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0000" y="486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12 months platform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0000" y="800000"/>
            <a:ext cx="3800000" cy="45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50000" y="800000"/>
            <a:ext cx="3800000" cy="6000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0000" y="88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0000" y="1130000"/>
            <a:ext cx="3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$1,200,000+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0000" y="150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Enterprise-wide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70000" y="206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Unlimited teams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0000" y="262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Full Option B transformation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0000" y="318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Centre of Excellence setup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70000" y="374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Multi-portfolio VSM aggregation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0000" y="430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Dedicated advisory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0000" y="4860000"/>
            <a:ext cx="35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Unlimited platform access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0000" y="7000000"/>
            <a:ext cx="12633750" cy="37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7070000"/>
            <a:ext cx="1233375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563EB"/>
                </a:solidFill>
                <a:latin typeface="Calibri"/>
              </a:rPr>
              <a:t>Outcome-based model available: we share in the benefits delivered — aligned incentives, zero upfront risk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From Assessment to ROI in 18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900000"/>
            <a:ext cx="12633750" cy="83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98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Foundation &amp;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28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Calibri"/>
              </a:rPr>
              <a:t>████████░░░░░░░░░░░░░░░░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0000" y="98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Months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0000" y="980000"/>
            <a:ext cx="793375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VSM baseline, DORA, quick win identification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850000"/>
            <a:ext cx="12633750" cy="83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93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Quick Win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23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Calibri"/>
              </a:rPr>
              <a:t>░░░░████████████░░░░░░░░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0000" y="193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Months 3–6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0000" y="1930000"/>
            <a:ext cx="793375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8 AI agents deployed, 40% FE improvement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00" y="2800000"/>
            <a:ext cx="12633750" cy="83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000" y="288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Core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318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Calibri"/>
              </a:rPr>
              <a:t>░░░░░░░░████████████░░░░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0000" y="288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Months 4–12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0000" y="2880000"/>
            <a:ext cx="793375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15 agents, process change, change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3750000"/>
            <a:ext cx="12633750" cy="83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383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Scale &amp; 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" y="413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Calibri"/>
              </a:rPr>
              <a:t>░░░░░░░░░░░░░░░░████████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0000" y="383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Months 10–18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0000" y="3830000"/>
            <a:ext cx="793375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Multi-team, CoE, portfolio VSM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000" y="4700000"/>
            <a:ext cx="12633750" cy="83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000" y="478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Benefits Realisation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000" y="5080000"/>
            <a:ext cx="2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Calibri"/>
              </a:rPr>
              <a:t>░░░░░░░░████████████████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0000" y="478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Months 4–18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0000" y="4780000"/>
            <a:ext cx="793375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ROI tracking, monthly benefits review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750" cy="240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60000"/>
            <a:ext cx="1263375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Start Your VSM Assessment in 2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800000"/>
            <a:ext cx="1263375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  <a:latin typeface="Calibri"/>
              </a:rPr>
              <a:t>Discover your team's flow efficiency baseline — quantified, benchmarked, and ready to present to your 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1600000"/>
            <a:ext cx="3500000" cy="20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0000" y="1700000"/>
            <a:ext cx="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22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Book a 30-Min Discovery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2700000"/>
            <a:ext cx="3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BEAFE"/>
                </a:solidFill>
                <a:latin typeface="Calibri"/>
              </a:rPr>
              <a:t>We map your current ALM data and confirm assessment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0000" y="1600000"/>
            <a:ext cx="3500000" cy="20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00000" y="1700000"/>
            <a:ext cx="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0000" y="22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Upload Your ALM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0000" y="2700000"/>
            <a:ext cx="3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BEAFE"/>
                </a:solidFill>
                <a:latin typeface="Calibri"/>
              </a:rPr>
              <a:t>CSV export from Jira, Azure DevOps, or Rally — no integration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0000" y="1600000"/>
            <a:ext cx="3500000" cy="20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000" y="1700000"/>
            <a:ext cx="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0000" y="22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Receive Your VSM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0000" y="2700000"/>
            <a:ext cx="3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BEAFE"/>
                </a:solidFill>
                <a:latin typeface="Calibri"/>
              </a:rPr>
              <a:t>Quantified baseline, DORA score, top 5 bottlenecks, and business case in 2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7000000"/>
            <a:ext cx="1263375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contact@pdlc-vsm.com  |  www.pdlc-vsm.com  |  Book via: calendly.com/pdlc-vsm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