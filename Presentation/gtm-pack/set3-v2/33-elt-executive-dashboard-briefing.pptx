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C5FD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ELT Executive Dashboard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3C5FD"/>
                </a:solidFill>
                <a:latin typeface="Calibri"/>
              </a:rPr>
              <a:t>Transformation Status | Benefits Realisation | Strategic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Calibri"/>
              </a:rPr>
              <a:t>MONTHLY EXECUTIVE BRIEFING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Transformation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Overall programme status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CURRENT OPTION SELECTED: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51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Calibri"/>
              </a:rPr>
              <a:t>Option B — AI Agents + Human Gates ★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743200" cy="14630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−34%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Lead Time vs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508760"/>
            <a:ext cx="2743200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+41%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Flow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2743200" cy="14630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+38%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Team Productivity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508760"/>
            <a:ext cx="2743200" cy="1463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563624"/>
            <a:ext cx="2743200" cy="760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3.1×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69540"/>
            <a:ext cx="2743200" cy="672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ROI vs Plan (4–6× target)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08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TRANSFORMATION PHASE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11430000" cy="777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118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Phase 1 — 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611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COMPLETE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VSM mapped, bottlenecks agreed, findings accepted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89120"/>
            <a:ext cx="11430000" cy="77724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Phase 2 —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805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9669"/>
                </a:solidFill>
                <a:latin typeface="Calibri"/>
              </a:rPr>
              <a:t>COMPLETE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480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Option B selected, business case approved by CFO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57800"/>
            <a:ext cx="11430000" cy="777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492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Phase 3 — DELIVER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3492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Calibri"/>
              </a:rPr>
              <a:t>IN PROGRESS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349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Week 8 of 16 — platform live, adoption at 62%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Benefits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Speed, Productivity &amp; Quality ROI — Month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SPEED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PRODUCTIVITY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QUALITY BENEFITS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3566160" cy="9144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28d → 18d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848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Lead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554480"/>
            <a:ext cx="3566160" cy="9144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600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0848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Flow Eff.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356616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002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+2.1×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084831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Deploy Freq.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51760"/>
            <a:ext cx="356616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974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+31%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821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Productivity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651760"/>
            <a:ext cx="3566160" cy="9144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26974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+28%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1821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Story Throughput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651760"/>
            <a:ext cx="3566160" cy="9144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69747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821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Active Users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356616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−22%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79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Defect Escape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749039"/>
            <a:ext cx="3566160" cy="9144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+18%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279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Test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749039"/>
            <a:ext cx="3566160" cy="9144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794759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−$1.4M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2793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Defect Cost YTD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FINANCIAL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Investment to date: $1.1M of $1.6M total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Benefits realised YTD: $2.3M (139% of plan)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Annualised ROI run-rate: 4.8× (plan: 4–6×)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Forecast 5-year NPV: $28.4M (plan: $25–35M)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Gate Governance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AI agent gate performance — Option B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GATE PERFORMANCE (LAST 30 DAYS)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G1 — VSM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5544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59669"/>
                </a:solidFill>
                <a:latin typeface="Calibri"/>
              </a:rPr>
              <a:t>12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55448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55448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100% within 24h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1600200"/>
            <a:ext cx="137160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1645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11430000" cy="868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G2 — Options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603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59669"/>
                </a:solidFill>
                <a:latin typeface="Calibri"/>
              </a:rPr>
              <a:t>4 of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6032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97706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56032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97706"/>
                </a:solidFill>
                <a:latin typeface="Calibri"/>
              </a:rPr>
              <a:t>75% within 48h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606040"/>
            <a:ext cx="137160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651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Amber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114300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G3 — Config Complete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566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59669"/>
                </a:solidFill>
                <a:latin typeface="Calibri"/>
              </a:rPr>
              <a:t>3 of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56616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566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100% within 24h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3611880"/>
            <a:ext cx="137160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3657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11430000" cy="868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G4 — Go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572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059669"/>
                </a:solidFill>
                <a:latin typeface="Calibri"/>
              </a:rPr>
              <a:t>1 of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572000"/>
            <a:ext cx="1645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457200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100% within 24h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4617720"/>
            <a:ext cx="137160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Gate G2 override: CFO requested revised sensitivity analysis before approving Option B business case. Completed within 48h. No impact to programme timeline.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Items requiring Executive Steering Committee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1508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DECISION 1: Option Upgrade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Review readiness to move from Option B to Option C for the Digital Lending product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188720"/>
            <a:ext cx="301752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2618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Owner: CFO + 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600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  <a:latin typeface="Calibri"/>
              </a:rPr>
              <a:t>By: 30 April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30000" cy="15087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DECISION 2: Wave 2 Scale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Approve division-wide rollout to Commercial Banking (5 additional teams)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834640"/>
            <a:ext cx="301752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90779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Owner: Executive 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461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  <a:latin typeface="Calibri"/>
              </a:rPr>
              <a:t>By: 15 April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11430000" cy="1508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DECISION 3: Champions Programme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Approve $180K annual budget for ongoing champions programme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480560"/>
            <a:ext cx="3017520" cy="12801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5537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Owner: CFO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892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  <a:latin typeface="Calibri"/>
              </a:rPr>
              <a:t>By: 15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Outcome Dashboard — 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Three monitoring perspectives, always-on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5992" cy="54864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745992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10512"/>
            <a:ext cx="356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How deeply agents/tools are adopted across the PDLC.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43230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Agent Utilisation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4320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Acceptance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05409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Human Override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36499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Time Saved / Agent /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75888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Agent ROI Multiple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1480" y="1188720"/>
            <a:ext cx="374599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2920" y="1243584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PDLC Performance (Outcomes)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1480" y="1737360"/>
            <a:ext cx="3745992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2920" y="1810512"/>
            <a:ext cx="356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Delivery outcomes — flow, speed, stability &amp; productivity.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1208" y="243230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1208" y="274320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Cycle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1208" y="305409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Flow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1208" y="336499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Deployment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1208" y="3675888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Change Failure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1208" y="398678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MTTR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1208" y="429768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Cost per Story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1208" y="460857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Productivity (SP/person-day)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7200" y="1188720"/>
            <a:ext cx="3745992" cy="54864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8640" y="1243584"/>
            <a:ext cx="356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Ops &amp; Assurance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77200" y="1737360"/>
            <a:ext cx="3745992" cy="3200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8640" y="1810512"/>
            <a:ext cx="356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Token economics, agent quality, bias, explainability &amp; governance.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6928" y="243230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Token Usage &amp; Cost / Sprint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6928" y="274320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AI Cost / Story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6928" y="305409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Agent Success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6928" y="3364992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Hallucination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6928" y="3675888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RAG Groundedness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6928" y="3986784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Bias / Fairness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6928" y="4297680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Explainability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6928" y="4608576"/>
            <a:ext cx="3526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• Guardrail Compliance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1208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ROI is read on the J-Curve (cost-only): investment → tuition-cost dip → breakeven → compounding savings. Business growth from new features is intentionally excluded — value is engineering cost-efficiency and capacity reinvestment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