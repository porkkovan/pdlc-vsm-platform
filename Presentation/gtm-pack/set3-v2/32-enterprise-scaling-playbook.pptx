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3C5FD"/>
                </a:solidFill>
                <a:latin typeface="Calibri"/>
              </a:rPr>
              <a:t>AI-POWERED PDLC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Enterprise Scaling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3C5FD"/>
                </a:solidFill>
                <a:latin typeface="Calibri"/>
              </a:rPr>
              <a:t>From Pilot to Enterprise-Wide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BEAFE"/>
                </a:solidFill>
                <a:latin typeface="Calibri"/>
              </a:rPr>
              <a:t>CONFIDENTIAL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Scaling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One offering. Three options. Enterprise-wide transformation at the right 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The AI-Powered PDLC Transformation consulting offering is designed to scale from a single pilot team to an enterprise-wide deployment — without a big-bang change programme. The platform's modular architecture and option-based model allow organisations to start where they are, prove value fast, and scale with confidence.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377440"/>
            <a:ext cx="3566160" cy="3108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423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408A"/>
                </a:solidFill>
                <a:latin typeface="Calibri"/>
              </a:rPr>
              <a:t>WAVE 1
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260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1–2 teams
1 product
12 weeks
Option A or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1E408A"/>
                </a:solidFill>
                <a:latin typeface="Calibri"/>
              </a:rPr>
              <a:t>Prove: faster delivery, visible ROI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377440"/>
            <a:ext cx="3566160" cy="31089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423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563EB"/>
                </a:solidFill>
                <a:latin typeface="Calibri"/>
              </a:rPr>
              <a:t>WAVE 2
Division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9260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5–10 teams
2–4 products
6 months
Option B 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1148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563EB"/>
                </a:solidFill>
                <a:latin typeface="Calibri"/>
              </a:rPr>
              <a:t>Prove: consistent ROI at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2377440"/>
            <a:ext cx="3931920" cy="310896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4231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D5E"/>
                </a:solidFill>
                <a:latin typeface="Calibri"/>
              </a:rPr>
              <a:t>WAVE 3
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9260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E293B"/>
                </a:solidFill>
                <a:latin typeface="Calibri"/>
              </a:rPr>
              <a:t>All teams
All products
12 months
Option B/C enterprise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114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0F2D5E"/>
                </a:solidFill>
                <a:latin typeface="Calibri"/>
              </a:rPr>
              <a:t>Prove: enterprise transformation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→ Each wave requires a go/no-go gate based on benefits realisation from the prior wave.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Wave 1 → Wave 2 Scale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Pilot success gates before division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D5E"/>
                </a:solidFill>
                <a:latin typeface="Calibri"/>
              </a:rPr>
              <a:t>Scale from pilot to division only when ALL three gates pass: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1143000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SPEED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Lead time reduction &gt;30% vs baseline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1874519"/>
            <a:ext cx="21031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9202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4.2×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377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US Bank pilot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00400"/>
            <a:ext cx="11430000" cy="118872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PRODUCTIVITY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918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Flow efficiency improvement &gt;20%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3246120"/>
            <a:ext cx="21031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2918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37490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US Bank achieved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11430000" cy="11887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ROI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634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Net benefit &gt;1.5× investment at 6 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4617720"/>
            <a:ext cx="2103120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466344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4.2× 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120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14-month payback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126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If any gate fails: run an optimisation sprint before scaling. Do not accelerate past a failing gate.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Wave 2: Division Scaling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Option B standard across 5–10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DIVISION SCALE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114300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Division 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6459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63EB"/>
                </a:solidFill>
                <a:latin typeface="Calibri"/>
              </a:rPr>
              <a:t>AI Transformation Lead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Sets AI policy, owns gate 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11430000" cy="8686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Product Directors (2–4)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651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63EB"/>
                </a:solidFill>
                <a:latin typeface="Calibri"/>
              </a:rPr>
              <a:t>Product AI Champions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Gate approval owners per product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66160"/>
            <a:ext cx="11430000" cy="8686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Engineering VPs (2–4)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657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63EB"/>
                </a:solidFill>
                <a:latin typeface="Calibri"/>
              </a:rPr>
              <a:t>Engineering AI 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57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Technical gate approvers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11430000" cy="86868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Scrum Masters (5–10)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663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563EB"/>
                </a:solidFill>
                <a:latin typeface="Calibri"/>
              </a:rPr>
              <a:t>Team Champions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6634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Daily adoption, first-line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486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D5E"/>
                </a:solidFill>
                <a:latin typeface="Calibri"/>
              </a:rPr>
              <a:t>DIVISION SCALE COMMERCIAL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Platform licences: 5–10 team seats @ $X/seat/yr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Change mgmt uplift: 20% of total investment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Expected ROI: 4–6× within 18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Wave 3: Enterprise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Option B/C enterprise-wide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749039" cy="539496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ENTERPRISE PLATFORM
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Centralised STUMP instance
• Multi-tenant: org → division → team hierarchy
• Federated governance: enterprise policy + local execution
• Single SSO, RBAC, audit 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749039" cy="5394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34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ENTERPRISE AI
OPERATING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AI Centre of Excellence owns platform + methodology
• Division AI Leads execute
• Team AI Champions sustain
• Board AI Committee sets policy (Option 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097280"/>
            <a:ext cx="3749039" cy="539496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34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ENTERPRISE
ROI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• Option B enterprise: 4–6× ROI, $5–15M investment
• Option C enterprise: 8–12× ROI, $15–30M investment
• Payback: 12–18 months (Option B), 18–30 months (Option C)
• 5-year NPV: $25–75M depending on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Scaling 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Common failure modes in enterprise AI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058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D5E"/>
                </a:solidFill>
                <a:latin typeface="Calibri"/>
              </a:rPr>
              <a:t>Mitigation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11430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Scaling before value proven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Premature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4630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Run benefits gate before each wave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11430000" cy="8229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Change management under-resourced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774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Adoption collapse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3774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Budget 20–30% of investment for change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11430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Governance not scaled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918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Ungoverned AI autonomy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918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Stand up governance tier before scaling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11430000" cy="822960"/>
          </a:xfrm>
          <a:prstGeom prst="rect">
            <a:avLst/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062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Configuration debt accumulates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2062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Platform instability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2062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Quarterly configuration review mandatory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114300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20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Champions programme lapses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120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Adoption regression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512064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Champions programme is permanent, not one-time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