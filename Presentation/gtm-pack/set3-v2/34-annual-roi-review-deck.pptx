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3C5FD"/>
                </a:solidFill>
                <a:latin typeface="Calibri"/>
              </a:rPr>
              <a:t>AI-POWERED PDLC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Annual ROI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3C5FD"/>
                </a:solidFill>
                <a:latin typeface="Calibri"/>
              </a:rPr>
              <a:t>Year 1 Benefits Realisation &amp; Year 2 Investment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  <a:latin typeface="Calibri"/>
              </a:rPr>
              <a:t>ANNUAL REVIEW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Year 1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Transformation progress and financial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OPTION B — AI AGENTS + HUMAN GATES  |  Full Year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743200" cy="1463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63624"/>
            <a:ext cx="2743200" cy="760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−48%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69540"/>
            <a:ext cx="2743200" cy="672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Lead Time vs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508760"/>
            <a:ext cx="2743200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63624"/>
            <a:ext cx="2743200" cy="760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+52%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69540"/>
            <a:ext cx="2743200" cy="672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Flow Efficiency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2743200" cy="14630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63624"/>
            <a:ext cx="2743200" cy="760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+47%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69540"/>
            <a:ext cx="2743200" cy="672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Team Productivity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508760"/>
            <a:ext cx="2743200" cy="1463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563624"/>
            <a:ext cx="2743200" cy="760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4.8×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269540"/>
            <a:ext cx="2743200" cy="672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Annual ROI Achieved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YEAR 1 FINANCIAL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1143000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Total Investment Year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$1.6M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$1.6M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611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alibri"/>
              </a:rPr>
              <a:t>On budget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41648"/>
            <a:ext cx="11430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87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Total Benefits Realised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0873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$7.7M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087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$6.4–9.6M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087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alibri"/>
              </a:rPr>
              <a:t>Above plan midpoint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517136"/>
            <a:ext cx="1143000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628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Net Benefit Year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5628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$6.1M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5628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$4.8–8.0M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5628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alibri"/>
              </a:rPr>
              <a:t>Above plan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992624"/>
            <a:ext cx="11430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383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ROI Year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0383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4.8×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383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4–6× target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0383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7706"/>
                </a:solidFill>
                <a:latin typeface="Calibri"/>
              </a:rPr>
              <a:t>Within range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468112"/>
            <a:ext cx="1143000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138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Payback Period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5138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14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513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12–18 months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5138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alibri"/>
              </a:rPr>
              <a:t>On track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943600"/>
            <a:ext cx="11430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5-Year NPV (projected)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5989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$31.2M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5989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$25–40M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989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alibri"/>
              </a:rPr>
              <a:t>On 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Year 1 Benefits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Speed, Productivity &amp; Quality — actual vs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Benefit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286000" cy="3657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097280"/>
            <a:ext cx="1371600" cy="3657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Year 1 Actual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097280"/>
            <a:ext cx="1828800" cy="3657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Year 1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097280"/>
            <a:ext cx="1645920" cy="3657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vs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097280"/>
            <a:ext cx="1645920" cy="3657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Year 2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1097280"/>
            <a:ext cx="2468880" cy="3657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508760"/>
            <a:ext cx="11475720" cy="6675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Lead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1554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42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22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25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Calibri"/>
              </a:rPr>
              <a:t>+3d better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554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8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221991"/>
            <a:ext cx="114757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2677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Flow Efficiency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226771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17.8%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26771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52%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26771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45%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26771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Calibri"/>
              </a:rPr>
              <a:t>+7pp better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26771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65%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35224"/>
            <a:ext cx="11475720" cy="6675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98094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Deploy Frequency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298094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1.2/wk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2980944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2.8/wk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298094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2.5/wk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98094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Calibri"/>
              </a:rPr>
              <a:t>+0.3 better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980944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4/wk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648456"/>
            <a:ext cx="114757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69417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Defect Escape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80" y="3694176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22%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36941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14%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369417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369417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Calibri"/>
              </a:rPr>
              <a:t>−1pp better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369417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361688"/>
            <a:ext cx="11475720" cy="6675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4074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Team Productivity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7480" y="440740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100 baseline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4074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147 index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440740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140 index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440740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Calibri"/>
              </a:rPr>
              <a:t>+7 better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440740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175 index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074920"/>
            <a:ext cx="114757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120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$M Benefits Realised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97480" y="5120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408A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5120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$7.7M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932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$6.4M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Calibri"/>
              </a:rPr>
              <a:t>+$1.3M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72600" y="5120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$11.2M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Year 2 Investment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Three paths forward — choose your ambition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Based on Year 1 results (4.8× ROI, 14-month payback), three Year 2 investment paths are recommended: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749039" cy="48920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PATH A
Consolidate &amp; Optimise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Stay at Option B
• Extend to 2 additional divisions
• Deepen gate governance
• Investment: +$600K
• Expected ROI: 5–6×
• Net new benefit: +$3.2M/yr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080760"/>
            <a:ext cx="3749039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BEAFE"/>
                </a:solidFill>
                <a:latin typeface="Calibri"/>
              </a:rPr>
              <a:t>Lowest risk
Highest certainty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3749039" cy="4892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PATH B
Scale &amp; Upgrade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2316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Migrate lead product to Option C
• Scale Option B to all divisions
• Establish AI Centre of Excellence
• Investment: +$2.2M
• Expected ROI: 6–8×
• Net new benefit: +$8.5M/yr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6080760"/>
            <a:ext cx="3749039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6126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BEAFE"/>
                </a:solidFill>
                <a:latin typeface="Calibri"/>
              </a:rPr>
              <a:t>Recommended
Balanced risk/reward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600200"/>
            <a:ext cx="3749039" cy="4892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PATH C
Full Transformation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Migrate all products to Option C
• Full agentic PDLC enterprise-wide
• Board AI governance established
• Investment: +$5.5M
• Expected ROI: 8–12×
• Net new benefit: +$18M/yr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6080760"/>
            <a:ext cx="3749039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6126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BEAFE"/>
                </a:solidFill>
                <a:latin typeface="Calibri"/>
              </a:rPr>
              <a:t>Highest reward
Highest change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Recommendation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Year 2 investment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164592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RECOMMENDED: PATH B — Scale &amp;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2D5E"/>
                </a:solidFill>
                <a:latin typeface="Calibri"/>
              </a:rPr>
              <a:t>Year 1 results prove the model. Year 2 should simultaneously scale the proven Option B model enterprise-wide AND migrate the highest-value product to Option C — building the data and governance foundation for full agentic transformation in Year 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0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NEXT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91840"/>
            <a:ext cx="11430000" cy="5669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337560"/>
            <a:ext cx="11887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3649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6499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CFO approves Path B Year 2 budget ($2.2M)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3649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CFO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13632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59352"/>
            <a:ext cx="11887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867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8678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CTO confirms Option C migration candidate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9867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CTO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35424"/>
            <a:ext cx="11430000" cy="5669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581144"/>
            <a:ext cx="11887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085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60857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Engagement team scopes Wave 2 rollout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6085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Engagement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57216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202936"/>
            <a:ext cx="11887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2303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23036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AI Centre of Excellence charter drafted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23036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CTO + HR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779008"/>
            <a:ext cx="11430000" cy="5669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824728"/>
            <a:ext cx="11887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85216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85216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Wave 2 kick-off with all division product directors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8521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Executive Sponsor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Annual ROI on the J-Curve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12 months on — investment, breakeven and compounding savings (cost-only)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50292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Investment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743200" cy="1920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Hard costs up front: licences + agent/token usage + enablement/training + AI infrastructure.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188720"/>
            <a:ext cx="274320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2344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J-Curve dip (tuition cost)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691640"/>
            <a:ext cx="2743200" cy="1920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76479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Early sprints carry a productivity dip — the learning curve + verification tax (reviewing AI output) — so net savings start negative.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188720"/>
            <a:ext cx="27432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2344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Breakeven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691640"/>
            <a:ext cx="2743200" cy="1920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76479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As adoption ramps and the dip fades, net savings turn positive and cumulative benefit crosses zero.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9136" y="1188720"/>
            <a:ext cx="2743200" cy="502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2344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Compounding savings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691640"/>
            <a:ext cx="2743200" cy="1920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76479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Net savings grow sprint-on-sprint; freed capacity is reinvested (cost avoided), not headcount cut.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3886200"/>
            <a:ext cx="12188952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59352"/>
            <a:ext cx="11338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ROI % = (Value − Investment) ÷ Investment   —   Value = cost-avoidance (freed capacity), NOT new-feature revenue  Ongoing cost is PLATFORM-AWARE and INCLUDES agent/token spend: home-grown = token + platform-eng team; COTS = per-seat licence + token; service-provider = managed fee + token. Shared platform costs are prorated across pods.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92040"/>
            <a:ext cx="12188952" cy="502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560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At portfolio scale the shared platform cost is fixed while savings scale with every pod — ROI compounds year over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