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D5E"/>
                </a:solidFill>
                <a:latin typeface="Calibri"/>
              </a:rPr>
              <a:t>From L1 to L5 — Reaching the Autonomous Development Lifecycle (ADLC)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563EB"/>
                </a:solidFill>
                <a:latin typeface="Calibri"/>
              </a:rPr>
              <a:t>Behaviour and team mix (human vs digital) at each maturity level  ·  AI adoption deepens left →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25296"/>
            <a:ext cx="11274552" cy="274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2123236" cy="84124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9037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D5E"/>
                </a:solidFill>
                <a:latin typeface="Calibri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65376"/>
            <a:ext cx="19037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D5E"/>
                </a:solidFill>
                <a:latin typeface="Calibri"/>
              </a:rPr>
              <a:t>Assisted Prompting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22576"/>
            <a:ext cx="2123236" cy="368503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95728"/>
            <a:ext cx="19037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ML1 ·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51760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34640"/>
            <a:ext cx="19037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Humans do the work; AI assists via simple prompting in a few phases (mainly Dev &amp; Test).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50208"/>
            <a:ext cx="19037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Agents: AI tools · no agents</a:t>
            </a:r>
          </a:p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Human-in-loop: Every output human-led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35424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TEAM MIX  (human vs digital)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54880"/>
            <a:ext cx="1523024" cy="237744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89952" y="4754880"/>
            <a:ext cx="380756" cy="23774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E408A"/>
                </a:solidFill>
                <a:latin typeface="Calibri"/>
              </a:rPr>
              <a:t>80%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2563EB"/>
                </a:solidFill>
                <a:latin typeface="Calibri"/>
              </a:rPr>
              <a:t>20%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48656"/>
            <a:ext cx="19037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2D5E"/>
                </a:solidFill>
                <a:latin typeface="Calibri"/>
              </a:rPr>
              <a:t>~9 humans  ·  2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22976"/>
            <a:ext cx="2123236" cy="484632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55955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0F2D5E"/>
                </a:solidFill>
                <a:latin typeface="Calibri"/>
              </a:rPr>
              <a:t>Humans retained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42432"/>
            <a:ext cx="19037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2D5E"/>
                </a:solidFill>
                <a:latin typeface="Calibri"/>
              </a:rPr>
              <a:t>Full team: PO, BA, Architect, Devs, QA, Scrum, DevOps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5028" y="1481328"/>
            <a:ext cx="2123236" cy="841248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4756" y="1536192"/>
            <a:ext cx="19037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D5E"/>
                </a:solidFill>
                <a:latin typeface="Calibri"/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4756" y="1865376"/>
            <a:ext cx="19037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D5E"/>
                </a:solidFill>
                <a:latin typeface="Calibri"/>
              </a:rPr>
              <a:t>Agent Co-pilots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5028" y="2322576"/>
            <a:ext cx="2123236" cy="368503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4756" y="2395728"/>
            <a:ext cx="19037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ML2 · Augmentation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4756" y="2651760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BEHAVIOUR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4756" y="2834640"/>
            <a:ext cx="19037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Assistive/companion agents across most phases draft work; humans review and approve everything.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4756" y="3950208"/>
            <a:ext cx="19037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Agents: Assistant agents</a:t>
            </a:r>
          </a:p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Human-in-loop: All outputs reviewed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4756" y="4535424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TEAM MIX  (human vs digital)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4756" y="4754880"/>
            <a:ext cx="1142268" cy="237744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97025" y="4754880"/>
            <a:ext cx="761512" cy="23774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4756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E408A"/>
                </a:solidFill>
                <a:latin typeface="Calibri"/>
              </a:rPr>
              <a:t>60% human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4756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2563EB"/>
                </a:solidFill>
                <a:latin typeface="Calibri"/>
              </a:rPr>
              <a:t>40%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4756" y="5248656"/>
            <a:ext cx="19037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2D5E"/>
                </a:solidFill>
                <a:latin typeface="Calibri"/>
              </a:rPr>
              <a:t>~8 humans  ·  6 agents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5028" y="5522976"/>
            <a:ext cx="2123236" cy="484632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54756" y="555955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0F2D5E"/>
                </a:solidFill>
                <a:latin typeface="Calibri"/>
              </a:rPr>
              <a:t>Humans retained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4756" y="5742432"/>
            <a:ext cx="19037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F2D5E"/>
                </a:solidFill>
                <a:latin typeface="Calibri"/>
              </a:rPr>
              <a:t>Full team, AI-augmented (Option 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32857" y="1481328"/>
            <a:ext cx="2123236" cy="8412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2585" y="1536192"/>
            <a:ext cx="19037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2585" y="1865376"/>
            <a:ext cx="19037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Supervised Independent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32857" y="2322576"/>
            <a:ext cx="2123236" cy="368503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42585" y="2395728"/>
            <a:ext cx="19037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ML3 · 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2585" y="2651760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BEHAVIOUR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2585" y="2834640"/>
            <a:ext cx="19037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Agents act independently on standard cases and interact; humans handle exceptions &amp; quality gates.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2585" y="3950208"/>
            <a:ext cx="19037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Agents: Independent agents</a:t>
            </a:r>
          </a:p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Human-in-loop: Exceptions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42585" y="4535424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TEAM MIX  (human vs digital)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42585" y="4754880"/>
            <a:ext cx="723436" cy="237744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66022" y="4754880"/>
            <a:ext cx="1180344" cy="23774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42585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E408A"/>
                </a:solidFill>
                <a:latin typeface="Calibri"/>
              </a:rPr>
              <a:t>38% human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42585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2563EB"/>
                </a:solidFill>
                <a:latin typeface="Calibri"/>
              </a:rPr>
              <a:t>62% digital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42585" y="5248656"/>
            <a:ext cx="19037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2D5E"/>
                </a:solidFill>
                <a:latin typeface="Calibri"/>
              </a:rPr>
              <a:t>~6 humans  ·  12 agents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2857" y="5522976"/>
            <a:ext cx="2123236" cy="4846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42585" y="555955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Humans retained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2585" y="5742432"/>
            <a:ext cx="19037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PO, Architect (incl. risk), Tech Lead, QA Lead, Compliance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20686" y="1481328"/>
            <a:ext cx="2123236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30414" y="1536192"/>
            <a:ext cx="19037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30414" y="1865376"/>
            <a:ext cx="19037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Orchestrated Agents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20686" y="2322576"/>
            <a:ext cx="2123236" cy="368503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30414" y="2395728"/>
            <a:ext cx="19037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ML4 · Transformation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30414" y="2651760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BEHAVIOUR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30414" y="2834640"/>
            <a:ext cx="19037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Most phases agent-run with multi-agent orchestration end-to-end; humans govern &amp; escalate.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0414" y="3950208"/>
            <a:ext cx="19037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Agents: Orchestrated agents</a:t>
            </a:r>
          </a:p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Human-in-loop: Gate &amp; govern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30414" y="4535424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TEAM MIX  (human vs digital)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30414" y="4754880"/>
            <a:ext cx="418831" cy="237744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49246" y="4754880"/>
            <a:ext cx="1484949" cy="23774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30414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E408A"/>
                </a:solidFill>
                <a:latin typeface="Calibri"/>
              </a:rPr>
              <a:t>22% human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0414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2563EB"/>
                </a:solidFill>
                <a:latin typeface="Calibri"/>
              </a:rPr>
              <a:t>78% digital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30414" y="5248656"/>
            <a:ext cx="19037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2D5E"/>
                </a:solidFill>
                <a:latin typeface="Calibri"/>
              </a:rPr>
              <a:t>~4 humans  ·  18 agents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20686" y="5522976"/>
            <a:ext cx="2123236" cy="4846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30414" y="555955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Humans retained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0414" y="5742432"/>
            <a:ext cx="19037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Product Definer, Product Builder, Architect (incl. risk), AI Governance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08515" y="1481328"/>
            <a:ext cx="2123236" cy="841248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18243" y="1536192"/>
            <a:ext cx="19037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18243" y="1865376"/>
            <a:ext cx="190378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Autonomous ADLC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8515" y="2322576"/>
            <a:ext cx="2123236" cy="3685032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18243" y="2395728"/>
            <a:ext cx="19037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ML5 · Reinvention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18243" y="2651760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BEHAVIOUR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18243" y="2834640"/>
            <a:ext cx="19037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Fully orchestrated autonomous Agentic Development Lifecycle. Humans set intent, review &amp; approve only.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18243" y="3950208"/>
            <a:ext cx="19037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Agents: Autonomous orchestration</a:t>
            </a:r>
          </a:p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1E408A"/>
                </a:solidFill>
                <a:latin typeface="Calibri"/>
              </a:rPr>
              <a:t>Human-in-loop: Strategic only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18243" y="4535424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475569"/>
                </a:solidFill>
                <a:latin typeface="Calibri"/>
              </a:rPr>
              <a:t>TEAM MIX  (human vs digital)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718243" y="4754880"/>
            <a:ext cx="190378" cy="237744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908621" y="4754880"/>
            <a:ext cx="1713402" cy="23774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18243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E408A"/>
                </a:solidFill>
                <a:latin typeface="Calibri"/>
              </a:rPr>
              <a:t>10% human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18243" y="501091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 i="0">
                <a:solidFill>
                  <a:srgbClr val="2563EB"/>
                </a:solidFill>
                <a:latin typeface="Calibri"/>
              </a:rPr>
              <a:t>90% digital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18243" y="5248656"/>
            <a:ext cx="19037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2D5E"/>
                </a:solidFill>
                <a:latin typeface="Calibri"/>
              </a:rPr>
              <a:t>~3 humans  ·  21 agents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08515" y="5522976"/>
            <a:ext cx="2123236" cy="484632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18243" y="5559552"/>
            <a:ext cx="19037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Humans retained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18243" y="5742432"/>
            <a:ext cx="19037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Product Definer · Product Builder · Architect (incl. risk)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6144768"/>
            <a:ext cx="274320" cy="164592"/>
          </a:xfrm>
          <a:prstGeom prst="rect">
            <a:avLst/>
          </a:prstGeom>
          <a:solidFill>
            <a:srgbClr val="1E4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8096" y="6117336"/>
            <a:ext cx="10972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Human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6144768"/>
            <a:ext cx="274320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39696" y="6117336"/>
            <a:ext cx="20116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Digital (agents)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0" y="6117336"/>
            <a:ext cx="7132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2563EB"/>
                </a:solidFill>
                <a:latin typeface="Calibri"/>
              </a:rPr>
              <a:t>As you climb L1→L5, behaviour shifts from human-led to agent-orchestrated and the team mix inverts — from ~9 humans : 2 tools to 3 humans : 21 autonomous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D5E"/>
                </a:solidFill>
                <a:latin typeface="Calibri"/>
              </a:rPr>
              <a:t>The Approach to Reach L5 (ADLC)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1247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563EB"/>
                </a:solidFill>
                <a:latin typeface="Calibri"/>
              </a:rPr>
              <a:t>Diagnose → choose target &amp; platform → phase the climb → fund it → measure &amp;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25296"/>
            <a:ext cx="11274552" cy="274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137867" cy="14173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682495"/>
            <a:ext cx="457200" cy="457200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719072"/>
            <a:ext cx="457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918411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D5E"/>
                </a:solidFill>
                <a:latin typeface="Calibri"/>
              </a:rPr>
              <a:t>Diagnose current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96896"/>
            <a:ext cx="191841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0F2D5E"/>
                </a:solidFill>
                <a:latin typeface="Calibri"/>
              </a:rPr>
              <a:t>Auto-derive today's level (often L0–L1) from your value-stream data — no manual scoring.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6779" y="20116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0A5FA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1371" y="1554480"/>
            <a:ext cx="2137867" cy="141732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9387" y="1682495"/>
            <a:ext cx="457200" cy="457200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9387" y="1719072"/>
            <a:ext cx="457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1099" y="2194560"/>
            <a:ext cx="1918411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D5E"/>
                </a:solidFill>
                <a:latin typeface="Calibri"/>
              </a:rPr>
              <a:t>Define the North-Star +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1099" y="2596896"/>
            <a:ext cx="191841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0F2D5E"/>
                </a:solidFill>
                <a:latin typeface="Calibri"/>
              </a:rPr>
              <a:t>Pick the target level (typically L4–L5) and the delivery platform: home-grown, COTS, or service-provider.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0950" y="20116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0A5FA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5542" y="1554480"/>
            <a:ext cx="2137867" cy="1417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3558" y="1682495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3558" y="1719072"/>
            <a:ext cx="457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0A5F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5270" y="2194560"/>
            <a:ext cx="1918411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the climb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5270" y="2596896"/>
            <a:ext cx="191841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Calibri"/>
              </a:rPr>
              <a:t>Go in one move, or via 1–2 interim stops sized to maturity &amp; risk appetite — e.g. L1 → L3 → L5.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5121" y="20116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0A5FA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9713" y="1554480"/>
            <a:ext cx="2137867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37729" y="1682495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7729" y="1719072"/>
            <a:ext cx="457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9441" y="2194560"/>
            <a:ext cx="1918411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Fund it on the J-Curve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9441" y="2596896"/>
            <a:ext cx="191841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Calibri"/>
              </a:rPr>
              <a:t>Cost-only business case: up-front investment + a learning/verification dip, then savings that grow to breakeven.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9292" y="2011680"/>
            <a:ext cx="164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0A5FA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93884" y="1554480"/>
            <a:ext cx="2137867" cy="1417320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1900" y="1682495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1900" y="1719072"/>
            <a:ext cx="457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2D5E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3612" y="2194560"/>
            <a:ext cx="1918411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Execute &amp; measure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3612" y="2596896"/>
            <a:ext cx="191841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Calibri"/>
              </a:rPr>
              <a:t>Run each interim step; track adoption, performance &amp; AI-ops on the Outcome Dashboard; progress vs target.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291840"/>
            <a:ext cx="112745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2D5E"/>
                </a:solidFill>
                <a:latin typeface="Calibri"/>
              </a:rPr>
              <a:t>The climb — humans direct, agents do the work (team mix inverts as autonomy rises)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74920"/>
            <a:ext cx="1706270" cy="54864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29784"/>
            <a:ext cx="170627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D5E"/>
                </a:solidFill>
                <a:latin typeface="Calibri"/>
              </a:rPr>
              <a:t>L1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04104"/>
            <a:ext cx="170627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F2D5E"/>
                </a:solidFill>
                <a:latin typeface="Calibri"/>
              </a:rPr>
              <a:t>Assisted Prompting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67528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E408A"/>
                </a:solidFill>
                <a:latin typeface="Calibri"/>
              </a:rPr>
              <a:t>80%H · 20%D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78424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~9:2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86430" y="4743450"/>
            <a:ext cx="1706270" cy="880109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86430" y="4798314"/>
            <a:ext cx="170627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D5E"/>
                </a:solidFill>
                <a:latin typeface="Calibri"/>
              </a:rPr>
              <a:t>L2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6430" y="5072634"/>
            <a:ext cx="170627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F2D5E"/>
                </a:solidFill>
                <a:latin typeface="Calibri"/>
              </a:rPr>
              <a:t>Agent Co-pilots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6430" y="5367528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E408A"/>
                </a:solidFill>
                <a:latin typeface="Calibri"/>
              </a:rPr>
              <a:t>60%H · 40%D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86430" y="5678424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~8:6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41340" y="4411980"/>
            <a:ext cx="1706270" cy="121157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41340" y="4466844"/>
            <a:ext cx="170627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41340" y="4741164"/>
            <a:ext cx="170627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Supervised Independent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1340" y="5367528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38%H · 62%D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41340" y="5678424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~6:12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6251" y="4080510"/>
            <a:ext cx="1706270" cy="1543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6251" y="4135374"/>
            <a:ext cx="170627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6251" y="4409694"/>
            <a:ext cx="170627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Orchestrated Agents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6251" y="5367528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22%H · 78%D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6251" y="5678424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~4:18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1161" y="3749040"/>
            <a:ext cx="1706270" cy="1874519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51161" y="3803904"/>
            <a:ext cx="170627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1161" y="4078224"/>
            <a:ext cx="170627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Autonomous ADLC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1161" y="5367528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10%H · 90%D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1161" y="5678424"/>
            <a:ext cx="170627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~3:21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199632"/>
            <a:ext cx="11274552" cy="457200"/>
          </a:xfrm>
          <a:prstGeom prst="rect">
            <a:avLst/>
          </a:prstGeom>
          <a:solidFill>
            <a:srgbClr val="0F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" y="6254496"/>
            <a:ext cx="10972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L5 = Autonomous ADLC: agents own end-to-end execution under orchestration; humans = Product Definer, Product Builder &amp; Architect (incl. risk) setting intent, reviewing and approving.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