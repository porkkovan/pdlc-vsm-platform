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AI-Powered PDLC Value Stream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</a:rPr>
              <a:t>Pilot Engagement — Executive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[DATE]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</a:rPr>
              <a:t>PDLC VSM Platform  |  Powered by LangGraph +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8-Week Pilot: What We Found and What It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[XX]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Current Lead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17–22%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Flow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Bottlenecks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$[X]M/yr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Savings 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1. Phase 5 (Testing) accounts for [XX]% of total queue time — manual SIT/UAT is the #1 blocker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015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2. Architecture review gate adds [XX] hours per feature — a 3-day invisible delay per sprint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59935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3. DORA band: WALK (2.1/5.0) — deployment frequency and MTTR both below sector average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18304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4. Peer benchmark gap: [COMPETITOR] achieves [X]× better flow efficiency on same 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7667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5. Conservative scenario: $[X]M investment, [X]× ROI, [XX]-month payback — board-approvable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Current State Value Stream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[TEAM NAME] — [X]-Day Lead Time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097280"/>
            <a:ext cx="155448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Design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097280"/>
            <a:ext cx="15544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097280"/>
            <a:ext cx="155448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Code Review &amp;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097280"/>
            <a:ext cx="155448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Continuous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097280"/>
            <a:ext cx="155448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Deployment Prep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097280"/>
            <a:ext cx="155448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10972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Release &amp;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1691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PT: [X]h
WT: [X]h
FE: [X]%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06040"/>
            <a:ext cx="11612880" cy="457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743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</a:rPr>
              <a:t>→ TOTAL LEAD TIME: [XX] DAYS  |  FLOW EFFICIENCY: [X]%  |  PROCESS TIME: [X]h  |  WAIT TIME: [X]h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37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■ Phases in RED = Flow Efficiency &lt; 15% (critical waste zones — immediate focus required)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93B"/>
                </a:solidFill>
              </a:rPr>
              <a:t>Source: [X,XXX] Jira tickets from [X] sprints ([MONTH YEAR]–[MONTH YEAR])  |  AI-validated by VSM Analyzer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DORA Maturity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73-Question Gap Analysis — [TEAM NAME]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46888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Continuous
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[X.X]/5.0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Band: WALK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468880" cy="18288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97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Continuous
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[X.X]/5.0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Band: WALK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468880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097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Continuous
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[X.X]/5.0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Band: CRAWL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097280"/>
            <a:ext cx="246888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097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Culture &amp;
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[X.X]/5.0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Band: WALK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Overall DORA Band: WALK  |  Overall Score: [X.X] / 5.0  |  Sector Average: 2.8 / 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Top gap: Automated testing coverage [X]% vs sector target 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Second gap: Deployment frequency [bi-weekly] vs sector leader [daily]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Third gap: MTTR [X] hours vs sector leader [2 hours]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 5 Bottlenecks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Ranked by Annual Waste Hours — Root Cause + Benchmark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[Bottleneck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Phase: [Phase 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Waste: [XXX]h/feature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88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1887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[$X.XM/yr]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188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Annual Savings Potential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9144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[Bottleneck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Phase: [Phase 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Waste: [XXX]h/feature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94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[$X.XM/yr]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Annual Savings Potential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91440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[Bottleneck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Phase: [Phase 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Waste: [XX]h/feature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00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200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[$X.XM/yr]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Annual Savings Potential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14800"/>
            <a:ext cx="91440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[Bottleneck 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Phase: [Phase X]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Waste: [XX]h/feature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206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[$XXXk/yr]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06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Annual Savings Potential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20640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[Bottleneck 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Phase: [Phase X]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Waste: [XX]h/feature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120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212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</a:rPr>
              <a:t>[$XXXk/yr]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2120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Annual Savings Potential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Improvement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[XX] Initiatives Across 3 Horizons — Ranked by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Quick Wins
0–90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[X] initiatives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ROI: [X.X]×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657600" cy="4389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Medium-Term
3–6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[X] initiatives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ROI: [X.X]×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Strategic
6–12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[X] initiatives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Avg ROI: [X.X]×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[Initiative 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2D5E"/>
                </a:solidFill>
              </a:rPr>
              <a:t>■ Total: [XX] initiatives  |  Combined potential: $[X.X]M–$[X.X]M annual savings  |  [XX]% Quick Win deliverable within 90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Business Case — 3 Investment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Conservative / Expected / Optimistic — [SPONSOR NAME]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6400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A
Conservative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Annual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877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3924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[X.X]×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970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1970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[XX]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[X]-year NPV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005840"/>
            <a:ext cx="36576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B
Expected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563EB"/>
                </a:solidFill>
              </a:rPr>
              <a:t>$[X.X]M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87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Annual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877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563EB"/>
                </a:solidFill>
              </a:rPr>
              <a:t>$[X.X]M/yr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392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3924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563EB"/>
                </a:solidFill>
              </a:rPr>
              <a:t>[X.X]×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970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Payback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1970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563EB"/>
                </a:solidFill>
              </a:rPr>
              <a:t>[XX]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[X]-year NPV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563EB"/>
                </a:solidFill>
              </a:rPr>
              <a:t>$[X.X]M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005840"/>
            <a:ext cx="3657600" cy="6400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Option C
Optimistic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587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Annual Benefits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5877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$[X.X]M/yr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392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3924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[X.X]×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970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Payback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1970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[XX]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[X]-year NPV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01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F2D5E"/>
                </a:solidFill>
              </a:rPr>
              <a:t>★ Recommended: Option B delivers optimal risk-adjusted return aligned with sector peer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From Pilot to Transformation — 90-Day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55648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1–2: Select preferred scenario (Option A/B/C) and obtain board / ELT approval for investment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14015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41401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9735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2–3: Assign transformation programme owner and stand up cross-functional pod (Eng + Product + DevOps)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72384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0723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3–6: Begin Quick Wins implementation — 3 parallel workstreams, Pilot Lead as technical advisor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3075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730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4: Configure PDLC VSM Platform action plan tracker — all 30 items with owners and target 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8912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6: First 30-day benefit review — platform auto-tracks LT and FE improvements vs.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47488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047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932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8: Scale licence configuration — expand to second team / product group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05856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7058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515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Week 12: 90-day progress readout to ELT — platform generates updated VSM, bottleneck delta, ROI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