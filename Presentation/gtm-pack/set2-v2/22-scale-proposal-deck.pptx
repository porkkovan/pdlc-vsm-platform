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889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FDBFE"/>
                </a:solidFill>
                <a:latin typeface="Calibri"/>
              </a:rPr>
              <a:t>[CLIENT NAME]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AI-Powered PDLC Transformation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FDBFE"/>
                </a:solidFill>
                <a:latin typeface="Calibri"/>
              </a:rPr>
              <a:t>Phase 3: Deliver — Full Programme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3C5FD"/>
                </a:solidFill>
                <a:latin typeface="Calibri"/>
              </a:rPr>
              <a:t>Building on Phase 1 findings — [X.X]× ROI identified, [OPTION X] selected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[DATE]  |  Commercial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Phase 1 Results — What We Diagnosed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The evidence base for your Phase 3 investment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4358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[XX]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01952"/>
            <a:ext cx="25603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Your Current Lead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88720"/>
            <a:ext cx="2560320" cy="137160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4358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[X]%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01952"/>
            <a:ext cx="25603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Your Flow Efficiency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4358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$[X.XM]/yr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901952"/>
            <a:ext cx="25603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Annual Waste Identified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88720"/>
            <a:ext cx="2560320" cy="137160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43584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[X] selected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01952"/>
            <a:ext cx="2560320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FFFFFF"/>
                </a:solidFill>
                <a:latin typeface="Calibri"/>
              </a:rPr>
              <a:t>Transformation Option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E408A"/>
                </a:solidFill>
                <a:latin typeface="Calibri"/>
              </a:rPr>
              <a:t>Phase 1 diagnosis confirmed: [OPTION X] is the recommended pathway for [CLIENT NAME] based on DORA score [X.X], bottleneck profile, and investment envelope.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383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Top bottleneck: [Bottleneck 1] — $[X.XM]/yr waste, directly addressable by AI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DORA band: [BAND] — [suitable/requires] for [option]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Business case endorsed by [SPONSOR NAME] — [Option X] ROI: [X.X]×, payback: [X]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Phase 3 Programme — [OPTION X]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Week-by-week from approval to full transformation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51560"/>
            <a:ext cx="3822191" cy="658368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069848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QUICK WINS
0–90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1481328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  <a:latin typeface="Calibri"/>
              </a:rPr>
              <a:t>~$[X]K → $[X.X]M/yr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1709928"/>
            <a:ext cx="3822191" cy="4114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8105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Deploy AI agent: [Bottleneck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24963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Automate [Bottleneck 2]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1821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First VSM re-run: validate LT reduction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38679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Expected: LT −[X]d, FE +[X]%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97096" y="1051560"/>
            <a:ext cx="3822191" cy="658368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1069848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MEDIUM-TERM
3–6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1481328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  <a:latin typeface="Calibri"/>
              </a:rPr>
              <a:t>~$[X]K → $[X.X]M incremental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97096" y="1709928"/>
            <a:ext cx="3822191" cy="4114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8105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Add agents for [X] further phases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4963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Redesign approval gates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1821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Process change + training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8679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Expected: LT −[X]d total, FE +[X]%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1051560"/>
            <a:ext cx="3822191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069848"/>
            <a:ext cx="35661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STRATEGIC
6–12 Months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1481328"/>
            <a:ext cx="35661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BFDBFE"/>
                </a:solidFill>
                <a:latin typeface="Calibri"/>
              </a:rPr>
              <a:t>~$[X]K → $[X.X]M incremental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93024" y="1709928"/>
            <a:ext cx="3822191" cy="4114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18105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Full agent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4963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Governance model + DORA uplift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31821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Benefits realisation vs. BC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867912"/>
            <a:ext cx="352958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• Expected: LT [X]d, FE [X]%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Value Scaling — Expanding the 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Each additional team adds ~65% of the first team's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657600" cy="4114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657600" cy="502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 team (current)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1737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E"/>
                </a:solidFill>
                <a:latin typeface="Calibri"/>
              </a:rPr>
              <a:t>$[X.X]M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Annual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E"/>
                </a:solidFill>
                <a:latin typeface="Calibri"/>
              </a:rPr>
              <a:t>$[X.X]M/yr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566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2D5E"/>
                </a:solidFill>
                <a:latin typeface="Calibri"/>
              </a:rPr>
              <a:t>[X.X]×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097280"/>
            <a:ext cx="3657600" cy="4114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097280"/>
            <a:ext cx="3657600" cy="50292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 teams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Investment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737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408A"/>
                </a:solidFill>
                <a:latin typeface="Calibri"/>
              </a:rPr>
              <a:t>$[X.X]M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Annual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408A"/>
                </a:solidFill>
                <a:latin typeface="Calibri"/>
              </a:rPr>
              <a:t>$[X.X]M/yr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ROI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66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408A"/>
                </a:solidFill>
                <a:latin typeface="Calibri"/>
              </a:rPr>
              <a:t>[X.X]×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097280"/>
            <a:ext cx="3657600" cy="4114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097280"/>
            <a:ext cx="3657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0972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10 teams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7373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Investment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17373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$[X.X]M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651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Annual Savings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$[X.X]M/yr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5661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ROI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3566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563EB"/>
                </a:solidFill>
                <a:latin typeface="Calibri"/>
              </a:rPr>
              <a:t>[X.X]×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4406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293B"/>
                </a:solidFill>
                <a:latin typeface="Calibri"/>
              </a:rPr>
              <a:t>Fixed infrastructure cost + increasing savings per team = compounding returns. Most clients expand to 3–5 teams within 12 months of completing Phase 3 for Team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Recommended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Phase 3 starts here — three actions this week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3258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Confirm [OPTION X] as the Phase 3 pathway and obtain budget approval from CFO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019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Owner: [SPONSOR]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92608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926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718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Identify transformation programme owner and cross-functional pod (Eng + Product + DevOps)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478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Owner: [CLIENT PM]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64008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45720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6177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293B"/>
                </a:solidFill>
                <a:latin typeface="Calibri"/>
              </a:rPr>
              <a:t>Schedule Phase 3 kick-off — Transformation Lead to prepare team-specific playbook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9379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1E408A"/>
                </a:solidFill>
                <a:latin typeface="Calibri"/>
              </a:rPr>
              <a:t>Owner: [TRANSFORMATION LEAD]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080760"/>
            <a:ext cx="11430000" cy="6400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AI-Powered PDLC Transformation — Phase 3 Deliver | Contact: [TRANSFORMATION LEAD] | [email]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Scaling the Business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6692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FDBFE"/>
                </a:solidFill>
                <a:latin typeface="Calibri"/>
              </a:rPr>
              <a:t>Why the J-Curve turns strongly positive at portfolio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E408A"/>
                </a:solidFill>
                <a:latin typeface="Calibri"/>
              </a:rPr>
              <a:t>A single team funds only its share of the platform (token + platform-engineering team). Shared platform cost is fixed while savings scale with every pod adopted — so the programme crosses breakeven sooner and compounds as you scale from 1 → many teams.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103120"/>
            <a:ext cx="2743200" cy="502920"/>
          </a:xfrm>
          <a:prstGeom prst="rect">
            <a:avLst/>
          </a:prstGeom>
          <a:solidFill>
            <a:srgbClr val="1E4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488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Investment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606040"/>
            <a:ext cx="274320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679192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Hard costs up front: licences + agent/token usage + enablement/training + AI infrastructure.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2103120"/>
            <a:ext cx="274320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21488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J-Curve dip (tuition cost)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3552" y="2606040"/>
            <a:ext cx="274320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64992" y="2679192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Early sprints carry a productivity dip — the learning curve + verification tax (reviewing AI output) — so net savings start negative.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1344" y="2103120"/>
            <a:ext cx="27432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21488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Breakeven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2606040"/>
            <a:ext cx="274320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72784" y="2679192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As adoption ramps and the dip fades, net savings turn positive and cumulative benefit crosses zero.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9136" y="2103120"/>
            <a:ext cx="2743200" cy="50292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0576" y="2148840"/>
            <a:ext cx="2560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Compounding savings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89136" y="2606040"/>
            <a:ext cx="2743200" cy="18288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0576" y="2679192"/>
            <a:ext cx="25603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293B"/>
                </a:solidFill>
                <a:latin typeface="Calibri"/>
              </a:rPr>
              <a:t>Net savings grow sprint-on-sprint; freed capacity is reinvested (cost avoided), not headcount cut.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663440"/>
            <a:ext cx="12188952" cy="868680"/>
          </a:xfrm>
          <a:prstGeom prst="rect">
            <a:avLst/>
          </a:prstGeom>
          <a:solidFill>
            <a:srgbClr val="0F2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80"/>
            <a:ext cx="11338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ROI % = (Value − Investment) ÷ Investment   —   Value = cost-avoidance (freed capacity), NOT new-feature revenue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