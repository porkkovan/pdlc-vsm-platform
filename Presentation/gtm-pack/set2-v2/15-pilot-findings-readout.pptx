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E"/>
                </a:solidFill>
                <a:latin typeface="Calibri"/>
              </a:rPr>
              <a:t>[CLIENT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AI-Powered PDLC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FDBFE"/>
                </a:solidFill>
                <a:latin typeface="Calibri"/>
              </a:rPr>
              <a:t>Phase 1 Complete: Diagnose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3C5FD"/>
                </a:solidFill>
                <a:latin typeface="Calibri"/>
              </a:rPr>
              <a:t>Current State Findings + Three Transformation Options +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[DATE]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E"/>
                </a:solidFill>
                <a:latin typeface="Calibri"/>
              </a:rPr>
              <a:t>Accelerated by the STUMP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Phase 1: Current State Value Stream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[TEAM NAME] — Your PDLC performance, benchmarked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1572768" cy="54864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51560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600200"/>
            <a:ext cx="1572768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27632"/>
            <a:ext cx="148132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PT:[X]h
WT:[X]h
FE:[X]%</a:t>
            </a:r>
          </a:p>
        </p:txBody>
      </p:sp>
      <p:sp>
        <p:nvSpPr>
          <p:cNvPr id="9" name="Rectangle 8"/>
          <p:cNvSpPr/>
          <p:nvPr/>
        </p:nvSpPr>
        <p:spPr>
          <a:xfrm>
            <a:off x="1911095" y="1051560"/>
            <a:ext cx="1572768" cy="54864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11095" y="1051560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Design &amp;
Arch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11095" y="1600200"/>
            <a:ext cx="1572768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56815" y="1627632"/>
            <a:ext cx="148132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PT:[X]h
WT:[X]h
FE:[X]%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93592" y="1051560"/>
            <a:ext cx="1572768" cy="5486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051560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Development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93592" y="1600200"/>
            <a:ext cx="1572768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1627632"/>
            <a:ext cx="148132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PT:[X]h
WT:[X]h
FE:[X]%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76088" y="1051560"/>
            <a:ext cx="1572768" cy="5486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1051560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Code
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76088" y="1600200"/>
            <a:ext cx="1572768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21808" y="1627632"/>
            <a:ext cx="148132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PT:[X]h
WT:[X]h
FE:[X]%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58584" y="1051560"/>
            <a:ext cx="1572768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1051560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Testing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58584" y="1600200"/>
            <a:ext cx="1572768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4304" y="1627632"/>
            <a:ext cx="148132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PT:[X]h
WT:[X]h
FE:[X]%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1051560"/>
            <a:ext cx="1572768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1051560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Deploy
Prep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1600200"/>
            <a:ext cx="1572768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1627632"/>
            <a:ext cx="148132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PT:[X]h
WT:[X]h
FE:[X]%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23576" y="1051560"/>
            <a:ext cx="1572768" cy="5486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23576" y="1051560"/>
            <a:ext cx="15727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Release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23576" y="1600200"/>
            <a:ext cx="1572768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69296" y="1627632"/>
            <a:ext cx="148132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PT:[X]h
WT:[X]h
FE:[X]%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254203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2D5E"/>
                </a:solidFill>
                <a:latin typeface="Calibri"/>
              </a:rPr>
              <a:t>TOTAL LEAD TIME: [XX] DAYS  |  FLOW EFFICIENCY: [X]%  |  SECTOR AVG: 28 DAYS / 22%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2962656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  <a:latin typeface="Calibri"/>
              </a:rPr>
              <a:t>RED = Flow Efficiency &lt; 15% (critical waste zone)  |  Source: [X,XXX] Jira tickets, [DATE RANGE]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429000"/>
            <a:ext cx="3794760" cy="320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3429000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3794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[XX]% of LT is queue time — actual delivery work is [X]%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15384" y="3429000"/>
            <a:ext cx="3794760" cy="320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15384" y="3429000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PRODUCTIVITY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06824" y="3794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$[X.XM]/yr in engineering time waiting in queues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02168" y="3429000"/>
            <a:ext cx="3794760" cy="320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02168" y="3429000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93608" y="3794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Testing FE=[X]% — 89% scheduling overhead, not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Top 5 Bottlenecks — Speed, Productivity &amp; Quality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Quantified annual waste with peer benchmark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78992"/>
            <a:ext cx="109728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3385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[Bottleneck 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910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408A"/>
                </a:solidFill>
                <a:latin typeface="Calibri"/>
              </a:rPr>
              <a:t>Impact: Speed +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188719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  <a:latin typeface="Calibri"/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1887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D5E"/>
                </a:solidFill>
                <a:latin typeface="Calibri"/>
              </a:rPr>
              <a:t>[XXX]h/feature | $[X.XM]/yr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188719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408A"/>
                </a:solidFill>
                <a:latin typeface="Calibri"/>
              </a:rPr>
              <a:t>Peer avg: [X]h | Gap: [X]h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66543"/>
            <a:ext cx="109728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214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[Bottleneck 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786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408A"/>
                </a:solidFill>
                <a:latin typeface="Calibri"/>
              </a:rPr>
              <a:t>Impact: Speed + Productivity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1762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  <a:latin typeface="Calibri"/>
              </a:rPr>
              <a:t>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1762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D5E"/>
                </a:solidFill>
                <a:latin typeface="Calibri"/>
              </a:rPr>
              <a:t>[XXX]h/feature | $[X]K/yr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176272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408A"/>
                </a:solidFill>
                <a:latin typeface="Calibri"/>
              </a:rPr>
              <a:t>Peer avg: [X]h | Gap: [X]h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054096"/>
            <a:ext cx="109728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08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[Bottleneck 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408A"/>
                </a:solidFill>
                <a:latin typeface="Calibri"/>
              </a:rPr>
              <a:t>Impact: Speed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16382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  <a:latin typeface="Calibri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1638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D5E"/>
                </a:solidFill>
                <a:latin typeface="Calibri"/>
              </a:rPr>
              <a:t>[XX]h/feature | $[X]K/yr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163824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408A"/>
                </a:solidFill>
                <a:latin typeface="Calibri"/>
              </a:rPr>
              <a:t>Peer avg: [X]h | Gap: [X]h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041648"/>
            <a:ext cx="109728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96511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[Bottleneck 4]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537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408A"/>
                </a:solidFill>
                <a:latin typeface="Calibri"/>
              </a:rPr>
              <a:t>Impact: Productivity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15137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  <a:latin typeface="Calibri"/>
              </a:rP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15137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D5E"/>
                </a:solidFill>
                <a:latin typeface="Calibri"/>
              </a:rPr>
              <a:t>[XX]h/feature | $[X]K/yr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151376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408A"/>
                </a:solidFill>
                <a:latin typeface="Calibri"/>
              </a:rPr>
              <a:t>Peer avg: [X]h | Gap: [X]h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502920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08406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[Bottleneck 5]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5412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408A"/>
                </a:solidFill>
                <a:latin typeface="Calibri"/>
              </a:rPr>
              <a:t>Impact: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13892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  <a:latin typeface="Calibri"/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51389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D5E"/>
                </a:solidFill>
                <a:latin typeface="Calibri"/>
              </a:rPr>
              <a:t>[XX]h/feature | $[X]K/yr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13892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408A"/>
                </a:solidFill>
                <a:latin typeface="Calibri"/>
              </a:rPr>
              <a:t>Peer avg: [X]h | Gap: [X]h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080760"/>
            <a:ext cx="12188952" cy="7772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1264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Total identified waste: $[X.XM]/yr  |  All five bottlenecks are addressable through Options A, B, or C below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Phase 1 Finding: Three AI Transformation Pathways for [CLIENT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FDBFE"/>
                </a:solidFill>
                <a:latin typeface="Calibri"/>
              </a:rPr>
              <a:t>Each option modelled on your actual bottleneck data and DORA scores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3959352" cy="475488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8368"/>
            <a:ext cx="3959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950976"/>
            <a:ext cx="3959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FFFFFF"/>
                </a:solidFill>
                <a:latin typeface="Calibri"/>
              </a:rPr>
              <a:t>AI-Augmented
(Human In the Loop)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133856"/>
            <a:ext cx="3959352" cy="5047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" y="1234440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AI tools at every PDLC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" y="1764792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Humans retain all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" y="2295144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No process redesign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2825496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Adopt in 30–60 days/phase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" y="3355848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Investment: $350–600K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" y="3886200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ROI: 2–3×  |  Payback: 6–9m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181344"/>
            <a:ext cx="3959352" cy="676656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" y="6217920"/>
            <a:ext cx="37764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Speed +25% · Productivity +20% · Quality +15%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39" y="658368"/>
            <a:ext cx="3959352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658368"/>
            <a:ext cx="3959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 B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950976"/>
            <a:ext cx="3959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FFFFFF"/>
                </a:solidFill>
                <a:latin typeface="Calibri"/>
              </a:rPr>
              <a:t>Agents + Human Gates
(Human On the Loop)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7639" y="1133856"/>
            <a:ext cx="3959352" cy="5047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87368" y="1234440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AI agents execute tasks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87368" y="1764792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Humans approve at defined gates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7368" y="2295144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Process redesign: 3–6 months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2825496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40–60% effort reduction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7368" y="3355848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Investment: $1.2–2.0M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87368" y="3886200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ROI: 4–6×  |  Payback: 10–14m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39" y="6181344"/>
            <a:ext cx="3959352" cy="6766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79" y="6217920"/>
            <a:ext cx="37764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Speed +55% · Productivity +50% · Quality +35%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658368"/>
            <a:ext cx="3959352" cy="47548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658368"/>
            <a:ext cx="3959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 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950976"/>
            <a:ext cx="3959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FFFFFF"/>
                </a:solidFill>
                <a:latin typeface="Calibri"/>
              </a:rPr>
              <a:t>Fully Agentic
(Human Above the Loop)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1133856"/>
            <a:ext cx="3959352" cy="5047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007" y="1234440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AI owns PDLC end-to-end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7" y="1764792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Humans set strategy + review exceptions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7" y="2295144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Full operating model change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5007" y="2825496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70–80% effort reduction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5007" y="3355848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Investment: $3.0–5.0M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007" y="3886200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ROI: 8–12×  |  Payback: 14–20m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79" y="6181344"/>
            <a:ext cx="3959352" cy="676656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9" y="6217920"/>
            <a:ext cx="37764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Speed +75% · Productivity +75% · Quality +60%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" y="6894576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F2D5E"/>
                </a:solidFill>
                <a:latin typeface="Calibri"/>
              </a:rPr>
              <a:t>★ Modelled on your data — see Business Case slide for [CLIENT NAME] specific ROI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Our Recommendation: Option B — AI Agents + Human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Why this is the right pathway for [CLIENT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E408A"/>
                </a:solidFill>
                <a:latin typeface="Calibri"/>
              </a:rPr>
              <a:t>Based on your DORA score of [X.X]/5.0 (WALK band), your top bottleneck profile, and your stated investment capacity, Option B offers the best risk-adjusted return.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27632"/>
            <a:ext cx="41148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627632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007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Your DORA profile supports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WALK band = sufficient CI/CD foundation for agent automation. CRAWL would require Option A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496312"/>
            <a:ext cx="41148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2496312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94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Your bottleneck profile is ideal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77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[Bottleneck 1] and [Bottleneck 2] are both directly solved by AI agents with human approval gates.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364991"/>
            <a:ext cx="41148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3364991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381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Investment is board-approvable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7647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$1.2–2.0M is within VP/CTO approval threshold at most FS organisations — no board vote required.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233672"/>
            <a:ext cx="41148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4233672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068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Sector proof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4515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US Bank: same Option B profile. 4.2× ROI, 14-month payback. 42→8 day lead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5102352"/>
            <a:ext cx="41148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5102352"/>
            <a:ext cx="411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755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Lower risk than Option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1383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Human gates provide the safety net during transition. No full operating model disruption.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Business Case — Three Options on Your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[CLIENT NAME] specific ROI modelling — conservative / expected / optimistic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59436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 A
AI-Augmented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36576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6916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8A"/>
                </a:solidFill>
                <a:latin typeface="Calibri"/>
              </a:rPr>
              <a:t>$350–600K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Annual Benefit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560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8A"/>
                </a:solidFill>
                <a:latin typeface="Calibri"/>
              </a:rPr>
              <a:t>~$2.1M/yr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83280"/>
            <a:ext cx="36576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29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4290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8A"/>
                </a:solidFill>
                <a:latin typeface="Calibri"/>
              </a:rPr>
              <a:t>2–3×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51959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9767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Payback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297679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8A"/>
                </a:solidFill>
                <a:latin typeface="Calibri"/>
              </a:rPr>
              <a:t>6–9 months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120640"/>
            <a:ext cx="36576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166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5-Yr NPV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1663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408A"/>
                </a:solidFill>
                <a:latin typeface="Calibri"/>
              </a:rPr>
              <a:t>$8–10M NPV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005840"/>
            <a:ext cx="365760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10058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 B ★
Agents + Gates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645920"/>
            <a:ext cx="36576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1691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Investment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6916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$1.2–2.0M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251460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2560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Annual Benefit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560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~$5.5M/yr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383280"/>
            <a:ext cx="36576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3429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ROI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4290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4–6×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4251959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429767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Payback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297679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10–14 months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5120640"/>
            <a:ext cx="36576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5166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5-Yr NPV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1663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$28–35M NPV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1005840"/>
            <a:ext cx="3657600" cy="5943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100584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 C
Fully Agentic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1645920"/>
            <a:ext cx="36576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1691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Investment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16916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$3.0–5.0M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251460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2560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Annual Benefit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2560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$18–30M/yr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383280"/>
            <a:ext cx="36576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60" y="3429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ROI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0" y="34290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8–12×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4251959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429767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Payback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4297679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14–20 months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5120640"/>
            <a:ext cx="36576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66760" y="5166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5-Yr NPV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9840" y="51663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$80–130M NPV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080760"/>
            <a:ext cx="12188952" cy="7772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1264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★ Option B recommended. $1.2–2.0M investment → $5.5M/yr → 4.2× ROI → 14-month payback. Sector-proven.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Phase 3: Deliver — Option B Implementation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If Option B is selected: week-by-week from approval to first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51560"/>
            <a:ext cx="3703320" cy="65836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" y="1069848"/>
            <a:ext cx="34472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QUICK WINS
0–90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1481328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  <a:latin typeface="Calibri"/>
              </a:rPr>
              <a:t>Investment: ~$350K
→ $1.4M/yr benefit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709928"/>
            <a:ext cx="3703320" cy="3657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810512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Deploy AI agent for [Bottleneck 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377440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Automate [Bottleneck 2]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94436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First VSM re-run: validate LT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3511296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Expected: LT −10 days, FE +10%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14215" y="1051560"/>
            <a:ext cx="3703320" cy="658368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1" y="1069848"/>
            <a:ext cx="34472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MEDIUM-TERM
3–6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2231" y="1481328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  <a:latin typeface="Calibri"/>
              </a:rPr>
              <a:t>Investment: ~$600K
→ $2.1M incremental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14215" y="1709928"/>
            <a:ext cx="3703320" cy="3657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1810512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Add agents for 2 further phases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377440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Redesign human approval gates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94436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Process change +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511296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Expected: LT −15 days, FE +20%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27264" y="1051560"/>
            <a:ext cx="3703320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1069848"/>
            <a:ext cx="34472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STRATEGIC
6–12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1481328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  <a:latin typeface="Calibri"/>
              </a:rPr>
              <a:t>Investment: ~$1.0M
→ $2.0M incremental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27264" y="1709928"/>
            <a:ext cx="3703320" cy="3657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73568" y="1810512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Full agent orchestration: all 7 phases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2377440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Governance model + DORA uplift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294436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Benefits realisation vs. business 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3511296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• Expected: LT −[X]d total, FE +[X]%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From Phase 1 complete to Phase 3 in 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1371600" cy="5943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234440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23444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Select preferred option (A, B, or C) based on today's readout. Confirm executive sponsor.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892807"/>
            <a:ext cx="1371600" cy="5943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98424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+1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984248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Share business case with CFO. Obtain budget approval or escalation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642615"/>
            <a:ext cx="1371600" cy="5943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2734056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+2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734056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Confirm Phase 3 SOW. Identify transformation programme owner.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392424"/>
            <a:ext cx="1371600" cy="59436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3483864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WEEK +3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483864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Phase 3 kick-off: stand up cross-functional pod (Eng + Product + DevOps).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142231"/>
            <a:ext cx="1371600" cy="59436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4233671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MONTH +1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233671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First Quick Win deployment. Platform begins tracking LT and FE improvement.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892040"/>
            <a:ext cx="137160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4983479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MONTH +3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983479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30-day ROI review: first measured LT improvement vs. baseline. Report to ELT.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641848"/>
            <a:ext cx="137160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" y="5733288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MONTH +12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733288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Full Option B complete: [XX]-day LT, [X]% FE. Annual ROI review.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Contact: [TRANSFORMATION LEAD NAME]  |  [email]  |  AI-Powered PDLC Transformation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Pilot ROI on the J-Curve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Investment → tuition-cost dip → breakeven → compounding savings (cost-only)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50292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Investment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2743200" cy="1920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64792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Hard costs up front: licences + agent/token usage + enablement/training + AI infrastructure.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188720"/>
            <a:ext cx="2743200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23444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J-Curve dip (tuition cost)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691640"/>
            <a:ext cx="2743200" cy="1920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764792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Early sprints carry a productivity dip — the learning curve + verification tax (reviewing AI output) — so net savings start negative.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1188720"/>
            <a:ext cx="27432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123444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Breakeven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691640"/>
            <a:ext cx="2743200" cy="1920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764792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As adoption ramps and the dip fades, net savings turn positive and cumulative benefit crosses zero.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9136" y="1188720"/>
            <a:ext cx="2743200" cy="5029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123444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Compounding savings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9136" y="1691640"/>
            <a:ext cx="2743200" cy="1920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1764792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Net savings grow sprint-on-sprint; freed capacity is reinvested (cost avoided), not headcount cut.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3840480"/>
            <a:ext cx="12188952" cy="8686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Ongoing cost is platform-aware and includes agent/token spend. Business growth from new features is intentionally excluded — value is engineering cost-efficiency and capacity reinvestment only.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846320"/>
            <a:ext cx="12188952" cy="4572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901184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Measured on the 3-perspective Outcome Dashboard: AI Adoption · PDLC Performance (Outcomes) · AI Ops &amp; Assurance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From Pilot to Target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Current level → interim steps → North-Star, on your chosen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167128" cy="54864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225296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L1 Assisted Prompting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167128" cy="23774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810512"/>
            <a:ext cx="202082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1E293B"/>
                </a:solidFill>
                <a:latin typeface="Calibri"/>
              </a:rPr>
              <a:t>AI via simple prompting in a few phases (mainly Dev &amp; Test). Humans do the work; AI suggests.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7033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408A"/>
                </a:solidFill>
                <a:latin typeface="Calibri"/>
              </a:rPr>
              <a:t>pre-Option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34056" y="1188720"/>
            <a:ext cx="2167128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225296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L2 Agent Co-pilots (assistive)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34056" y="1737360"/>
            <a:ext cx="2167128" cy="23774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7208" y="1810512"/>
            <a:ext cx="202082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1E293B"/>
                </a:solidFill>
                <a:latin typeface="Calibri"/>
              </a:rPr>
              <a:t>Assistive/companion agents across most phases; every output human-reviewed. Agents draft, humans approve.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37033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408A"/>
                </a:solidFill>
                <a:latin typeface="Calibri"/>
              </a:rPr>
              <a:t>Option A — Human in the Loop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10912" y="1188720"/>
            <a:ext cx="2167128" cy="54864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1225296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L3 Supervised Independent Agents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10912" y="1737360"/>
            <a:ext cx="2167128" cy="23774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1810512"/>
            <a:ext cx="202082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1E293B"/>
                </a:solidFill>
                <a:latin typeface="Calibri"/>
              </a:rPr>
              <a:t>Agents act independently on standard cases and interact; humans review exceptions and quality gates.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37033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408A"/>
                </a:solidFill>
                <a:latin typeface="Calibri"/>
              </a:rPr>
              <a:t>Option B (lower) — Human on the Loop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87768" y="1188720"/>
            <a:ext cx="2167128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2632" y="1225296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L4 Orchestrated Agents (oversight)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87768" y="1737360"/>
            <a:ext cx="2167128" cy="23774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1810512"/>
            <a:ext cx="202082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1E293B"/>
                </a:solidFill>
                <a:latin typeface="Calibri"/>
              </a:rPr>
              <a:t>Most phases agent-run with multi-agent orchestration end-to-end; humans govern and handle escalations.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7033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408A"/>
                </a:solidFill>
                <a:latin typeface="Calibri"/>
              </a:rPr>
              <a:t>Option B (upper) — Human on the Loop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64624" y="1188720"/>
            <a:ext cx="2167128" cy="5486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19488" y="1225296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L5 Autonomous ADLC (North Star)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64624" y="1737360"/>
            <a:ext cx="2167128" cy="23774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37776" y="1810512"/>
            <a:ext cx="202082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1E293B"/>
                </a:solidFill>
                <a:latin typeface="Calibri"/>
              </a:rPr>
              <a:t>Fully orchestrated agents across the SDLC/PDLC. Only humans: Product Definer, Product Builder, Architect (incl. risk).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37033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408A"/>
                </a:solidFill>
                <a:latin typeface="Calibri"/>
              </a:rPr>
              <a:t>Option C — Human Above the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3434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Platforms: Home-grown / Custom Build · BMAD Method · GitHub Copilot Workspace · Devin (Cognition) · Cursor (Anysphere) · Cognizant Flowsource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