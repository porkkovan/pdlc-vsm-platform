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Calibri"/>
              </a:rPr>
              <a:t>PDLC VSM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A1A2E"/>
                </a:solidFill>
                <a:latin typeface="Calibri"/>
              </a:rPr>
              <a:t>Option A &amp; Option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73737"/>
                </a:solidFill>
                <a:latin typeface="Calibri"/>
              </a:rPr>
              <a:t>Senior Leadership Demo — Step-by-Step Guide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310128"/>
            <a:ext cx="758952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3520440"/>
            <a:ext cx="365760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40AF"/>
                </a:solidFill>
                <a:latin typeface="Calibri"/>
              </a:rPr>
              <a:t>Option A — AI-Assisted (40% Automation)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3520440"/>
            <a:ext cx="365760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21B6"/>
                </a:solidFill>
                <a:latin typeface="Calibri"/>
              </a:rPr>
              <a:t>Option B — Hybrid AI (65% Automation)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Demo Duration: 25–35 min     |     Fast-Track: 15 min     |     Audience: CTO · CPO · VP Engineering · CFO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http://localhost:3001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7 PDLC Phases  ·  36 Activities  ·  8 LangGraph Agents  ·  3 Future State Scenarios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Demo Agenda &amp;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8 steps — shared foundation then scenario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Calibri"/>
              </a:rPr>
              <a:t>SHARED FOUNDATION  (steps 1–4)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7498079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384048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8988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42646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3677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Team context, workflow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4996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563EB"/>
                </a:solidFill>
                <a:latin typeface="Calibri"/>
              </a:rPr>
              <a:t>3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38528"/>
            <a:ext cx="7498079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938528"/>
            <a:ext cx="384048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93852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97510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DORA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18541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Baseline engineering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0482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563EB"/>
                </a:solidFill>
                <a:latin typeface="Calibri"/>
              </a:rPr>
              <a:t>3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487168"/>
            <a:ext cx="7498079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487168"/>
            <a:ext cx="384048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48716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52374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Current State VSM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73405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Where time actually goes 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5968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563EB"/>
                </a:solidFill>
                <a:latin typeface="Calibri"/>
              </a:rPr>
              <a:t>4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035808"/>
            <a:ext cx="7498079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035808"/>
            <a:ext cx="384048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03580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072384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Bottleneck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2826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Critical flow blockers identified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145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563EB"/>
                </a:solidFill>
                <a:latin typeface="Calibri"/>
              </a:rPr>
              <a:t>3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3675888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SCENARIO BRANCH  (steps 5–7)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968496"/>
            <a:ext cx="7498079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3968496"/>
            <a:ext cx="384048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96849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99592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Future State —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20624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AI-Assisted scenario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0782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40AF"/>
                </a:solidFill>
                <a:latin typeface="Calibri"/>
              </a:rPr>
              <a:t>4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489703"/>
            <a:ext cx="7498079" cy="457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4489703"/>
            <a:ext cx="384048" cy="4572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489703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517135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Future State —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727447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Hybrid AI scenario metrics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59943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21B6"/>
                </a:solidFill>
                <a:latin typeface="Calibri"/>
              </a:rPr>
              <a:t>4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010910"/>
            <a:ext cx="7498079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" y="5010910"/>
            <a:ext cx="384048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01091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03834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Business Case — 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24865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2.8× ROI · 14-month payback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12063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40AF"/>
                </a:solidFill>
                <a:latin typeface="Calibri"/>
              </a:rPr>
              <a:t>4 min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532117"/>
            <a:ext cx="7498079" cy="457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1480" y="5532117"/>
            <a:ext cx="384048" cy="4572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532117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559549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Business Case —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769861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3.8× ROI · 11-month payback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564184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21B6"/>
                </a:solidFill>
                <a:latin typeface="Calibri"/>
              </a:rPr>
              <a:t>4 min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6053324"/>
            <a:ext cx="7498079" cy="4572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1480" y="6053324"/>
            <a:ext cx="384048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605332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608075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Playbook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629106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Personalised 90-day action plan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61630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A34A"/>
                </a:solidFill>
                <a:latin typeface="Calibri"/>
              </a:rPr>
              <a:t>3 min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1115568"/>
            <a:ext cx="3657600" cy="5303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38160" y="1115568"/>
            <a:ext cx="3657600" cy="3108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38160" y="111556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Fast-Track Path (15 min)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1463040"/>
            <a:ext cx="3429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000" b="1" i="0">
                <a:solidFill>
                  <a:srgbClr val="1A1A2E"/>
                </a:solidFill>
                <a:latin typeface="Calibri"/>
              </a:rPr>
              <a:t>Skip steps 1–2. Start at: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73737"/>
                </a:solidFill>
                <a:latin typeface="Calibri"/>
              </a:rPr>
              <a:t>Step 3 → Current State VSM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73737"/>
                </a:solidFill>
                <a:latin typeface="Calibri"/>
              </a:rPr>
              <a:t>Step 5 → Future State (A or B)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73737"/>
                </a:solidFill>
                <a:latin typeface="Calibri"/>
              </a:rPr>
              <a:t>Step 6 → Business Case</a:t>
            </a:r>
          </a:p>
          <a:p>
            <a:pPr algn="l">
              <a:spcBef>
                <a:spcPts val="200"/>
              </a:spcBef>
            </a:pPr>
            <a:r>
              <a:rPr sz="1000" b="0" i="0">
                <a:solidFill>
                  <a:srgbClr val="373737"/>
                </a:solidFill>
                <a:latin typeface="Calibri"/>
              </a:rPr>
              <a:t>Step 7 → Playbook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373737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000" b="1" i="0">
                <a:solidFill>
                  <a:srgbClr val="1A1A2E"/>
                </a:solidFill>
                <a:latin typeface="Calibri"/>
              </a:rPr>
              <a:t>Pre-Demo Checklist: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16A34A"/>
                </a:solidFill>
                <a:latin typeface="Calibri"/>
              </a:rPr>
              <a:t>✓  Backend running on :8001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16A34A"/>
                </a:solidFill>
                <a:latin typeface="Calibri"/>
              </a:rPr>
              <a:t>✓  Frontend running on :3001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16A34A"/>
                </a:solidFill>
                <a:latin typeface="Calibri"/>
              </a:rPr>
              <a:t>✓  DORA set to Medium Performer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16A34A"/>
                </a:solidFill>
                <a:latin typeface="Calibri"/>
              </a:rPr>
              <a:t>✓  VSM Level = Feature Level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16A34A"/>
                </a:solidFill>
                <a:latin typeface="Calibri"/>
              </a:rPr>
              <a:t>✓  Future State default = Option A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16A34A"/>
                </a:solidFill>
                <a:latin typeface="Calibri"/>
              </a:rPr>
              <a:t>✓  Playbook: org/team pre-filled</a:t>
            </a:r>
          </a:p>
          <a:p>
            <a:pPr algn="l">
              <a:spcBef>
                <a:spcPts val="400"/>
              </a:spcBef>
            </a:pPr>
            <a:r>
              <a:rPr sz="600" b="0" i="0">
                <a:solidFill>
                  <a:srgbClr val="373737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000" b="1" i="0">
                <a:solidFill>
                  <a:srgbClr val="1A1A2E"/>
                </a:solidFill>
                <a:latin typeface="Calibri"/>
              </a:rPr>
              <a:t>Opening statement:</a:t>
            </a:r>
          </a:p>
          <a:p>
            <a:pPr algn="l">
              <a:spcBef>
                <a:spcPts val="300"/>
              </a:spcBef>
            </a:pPr>
            <a:r>
              <a:rPr sz="900" b="0" i="1">
                <a:solidFill>
                  <a:srgbClr val="373737"/>
                </a:solidFill>
                <a:latin typeface="Calibri"/>
              </a:rPr>
              <a:t>"90% of your feature lead time is waste. Most teams have never measured where it actually goes. This platform changes that."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Step 1 —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Set team context and orient the audience to the platform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  <a:latin typeface="Calibri"/>
              </a:rPr>
              <a:t>SHARED STEP  (both scenarios)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241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  Screen:  localhost:3001/dashboard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78992"/>
            <a:ext cx="75438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124712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Navigate to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353312"/>
            <a:ext cx="6995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Open http://localhost:3001 — you land on the Dashboard page automatically.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28800"/>
            <a:ext cx="75438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984248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842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874520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Set Team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103120"/>
            <a:ext cx="6995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Click Edit in the Team Context card. Fill in: Organisation, Portfolio, Product Group, Team name. Click 'Save &amp; Persist'. This persists to the backend database.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578608"/>
            <a:ext cx="75438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734056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340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624328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Set VSM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852928"/>
            <a:ext cx="6995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In the VSM Analysis Level card (top-right), select 'Feature Level'. Show the stats update: 7 Phases, 36 Activities, Lead Time 30–50 days.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328416"/>
            <a:ext cx="75438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83864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838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374136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Walk the Workflow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602736"/>
            <a:ext cx="6995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Point to the 8-step workflow card. Read each step aloud. 'We will walk every one of these steps in the next 25 minutes.'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078224"/>
            <a:ext cx="75438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233672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2336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123944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Show Future State Scenarios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352544"/>
            <a:ext cx="6995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Scroll to the 3 Future State Scenarios cards at the bottom — briefly show Option A / B / C improvement %s before going further.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1078992"/>
            <a:ext cx="3703320" cy="5349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Talking 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0456" y="1463040"/>
            <a:ext cx="3447288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373737"/>
                </a:solidFill>
                <a:latin typeface="Calibri"/>
              </a:rPr>
              <a:t>• The platform covers the complete PDLC — 7 phases, 36 activities, from backlog to production monitoring.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Feature Level = full 42.5-day lead time story. User Story Level = dev-test-deploy cycle only (8.5 days). Keep Feature Level on for this demo.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Option A = AI agents assist all 8 human roles. No role changes. 40% automation. Fastest to deploy (6–10 weeks).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Option B = 65% automation, 5 human roles. Higher ROI but requires custom agent development (12–16 weeks).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The 8-step workflow is the narrative thread for the entire demo — reference it before each new screen.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Pause here to ask: 'Does your team currently measure Flow Efficiency?' Answer is almost always no — this sets up the impact of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Step 2 — DORA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Establish the engineering performance baseline before mapping the value 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  <a:latin typeface="Calibri"/>
              </a:rPr>
              <a:t>SHARED STEP  (both scenarios)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241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  Screen:  localhost:3001/dora-assessment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78992"/>
            <a:ext cx="1691640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1556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Calibri"/>
              </a:rPr>
              <a:t>Elite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38988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Top 18%
of orgs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078992"/>
            <a:ext cx="1691640" cy="731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111556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Calibri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38988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27%
of orgs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40" y="1078992"/>
            <a:ext cx="1691640" cy="731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111556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138988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42%
of orgs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078992"/>
            <a:ext cx="1691640" cy="7315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11556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38988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13%
of orgs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938528"/>
            <a:ext cx="7543800" cy="6309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084832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084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1975104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Navigate to DORA 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212848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Click 'DORA Assessment' in the sidebar (Setup &amp; Data group).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651760"/>
            <a:ext cx="7543800" cy="6309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798064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798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688336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Explain DORA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926080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DORA = 4 metrics from Google's State of DevOps research. Covers 33,000+ organisations globally. It tells us whether today's baseline is realistic for this team.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364992"/>
            <a:ext cx="7543800" cy="6309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511296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511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401568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Set Medium Performer values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639312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Deployment Frequency: 'Once per week'  |  Lead Time for Changes: '1–2 weeks'  |  Change Failure Rate: 15%  |  MTTR: '1–7 days'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078224"/>
            <a:ext cx="7543800" cy="6309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114800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Watch the band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352544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Point to the Elite / High / Medium / Low indicator — it updates live. 'Medium Performer' banner appears.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791456"/>
            <a:ext cx="7543800" cy="6309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937760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937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28032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Show VSM Calibration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065776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Scroll down to the VSM Calibration section — show how DORA scores adjust the Phase 5 (Testing) and Phase 6 (Delivery) wait times. Click 'Apply Calibration to VSM'.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504688"/>
            <a:ext cx="7543800" cy="6309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650992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6509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541264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Proceed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779008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Click 'Continue to VSM Analysis →' or navigate to Current State VSM in the sidebar.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92440" y="1078992"/>
            <a:ext cx="3703320" cy="5349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Talking Points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0456" y="1463040"/>
            <a:ext cx="3447288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373737"/>
                </a:solidFill>
                <a:latin typeface="Calibri"/>
              </a:rPr>
              <a:t>• DORA bands: Only 18% of organisations are Elite. The majority (42%) are Medium.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The throughput gap between Elite and Low performers is ~1,460× — not a typo. Elite teams deploy thousands of times per day; Low performers deploy once every 6+ months.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When you input Medium Performer values, the VSM calibration adjusts Phase 5 (Testing) wait times upward and Phase 3 (Code) wait times to reflect code review queues. This makes every metric that follows specific to their team's real performance.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Key stat to land: 'Elite performers have 7× lower change failure rates AND deploy 208× more frequently. This is not about working harder — it's about removing the waiting time from the system.'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If the audience pushes back on data quality: 'Connect your Jira or Azure DevOps in Step 1 (ALM Connect) and every metric in this DORA assessment is automatically replaced with your actual cycle time data.'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Step 3 — Current State Value Stream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Show the audience where their time actually goes — the 'before'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  <a:latin typeface="Calibri"/>
              </a:rPr>
              <a:t>SHARED STEP  (both scenarios)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241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  Screen:  localhost:3001/current-vsm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78992"/>
            <a:ext cx="1737360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3385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40AF"/>
                </a:solidFill>
                <a:latin typeface="Calibri"/>
              </a:rPr>
              <a:t>100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554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Process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58568" y="1078992"/>
            <a:ext cx="1737360" cy="8686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8568" y="113385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  <a:latin typeface="Calibri"/>
              </a:rPr>
              <a:t>536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1554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Wait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05656" y="1078992"/>
            <a:ext cx="173736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5656" y="113385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73737"/>
                </a:solidFill>
                <a:latin typeface="Calibri"/>
              </a:rPr>
              <a:t>42.5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5656" y="1554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Lead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2744" y="1078992"/>
            <a:ext cx="1737360" cy="8686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2744" y="113385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  <a:latin typeface="Calibri"/>
              </a:rPr>
              <a:t>8.1%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744" y="1554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Flow Efficiency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993392"/>
            <a:ext cx="7543800" cy="6309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139696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1396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029968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Open Visual Flow tab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267712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The default tab shows the horizontal VSM diagram. 7 phase cards connected by arrows. Point to Phase 5 (Continuous Testing) — orange border = bottleneck.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706624"/>
            <a:ext cx="7543800" cy="6309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852928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8529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743200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Read the KPI 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980944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Point to the 4 metric cards below the diagram. '100 hours of actual work against 536 hours of waiting. Flow Efficiency is 8.1%.'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419856"/>
            <a:ext cx="7543800" cy="6309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566160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566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456432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Switch to Flow Bars tab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694176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Shows PT vs WT ratio as horizontal bars per phase. Phase 5 is almost entirely red. Phase 6 (Delivery) is also mostly red.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133088"/>
            <a:ext cx="7543800" cy="6309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279392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79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169664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Switch to Phases tab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407408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Expand Phase 5 — Continuous Testing. Show each activity, its effort and wait range, the AI opportunity description, and the assigned agent.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846320"/>
            <a:ext cx="7543800" cy="6309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992624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992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82896"/>
            <a:ext cx="6995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Click 'Run AI Analysis'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120640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Shows the VSM Analyzer agent running. Even in demo mode, the output prepopulates Bottleneck Analysis on the next screen.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1078992"/>
            <a:ext cx="3703320" cy="5349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Talking Points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0456" y="1463040"/>
            <a:ext cx="3447288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373737"/>
                </a:solidFill>
                <a:latin typeface="Calibri"/>
              </a:rPr>
              <a:t>• The headline stat: 8.1% Flow Efficiency. 'For every day your team is actively working on a feature, they're waiting for 12 days.'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World-class teams achieve 40%+ flow efficiency. Enterprise average is 10–15%. Government and regulated industries often under 5%.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Phase 5 — Continuous Testing — is the dominant bottleneck in 94% of enterprise software organisations (Gartner 2024). It has the longest effort AND the longest wait.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Phase 6 — Continuous Delivery — adds another 1–5 days of wait from CAB / release gate scheduling. This is a governance problem, not a technology problem — AI can fix it.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The visual flow diagram is the single most impactful screen in the demo. It makes visible what no sprint board ever shows: the queue between the work.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Power move: if the audience has brought their own data, ask them their current Lead Time. Then show how their number maps onto the chart.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Step 4 — Bottleneck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AI identifies the 8 critical flow blockers — with impact and severity ratings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  <a:latin typeface="Calibri"/>
              </a:rPr>
              <a:t>SHARED STEP  (both scenarios)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241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  Screen:  localhost:3001/bottlenecks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78992"/>
            <a:ext cx="1691640" cy="8046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33856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5544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Critical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078992"/>
            <a:ext cx="1691640" cy="80467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1133856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5544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40" y="1078992"/>
            <a:ext cx="1691640" cy="8046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1133856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15544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078992"/>
            <a:ext cx="1691640" cy="804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133856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73737"/>
                </a:solidFill>
                <a:latin typeface="Calibri"/>
              </a:rPr>
              <a:t>6/8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5544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In Testing &amp;
Delivery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011680"/>
            <a:ext cx="7543800" cy="49377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2112264"/>
            <a:ext cx="777240" cy="2377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112264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20574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Phase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231136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Automated Performance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1488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DC2626"/>
                </a:solidFill>
                <a:latin typeface="Calibri"/>
              </a:rPr>
              <a:t>16–40 hrs effort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578608"/>
            <a:ext cx="7543800" cy="49377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" y="2679192"/>
            <a:ext cx="777240" cy="2377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679192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262432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Phase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2798064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Manual SIT / UAT / NF Sign-off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27157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DC2626"/>
                </a:solidFill>
                <a:latin typeface="Calibri"/>
              </a:rPr>
              <a:t>2–5 days wait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145536"/>
            <a:ext cx="7543800" cy="49377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" y="3246120"/>
            <a:ext cx="777240" cy="2377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3246120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3191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Phase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3364992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Peer Code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32826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D97706"/>
                </a:solidFill>
                <a:latin typeface="Calibri"/>
              </a:rPr>
              <a:t>4–24 hrs wait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712464"/>
            <a:ext cx="7543800" cy="49377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" y="3813048"/>
            <a:ext cx="777240" cy="2377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8130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375818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Phase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3931920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Test Data Generation /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38496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D97706"/>
                </a:solidFill>
                <a:latin typeface="Calibri"/>
              </a:rPr>
              <a:t>4–16 hrs wait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279392"/>
            <a:ext cx="7543800" cy="49377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" y="4379976"/>
            <a:ext cx="777240" cy="2377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43799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43251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Phase 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4498848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Release Gates / CAB Approvals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97880" y="441655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D97706"/>
                </a:solidFill>
                <a:latin typeface="Calibri"/>
              </a:rPr>
              <a:t>1–5 days wait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919472"/>
            <a:ext cx="7543800" cy="40233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93776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40AF"/>
                </a:solidFill>
                <a:latin typeface="Calibri"/>
              </a:rPr>
              <a:t>Demo Action:  Navigate to /bottlenecks  →  Click 'Critical' filter  →  Walk the top 2 cards  →  Scroll to Phase Heatmap  →  'Phase 5 is red — this is where we focus first.'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92440" y="1078992"/>
            <a:ext cx="3703320" cy="5349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Talking Points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0456" y="1463040"/>
            <a:ext cx="3447288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373737"/>
                </a:solidFill>
                <a:latin typeface="Calibri"/>
              </a:rPr>
              <a:t>• Critical #1 — Performance Testing: 16–40 hours manual effort. AI performance analyzers (e.g. Dynatrace Davis AI) auto-detect regressions and correlate with code changes. Effort drops to 4–8 hours.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Critical #2 — Manual UAT Sign-off: 2–5 day wait. AI UAT Assistant consolidates results and risk-scores readiness. Same-day exception-based sign-off replaces the 5-day queue.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High — Code Review: 4–24 hour wait on reviewer availability. ReviewAgent provides instant diff analysis. Human reviewer focuses on architecture and business logic only.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High — Release Gates: 1–5 day CAB scheduling wait. AI Release Manager auto-validates all release criteria and generates compliance evidence. Enables continuous deployment.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6 of 8 bottlenecks are in Testing and Delivery phases — this is a deliberate pattern. The quality and governance layers are where enterprise organisations accumulate the most waste.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The heatmap is board-ready. Show it as the 'executive summary' of the analysis — one view, which phases are green vs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Step 5A — Future State VSM: Option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AI-Assisted Transformation — 40% automation, all 8 human roles retained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  <a:latin typeface="Calibri"/>
              </a:rPr>
              <a:t>OPTION A — AI-ASSISTED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241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  Screen:  localhost:3001/future-state  (select Option 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789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BEFORE (Current State)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0789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Calibri"/>
              </a:rPr>
              <a:t>OPTION A — 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353312"/>
            <a:ext cx="804672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42.5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Lead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1353312"/>
            <a:ext cx="804672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Flow Eff.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1353312"/>
            <a:ext cx="804672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536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Wait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353312"/>
            <a:ext cx="804672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100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Process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1353312"/>
            <a:ext cx="804672" cy="731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40AF"/>
                </a:solidFill>
                <a:latin typeface="Calibri"/>
              </a:rPr>
              <a:t>25.5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Lead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2066543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−40%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1353312"/>
            <a:ext cx="804672" cy="731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40AF"/>
                </a:solidFill>
                <a:latin typeface="Calibri"/>
              </a:rPr>
              <a:t>16.2%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Flow Eff.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2066543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+100%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1353312"/>
            <a:ext cx="804672" cy="731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40AF"/>
                </a:solidFill>
                <a:latin typeface="Calibri"/>
              </a:rPr>
              <a:t>238 hrs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Wait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066543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−56%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353312"/>
            <a:ext cx="804672" cy="731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40AF"/>
                </a:solidFill>
                <a:latin typeface="Calibri"/>
              </a:rPr>
              <a:t>65 hrs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Process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066543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−35%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157276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40AF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240280"/>
            <a:ext cx="75438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2377440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3774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267712"/>
            <a:ext cx="699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Navigate to Future State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2487168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Click 'Future State VSM' in the sidebar. Ensure 'Option A' tab is selected (blue tab, top of page).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935224"/>
            <a:ext cx="75438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3072384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07238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2962656"/>
            <a:ext cx="699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Show the Visual Flow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3182112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The VSM diagram now shows AI Agent labels on relevant phase cards. Point to green-bordered phases — these have active AI agents assigned.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3630168"/>
            <a:ext cx="75438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3767328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7673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3657600"/>
            <a:ext cx="699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Read the improvement metrics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3877056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Lead Time: 42.5 → 25.5 days (−40%). Flow Efficiency: 8.1% → 16.2% (doubles). Process Time: −35%. Wait Time: −56%.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325112"/>
            <a:ext cx="75438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4462272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4622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4352544"/>
            <a:ext cx="699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Show Option A agents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4572000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16 AI agents deployed alongside all 8 human roles: FeatureGen, StoryGen, CodeGen, ReviewAgent, DataGen, TestGen, AI UAT Assistant, AI Release Manager, and more.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5020056"/>
            <a:ext cx="75438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7200" y="5157216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1572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5047488"/>
            <a:ext cx="699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Switch to Table view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5266944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Click 'Table' to show per-activity PT and WT before/after. Highlight Automated Performance Testing: 28 hrs → 6 hrs. UAT Sign-off: 3 days → 0.5 days.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92440" y="1078992"/>
            <a:ext cx="3703320" cy="5349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Talking Points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0456" y="1463040"/>
            <a:ext cx="3447288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373737"/>
                </a:solidFill>
                <a:latin typeface="Calibri"/>
              </a:rPr>
              <a:t>• Option A = the 'safe start'. Every human role is retained. No retrenchments. No org restructure. 16 AI agents placed alongside every person in the PDLC.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Lead time 42.5 → 25.5 days = 17 fewer days per feature. For a team delivering 20 features per quarter, that's 340 person-days of wait time eliminated every quarter.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Flow Efficiency doubles from 8.1% to 16.2%. Still well below world-class (40%+) — Option A is the first step, not the destination.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The 16 agents cover every phase. CodeGen (GitHub Copilot) in Phase 3. ReviewAgent instant diff analysis. DataGen for synthetic test data. AI UAT Assistant for same-day sign-off.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Key message: 'Option A is achievable in 6–10 weeks at the team level. SaaS tools go live in days. Training is 10–15 people. No cross-org procurement required.'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Industry reference: GitHub Copilot deployed to 500 Salesforce developers in 3 weeks. 35% reduction in coding time validated across 10+ enterprise deployments.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Step 5B — Future State VSM: Option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Hybrid AI Transformation — 65% automation, 5 core human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21B6"/>
                </a:solidFill>
                <a:latin typeface="Calibri"/>
              </a:rPr>
              <a:t>OPTION B — HYBRID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8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241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  Screen:  localhost:3001/future-state  (select Option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0789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BEFORE (Current State)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0789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OPTION B — 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353312"/>
            <a:ext cx="804672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42.5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Lead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1353312"/>
            <a:ext cx="804672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Flow Eff.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1353312"/>
            <a:ext cx="804672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536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Wait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353312"/>
            <a:ext cx="804672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1408176"/>
            <a:ext cx="804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100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18288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Process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1353312"/>
            <a:ext cx="804672" cy="7315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1389888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B21B6"/>
                </a:solidFill>
                <a:latin typeface="Calibri"/>
              </a:rPr>
              <a:t>19.1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171907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Lead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2066543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−55%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1353312"/>
            <a:ext cx="804672" cy="7315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1389888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B21B6"/>
                </a:solidFill>
                <a:latin typeface="Calibri"/>
              </a:rPr>
              <a:t>22.3%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171907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Flow Eff.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2066543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+175%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1353312"/>
            <a:ext cx="804672" cy="7315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1389888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B21B6"/>
                </a:solidFill>
                <a:latin typeface="Calibri"/>
              </a:rPr>
              <a:t>160 hrs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171907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Wait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066543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−70%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353312"/>
            <a:ext cx="804672" cy="7315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1389888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B21B6"/>
                </a:solidFill>
                <a:latin typeface="Calibri"/>
              </a:rPr>
              <a:t>45 hrs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171907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Process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066543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Calibri"/>
              </a:rPr>
              <a:t>−55%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157276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B21B6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212848"/>
            <a:ext cx="7543800" cy="31089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231136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21B6"/>
                </a:solidFill>
                <a:latin typeface="Calibri"/>
              </a:rPr>
              <a:t>Role consolidation: 8 roles  →  5 roles   |   Product Owner · Tech Lead · Developer · QA Lead · DevOps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2651760"/>
            <a:ext cx="75438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2788920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2788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2679192"/>
            <a:ext cx="699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Select Option B tab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2898648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Click the 'Option B' tab (purple) on the Future State VSM page. Metrics update immediately.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346704"/>
            <a:ext cx="75438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3483864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4838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3374136"/>
            <a:ext cx="699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Read the metric improvements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3593592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Lead Time: 42.5 → 19.1 days (−55%). Flow Efficiency: 8.1% → 22.3% (+175%). Process Time halved. Wait Time reduced 70%.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041648"/>
            <a:ext cx="75438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178808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1788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4069080"/>
            <a:ext cx="699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Show role consolidation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4288536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Point to the role summary banner: 8 roles consolidate to 5. 'The BA, UX Designer, and separate DevOps specialist roles are absorbed by agents.'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4736592"/>
            <a:ext cx="75438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4873752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8737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4764024"/>
            <a:ext cx="699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Show 7 key AI agents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4983480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FeatureGen · CodeGen · TestGen · AI Test Execution · AI Deployment Agent · AI APM · IncidentAgent. These 7 agents do the work of 3 eliminated roles.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431536"/>
            <a:ext cx="7543800" cy="6035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5568696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5686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5458968"/>
            <a:ext cx="6995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2E"/>
                </a:solidFill>
                <a:latin typeface="Calibri"/>
              </a:rPr>
              <a:t>Compare A vs 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5678424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Use the scenario tabs to toggle A → B side by side. 'Option B delivers 15% more lead time improvement and 75% more flow efficiency gain than Option A, at roughly 1.5× the investment.'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2440" y="1078992"/>
            <a:ext cx="3703320" cy="5349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Talking Points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0456" y="1463040"/>
            <a:ext cx="3447288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373737"/>
                </a:solidFill>
                <a:latin typeface="Calibri"/>
              </a:rPr>
              <a:t>• Option B = the strongest ROI at 3.8×. It eliminates the highest-cost human touch points in the PDLC — manual UAT, test data management, CAB gating — and replaces them with AI agents.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Role consolidation from 8 to 5 is the source of the additional ROI. 3 roles absorbed by agents = $300K–$600K annual saving per product team at enterprise rates.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7 custom AI agents. These are LangGraph agents — the same architecture as this platform. Build time: 4–8 weeks. Stripe deployed equivalent tooling in 8 weeks.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Flow Efficiency 22.3% is approaching world-class territory. Teams at this level compete on delivery speed, not on headcount.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Lead time 19.1 days = 2.5× faster than current state. For software-defined competitive advantages (e.g. banking, insurance, fintech) this is the difference between winning and losing market share.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Option B requires executive sponsorship for the role restructuring. The Business Case (next screen) includes the full org change management 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Step 6A — Business Case: Option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2.8× ROI · $800K–$1.5M investment · 14-month payback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  <a:latin typeface="Calibri"/>
              </a:rPr>
              <a:t>OPTION A — AI-ASSISTED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9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241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  Screen:  localhost:3001/business-case  (select Option A tab)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78992"/>
            <a:ext cx="1783080" cy="80467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33856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  <a:latin typeface="Calibri"/>
              </a:rPr>
              <a:t>$800K–$1.5M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5544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Total 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7" y="1078992"/>
            <a:ext cx="1783080" cy="8046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287" y="1133856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  <a:latin typeface="Calibri"/>
              </a:rPr>
              <a:t>$1.3M–$2.0M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7" y="15544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Annual Benefits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7094" y="1078992"/>
            <a:ext cx="1783080" cy="8046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4" y="1133856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40AF"/>
                </a:solidFill>
                <a:latin typeface="Calibri"/>
              </a:rPr>
              <a:t>2.8×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7094" y="15544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ROI Multiple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1" y="1078992"/>
            <a:ext cx="1783080" cy="80467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1" y="1133856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3AED"/>
                </a:solidFill>
                <a:latin typeface="Calibri"/>
              </a:rPr>
              <a:t>14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1" y="15544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Payback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20116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INVESTMENT BREAKDOWN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49424"/>
            <a:ext cx="37033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322576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AI Tools &amp; IDE Plugins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2322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2400E"/>
                </a:solidFill>
                <a:latin typeface="Calibri"/>
              </a:rPr>
              <a:t>$250K – $400K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651760"/>
            <a:ext cx="37033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724912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Infrastructure (GPU, API costs)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27249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2400E"/>
                </a:solidFill>
                <a:latin typeface="Calibri"/>
              </a:rPr>
              <a:t>$100K – $200K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054096"/>
            <a:ext cx="37033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12724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Implementation &amp;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1272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2400E"/>
                </a:solidFill>
                <a:latin typeface="Calibri"/>
              </a:rPr>
              <a:t>$300K – $600K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456432"/>
            <a:ext cx="37033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529584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Training (all PDLC personas)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52958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2400E"/>
                </a:solidFill>
                <a:latin typeface="Calibri"/>
              </a:rPr>
              <a:t>$100K – $200K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858768"/>
            <a:ext cx="37033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93192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Change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93192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2400E"/>
                </a:solidFill>
                <a:latin typeface="Calibri"/>
              </a:rPr>
              <a:t>$100K – $150K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20116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ANNUAL BENEFITS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249424"/>
            <a:ext cx="36576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232257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Time-to-Market Improvement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232257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4532D"/>
                </a:solidFill>
                <a:latin typeface="Calibri"/>
              </a:rPr>
              <a:t>$600K – $900K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60" y="2651760"/>
            <a:ext cx="36576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272491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Productivity Gains (35% effort↓)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27249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4532D"/>
                </a:solidFill>
                <a:latin typeface="Calibri"/>
              </a:rPr>
              <a:t>$400K – $600K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054096"/>
            <a:ext cx="36576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312724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Quality Improvement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3127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4532D"/>
                </a:solidFill>
                <a:latin typeface="Calibri"/>
              </a:rPr>
              <a:t>$200K – $300K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3456432"/>
            <a:ext cx="36576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52958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Operational Savings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35295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4532D"/>
                </a:solidFill>
                <a:latin typeface="Calibri"/>
              </a:rPr>
              <a:t>$100K – $150K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4242816"/>
            <a:ext cx="7543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Calibri"/>
              </a:rPr>
              <a:t>TEAM-LEVEL IMPLEMENTATION:  6–10 WEEKS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526280"/>
            <a:ext cx="1417320" cy="16642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5537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40AF"/>
                </a:solidFill>
                <a:latin typeface="Calibri"/>
              </a:rPr>
              <a:t>Wk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773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alibri"/>
              </a:rPr>
              <a:t>Foundation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010912"/>
            <a:ext cx="1325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3737"/>
                </a:solidFill>
                <a:latin typeface="Calibri"/>
              </a:rPr>
              <a:t>Baseline VSM, procure Copilot, agree AI goals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11096" y="4526280"/>
            <a:ext cx="1417320" cy="16642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56816" y="45537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40AF"/>
                </a:solidFill>
                <a:latin typeface="Calibri"/>
              </a:rPr>
              <a:t>Wk 2–3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56816" y="4773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alibri"/>
              </a:rPr>
              <a:t>Quick Wins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56816" y="5010912"/>
            <a:ext cx="1325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3737"/>
                </a:solidFill>
                <a:latin typeface="Calibri"/>
              </a:rPr>
              <a:t>ReviewAgent, ML SAST, AI backlog plugin live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10712" y="4526280"/>
            <a:ext cx="1417320" cy="16642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56432" y="45537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40AF"/>
                </a:solidFill>
                <a:latin typeface="Calibri"/>
              </a:rPr>
              <a:t>Wk 3–6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56432" y="4773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alibri"/>
              </a:rPr>
              <a:t>Core Tools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56432" y="5010912"/>
            <a:ext cx="1325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3737"/>
                </a:solidFill>
                <a:latin typeface="Calibri"/>
              </a:rPr>
              <a:t>AI performance analyzer, APM, IaC agent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10328" y="4526280"/>
            <a:ext cx="1417320" cy="16642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56048" y="45537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40AF"/>
                </a:solidFill>
                <a:latin typeface="Calibri"/>
              </a:rPr>
              <a:t>Wk 6–8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56048" y="4773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alibri"/>
              </a:rPr>
              <a:t>Embed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56048" y="5010912"/>
            <a:ext cx="1325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3737"/>
                </a:solidFill>
                <a:latin typeface="Calibri"/>
              </a:rPr>
              <a:t>2-day workshop, update DoD, prompt playbook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9944" y="4526280"/>
            <a:ext cx="1417320" cy="16642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55664" y="45537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40AF"/>
                </a:solidFill>
                <a:latin typeface="Calibri"/>
              </a:rPr>
              <a:t>Wk 8–10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55664" y="4773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alibri"/>
              </a:rPr>
              <a:t>Measure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55664" y="5010912"/>
            <a:ext cx="1325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73737"/>
                </a:solidFill>
                <a:latin typeface="Calibri"/>
              </a:rPr>
              <a:t>Re-run VSM, calculate actual ROI vs 2.8× target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92440" y="1078992"/>
            <a:ext cx="3703320" cy="5349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Talking Points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0456" y="1463040"/>
            <a:ext cx="3447288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373737"/>
                </a:solidFill>
                <a:latin typeface="Calibri"/>
              </a:rPr>
              <a:t>• Investment $800K–$1.5M is primarily SaaS tool licences and integration work. No major infrastructure build required for Option A.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14-month payback = within a single financial year's horizon for most organisations. Ask: 'What's your current budget cycle?'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Annual benefit driver #1 is time-to-market: 17 fewer days per feature × feature delivery volume × business value per feature. For a fintech team releasing 20 features/quarter, each day earlier = measurable revenue.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Training cost ($100K–$200K) covers 10–15 people. Industry benchmark: GitHub Copilot enterprise rollout averages $500/developer/year in licence + $2,000/developer in onboarding. ROI positive within 6 weeks.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The implementation timeline is team-level. Enterprise-wide rollout is 12–18 months and is covered in the 'Enterprise Timeline' tab of the Business Case screen.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For the CFO: 'The NPV model underpinning the 2.8× figure uses a 20% discount rate and conservative benefit estimates. We can adjust all assumptions to match your cost structure.'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Step 6B — Business Case: Option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3.8× ROI · $1.2M–$2.2M investment · 11-month payback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B21B6"/>
                </a:solidFill>
                <a:latin typeface="Calibri"/>
              </a:rPr>
              <a:t>OPTION B — HYBRID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10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241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  Screen:  localhost:3001/business-case  (select Option B tab)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78992"/>
            <a:ext cx="1783080" cy="80467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33856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  <a:latin typeface="Calibri"/>
              </a:rPr>
              <a:t>$1.2M–$2.2M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5544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Total 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7" y="1078992"/>
            <a:ext cx="1783080" cy="8046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287" y="1133856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6A34A"/>
                </a:solidFill>
                <a:latin typeface="Calibri"/>
              </a:rPr>
              <a:t>$2.0M–$3.2M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7" y="15544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Annual Benefits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7094" y="1078992"/>
            <a:ext cx="1783080" cy="80467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4" y="1133856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Calibri"/>
              </a:rPr>
              <a:t>3.8×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7094" y="15544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ROI Multiple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1" y="1078992"/>
            <a:ext cx="1783080" cy="80467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1" y="1133856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3AED"/>
                </a:solidFill>
                <a:latin typeface="Calibri"/>
              </a:rPr>
              <a:t>11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1" y="15544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Payback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20116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INVESTMENT BREAKDOWN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49424"/>
            <a:ext cx="37033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322576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AI Tools &amp; Platforms (selective)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2322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2400E"/>
                </a:solidFill>
                <a:latin typeface="Calibri"/>
              </a:rPr>
              <a:t>$400K – $700K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651760"/>
            <a:ext cx="37033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724912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Infrastructure (dedicated compute)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27249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2400E"/>
                </a:solidFill>
                <a:latin typeface="Calibri"/>
              </a:rPr>
              <a:t>$200K – $350K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054096"/>
            <a:ext cx="37033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12724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Custom Agent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1272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2400E"/>
                </a:solidFill>
                <a:latin typeface="Calibri"/>
              </a:rPr>
              <a:t>$400K – $800K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456432"/>
            <a:ext cx="37033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529584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Training (5 retained roles)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52958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2400E"/>
                </a:solidFill>
                <a:latin typeface="Calibri"/>
              </a:rPr>
              <a:t>$100K – $200K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858768"/>
            <a:ext cx="370332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93192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Change Mgmt (role restructuring)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93192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2400E"/>
                </a:solidFill>
                <a:latin typeface="Calibri"/>
              </a:rPr>
              <a:t>$150K – $200K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20116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ANNUAL BENEFITS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249424"/>
            <a:ext cx="36576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232257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Time-to-Market (55% faster)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232257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4532D"/>
                </a:solidFill>
                <a:latin typeface="Calibri"/>
              </a:rPr>
              <a:t>$900K – $1.4M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60" y="2651760"/>
            <a:ext cx="36576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272491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Productivity (55% effort↓)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27249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4532D"/>
                </a:solidFill>
                <a:latin typeface="Calibri"/>
              </a:rPr>
              <a:t>$600K – $900K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054096"/>
            <a:ext cx="36576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312724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Quality (AI quality gates)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3127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4532D"/>
                </a:solidFill>
                <a:latin typeface="Calibri"/>
              </a:rPr>
              <a:t>$300K – $500K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3456432"/>
            <a:ext cx="36576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52958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Operational Savings (AIOps)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35295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4532D"/>
                </a:solidFill>
                <a:latin typeface="Calibri"/>
              </a:rPr>
              <a:t>$200K – $350K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4242816"/>
            <a:ext cx="7543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  <a:latin typeface="Calibri"/>
              </a:rPr>
              <a:t>ORGANISATION CHANGES (OPTION B)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526280"/>
            <a:ext cx="7543800" cy="3200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572000"/>
            <a:ext cx="7452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21B6"/>
                </a:solidFill>
                <a:latin typeface="Calibri"/>
              </a:rPr>
              <a:t>  •  Consolidate 8+ roles to 5 core roles: Product Owner, Tech Lead, Developer, QA Lead, DevOps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892040"/>
            <a:ext cx="7543800" cy="3200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937760"/>
            <a:ext cx="7452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21B6"/>
                </a:solidFill>
                <a:latin typeface="Calibri"/>
              </a:rPr>
              <a:t>  •  Establish AI Agent Operations team to manage and tune agents (new function)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5257800"/>
            <a:ext cx="7543800" cy="3200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303520"/>
            <a:ext cx="7452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21B6"/>
                </a:solidFill>
                <a:latin typeface="Calibri"/>
              </a:rPr>
              <a:t>  •  Redesign performance metrics to measure human-AI team output, not individual velocity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5623560"/>
            <a:ext cx="7543800" cy="32004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669280"/>
            <a:ext cx="7452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21B6"/>
                </a:solidFill>
                <a:latin typeface="Calibri"/>
              </a:rPr>
              <a:t>  •  Executive sponsorship program required — board visibility for transformation governance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92440" y="1078992"/>
            <a:ext cx="3703320" cy="5349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Talking Points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0456" y="1463040"/>
            <a:ext cx="3447288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373737"/>
                </a:solidFill>
                <a:latin typeface="Calibri"/>
              </a:rPr>
              <a:t>• Option B is the strongest ROI at 3.8× — because it eliminates role overhead, not just augments it. 3 roles removed × enterprise labour cost = $300K–$600K annual saving per team.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11-month payback is shorter than Option A despite 50% higher investment — because annual benefits are proportionally much larger.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Custom LangGraph agent development: 4–8 weeks per agent × 7 agents = 12–16 weeks total. Stripe reference: equivalent custom tooling deployed in 8 weeks by a team of 3 engineers.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The 'AI Agent Operations' function is a new role. Typically 1–2 people per product team. They monitor agent output quality, manage prompt updates, and escalate novel failure modes. This is the new DevOps.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Option B requires board-level visibility because it's an operating model change, not a tool purchase. Prepare the exec team for this before the demo if possible.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Compare A vs B on one screen: 'Option A is the right start. Option B is where you want to be in 12 months. The business case gives you both for a board decision.'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Step 7 — Personalised 90-Day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AI-generated implementation roadmap specific to your team, stack, and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4532D"/>
                </a:solidFill>
                <a:latin typeface="Calibri"/>
              </a:rPr>
              <a:t>SHARED STEP  (both scenarios)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11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241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  <a:latin typeface="Calibri"/>
              </a:rPr>
              <a:t>  Screen:  localhost:3001/playbook-context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78992"/>
            <a:ext cx="75438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344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115568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Open Playbook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371600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Click 'Playbook' in the sidebar (AI Insights group). The Accuracy Meter starts at 40%.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37944"/>
            <a:ext cx="75438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993392"/>
            <a:ext cx="347472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93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874520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Fill Team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130552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Enter: Team Name, Organisation, Portfolio, Team Size (e.g. 12), Roles (Product Owner, 2× Dev, QA, DevOps, BA, Scrum Master), Seniority: Mixed. Watch accuracy jump to ~55%.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596896"/>
            <a:ext cx="75438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752344"/>
            <a:ext cx="347472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523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633472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Fill Technology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889504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Source Control: GitHub. CI/CD: GitHub Actions. Cloud: AWS. ALM: Jira. Monitoring: Datadog. Testing: Jest + Playwright. AI Licences: GitHub Copilot (if applicable). Accuracy ~67%.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355848"/>
            <a:ext cx="75438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511296"/>
            <a:ext cx="347472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11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392424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Add Budget &amp; Timeline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648456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Select budget tier and procurement complexity. Enter any hard deadline constraint. Accuracy reaches 70%+.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114800"/>
            <a:ext cx="75438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270248"/>
            <a:ext cx="347472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2702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151376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Click Generate Playbook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407408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Click the 'Generate Personalised Playbook' button. The AI agent runs and outputs the playbook below (10–15 seconds).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873752"/>
            <a:ext cx="75438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29200"/>
            <a:ext cx="347472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29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910328"/>
            <a:ext cx="6995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Walk the Playbook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166360"/>
            <a:ext cx="6995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73737"/>
                </a:solidFill>
                <a:latin typeface="Calibri"/>
              </a:rPr>
              <a:t>Show: Executive Summary (team-specific). Sprint Plan (named roles, specific outcomes per sprint). RACI. Risk Register. Target Metrics milestones.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1078992"/>
            <a:ext cx="3703320" cy="5349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1078992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Talking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0456" y="1463040"/>
            <a:ext cx="3447288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373737"/>
                </a:solidFill>
                <a:latin typeface="Calibri"/>
              </a:rPr>
              <a:t>• The accuracy meter is the hook: 'Most transformation decks give you a generic roadmap. This platform generates a roadmap with your team's name, your tools, and your compliance constraints. The meter tells you how personalised the output is.'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At 70%+ accuracy, the playbook is specific enough to hand to a tech lead and say 'execute this.' At 90%+, it's usable in vendor negotiations and board papers.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The sprint plan names who does what: 'Product Owner: review AI-generated feature specs. DevOps Engineer: audit CI/CD pipelines in GitHub Actions. Compliance Officer: map APRA/PCI-DSS requirements to DevSecOps.' Not generic roles — your people.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The RACI covers every human-AI handoff: who owns the decision, who reviews the AI output, who is accountable for quality gates. This is what most AI adoption programs miss.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Closing line: 'The playbook is the answer to the Monday morning question — what do we do first? It removes the implementation risk that kills most transformation programs.'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373737"/>
                </a:solidFill>
                <a:latin typeface="Calibri"/>
              </a:rPr>
              <a:t>• Final CTA: 'Connect your ALM tool, run the full agent analysis with your real data, and you have a board-ready transformation business case in under 3 hours.'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Handling Tough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Pre-prepared responses to the most common senior leadership objections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73737"/>
                </a:solidFill>
                <a:latin typeface="Calibri"/>
              </a:rPr>
              <a:t>DEMO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12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78992"/>
            <a:ext cx="370332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078992"/>
            <a:ext cx="3703320" cy="27432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115568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"Our engineers won't adopt AI tools"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399032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Option A requires zero role changes. Adoption is incremental — one tool per phase, starting with GitHub Copilot. The playbook includes a 2-day AI collaboration workshop and change management sprints.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078992"/>
            <a:ext cx="370332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078992"/>
            <a:ext cx="3703320" cy="27432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1115568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"We have APRA / PCI-DSS / ISO 27001 compliance constraints"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399032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The Business Case DevSecOps tab covers regulatory-aware AI: zero-trust policies, compliance evidence automation, AI-generated audit trails. The playbook compliance section maps your specific framework.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167128"/>
            <a:ext cx="370332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167128"/>
            <a:ext cx="3703320" cy="27432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2203704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"We already have GitHub Copilot"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2487168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Copilot addresses Phase 3 only (coding). Option A adds agents to all 7 phases. Testing alone has 4 critical bottlenecks Copilot doesn't touch — UAT, DAST, DataGen, performance testing.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167128"/>
            <a:ext cx="370332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2167128"/>
            <a:ext cx="3703320" cy="27432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2203704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"The ROI numbers seem optimistic"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2487168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Defaults are sourced from DORA 2024, GitHub Octoverse, and Gartner. They are conservative — real Option B deployments (Stripe, GitHub internal) exceeded 4× ROI. All assumptions are adjustable in the model.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255264"/>
            <a:ext cx="370332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255264"/>
            <a:ext cx="3703320" cy="27432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3291840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"How quickly can we get our real data in?"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3575304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Jira or Azure DevOps ALM connection takes under 30 minutes. The system pulls ticket history and auto-computes cycle times. No manual data entry after initial setup.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255264"/>
            <a:ext cx="370332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255264"/>
            <a:ext cx="3703320" cy="27432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5112" y="3291840"/>
            <a:ext cx="35478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"How is this different from a consultant's deck?"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3575304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3737"/>
                </a:solidFill>
                <a:latin typeface="Calibri"/>
              </a:rPr>
              <a:t>A consultant gives you a 200-slide strategy. This platform produces the analysis, the ROI model, the implementation roadmap, and the personalised playbook — live, in 30 minutes, using your actual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Closing — The One-Page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00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The 5-sentence story to open or close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  <a:latin typeface="Calibri"/>
              </a:rPr>
              <a:t>DEMO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01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13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13385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15568"/>
            <a:ext cx="10515600" cy="786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15568"/>
            <a:ext cx="384048" cy="7863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527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17043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38988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Your engineering teams deliver features in 40+ days when world-class teams do it in days — and over 90% of that time isn't development, it's waiting.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11680"/>
            <a:ext cx="10515600" cy="786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011680"/>
            <a:ext cx="384048" cy="7863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1488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06654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alibri"/>
              </a:rPr>
              <a:t>The Diagnosis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2286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This platform connects to your ALM tools, measures where the time actually goes across all 7 PDLC phases, and identifies the critical bottlenecks by name.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07792"/>
            <a:ext cx="10515600" cy="786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2907792"/>
            <a:ext cx="384048" cy="7863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0449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9626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alibri"/>
              </a:rPr>
              <a:t>The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18211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AI agents design three future states — Option A (40% automation) to Option C (85%) — each with predicted lead time, flow efficiency, and process time improvements.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803904"/>
            <a:ext cx="10515600" cy="786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803904"/>
            <a:ext cx="384048" cy="7863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9410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8587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alibri"/>
              </a:rPr>
              <a:t>The Business 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07822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For each option: investment breakdown, annual benefits, ROI multiple, payback period, org change plan, tool roadmap, and sprint-by-sprint implementation plan.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700016"/>
            <a:ext cx="10515600" cy="786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700016"/>
            <a:ext cx="384048" cy="7863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8371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47548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alibri"/>
              </a:rPr>
              <a:t>The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497433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3737"/>
                </a:solidFill>
                <a:latin typeface="Calibri"/>
              </a:rPr>
              <a:t>A personalised 90-day playbook with your team name, your tools, and your RACI — ready to hand to a tech lead on Monday morning.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687568"/>
            <a:ext cx="1051560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6875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The 3 questions every leader asks — and your answers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998464"/>
            <a:ext cx="3401568" cy="7132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" y="6035040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Calibri"/>
              </a:rPr>
              <a:t>"How quickly can we get real data in?"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" y="6309360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3737"/>
                </a:solidFill>
                <a:latin typeface="Calibri"/>
              </a:rPr>
              <a:t>Jira/ADO: under 30 min. Pulls ticket history, computes cycle times automatically.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59352" y="5998464"/>
            <a:ext cx="3401568" cy="7132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32504" y="6035040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Calibri"/>
              </a:rPr>
              <a:t>"Is this relevant to our industry?"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32504" y="6309360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3737"/>
                </a:solidFill>
                <a:latin typeface="Calibri"/>
              </a:rPr>
              <a:t>Yes — PDLC model validated in banking, telco, insurance, government. DORA calibration adjusts to your performance band.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07224" y="5998464"/>
            <a:ext cx="3401568" cy="7132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0376" y="6035040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Calibri"/>
              </a:rPr>
              <a:t>"What's the first step?"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0376" y="6309360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3737"/>
                </a:solidFill>
                <a:latin typeface="Calibri"/>
              </a:rPr>
              <a:t>Pick one product team. Run full analysis in a 2–3 hour session. Use the output to build the Option A investment proposal.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