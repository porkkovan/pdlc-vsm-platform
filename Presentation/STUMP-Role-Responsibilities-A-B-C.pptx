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8872"/>
            <a:ext cx="685800" cy="256032"/>
          </a:xfrm>
          <a:prstGeom prst="rect">
            <a:avLst/>
          </a:prstGeom>
          <a:solidFill>
            <a:srgbClr val="2D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1887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1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Augmented Human  (AI as Assistants &amp; Co-Pilots)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CFF"/>
                </a:solidFill>
              </a:rPr>
              <a:t>16 AI assistants support each persona  ·  Human remains the primary actor in every 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00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76809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C64"/>
                </a:solidFill>
              </a:rPr>
              <a:t>HUMAN MODE: PRIMARY ACTOR — AI CO-PILOTS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76809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8F0FF"/>
                </a:solidFill>
              </a:rPr>
              <a:t>Lead Time: 21–28 d  |  Flow Efficiency: 18–28%  |  Agent Utilisation: 30–50%  |  Deploys: Weekly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29844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298448"/>
            <a:ext cx="5870448" cy="29260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1" y="133502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🎯  Product Owner / Product 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344168"/>
            <a:ext cx="1234440" cy="210312"/>
          </a:xfrm>
          <a:prstGeom prst="rect">
            <a:avLst/>
          </a:prstGeom>
          <a:solidFill>
            <a:srgbClr val="2D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34416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PRIMARY 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" y="163677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2D6AC8"/>
                </a:solidFill>
              </a:rPr>
              <a:t>KEY RESPONSIBILITIES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" y="175564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Write feature intents → Backlog Assistant (GA) auto-generates ACs and backlog priorities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AI-suggested sprint candidates from Jira AI backlog health each sprint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Facilitate sprint planning with AI candidate list (target &lt; 90 min, was 3–4 hrs)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Sign off AI-generated release notes and risk summary before every deployment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Monitor output quality via STUMP; escalate low-acceptance issues to Eng Lead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3410712"/>
            <a:ext cx="5870448" cy="237744"/>
          </a:xfrm>
          <a:prstGeom prst="rect">
            <a:avLst/>
          </a:prstGeom>
          <a:solidFill>
            <a:srgbClr val="E8F0FD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3410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Backlog Assistant (GA)  ·  USB Docs (Pilot)  ·  Jira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3648456"/>
            <a:ext cx="5870448" cy="23774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364845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Story writing: 4–6 hrs/sprint  →  reviewing AI drafts: 1–2 hrs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29844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1298448"/>
            <a:ext cx="5870448" cy="29260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133502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🎨  UX Designer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35056" y="1344168"/>
            <a:ext cx="1234440" cy="210312"/>
          </a:xfrm>
          <a:prstGeom prst="rect">
            <a:avLst/>
          </a:prstGeom>
          <a:solidFill>
            <a:srgbClr val="2D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35056" y="134416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PRIMARY 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163677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2D6AC8"/>
                </a:solidFill>
              </a:rPr>
              <a:t>KEY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175564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Brief Figma AI with brand, user persona, and accessibility constraints for wireframe generation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and refine AI-generated wireframe options; select best variant for handoff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Approve designs before UX Design Coder MCP generates React component code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Validate AI-generated component code against design system standards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Maintain design system library that feeds AI context and constraints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3410712"/>
            <a:ext cx="5870448" cy="237744"/>
          </a:xfrm>
          <a:prstGeom prst="rect">
            <a:avLst/>
          </a:prstGeom>
          <a:solidFill>
            <a:srgbClr val="E8F0FD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3410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Figma AI (Pilot)  ·  UX Design Coder MCP (Pilot)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3648456"/>
            <a:ext cx="5870448" cy="23774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64845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Wireframe creation: 1–2 days  →  direction + refinement: 4–6 hours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" y="395020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7160" y="3950208"/>
            <a:ext cx="5870448" cy="29260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1" y="398678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⚙️  Engineering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995928"/>
            <a:ext cx="1234440" cy="210312"/>
          </a:xfrm>
          <a:prstGeom prst="rect">
            <a:avLst/>
          </a:prstGeom>
          <a:solidFill>
            <a:srgbClr val="2D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99592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PRIMARY ACTOR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" y="428853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2D6AC8"/>
                </a:solidFill>
              </a:rPr>
              <a:t>KEY RESPONSIBILITIES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440740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Configure GitHub Copilot: content exclusions, PII policies, seat management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Code Review Asst (GA) flagged items (High/Critical only) — not every PR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Curate Prompt Library (GA) with team coding patterns and security standards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Set up DevBridge (GA) connecting GitHub ↔ Jira, Confluence, and AWS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Configure PipelineIQ (GA) for build optimisation and flaky test detection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Run fortnightly AI quality reviews: acceptance rate, override rate, time saved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6062472"/>
            <a:ext cx="5870448" cy="237744"/>
          </a:xfrm>
          <a:prstGeom prst="rect">
            <a:avLst/>
          </a:prstGeom>
          <a:solidFill>
            <a:srgbClr val="E8F0FD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606247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Code Review Asst (GA)  ·  Prompt Library (GA)  ·  DevBridge (GA)  ·  PipelineIQ (GA)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6300216"/>
            <a:ext cx="5870448" cy="23774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630021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PR reviews: every line  →  AI-flagged exceptions only (saves 6–10 hrs/sprint)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63056" y="395020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63056" y="3950208"/>
            <a:ext cx="5870448" cy="29260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98678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🔄  Scrum Master / Agilist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35056" y="3995928"/>
            <a:ext cx="1234440" cy="210312"/>
          </a:xfrm>
          <a:prstGeom prst="rect">
            <a:avLst/>
          </a:prstGeom>
          <a:solidFill>
            <a:srgbClr val="2D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35056" y="399592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PRIMARY ACTOR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428853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2D6AC8"/>
                </a:solidFill>
              </a:rPr>
              <a:t>KEY RESPONSIBILITIES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440740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Facilitate sprint planning with AI candidate list and AI velocity forecast (&lt; 90 min)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Update Definition of Done: AI usage declaration required on every PR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Monitor team AI adoption via STUMP Dashboard — flag phases &lt; 30% utilisation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Track acceptance rate and override rate; coach team on quality improvement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Run fortnightly AI wins/fails retro item using STUMP agent performance data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1A478A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Lead AI literacy workshops per role; update new-joiner onboarding for AI tools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3056" y="6062472"/>
            <a:ext cx="5870448" cy="237744"/>
          </a:xfrm>
          <a:prstGeom prst="rect">
            <a:avLst/>
          </a:prstGeom>
          <a:solidFill>
            <a:srgbClr val="E8F0FD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54496" y="606247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STUMP Dashboard  ·  QA Suite (GA)  ·  Smart Tester (Pilot)  ·  Jira AI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3056" y="6300216"/>
            <a:ext cx="5870448" cy="23774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4496" y="630021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Ceremony prep: manual  →  AI-assisted; sprint planning from 3 hrs to &lt; 90 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3895344"/>
            <a:ext cx="11914632" cy="36576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" y="6702552"/>
            <a:ext cx="8229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B4C8E6"/>
                </a:solidFill>
              </a:rPr>
              <a:t>© 2026 Cognizant  ·  US Bank PDLC AI Transformation  ·  Confidential  ·  STUMP Platform  ·  Option 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6702552"/>
            <a:ext cx="2743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0BEDC"/>
                </a:solidFill>
              </a:rPr>
              <a:t>stump.usbank.internal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8872"/>
            <a:ext cx="685800" cy="256032"/>
          </a:xfrm>
          <a:prstGeom prst="rect">
            <a:avLst/>
          </a:prstGeom>
          <a:solidFill>
            <a:srgbClr val="C85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1887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1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Hybrid  (Selective Autonomous Agents)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CFF"/>
                </a:solidFill>
              </a:rPr>
              <a:t>12 agents independently deliver key phase outputs  ·  Humans focus on design, decisions &amp; exceptions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62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76809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C64"/>
                </a:solidFill>
              </a:rPr>
              <a:t>HUMAN MODE: DECISION MAKER — AGENTS OWN ROUTINE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76809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8F0FF"/>
                </a:solidFill>
              </a:rPr>
              <a:t>Lead Time: 10–14 d  |  Flow Efficiency: 32–45%  |  Agent Utilisation: 60–75%  |  Deploys: Daily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29844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924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298448"/>
            <a:ext cx="5870448" cy="292608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1" y="133502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🎯  Product Owner / Product 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344168"/>
            <a:ext cx="1234440" cy="210312"/>
          </a:xfrm>
          <a:prstGeom prst="rect">
            <a:avLst/>
          </a:prstGeom>
          <a:solidFill>
            <a:srgbClr val="C85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34416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DECISION MAKER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" y="163677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5A0D"/>
                </a:solidFill>
              </a:rPr>
              <a:t>KEY RESPONSIBILITIES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" y="175564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Define high-level business outcomes and OKRs — agents decompose into stories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Smart Backlog Agent (AUTO) auto-groomed and prioritised backlog weekly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Provide intent corrections to improve agent quality (feeds back to agent context)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Make go/no-go deployment decision from Release Manager Agent risk summary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Handle exceptions: complex regulatory requirements agents cannot decompose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3410712"/>
            <a:ext cx="5870448" cy="237744"/>
          </a:xfrm>
          <a:prstGeom prst="rect">
            <a:avLst/>
          </a:prstGeom>
          <a:solidFill>
            <a:srgbClr val="FEF0E4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3410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Smart Backlog Agent (AUTO)  ·  USB Docs (ASSIST)  ·  Release Manager Agent (AUTO)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3648456"/>
            <a:ext cx="5870448" cy="237744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364845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Backlog management: 8 hrs/sprint  →  reviewing agent outputs: ~2 hrs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29844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924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1298448"/>
            <a:ext cx="5870448" cy="292608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133502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🎨  UX Designer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35056" y="1344168"/>
            <a:ext cx="1234440" cy="210312"/>
          </a:xfrm>
          <a:prstGeom prst="rect">
            <a:avLst/>
          </a:prstGeom>
          <a:solidFill>
            <a:srgbClr val="C85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35056" y="134416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DESIGN DIRECTOR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163677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5A0D"/>
                </a:solidFill>
              </a:rPr>
              <a:t>KEY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175564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Define design intent, brand constraints, accessibility requirements as agent context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UX Design Agent (AUTO) output: accept, reject, or provide structured correction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Design Review Agent compliance report; escalate brand/accessibility violations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Handle design exceptions: novel interaction patterns agents cannot resolve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Maintain design system library (agent context source); update standards quarterly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3410712"/>
            <a:ext cx="5870448" cy="237744"/>
          </a:xfrm>
          <a:prstGeom prst="rect">
            <a:avLst/>
          </a:prstGeom>
          <a:solidFill>
            <a:srgbClr val="FEF0E4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3410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UX Design Agent (AUTO)  ·  Design Review Agent (AUTO)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3648456"/>
            <a:ext cx="5870448" cy="237744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64845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Full design creation (full sprint)  →  design governance: 4–6 hrs/sprint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" y="395020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924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7160" y="3950208"/>
            <a:ext cx="5870448" cy="292608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1" y="398678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⚙️  Engineering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995928"/>
            <a:ext cx="1234440" cy="210312"/>
          </a:xfrm>
          <a:prstGeom prst="rect">
            <a:avLst/>
          </a:prstGeom>
          <a:solidFill>
            <a:srgbClr val="C85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99592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TECHNICAL GOVERNOR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" y="428853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5A0D"/>
                </a:solidFill>
              </a:rPr>
              <a:t>KEY RESPONSIBILITIES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440740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Set quality thresholds: code coverage %, SAST severity levels, test pass rate SLAs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CodeGen Agent (AUTO) outputs for complex/architectural components only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Handle Code Review Agent (AUTO) escalations: architecture, security exceptions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Configure Pipeline Agent (AUTO): build optimisation rules, parallel execution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Monitor agent ROI via STUMP: time saved, override rate, acceptance rate per agent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Update Prompt Library when codebase evolves; recalibrate high-override-rate agents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6062472"/>
            <a:ext cx="5870448" cy="237744"/>
          </a:xfrm>
          <a:prstGeom prst="rect">
            <a:avLst/>
          </a:prstGeom>
          <a:solidFill>
            <a:srgbClr val="FEF0E4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606247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CodeGen Agent (AUTO)  ·  Code Review Agent (AUTO)  ·  Pipeline Agent (AUTO)  ·  Prompt Library (ASSIST)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6300216"/>
            <a:ext cx="5870448" cy="237744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630021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Coding &amp; reviewing: 20+ hrs/sprint  →  agent governance &amp; exceptions: ~8 hrs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63056" y="395020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924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63056" y="3950208"/>
            <a:ext cx="5870448" cy="292608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98678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🔄  Scrum Master / Agilist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35056" y="3995928"/>
            <a:ext cx="1234440" cy="210312"/>
          </a:xfrm>
          <a:prstGeom prst="rect">
            <a:avLst/>
          </a:prstGeom>
          <a:solidFill>
            <a:srgbClr val="C85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35056" y="399592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FLOW MANAGER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428853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85A0D"/>
                </a:solidFill>
              </a:rPr>
              <a:t>KEY RESPONSIBILITIES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440740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and approve Sprint Agent-generated sprint plan (no manual planning from scratch)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Monitor agent SLAs: QA Orchestrator, Pipeline Agent, Release Manager throughput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Manage escalation queue: route agent exceptions to correct human decision-maker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Facilitate streamlined retrospective using STUMP agent performance data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Track DORA targets: Daily deploys, CFR &lt; 8%, MTTR &lt; 2 hrs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924008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Identify and unblock inter-agent handoff failures and dependency bottlenecks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3056" y="6062472"/>
            <a:ext cx="5870448" cy="237744"/>
          </a:xfrm>
          <a:prstGeom prst="rect">
            <a:avLst/>
          </a:prstGeom>
          <a:solidFill>
            <a:srgbClr val="FEF0E4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54496" y="606247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STUMP Dashboard  ·  QA Orchestrator (AUTO)  ·  RenovateBot (ASSIST)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3056" y="6300216"/>
            <a:ext cx="5870448" cy="237744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4496" y="630021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Ceremony facilitation  →  agent SLA monitoring &amp; sprint flow optimisation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3895344"/>
            <a:ext cx="11914632" cy="36576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" y="6702552"/>
            <a:ext cx="8229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B4C8E6"/>
                </a:solidFill>
              </a:rPr>
              <a:t>© 2026 Cognizant  ·  US Bank PDLC AI Transformation  ·  Confidential  ·  STUMP Platform  ·  Option 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6702552"/>
            <a:ext cx="2743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0BEDC"/>
                </a:solidFill>
              </a:rPr>
              <a:t>stump.usbank.internal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8872"/>
            <a:ext cx="685800" cy="256032"/>
          </a:xfrm>
          <a:prstGeom prst="rect">
            <a:avLst/>
          </a:prstGeom>
          <a:solidFill>
            <a:srgbClr val="72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1887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1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AI-First  (Orchestrated Agent 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DCFF"/>
                </a:solidFill>
              </a:rPr>
              <a:t>22 agents orchestrate full PDLC end-to-end  ·  Human role: OVERSEE · REVIEW · APPROVE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49808"/>
            <a:ext cx="12188952" cy="237744"/>
          </a:xfrm>
          <a:prstGeom prst="rect">
            <a:avLst/>
          </a:prstGeom>
          <a:solidFill>
            <a:srgbClr val="20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76809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C64"/>
                </a:solidFill>
              </a:rPr>
              <a:t>HUMAN ROLE: OVERSEE · REVIEW · APPROVE — ALL EXECUTION BY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76809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8F0FF"/>
                </a:solidFill>
              </a:rPr>
              <a:t>Lead Time: 3–7 d  |  Flow Efficiency: 50–65%  |  Agent Utilisation: 85–95%  |  Deploys: Multiple/day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29844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4A1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298448"/>
            <a:ext cx="5870448" cy="292608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1" y="133502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🎯  Product Owner / Product 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344168"/>
            <a:ext cx="1234440" cy="210312"/>
          </a:xfrm>
          <a:prstGeom prst="rect">
            <a:avLst/>
          </a:prstGeom>
          <a:solidFill>
            <a:srgbClr val="72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34416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STRATEGIC APPROVER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" y="163677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722EB0"/>
                </a:solidFill>
              </a:rPr>
              <a:t>KEY RESPONSIBILITIES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" y="175564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Define vision, strategic outcomes, and acceptance criteria as Discovery Agent context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Discovery Agent analysis → approve roadmap direction weekly (30 min)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Backlog Agent-generated stories → approve or reject with reason (not write)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Provide final go/no-go to Release Gate Agent — sole human production gate (Ph6)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Monitor KPIs via STUMP: lead time 3–7 days, agent utilisation 85–95%, ROI 4.5–6×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3410712"/>
            <a:ext cx="5870448" cy="237744"/>
          </a:xfrm>
          <a:prstGeom prst="rect">
            <a:avLst/>
          </a:prstGeom>
          <a:solidFill>
            <a:srgbClr val="F3EBFD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3410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Discovery Agent  ·  Backlog Agent  ·  Sprint Agent  ·  Release Gate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3648456"/>
            <a:ext cx="5870448" cy="237744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364845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~70% effort reduction: sprint management  →  strategic oversight (4–8 hrs/week)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29844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4A1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1298448"/>
            <a:ext cx="5870448" cy="292608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133502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🎨  UX Designer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35056" y="1344168"/>
            <a:ext cx="1234440" cy="210312"/>
          </a:xfrm>
          <a:prstGeom prst="rect">
            <a:avLst/>
          </a:prstGeom>
          <a:solidFill>
            <a:srgbClr val="72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35056" y="134416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DESIGN APPROVER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163677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722EB0"/>
                </a:solidFill>
              </a:rPr>
              <a:t>KEY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175564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Define and maintain design principles, brand guidelines, accessibility standards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and approve or reject UI/UX Agent-generated wireframes and design assets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Design Review Agent compliance report; escalate violations to PO/Eng Lead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Handle edge-case design decisions flagged by agents for human judgement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Quarterly design system review: keep agent context current as brand evolves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3410712"/>
            <a:ext cx="5870448" cy="237744"/>
          </a:xfrm>
          <a:prstGeom prst="rect">
            <a:avLst/>
          </a:prstGeom>
          <a:solidFill>
            <a:srgbClr val="F3EBFD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341071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UI/UX Agent  ·  Design Review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3648456"/>
            <a:ext cx="5870448" cy="237744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64845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~75% effort reduction: design execution  →  design governance &amp; standards ownership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" y="395020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4A1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7160" y="3950208"/>
            <a:ext cx="5870448" cy="292608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1" y="398678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⚙️  Engineering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995928"/>
            <a:ext cx="1234440" cy="210312"/>
          </a:xfrm>
          <a:prstGeom prst="rect">
            <a:avLst/>
          </a:prstGeom>
          <a:solidFill>
            <a:srgbClr val="72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99592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QUALITY GATE OWNER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" y="428853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722EB0"/>
                </a:solidFill>
              </a:rPr>
              <a:t>KEY RESPONSIBILITIES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440740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Architecture Agent decisions for high-risk/compliance-sensitive components only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Set and maintain quality gate parameters: coverage %, security severity, perf SLAs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Monitor Code Generator + Code Reviewer + Tech Debt Agent pipeline health via STUMP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Approve Rollback Agent activation for P1/P2 incidents (human authorisation required)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Review Tech Debt Agent quarterly backlog; approve tech debt vs feature prioritisation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Ensure Quality Gate Agent thresholds meet Archer Risk Database compliance controls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6062472"/>
            <a:ext cx="5870448" cy="237744"/>
          </a:xfrm>
          <a:prstGeom prst="rect">
            <a:avLst/>
          </a:prstGeom>
          <a:solidFill>
            <a:srgbClr val="F3EBFD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606247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Architecture Agent  ·  Code Generator  ·  Code Reviewer  ·  Tech Debt Agent  ·  Quality Gate Agent  ·  Security Scanner  ·  Rollback Agent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6300216"/>
            <a:ext cx="5870448" cy="237744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630021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Technical delivery  →  architectural governance and agent pipeline health oversight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63056" y="3950208"/>
            <a:ext cx="587044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4A1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63056" y="3950208"/>
            <a:ext cx="5870448" cy="292608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986784"/>
            <a:ext cx="3991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🔄  Scrum Master / Agilist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35056" y="3995928"/>
            <a:ext cx="1234440" cy="210312"/>
          </a:xfrm>
          <a:prstGeom prst="rect">
            <a:avLst/>
          </a:prstGeom>
          <a:solidFill>
            <a:srgbClr val="72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35056" y="399592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SYSTEM HEALTH OWNER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4288536"/>
            <a:ext cx="3474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722EB0"/>
                </a:solidFill>
              </a:rPr>
              <a:t>KEY RESPONSIBILITIES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4407408"/>
            <a:ext cx="5669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Monitor 22-agent orchestration pipeline: inter-agent handoffs, throughput, SLA breaches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Manage all human escalation points from agents — surface critical decisions only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Own DORA Elite targets: lead time 3–7 days, multiple deploys/day, CFR &lt; 5%, MTTR &lt; 1h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Run monthly governance review: Compliance Agent outputs vs Archer risk controls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Identify systemic agent failures; co-ordinate prompt recalibration with Eng Lead</a:t>
            </a:r>
          </a:p>
          <a:p>
            <a:pPr>
              <a:spcBef>
                <a:spcPts val="150"/>
              </a:spcBef>
              <a:spcAft>
                <a:spcPts val="0"/>
              </a:spcAft>
            </a:pPr>
            <a:r>
              <a:rPr sz="670">
                <a:solidFill>
                  <a:srgbClr val="4A1376"/>
                </a:solidFill>
              </a:rPr>
              <a:t>▸ </a:t>
            </a:r>
            <a:r>
              <a:rPr sz="720">
                <a:solidFill>
                  <a:srgbClr val="191919"/>
                </a:solidFill>
              </a:rPr>
              <a:t>Stakeholder reporting: STUMP executive dashboard, progress vs Option A/B baselines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3056" y="6062472"/>
            <a:ext cx="5870448" cy="237744"/>
          </a:xfrm>
          <a:prstGeom prst="rect">
            <a:avLst/>
          </a:prstGeom>
          <a:solidFill>
            <a:srgbClr val="F3EBFD"/>
          </a:solidFill>
          <a:ln w="635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54496" y="6062472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82850"/>
                </a:solidFill>
              </a:rPr>
              <a:t>🛠  Sprint Agent  ·  Monitor Agent  ·  Incident Triage Agent  ·  Compliance Agent  ·  STUMP 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3056" y="6300216"/>
            <a:ext cx="5870448" cy="237744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4496" y="6300216"/>
            <a:ext cx="5687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5B4"/>
                </a:solidFill>
              </a:rPr>
              <a:t>⏱  KEY SHIFT: Sprint management  →  AI system governance and DORA Elite performance ownership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3895344"/>
            <a:ext cx="11914632" cy="36576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4A1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" y="6702552"/>
            <a:ext cx="8229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B4C8E6"/>
                </a:solidFill>
              </a:rPr>
              <a:t>© 2026 Cognizant  ·  US Bank PDLC AI Transformation  ·  Confidential  ·  STUMP Platform  ·  Option 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6702552"/>
            <a:ext cx="2743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0BEDC"/>
                </a:solidFill>
              </a:rPr>
              <a:t>stump.usbank.internal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