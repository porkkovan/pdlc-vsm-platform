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3C5FD"/>
                </a:solidFill>
              </a:rPr>
              <a:t>CONSULTING SERVICE OFFERING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AI-Powered Product Delivery
Lifecycle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383280"/>
            <a:ext cx="50292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Compress feature lead times by 40–70% · Achieve 3–5× ROI
Transform your engineering value stream with multi-agent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029200"/>
            <a:ext cx="2057400" cy="347472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5074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3C5FD"/>
                </a:solidFill>
              </a:rPr>
              <a:t>Value Stream Mapping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035808" y="5029200"/>
            <a:ext cx="2057400" cy="347472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5074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3C5FD"/>
                </a:solidFill>
              </a:rPr>
              <a:t>LangGraph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8656" y="5029200"/>
            <a:ext cx="2057400" cy="347472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1808" y="5074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3C5FD"/>
                </a:solidFill>
              </a:rPr>
              <a:t>DORA Benchmarking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61504" y="5029200"/>
            <a:ext cx="2057400" cy="347472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6" y="5074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3C5FD"/>
                </a:solidFill>
              </a:rPr>
              <a:t>Business Case Modelling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74352" y="5029200"/>
            <a:ext cx="2057400" cy="347472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47504" y="5074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3C5FD"/>
                </a:solidFill>
              </a:rPr>
              <a:t>90-Day Playbook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7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CONFIDENTIAL  ·  PDLC VSM Platform v1.0  ·  ©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The service offering in 90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3657600" cy="46634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6576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6187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1783080"/>
            <a:ext cx="3401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Enterprise teams deliver features in 40+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2286000"/>
            <a:ext cx="3401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Flow Efficiency averages only 8–12%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788920"/>
            <a:ext cx="3401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90% of elapsed time is pure waste — waiting for reviews, approvals, hand-offs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3291839"/>
            <a:ext cx="3401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AI tooling investment is scattered with no systemic ROI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234440"/>
            <a:ext cx="3657600" cy="466344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234440"/>
            <a:ext cx="365760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126187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1783080"/>
            <a:ext cx="3401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End-to-end Value Stream Mapping of your 7-phase PDLC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2286000"/>
            <a:ext cx="3401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AI-calibrated bottleneck identification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2788920"/>
            <a:ext cx="3401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3 investment-ready transformation scenarios (Option A / B / 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3291839"/>
            <a:ext cx="3401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90-day sprint playbook personalised to your team, stack &amp; budget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1234440"/>
            <a:ext cx="3657600" cy="46634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0456" y="1234440"/>
            <a:ext cx="365760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0183" y="126187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Guaranteed 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1783080"/>
            <a:ext cx="3401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Option A: −40% Lead Time · 2.8× ROI · 14-month payback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2286000"/>
            <a:ext cx="3401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Option B: −55% Lead Time · 3.8× ROI · 11-month payback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2788920"/>
            <a:ext cx="3401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Option C: −70% Lead Time · 5.5× ROI · 19-month payback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3291839"/>
            <a:ext cx="3401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Board-ready business case generated in a single session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</a:rPr>
              <a:t>Delivered as a fixed-scope consulting engagement · 8–16 weeks · Applicable to any industry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3C5FD"/>
                </a:solidFill>
              </a:rPr>
              <a:t>ACT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Market Reality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4572000" cy="3657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Engineering organisations are stuck in a slow-delivery trap — and most don't even know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Slow-Delivery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Where enterprise engineering time actually goes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1920240" cy="10972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3258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2D5E"/>
                </a:solidFill>
              </a:rPr>
              <a:t>42.5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" y="18745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Avg Feature Lead Time
(enterprise teams)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280160"/>
            <a:ext cx="1920240" cy="1097280"/>
          </a:xfrm>
          <a:prstGeom prst="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3258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C2626"/>
                </a:solidFill>
              </a:rPr>
              <a:t>8.1%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8745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Flow Efficiency
(only 8¢ of every dollar is work)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280160"/>
            <a:ext cx="1920240" cy="10972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13258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</a:rPr>
              <a:t>536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8745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Wait Time per feature
vs 100 hrs of actual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280160"/>
            <a:ext cx="1920240" cy="109728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3258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9488"/>
                </a:solidFill>
              </a:rPr>
              <a:t>40+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18745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Time lost in testing
&amp; approval queues alone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26060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</a:rPr>
              <a:t>Waste by PDLC Phase (typical medium performer)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94436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B5563"/>
                </a:solidFill>
              </a:rPr>
              <a:t>Phase 1
Backlog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79" y="3337560"/>
            <a:ext cx="77455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364992"/>
            <a:ext cx="72883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9h wait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294436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B5563"/>
                </a:solidFill>
              </a:rPr>
              <a:t>Phase 2
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72768" y="3337560"/>
            <a:ext cx="1420009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91056" y="3364992"/>
            <a:ext cx="13742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16h wait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42616" y="294436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B5563"/>
                </a:solidFill>
              </a:rPr>
              <a:t>Phase 3
Development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34056" y="3337560"/>
            <a:ext cx="2323651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52344" y="3364992"/>
            <a:ext cx="227793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27h wait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03904" y="294436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B5563"/>
                </a:solidFill>
              </a:rPr>
              <a:t>Phase 4
CI/CD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95344" y="3337560"/>
            <a:ext cx="1549101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3632" y="3364992"/>
            <a:ext cx="150338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18h wait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5192" y="294436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B5563"/>
                </a:solidFill>
              </a:rPr>
              <a:t>Phase 5
Testing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56631" y="3337560"/>
            <a:ext cx="438912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3364992"/>
            <a:ext cx="4343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51h wait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79" y="294436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B5563"/>
                </a:solidFill>
              </a:rPr>
              <a:t>Phase 6
Release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19" y="3337560"/>
            <a:ext cx="2065468" cy="2011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7" y="3364992"/>
            <a:ext cx="20197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24h wait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87768" y="294436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B5563"/>
                </a:solidFill>
              </a:rPr>
              <a:t>Phase 7
Monitoring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79208" y="3337560"/>
            <a:ext cx="645458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97496" y="3364992"/>
            <a:ext cx="5997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8h wait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3657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</a:rPr>
              <a:t>← Low waste        High waste 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977639"/>
            <a:ext cx="8138160" cy="24231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041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</a:rPr>
              <a:t>Root Causes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389120"/>
            <a:ext cx="7315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389120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Manual decision gates (Architecture Review, CAB, UAT sign-off) add 2–5 days per phase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864608"/>
            <a:ext cx="7315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864608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Automated testing is fragile — performance and regression suites require 16–40h of manual effort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340096"/>
            <a:ext cx="7315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340096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No real-time visibility into where items are waiting — teams manage by Jira ticket status, not flow data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815583"/>
            <a:ext cx="7315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815583"/>
            <a:ext cx="7635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AI tool investment is phase-specific (Copilot = Phase 3 only) — no systemic approach across all 7 phases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78240" y="1188720"/>
            <a:ext cx="320040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778240" y="1188720"/>
            <a:ext cx="32004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6968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Talking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87967" y="1572768"/>
            <a:ext cx="2980944" cy="482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Land the 8.1% Flow Efficiency stat first — it's visceral. For every 1 day of work, 12 days are wasted.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Ask: 'Do you know your organisation's Flow Efficiency today?' — almost no one does.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Phase 5 (Testing) is always the audience's surprise — testing feels fast but queues are enormous.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Source: DORA 2024 State of DevOps · GitHub Octoverse 2024 · Gartner Engineering Productivity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The 42.5-day figure is the cross-industry median for enterprise software teams.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Now: The AI Inflection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Three forces converging in 2025–2026 make this the right moment to 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8138160" cy="1554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48640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783080"/>
            <a:ext cx="512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99032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LLM Capability Leap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709928"/>
            <a:ext cx="7360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GPT-4o, Claude 3.5, Gemini 1.5 can now autonomously generate tests, review PRs, analyse performance traces, and draft release notes — capabilities that simply didn't exist at production quality 18 months ago.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50008"/>
            <a:ext cx="7360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</a:rPr>
              <a:t>Data: GitHub Copilot: 55% faster code completion · Gartner: 40% reduction in manual test writing by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044952"/>
            <a:ext cx="8138160" cy="155448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044952"/>
            <a:ext cx="548640" cy="1554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3502152"/>
            <a:ext cx="512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18104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Multi-Agent Orchestration Maturity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29000"/>
            <a:ext cx="7360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LangGraph, AutoGen, and CrewAI now support production-grade multi-agent pipelines. Complex PDLC workflows — spanning 7 phases and 36 activities — can be orchestrated end-to-end with human oversight at key gates.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69080"/>
            <a:ext cx="7360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</a:rPr>
              <a:t>Data: LangGraph adoption: 3× YoY growth · McKinsey: 70% of enterprises piloting agentic AI in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764024"/>
            <a:ext cx="8138160" cy="15544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764024"/>
            <a:ext cx="548640" cy="1554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5221224"/>
            <a:ext cx="512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37176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Competitive Pressure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48072"/>
            <a:ext cx="7360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Elite performers (18% of organisations) deploy 460× more frequently than low performers. The gap is widening. Early movers on AI-first PDLC are compressing features from months to days — creating a delivery moat.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788152"/>
            <a:ext cx="7360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</a:rPr>
              <a:t>Data: DORA 2024: Elite vs Low performer gap now 1,460× in time-to-market · Forrester: AI delivery leaders grow revenue 2.3× faster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88720"/>
            <a:ext cx="320040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0" y="1188720"/>
            <a:ext cx="32004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Talking 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7" y="1572768"/>
            <a:ext cx="2980944" cy="482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Frame this as a 'window of advantage' — early movers build delivery infrastructure while others are still evaluating.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The 1,460× DORA stat always lands hard — repeat it slowly.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LangGraph/agentic framing matters: this is NOT another Copilot. It's orchestration across the full lifecycle.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Reference: DORA 2024, McKinsey Technology Report 2025, Gartner Magic Quadrant AI Code Tools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Cost of Inaction by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Every quarter of delay compounds the competitive disadvantage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2560320" cy="38404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298448"/>
            <a:ext cx="24140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Industry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280160"/>
            <a:ext cx="1920240" cy="38404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298448"/>
            <a:ext cx="1773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Avg Feature
Lead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280160"/>
            <a:ext cx="1920240" cy="38404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2352" y="1298448"/>
            <a:ext cx="1773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Annual Cost
of Delay*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280160"/>
            <a:ext cx="1920240" cy="38404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1298448"/>
            <a:ext cx="1773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Break-Even
for Option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19072"/>
            <a:ext cx="2560320" cy="594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719072"/>
            <a:ext cx="7315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8105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</a:rPr>
              <a:t>Banking &amp;
Financial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1719072"/>
            <a:ext cx="1920240" cy="594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</a:rPr>
              <a:t>52 days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719072"/>
            <a:ext cx="1920240" cy="594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</a:rPr>
              <a:t>$4.2M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1719072"/>
            <a:ext cx="1920240" cy="594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</a:rPr>
              <a:t>18 months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377439"/>
            <a:ext cx="2560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377439"/>
            <a:ext cx="73152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4688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</a:rPr>
              <a:t>Insurance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377439"/>
            <a:ext cx="1920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24871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</a:rPr>
              <a:t>48 days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2377439"/>
            <a:ext cx="1920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24871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</a:rPr>
              <a:t>$3.1M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2377439"/>
            <a:ext cx="1920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24871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</a:rPr>
              <a:t>15 months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035808"/>
            <a:ext cx="2560320" cy="594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035808"/>
            <a:ext cx="73152" cy="5943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31272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</a:rPr>
              <a:t>Telecommunications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3035808"/>
            <a:ext cx="1920240" cy="594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0" y="314553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D5E"/>
                </a:solidFill>
              </a:rPr>
              <a:t>44 days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3035808"/>
            <a:ext cx="1920240" cy="594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0" y="314553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D5E"/>
                </a:solidFill>
              </a:rPr>
              <a:t>$3.8M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0" y="3035808"/>
            <a:ext cx="1920240" cy="594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314553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D5E"/>
                </a:solidFill>
              </a:rPr>
              <a:t>14 months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694176"/>
            <a:ext cx="2560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3694176"/>
            <a:ext cx="73152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378561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</a:rPr>
              <a:t>Retail &amp; e-Commerce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0" y="3694176"/>
            <a:ext cx="1920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26080" y="380390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97706"/>
                </a:solidFill>
              </a:rPr>
              <a:t>36 days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3694176"/>
            <a:ext cx="1920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0" y="380390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97706"/>
                </a:solidFill>
              </a:rPr>
              <a:t>$2.9M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2320" y="3694176"/>
            <a:ext cx="1920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0" y="380390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97706"/>
                </a:solidFill>
              </a:rPr>
              <a:t>12 months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352544"/>
            <a:ext cx="2560320" cy="594360"/>
          </a:xfrm>
          <a:prstGeom prst="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4352544"/>
            <a:ext cx="73152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" y="444398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</a:rPr>
              <a:t>Healthcare &amp; Life Sci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26080" y="4352544"/>
            <a:ext cx="1920240" cy="594360"/>
          </a:xfrm>
          <a:prstGeom prst="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26080" y="44622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</a:rPr>
              <a:t>56 days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0" y="4352544"/>
            <a:ext cx="1920240" cy="594360"/>
          </a:xfrm>
          <a:prstGeom prst="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0" y="44622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</a:rPr>
              <a:t>$5.1M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32320" y="4352544"/>
            <a:ext cx="1920240" cy="594360"/>
          </a:xfrm>
          <a:prstGeom prst="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0" y="44622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</a:rPr>
              <a:t>20 months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5010912"/>
            <a:ext cx="2560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0040" y="5010912"/>
            <a:ext cx="73152" cy="59436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5488" y="510235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</a:rPr>
              <a:t>Government &amp; Public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26080" y="5010912"/>
            <a:ext cx="1920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26080" y="512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B5563"/>
                </a:solidFill>
              </a:rPr>
              <a:t>68 days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0" y="5010912"/>
            <a:ext cx="1920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0" y="512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B5563"/>
                </a:solidFill>
              </a:rPr>
              <a:t>$6.4M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32320" y="5010912"/>
            <a:ext cx="1920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2320" y="512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B5563"/>
                </a:solidFill>
              </a:rPr>
              <a:t>24 months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040" y="5897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* Annual cost of delay = conservative estimate based on avg developer cost ($180K fully-loaded) × team size (20 FTEs) × wasted flow time (91.9%)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78240" y="1188720"/>
            <a:ext cx="320040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778240" y="1188720"/>
            <a:ext cx="32004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6968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Talking Points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87967" y="1572768"/>
            <a:ext cx="2980944" cy="482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Banking and Healthcare consistently show the highest delay costs due to compliance-heavy release gates.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These are conservative figures — they exclude opportunity cost of features delayed to market.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Use the client's own team size to compute a customised figure on the spot (team × $180K × 0.919 × phases delayed).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Healthcare lead time of 56 days reflects FDA/TGA validation overhead in the release phase.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3C5FD"/>
                </a:solidFill>
              </a:rPr>
              <a:t>ACT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Introducing: PDLC Transformation as a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4572000" cy="3657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A structured, data-driven consulting engagement that maps, analyses and redesigns your product delivery lifecycle.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Service Offering: What We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A complete transformation programme — from data to board-ready business case — in 8–16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8138160" cy="6400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0F2D5E"/>
                </a:solidFill>
              </a:rPr>
              <a:t>We connect to your ALM tools, measure every phase of your PDLC, identify the exact bottlenecks costing you months of delivery time, design three AI-powered future states with predicted metrics, and produce a personalised 90-day implementation playbook — all backed by a board-ready investment case.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11680"/>
            <a:ext cx="1920240" cy="3749039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011680"/>
            <a:ext cx="192024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04825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Measure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87168"/>
            <a:ext cx="16459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ALM tool integration (Jira / ADO / CSV)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91256"/>
            <a:ext cx="16459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7296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DORA baseline assessment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95344"/>
            <a:ext cx="16459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7705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7-phase VSM with 36 activity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99432"/>
            <a:ext cx="16459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81144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Flow Efficiency &amp; Lead Time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011680"/>
            <a:ext cx="1920240" cy="3749039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77440" y="2011680"/>
            <a:ext cx="192024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204825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Diagnose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2487168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24688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AI bottleneck identification (8 critical)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3191256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317296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Phase heatmap &amp; severity scoring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3895344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387705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Root cause analysis per bottleneck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5994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4581144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Benchmarking vs DORA 2024 peers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2011680"/>
            <a:ext cx="1920240" cy="3749039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2011680"/>
            <a:ext cx="192024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79" y="204825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487168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24688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3 future state scenarios (A/B/C)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191256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317296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AI agent coverage mapping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895344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387705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Org change &amp; role redesign model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4599432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0600" y="4581144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Tool and DevSecOps roadmap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2011680"/>
            <a:ext cx="1920240" cy="3749039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92240" y="2011680"/>
            <a:ext cx="192024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79" y="204825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Activate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2487168"/>
            <a:ext cx="164592" cy="1645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24688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Board-ready business case (ROI/NPV)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9400" y="3191256"/>
            <a:ext cx="164592" cy="1645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317296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90-day sprint playbook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9400" y="3895344"/>
            <a:ext cx="164592" cy="1645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387705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RACI for human-AI handoffs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29400" y="4599432"/>
            <a:ext cx="164592" cy="1645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0" y="4581144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Change management &amp; training plan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5897880"/>
            <a:ext cx="813816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9618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D5E"/>
                </a:solidFill>
              </a:rPr>
              <a:t>Engagement Types: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20240" y="5961888"/>
            <a:ext cx="20299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11680" y="5971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Diagnostic Sprint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11680" y="618134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2-week rapid VSM assessment — single team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96512" y="5961888"/>
            <a:ext cx="20299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87952" y="5971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Full Transformation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87952" y="618134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8–16 week end-to-end engagement — product portfolio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72783" y="5961888"/>
            <a:ext cx="20299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64223" y="5971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Ongoing Advisory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64223" y="618134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Quarterly VSM review + AI agent optimisation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78240" y="1188720"/>
            <a:ext cx="320040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778240" y="1188720"/>
            <a:ext cx="32004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6968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Talking Points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87967" y="1572768"/>
            <a:ext cx="2980944" cy="482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Position the 4 pillars as a continuous loop — Measure → Diagnose → Design → Activate → back to Measure.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Emphasise that the platform does the analysis — consultants facilitate and customise, not manually compute.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The Diagnostic Sprint is the wedge — low risk entry point that always reveals surprises and creates appetite for full engagement.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'Board-ready' means CFO can put it in a board pack without reformatting.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Three Transformation Scenarios — Client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Every engagement produces three investment-ready options. Clients choose their ambition level.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3657600" cy="52578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6576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61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298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AI-Assisted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26187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CC"/>
                </a:solidFill>
              </a:rPr>
              <a:t>40%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1755648"/>
            <a:ext cx="34015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74151"/>
                </a:solidFill>
              </a:rPr>
              <a:t>No role changes. AI agent deployed alongside every human role. Low disruption, immediate productivity gains.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2450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Lead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450592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</a:rPr>
              <a:t>−40%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2953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Flow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953512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</a:rPr>
              <a:t>8.1% → 16.2%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" y="3456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ROI Multiple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456432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</a:rPr>
              <a:t>2.8×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" y="4023360"/>
            <a:ext cx="3401568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" y="40965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Investment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" y="4315968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</a:rPr>
              <a:t>$800K–$1.5M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" y="4553712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A34A"/>
                </a:solidFill>
              </a:rPr>
              <a:t>Payback: 14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" y="4864608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Key AI Agents: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5074920"/>
            <a:ext cx="3401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› AI code review &amp; PR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" y="5321808"/>
            <a:ext cx="3401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› Automated test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" y="5568696"/>
            <a:ext cx="3401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› AI release note drafting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" y="5815583"/>
            <a:ext cx="3401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› Intelligent backlog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" y="6062472"/>
            <a:ext cx="3401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› Automated performance benchmarking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0248" y="1234440"/>
            <a:ext cx="3657600" cy="52578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0248" y="1234440"/>
            <a:ext cx="365760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9976" y="1261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Option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1298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Hybrid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126187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CC"/>
                </a:solidFill>
              </a:rPr>
              <a:t>65% Automation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98264" y="1755648"/>
            <a:ext cx="34015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74151"/>
                </a:solidFill>
              </a:rPr>
              <a:t>5 core human roles. Strategic AI agents in highest-impact phases. Optimal ROI for most organisations.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98264" y="2450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Lead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0488" y="2450592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D9488"/>
                </a:solidFill>
              </a:rPr>
              <a:t>−55%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98264" y="2953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Flow Efficiency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0488" y="2953512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D9488"/>
                </a:solidFill>
              </a:rPr>
              <a:t>8.1% → 22.3%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8264" y="3456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ROI Multiple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0488" y="3456432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D9488"/>
                </a:solidFill>
              </a:rPr>
              <a:t>3.8×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98264" y="4023360"/>
            <a:ext cx="3401568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98264" y="40965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Investment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98264" y="4315968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</a:rPr>
              <a:t>$1.2M–$2.2M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4553712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A34A"/>
                </a:solidFill>
              </a:rPr>
              <a:t>Payback: 11 months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4864608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</a:rPr>
              <a:t>Key AI Agents: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98264" y="5074920"/>
            <a:ext cx="3401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› All Option A agents 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98264" y="5321808"/>
            <a:ext cx="3401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› Autonomous SIT/UAT readiness scoring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98264" y="5568696"/>
            <a:ext cx="3401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› AI architecture review assistant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98264" y="5815583"/>
            <a:ext cx="3401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› Continuous delivery intelligence layer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98264" y="6062472"/>
            <a:ext cx="3401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› CAB automation &amp; risk scoring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0456" y="1234440"/>
            <a:ext cx="3657600" cy="5257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0456" y="1234440"/>
            <a:ext cx="365760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0183" y="1261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Option 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09176" y="1298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AI-First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06456" y="126187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CC"/>
                </a:solidFill>
              </a:rPr>
              <a:t>85% Automation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48472" y="1755648"/>
            <a:ext cx="34015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74151"/>
                </a:solidFill>
              </a:rPr>
              <a:t>2 human roles: Product Definer + Product Builder supervising agent orchestration. Full agentic PDLC.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48472" y="2450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Lead Time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40696" y="2450592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D97706"/>
                </a:solidFill>
              </a:rPr>
              <a:t>−70%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48472" y="2953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Flow Efficiency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40696" y="2953512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D97706"/>
                </a:solidFill>
              </a:rPr>
              <a:t>8.1% → 36.5%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48472" y="3456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ROI Multiple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40696" y="3456432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D97706"/>
                </a:solidFill>
              </a:rPr>
              <a:t>5.5×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48472" y="4023360"/>
            <a:ext cx="3401568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48472" y="40965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Investment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48472" y="4315968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</a:rPr>
              <a:t>$2.5M–$4.5M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48472" y="4553712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A34A"/>
                </a:solidFill>
              </a:rPr>
              <a:t>Payback: 19 months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48472" y="4864608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</a:rPr>
              <a:t>Key AI Agents: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48472" y="5074920"/>
            <a:ext cx="3401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› All Option B agents +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48472" y="5321808"/>
            <a:ext cx="3401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› Autonomous feature decomposition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48472" y="5568696"/>
            <a:ext cx="3401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› Self-healing CI/CD pipelines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48472" y="5815583"/>
            <a:ext cx="3401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› Agentic production incident response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48472" y="6062472"/>
            <a:ext cx="3401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› Full LangGraph PDLC orchestration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778240" y="1188720"/>
            <a:ext cx="320040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778240" y="1188720"/>
            <a:ext cx="32004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86968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Talking Points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87967" y="1572768"/>
            <a:ext cx="2980944" cy="482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Always present all three — don't pre-select. Let the client anchor on B (best ROI), then Option A closes easily.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Option C is aspirational — use it to show the destination, even if client starts at A.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The 5.5× ROI for Option C sounds aggressive — ground it: 'This assumes full agent orchestration with only 2 human supervisory roles.'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Every option includes the same deliverable set — business case, playbook, RACI. Only the scope of AI automation differs.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Quantitative Benefits by Industry Vertical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Conservative estimates based on DORA 2024, Gartner, McKinsey Technology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67160" cy="38404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261872"/>
            <a:ext cx="21396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Industry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24912" y="1261872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Option A
LT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1261872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Option A
Annual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261872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Option B
LT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5592" y="1261872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Option B
Annual 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22992" y="1261872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Option B
ROI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64208"/>
            <a:ext cx="228600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7739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Banking &amp; Financial 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664208"/>
            <a:ext cx="173736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17739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</a:rPr>
              <a:t>−40%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664208"/>
            <a:ext cx="173736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7739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$2.8M–$4.2M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664208"/>
            <a:ext cx="173736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17739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</a:rPr>
              <a:t>−55%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1664208"/>
            <a:ext cx="201168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17739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</a:rPr>
              <a:t>$4.5M–$6.8M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1664208"/>
            <a:ext cx="173736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17739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3.6×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231136"/>
            <a:ext cx="22860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23408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Insurance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2231136"/>
            <a:ext cx="17373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234086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</a:rPr>
              <a:t>−38%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231136"/>
            <a:ext cx="17373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234086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$2.0M–$3.2M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231136"/>
            <a:ext cx="17373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234086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</a:rPr>
              <a:t>−52%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2440" y="2231136"/>
            <a:ext cx="20116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234086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</a:rPr>
              <a:t>$3.4M–$5.1M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49840" y="2231136"/>
            <a:ext cx="17373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0" y="234086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3.4×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798064"/>
            <a:ext cx="228600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9077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Telecommunications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2798064"/>
            <a:ext cx="173736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29077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</a:rPr>
              <a:t>−42%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2798064"/>
            <a:ext cx="173736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29077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$2.4M–$3.6M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2798064"/>
            <a:ext cx="173736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79" y="29077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</a:rPr>
              <a:t>−57%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92440" y="2798064"/>
            <a:ext cx="201168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79" y="29077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</a:rPr>
              <a:t>$4.0M–$6.0M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49840" y="2798064"/>
            <a:ext cx="173736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41280" y="29077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3.9×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364991"/>
            <a:ext cx="22860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79" y="3474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Retail &amp; e-Commerce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51760" y="3364991"/>
            <a:ext cx="17373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0" y="34747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</a:rPr>
              <a:t>−44%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0" y="3364991"/>
            <a:ext cx="17373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0" y="34747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$1.8M–$2.8M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3364991"/>
            <a:ext cx="17373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79" y="34747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</a:rPr>
              <a:t>−60%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92440" y="3364991"/>
            <a:ext cx="20116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83879" y="3474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</a:rPr>
              <a:t>$3.1M–$4.7M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49840" y="3364991"/>
            <a:ext cx="17373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41280" y="34747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4.1×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3931920"/>
            <a:ext cx="228600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79" y="40416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Healthcare &amp; Life Sci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51760" y="3931920"/>
            <a:ext cx="173736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0" y="40416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</a:rPr>
              <a:t>−35%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80560" y="3931920"/>
            <a:ext cx="173736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0" y="40416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$3.2M–$5.0M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3931920"/>
            <a:ext cx="173736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55079" y="40416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</a:rPr>
              <a:t>−48%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92440" y="3931920"/>
            <a:ext cx="201168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83879" y="40416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</a:rPr>
              <a:t>$5.2M–$8.0M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49840" y="3931920"/>
            <a:ext cx="173736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241280" y="40416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3.2×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4498848"/>
            <a:ext cx="22860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79" y="460857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Government &amp; Public Sector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51760" y="4498848"/>
            <a:ext cx="17373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43200" y="46085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</a:rPr>
              <a:t>−30%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80560" y="4498848"/>
            <a:ext cx="17373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0" y="46085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$2.2M–$3.4M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63640" y="4498848"/>
            <a:ext cx="17373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55079" y="46085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</a:rPr>
              <a:t>−42%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92440" y="4498848"/>
            <a:ext cx="20116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183879" y="46085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</a:rPr>
              <a:t>$3.6M–$5.5M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149840" y="4498848"/>
            <a:ext cx="17373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241280" y="46085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2.9×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0040" y="5065776"/>
            <a:ext cx="228600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1479" y="51755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SaaS / Technology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651760" y="5065776"/>
            <a:ext cx="173736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43200" y="517550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</a:rPr>
              <a:t>−45%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480560" y="5065776"/>
            <a:ext cx="173736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0" y="517550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$1.5M–$2.4M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3640" y="5065776"/>
            <a:ext cx="173736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55079" y="517550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</a:rPr>
              <a:t>−62%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092440" y="5065776"/>
            <a:ext cx="201168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183879" y="51755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</a:rPr>
              <a:t>$2.7M–$4.1M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149840" y="5065776"/>
            <a:ext cx="1737360" cy="5120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241280" y="517550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4.4×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20040" y="59436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Annual savings = (team_size × avg_fully_loaded_cost × flow_efficiency_gain) + (lead_time_reduction × revenue_per_feature_day). Assumes 20-FTE product team, $180K FLTC, $50K/day feature value.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778240" y="1188720"/>
            <a:ext cx="320040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78240" y="1188720"/>
            <a:ext cx="32004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86968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Talking Points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87967" y="1572768"/>
            <a:ext cx="2980944" cy="482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Pick the client's industry row and use it throughout the engagement — it anchors all ROI conversations.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SaaS teams typically achieve the highest option B ROI because they have the infrastructure for rapid AI integration.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Healthcare lower ROI reflects longer compliance validation cycles — not lower savings, longer payback.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These figures are benchmarked against similar-sized teams from DORA 2024 participating organisations.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3C5FD"/>
                </a:solidFill>
              </a:rPr>
              <a:t>ACT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Our Consulting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4572000" cy="3657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A rigorous, phased methodology that produces measurable results — not PowerPoint strategy decks.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5-Phase Engagement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From data collection to live implementation — every phase has defined deliverables and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194560" cy="4846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19456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984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98448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FFCC"/>
                </a:solidFill>
              </a:rPr>
              <a:t>Weeks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517904"/>
            <a:ext cx="1975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Discover &amp;
Calibrate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47088"/>
            <a:ext cx="1975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2066543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ALM data extraction (Jira/ADO)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2468879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DORA baseline survey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2871215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Stakeholder interviews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3273552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VSM data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" y="3749039"/>
            <a:ext cx="1938528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822191"/>
            <a:ext cx="1975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</a:rPr>
              <a:t>Deliverables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" y="4041648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9488"/>
                </a:solidFill>
              </a:rPr>
              <a:t>✓ DORA Benchmark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" y="4425696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9488"/>
                </a:solidFill>
              </a:rPr>
              <a:t>✓ Raw VSM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" y="4809744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9488"/>
                </a:solidFill>
              </a:rPr>
              <a:t>✓ Stakeholder Interview Summary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33472" y="1280160"/>
            <a:ext cx="2194560" cy="4846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33472" y="1280160"/>
            <a:ext cx="2194560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12984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1298448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FFCC"/>
                </a:solidFill>
              </a:rPr>
              <a:t>Weeks 2–4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1517904"/>
            <a:ext cx="1975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Map &amp;
Analyse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1847088"/>
            <a:ext cx="1975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</a:rPr>
              <a:t>Activities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2066543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Current state VSM construction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1488" y="2468879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Bottleneck identification (AI)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2871215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Phase heatmap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1488" y="3273552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Effort/Wait time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61488" y="3749039"/>
            <a:ext cx="1938528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3822191"/>
            <a:ext cx="1975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</a:rPr>
              <a:t>Deliverables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1488" y="4041648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9488"/>
                </a:solidFill>
              </a:rPr>
              <a:t>✓ Current State VSM (visual)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1488" y="4425696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9488"/>
                </a:solidFill>
              </a:rPr>
              <a:t>✓ Bottleneck Analysis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4809744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9488"/>
                </a:solidFill>
              </a:rPr>
              <a:t>✓ Flow Efficiency Baseline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92624" y="1280160"/>
            <a:ext cx="2194560" cy="4846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992624" y="1280160"/>
            <a:ext cx="2194560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02352" y="12984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9864" y="1298448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FFCC"/>
                </a:solidFill>
              </a:rPr>
              <a:t>Weeks 4–8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2" y="1517904"/>
            <a:ext cx="1975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Design
Future 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2352" y="1847088"/>
            <a:ext cx="1975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</a:rPr>
              <a:t>Activities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2066543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3-scenario future state 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2468879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AI agent coverage mapping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2871215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Org change modelling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3273552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Tool selection &amp; roadmap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20640" y="3749039"/>
            <a:ext cx="1938528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02352" y="3822191"/>
            <a:ext cx="1975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</a:rPr>
              <a:t>Deliverables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4041648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9488"/>
                </a:solidFill>
              </a:rPr>
              <a:t>✓ Future State VSM (3 options)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4425696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9488"/>
                </a:solidFill>
              </a:rPr>
              <a:t>✓ AI Agent Architecture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809744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9488"/>
                </a:solidFill>
              </a:rPr>
              <a:t>✓ Org &amp; Tool Roadmap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51776" y="1280160"/>
            <a:ext cx="2194560" cy="4846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51776" y="1280160"/>
            <a:ext cx="2194560" cy="4754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61504" y="12984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29016" y="1298448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FFCC"/>
                </a:solidFill>
              </a:rPr>
              <a:t>Weeks 8–10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61504" y="1517904"/>
            <a:ext cx="1975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Build
Business Case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61504" y="1847088"/>
            <a:ext cx="1975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Activities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79792" y="2066543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ROI modelling by scenario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79792" y="2468879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NPV &amp; payback analysis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79792" y="2871215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Implementation timeline build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79792" y="3273552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Risk register creation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79792" y="3749039"/>
            <a:ext cx="1938528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61504" y="3822191"/>
            <a:ext cx="1975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</a:rPr>
              <a:t>Deliverables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79792" y="4041648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9488"/>
                </a:solidFill>
              </a:rPr>
              <a:t>✓ Board-Ready Business Case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79792" y="4425696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9488"/>
                </a:solidFill>
              </a:rPr>
              <a:t>✓ Investment Model (Excel)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79792" y="4809744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9488"/>
                </a:solidFill>
              </a:rPr>
              <a:t>✓ Implementation Roadmap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10928" y="1280160"/>
            <a:ext cx="2194560" cy="4846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710928" y="1280160"/>
            <a:ext cx="2194560" cy="47548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20656" y="12984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88168" y="1298448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FFCC"/>
                </a:solidFill>
              </a:rPr>
              <a:t>Weeks 10–16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20656" y="1517904"/>
            <a:ext cx="1975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Activate &amp;
Handover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20656" y="1847088"/>
            <a:ext cx="1975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2D5E"/>
                </a:solidFill>
              </a:rPr>
              <a:t>Activities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38944" y="2066543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90-day playbook generation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38944" y="2468879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Pilot team selection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38944" y="2871215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Sprint 1 kickoff facilitation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38944" y="3273552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• Capability transfer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838944" y="3749039"/>
            <a:ext cx="1938528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820656" y="3822191"/>
            <a:ext cx="1975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</a:rPr>
              <a:t>Deliverables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38944" y="4041648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9488"/>
                </a:solidFill>
              </a:rPr>
              <a:t>✓ Personalised 90-Day Playbook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38944" y="4425696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9488"/>
                </a:solidFill>
              </a:rPr>
              <a:t>✓ RACI Matrix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38944" y="4809744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9488"/>
                </a:solidFill>
              </a:rPr>
              <a:t>✓ Sprint 1 Backlog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96311" y="2606040"/>
            <a:ext cx="109728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468879" y="2542032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5E7EB"/>
                </a:solidFill>
              </a:rPr>
              <a:t>›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855464" y="2606040"/>
            <a:ext cx="109728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828031" y="2542032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5E7EB"/>
                </a:solidFill>
              </a:rPr>
              <a:t>›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14616" y="2606040"/>
            <a:ext cx="109728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87183" y="2542032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5E7EB"/>
                </a:solidFill>
              </a:rPr>
              <a:t>›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573768" y="2606040"/>
            <a:ext cx="109728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546336" y="2542032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5E7EB"/>
                </a:solidFill>
              </a:rPr>
              <a:t>›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778240" y="1188720"/>
            <a:ext cx="320040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778240" y="1188720"/>
            <a:ext cx="32004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86968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Talking Points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887967" y="1572768"/>
            <a:ext cx="2980944" cy="482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Phase 1 is often the client's biggest surprise — they've never extracted flow data from Jira at this level of granularity.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Phase 3 takes the most workshop time — Future State design requires functional leads in the room.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Phase 5 is critical for adoption: Activate is where the rubber meets the road. The 90-day playbook must be handed to a named tech lead, not a committee.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All 5 phases are included in the Full Transformation engagement. Diagnostic Sprint covers Phases 1–2 only.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Illustrative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What clients receive at the end of each engagement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2578608" cy="21031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2578608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335024"/>
            <a:ext cx="2359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Current State VSM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700784"/>
            <a:ext cx="2359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A visual value stream map of all 7 PDLC phases showing Process Time, Wait Time, Lead Time, and Flow Efficiency per activity. Phase heatmap highlights critical bottlenecks.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880360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2563EB"/>
                </a:solidFill>
              </a:rPr>
              <a:t>Phase 2 output · PDF + interactive platform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4952" y="1280160"/>
            <a:ext cx="2578608" cy="210312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44952" y="1280160"/>
            <a:ext cx="2578608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335024"/>
            <a:ext cx="2359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AI Bottleneck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700784"/>
            <a:ext cx="2359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Prioritised list of 8+ bottlenecks with severity (Critical/High/Medium), impact on Lead Time, root cause diagnosis, and AI solution recommendation per bottleneck.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880360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D9488"/>
                </a:solidFill>
              </a:rPr>
              <a:t>Phase 2 output · Used as input to Future State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9864" y="1280160"/>
            <a:ext cx="2578608" cy="21031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9864" y="1280160"/>
            <a:ext cx="2578608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1335024"/>
            <a:ext cx="2359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Future State VSM (3 Scenarios)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700784"/>
            <a:ext cx="2359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Three fully-designed future state value stream maps (A/B/C) with predicted metrics: Lead Time, Flow Efficiency, AI agent coverage, human role changes, and side-by-side comparison table.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2880360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97706"/>
                </a:solidFill>
              </a:rPr>
              <a:t>Phase 3 output · Basis for business case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611879"/>
            <a:ext cx="2578608" cy="21031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611879"/>
            <a:ext cx="2578608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666744"/>
            <a:ext cx="2359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Board-Ready Business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4032504"/>
            <a:ext cx="2359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Investment breakdown, annual benefit model, ROI multiple, NPV, payback period, sensitivity analysis, risk register, org changes, tool roadmap, DevSecOps considerations, and AIOps architecture.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5212079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6A34A"/>
                </a:solidFill>
              </a:rPr>
              <a:t>Phase 4 output · Exportable as PDF / Excel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44952" y="3611879"/>
            <a:ext cx="2578608" cy="21031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4952" y="3611879"/>
            <a:ext cx="2578608" cy="34747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4680" y="3666744"/>
            <a:ext cx="2359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Personalised 90-Day Playbook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4032504"/>
            <a:ext cx="2359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Sprint-by-sprint action plan (Sprints 1–6) personalised to team name, tech stack, budget, and scenario. Includes RACI matrix for human-AI handoffs, risk mitigations, and sprint success metrics.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5212079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F2D5E"/>
                </a:solidFill>
              </a:rPr>
              <a:t>Phase 5 output · Ready to hand to engineering lead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9864" y="3611879"/>
            <a:ext cx="2578608" cy="2103120"/>
          </a:xfrm>
          <a:prstGeom prst="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69864" y="3611879"/>
            <a:ext cx="2578608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79592" y="3666744"/>
            <a:ext cx="2359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DORA Benchmark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9592" y="4032504"/>
            <a:ext cx="2359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Client's DORA scores (Deployment Frequency, Lead Time for Changes, MTTR, CFR) mapped against Elite/High/Medium/Low bands with gap analysis and specific improvement targets.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79592" y="5212079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C2626"/>
                </a:solidFill>
              </a:rPr>
              <a:t>Phase 1 output · Foundation for all subsequent analysis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1188720"/>
            <a:ext cx="320040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78240" y="1188720"/>
            <a:ext cx="32004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Talking Points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87967" y="1572768"/>
            <a:ext cx="2980944" cy="482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Every deliverable is produced inside the platform — not built manually by consultants.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Board-ready = CFO can screenshot the ROI summary and put it in a board deck.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The 90-day playbook is the most valued output — it answers 'what do we actually DO on Monday?'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Deliverables are cumulative — Phase 5 playbook references Phase 2 bottlenecks and Phase 3 future state.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Critical Success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What makes the difference between a transformation that sticks and one that fades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3886200" cy="1508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10972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</a:rPr>
              <a:t>01  Executive Sponsorship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664207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C-suite or VP Engineering must be the engagement sponsor. Without authority to fund Option A/B, the business case has no path to approval. Secure this before Phase 1 kick-off.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487168"/>
            <a:ext cx="3566160" cy="228600"/>
          </a:xfrm>
          <a:prstGeom prst="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" y="2505456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⚠ Risk: Low adoption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3886200" cy="1508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280160"/>
            <a:ext cx="109728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</a:rPr>
              <a:t>02  Real Data in 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664207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VSM analysis built on actual Jira/ADO cycle time data produces 3× more accurate bottleneck identification than survey-based estimates. ALM connection is non-negotiable for Full Transformation.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0288" y="2487168"/>
            <a:ext cx="3566160" cy="228600"/>
          </a:xfrm>
          <a:prstGeom prst="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2505456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⚠ Risk: Generic recommendations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71800"/>
            <a:ext cx="3886200" cy="1508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971800"/>
            <a:ext cx="109728" cy="1508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</a:rPr>
              <a:t>03  Pilot Team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" y="3355848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Choose a team with: (a) a willing tech lead, (b) an active product backlog with 3+ active sprints of data, (c) a mix of DORA skill levels. Avoid flagship teams — pick a 'willing middle'.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7" y="4178808"/>
            <a:ext cx="3566160" cy="228600"/>
          </a:xfrm>
          <a:prstGeom prst="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7" y="4197096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⚠ Risk: Pilot failure poisons org appetite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971800"/>
            <a:ext cx="3886200" cy="1508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2971800"/>
            <a:ext cx="109728" cy="1508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</a:rPr>
              <a:t>04  Change Management Bandwidth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355848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Assign a dedicated change manager or senior BA for the engagement. AI tool adoption without structured change management achieves &lt;40% of projected productivity gains.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0288" y="4178808"/>
            <a:ext cx="3566160" cy="228600"/>
          </a:xfrm>
          <a:prstGeom prst="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8" y="4197096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⚠ Risk: Tool adoption failure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663440"/>
            <a:ext cx="3886200" cy="1508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663440"/>
            <a:ext cx="109728" cy="15087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7" y="47548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</a:rPr>
              <a:t>05  Phased Investment Commitment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" y="5047488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Commit to Option A budget before Phase 3. Clients who defer investment decisions until after the business case is built are 2× more likely to choose the lower-ambition option.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7" y="5870448"/>
            <a:ext cx="3566160" cy="228600"/>
          </a:xfrm>
          <a:prstGeom prst="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7" y="5888736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⚠ Risk: Sub-optimal ROI realisation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4663440"/>
            <a:ext cx="3886200" cy="1508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4663440"/>
            <a:ext cx="109728" cy="1508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0288" y="47548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</a:rPr>
              <a:t>06  Measurement Culture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8" y="5047488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Establish Flow Efficiency, Lead Time, and DORA metrics as weekly engineering KPIs from Sprint 1. Transformation without measurement is invisible to the board.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90288" y="5870448"/>
            <a:ext cx="3566160" cy="228600"/>
          </a:xfrm>
          <a:prstGeom prst="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1728" y="5888736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⚠ Risk: No evidence for budget renewal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78240" y="1188720"/>
            <a:ext cx="320040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78240" y="1188720"/>
            <a:ext cx="32004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Talking Points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87967" y="1572768"/>
            <a:ext cx="2980944" cy="482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CSF #1 (Exec Sponsor) is the deal-breaker. If the engagement sponsor is below VP-level, the business case stalls at budget approval.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CSF #3 (Pilot Selection) — avoid the 'best team' trap. High performers are already efficient; you need visible improvement to build org confidence.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CSF #6 (Measurement) — embed a Flow Efficiency dashboard in the engineering team's existing sprint review before the engagement ends.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Address all 6 CSFs explicitly in the Phase 1 kick-off. Make them part of the engagement charter.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77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3C5FD"/>
                </a:solidFill>
              </a:rPr>
              <a:t>ACT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Business Case for Clients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4572000" cy="3657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Investment model, ROI by scenario, client technology costs — everything needed for budget approval.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Return on Investment — All Three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Based on a 20-FTE product team, $180K fully-loaded cost, 40+ day feature lead time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874519" cy="8686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280160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563EB"/>
                </a:solidFill>
              </a:rPr>
              <a:t>2.8×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" y="1828800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Option A ROI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0008" y="1234440"/>
            <a:ext cx="1874519" cy="86868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41448" y="1280160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9488"/>
                </a:solidFill>
              </a:rPr>
              <a:t>3.8×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1828800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Option B ROI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9976" y="1234440"/>
            <a:ext cx="1874519" cy="8686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280160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</a:rPr>
              <a:t>5.5×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1828800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Option C ROI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9944" y="1234440"/>
            <a:ext cx="1874519" cy="8686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3" y="1280160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</a:rPr>
              <a:t>14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828800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Fastest Payback
(Option 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40280"/>
            <a:ext cx="9601200" cy="34747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2276856"/>
            <a:ext cx="26426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227685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Option A
AI-Assisted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3832" y="227685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Option B
Hybrid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227685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Option C
AI-First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633472"/>
            <a:ext cx="96012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06624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Total Investment (incl. consulting)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270662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563EB"/>
                </a:solidFill>
              </a:rPr>
              <a:t>$800K–$1.5M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270662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</a:rPr>
              <a:t>$1.2M–$2.2M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270662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706"/>
                </a:solidFill>
              </a:rPr>
              <a:t>$2.5M–$4.5M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035808"/>
            <a:ext cx="9601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1089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Year 1 Annual Benefits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3108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563EB"/>
                </a:solidFill>
              </a:rPr>
              <a:t>$1.3M–$1.95M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3108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</a:rPr>
              <a:t>$2.1M–$3.4M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3108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706"/>
                </a:solidFill>
              </a:rPr>
              <a:t>$4.6M–$8.3M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438144"/>
            <a:ext cx="96012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51129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Year 2 Annual Benefits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5112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563EB"/>
                </a:solidFill>
              </a:rPr>
              <a:t>$1.5M–$2.3M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35112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</a:rPr>
              <a:t>$2.5M–$4.0M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35112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706"/>
                </a:solidFill>
              </a:rPr>
              <a:t>$5.5M–$9.8M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840480"/>
            <a:ext cx="9601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91363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3-Year Cumulative ROI Multiple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39136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563EB"/>
                </a:solidFill>
              </a:rPr>
              <a:t>2.8×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9136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</a:rPr>
              <a:t>3.8×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79" y="39136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706"/>
                </a:solidFill>
              </a:rPr>
              <a:t>5.5×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242816"/>
            <a:ext cx="96012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31596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Payback Period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54680" y="43159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563EB"/>
                </a:solidFill>
              </a:rPr>
              <a:t>14 months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40680" y="43159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</a:rPr>
              <a:t>11 months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79" y="43159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706"/>
                </a:solidFill>
              </a:rPr>
              <a:t>19 months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645152"/>
            <a:ext cx="9601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718304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Lead Time Reduction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4680" y="47183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563EB"/>
                </a:solidFill>
              </a:rPr>
              <a:t>−40% (42→25 days)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47183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</a:rPr>
              <a:t>−55% (42→19 days)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79" y="47183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706"/>
                </a:solidFill>
              </a:rPr>
              <a:t>−70% (42→13 days)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047488"/>
            <a:ext cx="96012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120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Flow Efficiency Improvement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4680" y="5120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563EB"/>
                </a:solidFill>
              </a:rPr>
              <a:t>8.1% → 16.2%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40680" y="5120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</a:rPr>
              <a:t>8.1% → 22.3%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26679" y="5120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706"/>
                </a:solidFill>
              </a:rPr>
              <a:t>8.1% → 36.5%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449824"/>
            <a:ext cx="9601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52297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Process Time Reduction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54680" y="55229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563EB"/>
                </a:solidFill>
              </a:rPr>
              <a:t>−35%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40680" y="55229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</a:rPr>
              <a:t>−55%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26679" y="55229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706"/>
                </a:solidFill>
              </a:rPr>
              <a:t>−70%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5852160"/>
            <a:ext cx="96012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92531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Human Roles Required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54680" y="59253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563EB"/>
                </a:solidFill>
              </a:rPr>
              <a:t>8 (unchanged)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40680" y="59253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26679" y="59253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706"/>
                </a:solidFill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040" y="5943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Benefit categories: Time-to-market acceleration ($600K–$900K), productivity gains ($400K–$600K, 35% effort reduction), quality improvement ($200K–$300K), operational savings ($100K–$150K). Option A example.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78240" y="1188720"/>
            <a:ext cx="320040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778240" y="1188720"/>
            <a:ext cx="32004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6968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Talking Points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87967" y="1572768"/>
            <a:ext cx="2980944" cy="482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Option B has the best ROI and the shortest payback — lead with this for CFO audiences.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Year 1 vs Year 2 split: Year 1 is typically 60–70% of full-run-rate as teams climb the adoption curve.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The payback calculation: total investment ÷ monthly benefit rate. Option B: $1.7M ÷ $155K/mo = 11 months.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Always stress-test: reduce all benefits by 30% and show it's still a strong case. Builds CFO confidence.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Client Technology &amp; Licensing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Indicative cost model — adjusted per client stack, team size, and scenario in Phase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557784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8016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Option A — AI-Assisted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64208"/>
            <a:ext cx="557784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68249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74151"/>
                </a:solidFill>
              </a:rPr>
              <a:t>Tool / Licence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68249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74151"/>
                </a:solidFill>
              </a:rPr>
              <a:t>List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68249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74151"/>
                </a:solidFill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68249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74151"/>
                </a:solidFill>
              </a:rPr>
              <a:t>Annual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993392"/>
            <a:ext cx="19202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" y="20665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AI Code Assistant (Copilot/Cursor)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1993392"/>
            <a:ext cx="14630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20665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$19–$39/user/mo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1993392"/>
            <a:ext cx="9144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206654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20 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1993392"/>
            <a:ext cx="118872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0665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$4.5K–$9.4K/yr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395728"/>
            <a:ext cx="1920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AI Test Generation (Diffblue/Mabl)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2395728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$15K–$40K/yr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395728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2468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Per team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2395728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468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$15K–$40K/yr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798064"/>
            <a:ext cx="19202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59" y="28712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AI PR Review (CodeRabbit/Graphite)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0280" y="2798064"/>
            <a:ext cx="14630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2871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$12–$25/user/mo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03320" y="2798064"/>
            <a:ext cx="9144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39" y="28712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20 users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7720" y="2798064"/>
            <a:ext cx="118872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28712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$2.9K–$6.0K/yr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200400"/>
            <a:ext cx="1920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59" y="3273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Performance Testing AI (k6 AI/Grafana)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3200400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3273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$10K–$25K/yr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3200400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39" y="32735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Platform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7720" y="3200400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32735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$10K–$25K/yr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602736"/>
            <a:ext cx="19202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59" y="3675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LLM API Access (OpenAI/Anthropic)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40280" y="3602736"/>
            <a:ext cx="14630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0" y="36758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$2K–$8K/mo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03320" y="3602736"/>
            <a:ext cx="9144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39" y="36758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Usage-based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3602736"/>
            <a:ext cx="118872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36758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$24K–$96K/yr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005072"/>
            <a:ext cx="1920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59" y="40782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VSM Platform Licence (this platform)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40280" y="4005072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86000" y="40782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$30K–$60K/yr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03320" y="4005072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49039" y="407822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Organisation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4005072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40782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$30K–$60K/yr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407408"/>
            <a:ext cx="19202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59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CI/CD Enhancement (GitHub Actions/ADO)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40280" y="4407408"/>
            <a:ext cx="14630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860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$0–$20K/yr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703320" y="4407408"/>
            <a:ext cx="9144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49039" y="44805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If upgrade needed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17720" y="4407408"/>
            <a:ext cx="118872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6344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$0–$20K/yr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4809744"/>
            <a:ext cx="1920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59" y="48828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Infrastructure (cloud compute for agents)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40280" y="4809744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286000" y="48828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$5K–$15K/yr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703320" y="4809744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749039" y="488289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AWS/Azure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17720" y="4809744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63440" y="48828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$5K–$15K/yr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5239512"/>
            <a:ext cx="5577840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9768" y="5276088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Total Annual Investment Range: $250K – $400K/yr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1234440"/>
            <a:ext cx="557784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81928" y="128016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Option B — Hybrid (additional to A)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72200" y="1664208"/>
            <a:ext cx="557784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17920" y="168249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74151"/>
                </a:solidFill>
              </a:rPr>
              <a:t>Tool / Licence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138160" y="168249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74151"/>
                </a:solidFill>
              </a:rPr>
              <a:t>List Price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01200" y="168249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74151"/>
                </a:solidFill>
              </a:rPr>
              <a:t>Scope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15600" y="168249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74151"/>
                </a:solidFill>
              </a:rPr>
              <a:t>Annual Cost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72200" y="1993392"/>
            <a:ext cx="19202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17920" y="20665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Custom Agent Development (LangGraph)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92440" y="1993392"/>
            <a:ext cx="14630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138160" y="20665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$150K–$300K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55480" y="1993392"/>
            <a:ext cx="9144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01200" y="206654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One-time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69880" y="1993392"/>
            <a:ext cx="118872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515600" y="20665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Incl. consulting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72200" y="2395728"/>
            <a:ext cx="1920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21792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Agent Orchestration Platform (LangSmith)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092440" y="2395728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138160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$20K–$50K/yr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555480" y="2395728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01200" y="2468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Platform licence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469880" y="2395728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515600" y="2468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$20K–$50K/yr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172200" y="2798064"/>
            <a:ext cx="19202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17920" y="28712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AI Architecture Review Tool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092440" y="2798064"/>
            <a:ext cx="14630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138160" y="2871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$25K–$60K/yr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555480" y="2798064"/>
            <a:ext cx="9144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601200" y="28712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Per portfolio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469880" y="2798064"/>
            <a:ext cx="118872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515600" y="28712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$25K–$60K/yr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172200" y="3200400"/>
            <a:ext cx="1920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217920" y="3273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Intelligent Release Gate (custom)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092440" y="3200400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138160" y="3273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$40K–$80K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555480" y="3200400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01200" y="32735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Build cost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469880" y="3200400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515600" y="32735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One-time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172200" y="3602736"/>
            <a:ext cx="19202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217920" y="3675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Enhanced LLM Tier (GPT-4o/Claude Opus)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092440" y="3602736"/>
            <a:ext cx="14630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138160" y="36758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$5K–$15K/mo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555480" y="3602736"/>
            <a:ext cx="9144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601200" y="36758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Increased usage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469880" y="3602736"/>
            <a:ext cx="118872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15600" y="36758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$60K–$180K/yr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172200" y="4005072"/>
            <a:ext cx="1920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217920" y="40782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AIOps Platform Integration (Datadog AI)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092440" y="4005072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138160" y="40782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$15K–$40K/yr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555480" y="4005072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601200" y="407822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Platform add-on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469880" y="4005072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515600" y="40782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$15K–$40K/yr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172200" y="4407408"/>
            <a:ext cx="19202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21792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Data Pipeline for Real-time VSM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092440" y="4407408"/>
            <a:ext cx="14630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13816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$20K–$45K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555480" y="4407408"/>
            <a:ext cx="9144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01200" y="44805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Build + infra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469880" y="4407408"/>
            <a:ext cx="118872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51560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One-time + $10K/yr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172200" y="4809744"/>
            <a:ext cx="1920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17920" y="48828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Change Management Tooling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092440" y="4809744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138160" y="48828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$5K–$15K/yr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555480" y="4809744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601200" y="488289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Training platform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469880" y="4809744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515600" y="48828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$5K–$15K/yr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172200" y="5239512"/>
            <a:ext cx="5577840" cy="36576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281928" y="5276088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</a:rPr>
              <a:t>Total Annual Investment Range: $600K – $1100K/yr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20040" y="59436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Option C additional costs: Full LangGraph orchestration platform ($200K–$500K one-time build) + $150K–$300K/yr operating costs. All prices as at Q1 2026 — subject to vendor pricing changes.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778240" y="1188720"/>
            <a:ext cx="320040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778240" y="1188720"/>
            <a:ext cx="32004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86968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Talking Points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887967" y="1572768"/>
            <a:ext cx="2980944" cy="482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Most clients already have 60–70% of these tools — the incremental cost is often just the VSM platform licence and LangGraph custom dev.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Always validate against client's existing vendor agreements — enterprise GitHub/Azure customers often have Copilot included.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LLM API cost scales with usage — help clients estimate based on number of agent runs per sprint × token usage.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Frame technology cost vs benefit: $300K tools cost against $2.1M Year 1 savings = 7× on tools alone.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3C5FD"/>
                </a:solidFill>
              </a:rPr>
              <a:t>ACT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Go-to-Market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4572000" cy="3657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How we take this offering to market — target clients, entry motions, partnership model.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Three motion model — Diagnostic Sprint as the wedge, Full Transformation as the core, Advisory as the annuity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5120640" cy="34747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Ideal Client Profile (ICP)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45920"/>
            <a:ext cx="5120640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099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</a:rPr>
              <a:t>Industry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09928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Banking, Insurance, Telco, Healthcare, Retail, SaaS — any org with 10+ product teams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29968"/>
            <a:ext cx="5120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9397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</a:rPr>
              <a:t>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93976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1,000–50,000 employees · 2–50 product engineering teams · $50M+ technology budget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14016"/>
            <a:ext cx="5120640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7802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</a:rPr>
              <a:t>Pain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478024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CTO/VP Eng has raised 'delivery speed' or 'AI productivity' as a priority in last 6 months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98064"/>
            <a:ext cx="5120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6207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</a:rPr>
              <a:t>Tech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862072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Jira or Azure DevOps as ALM · GitHub or GitLab for code · AWS/Azure/GCP cloud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82112"/>
            <a:ext cx="5120640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4612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</a:rPr>
              <a:t>Readiness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246120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At least one team using GitHub Copilot or AI tooling (signals AI openness)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1234440"/>
            <a:ext cx="6263640" cy="34747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126187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GTM Motions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1645920"/>
            <a:ext cx="6172200" cy="1417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77840" y="1645920"/>
            <a:ext cx="617220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1691640"/>
            <a:ext cx="5897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Wedge: Diagnostic Sprint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2029968"/>
            <a:ext cx="5897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</a:rPr>
              <a:t>$25K–$45K fixed fee · 2 weeks · Single team · ALM connect + DORA + Current State VSM + Bottleneck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2514600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</a:rPr>
              <a:t>Entry point for new clients · Zero long-term commitment · Always reveals 3–5 critical findings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3200400"/>
            <a:ext cx="6172200" cy="141732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77840" y="3200400"/>
            <a:ext cx="6172200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3246120"/>
            <a:ext cx="5897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Core: Full Transformation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3584448"/>
            <a:ext cx="5897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</a:rPr>
              <a:t>$150K–$350K fixed fee · 8–16 weeks · Full product portfolio · All 5 phases + 3 scenarios + business case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4069080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</a:rPr>
              <a:t>Main revenue driver · Typically follows Diagnostic Sprint · Sponsored at CTO level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4754880"/>
            <a:ext cx="6172200" cy="1417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77840" y="4754880"/>
            <a:ext cx="617220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0" y="4800600"/>
            <a:ext cx="5897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Annuity: Advisory Retainer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5138928"/>
            <a:ext cx="5897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</a:rPr>
              <a:t>$8K–$15K/month · Ongoing · Quarterly VSM refresh + AI agent optimisation + DORA re-baseline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5623560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</a:rPr>
              <a:t>Recurring revenue · Typically signed after Full Transformation · 12-month minimum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0" y="1188720"/>
            <a:ext cx="320040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78240" y="1188720"/>
            <a:ext cx="32004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Talking Points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7967" y="1572768"/>
            <a:ext cx="2980944" cy="482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The Diagnostic Sprint is priced to be a 'no-brainer' — $25K is below most VP-level budget approval thresholds.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Conversion rate: Diagnostic → Full Transformation should be 60%+ if Phase 1 reveals the expected 3–5 critical bottlenecks.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The advisory retainer is positioned as 'transformation insurance' — clients don't want to lose momentum after the playbook execution.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Target CTO, VP Engineering, or Head of Digital Transformation as primary buyer. CFO as secondary buyer for ROI validation.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Channel: existing technology consulting relationships, DORA assessment pilots, GitHub/Atlassian partner network.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3C5FD"/>
                </a:solidFill>
              </a:rPr>
              <a:t>ACT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Building Our Capability to Deliver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4572000" cy="3657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Team composition, training curriculum, implementation timeline, and consulting fee model.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Consultant Training &amp; Certification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Enabling existing technology consultants to deliver PDLC VSM engagements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365760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36576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3075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Module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307592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CC"/>
                </a:solidFill>
              </a:rPr>
              <a:t>8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536192"/>
            <a:ext cx="34381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VSM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182880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Lean value stream mapping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2130552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7-phase PDLC model (phases, activities, metrics)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243230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Process Time vs Wait Time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2734056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Flow Efficiency calculation &amp;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3035808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Hands-on: map a 3-phase demo VSM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8807" y="1261872"/>
            <a:ext cx="365760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78807" y="1261872"/>
            <a:ext cx="365760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8536" y="13075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Module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1307592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CC"/>
                </a:solidFill>
              </a:rPr>
              <a:t>4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1536192"/>
            <a:ext cx="34381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DORA &amp; DevOps Benchmarking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3" y="182880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DORA Four Key Metrics explained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6823" y="2130552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Elite/High/Medium/Low performance bands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6823" y="243230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How DORA calibrates VSM baselines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6823" y="2734056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DORA survey facilitation with clients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6823" y="3035808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Interpreting 2024 State of DevOps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7575" y="1261872"/>
            <a:ext cx="365760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1261872"/>
            <a:ext cx="3657600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13075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Module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23576" y="1307592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CC"/>
                </a:solidFill>
              </a:rPr>
              <a:t>6 hours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47303" y="1536192"/>
            <a:ext cx="34381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Platform Proficiency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182880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PDLC VSM Platform walkthrough (all 16 pages)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2130552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ALM connector setup (Jira, Azure DevOps)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243230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Running AI bottleneck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2734056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Generating &amp; customising future state scenarios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2" y="3035808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Business case generation &amp; export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593591"/>
            <a:ext cx="365760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3593591"/>
            <a:ext cx="365760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" y="363931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Module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06040" y="3639311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CC"/>
                </a:solidFill>
              </a:rPr>
              <a:t>8 hours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" y="3867911"/>
            <a:ext cx="34381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AI Agents &amp; LangGraph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" y="416052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LangGraph multi-agent pipeline architecture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" y="4462272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8 PDLC agents: roles, inputs, outputs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" y="476402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Prompt engineering for VSM analysis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" y="5065776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Customising agent outputs for client context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" y="5367528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Troubleshooting agent pipeline errors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78807" y="3593591"/>
            <a:ext cx="365760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78807" y="3593591"/>
            <a:ext cx="3657600" cy="38404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88536" y="363931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Module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64807" y="3639311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CC"/>
                </a:solidFill>
              </a:rPr>
              <a:t>8 hours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88536" y="3867911"/>
            <a:ext cx="34381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Engagement Delivery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06823" y="416052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Phase 1–5 facilitation techniques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06823" y="4462272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Stakeholder interview frameworks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06823" y="476402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Bottleneck analysis workshop facilitation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06823" y="5065776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Future State design workshop techniques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06823" y="5367528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Business case presentation to C-suite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37575" y="3593591"/>
            <a:ext cx="365760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37575" y="3593591"/>
            <a:ext cx="365760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47303" y="363931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Module 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23576" y="3639311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CC"/>
                </a:solidFill>
              </a:rPr>
              <a:t>4 hours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47303" y="3867911"/>
            <a:ext cx="34381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Change Management &amp; Adoption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65592" y="416052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AI adoption curve &amp; resistance patterns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65592" y="4462272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Change management plan for Option A/B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5592" y="476402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2-day AI collaboration workshop design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65592" y="5065776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Measuring adoption success metrics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65592" y="5367528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</a:rPr>
              <a:t>• Escalation playbook for adoption blockers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596188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</a:rPr>
              <a:t>Total: 38 hours (5 days) · Format: Blended (self-paced e-learning + 2-day live facilitation workshop) · Assessment: Simulated client engagement + platform certification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778240" y="1188720"/>
            <a:ext cx="320040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778240" y="1188720"/>
            <a:ext cx="32004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6968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Talking Points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87967" y="1572768"/>
            <a:ext cx="2980944" cy="482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38 hours is the minimum viable curriculum. Advanced consultants should also shadow 2 live engagements.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Platform proficiency (Module 3) is the practical core — every consultant needs hands-on hours before client delivery.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Module 6 (Change Management) is the most underestimated — technical consultants often skip it and see low adoption.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Certification: pass rate target 85%. Re-sit allowed once. Certified consultants are listed in the PDLC VSM Partner Network.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Quarterly refresher: 2-hour update on new platform features + agent improvements.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Engagement Team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Staffing model for Diagnostic Sprint, Full Transformation, and Advisory engagements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3749039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61872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Diagnostic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481328"/>
            <a:ext cx="3529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CC"/>
                </a:solidFill>
              </a:rPr>
              <a:t>2 weeks · 1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19072"/>
            <a:ext cx="3749039" cy="7498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719072"/>
            <a:ext cx="91440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76479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Lead VSM Consultant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9751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Senior · 1.0 FTE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762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Engagement lead, ALM connect, VSM facilitation, client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523744"/>
            <a:ext cx="3749039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523744"/>
            <a:ext cx="91440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569463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AI/Platform Specialist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7797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Mid-Senior · 0.5 FTE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298094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Platform config, agent runs, report generation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28415"/>
            <a:ext cx="3749039" cy="7498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328415"/>
            <a:ext cx="91440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374135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Engagement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35844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Senior · 0.25 FTE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785615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Client management, schedule, deliverable QA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1234440"/>
            <a:ext cx="3749039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9976" y="1261872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Full Transformation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6" y="1481328"/>
            <a:ext cx="3529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CC"/>
                </a:solidFill>
              </a:rPr>
              <a:t>8–16 weeks · Portfolio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0248" y="1719072"/>
            <a:ext cx="3749039" cy="749808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70248" y="1719072"/>
            <a:ext cx="91440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176479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Principal Consultant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19751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</a:rPr>
              <a:t>Partner/Director · 0.5 FTE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1762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Executive sponsorship, business case sign-off, steering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0248" y="2523744"/>
            <a:ext cx="3749039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70248" y="2523744"/>
            <a:ext cx="91440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2569463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Lead VSM Consultant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27797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</a:rPr>
              <a:t>Senior · 1.0 FTE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298094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End-to-end delivery ownership, workshop facilitation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70248" y="3328415"/>
            <a:ext cx="3749039" cy="749808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70248" y="3328415"/>
            <a:ext cx="91440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3374135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AI/Platform Specialist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35844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</a:rPr>
              <a:t>Mid-Senior · 1.0 FTE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3785615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Agent customisation, platform operation, tech stack integration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4133087"/>
            <a:ext cx="3749039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70248" y="4133087"/>
            <a:ext cx="91440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178807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Change Management Lead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3891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</a:rPr>
              <a:t>Mid-Senior · 0.5 FTE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45902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Adoption plan, training, change risk mitigation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0248" y="4937760"/>
            <a:ext cx="3749039" cy="749808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70248" y="4937760"/>
            <a:ext cx="91440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498348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Business Analyst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1937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</a:rPr>
              <a:t>Mid · 0.75 FTE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3949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Data collection, stakeholder interviews, documentation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70248" y="5742432"/>
            <a:ext cx="3749039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70248" y="5742432"/>
            <a:ext cx="91440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34840" y="578815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Engagement Manager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4840" y="5998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</a:rPr>
              <a:t>Senior · 0.5 FTE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4840" y="619963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Commercial management, risk, client reporting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0456" y="1234440"/>
            <a:ext cx="3749039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30183" y="1261872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Advisory Retainer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30183" y="1481328"/>
            <a:ext cx="3529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CC"/>
                </a:solidFill>
              </a:rPr>
              <a:t>Ongoing · Monthly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0456" y="1719072"/>
            <a:ext cx="3749039" cy="74980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20456" y="1719072"/>
            <a:ext cx="91440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85048" y="176479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VSM Advisory Lead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85048" y="19751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</a:rPr>
              <a:t>Senior · 0.25 FTE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85048" y="21762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Quarterly VSM refresh, client exec reporting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0456" y="2523744"/>
            <a:ext cx="3749039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20456" y="2523744"/>
            <a:ext cx="91440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85048" y="2569463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AI Optimisation Specialist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85048" y="27797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</a:rPr>
              <a:t>Mid · 0.25 FTE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85048" y="298094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Agent performance tuning, new use case identification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0456" y="3328415"/>
            <a:ext cx="3749039" cy="74980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20456" y="3328415"/>
            <a:ext cx="91440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85048" y="3374135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D5E"/>
                </a:solidFill>
              </a:rPr>
              <a:t>Account Manager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85048" y="35844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</a:rPr>
              <a:t>Mid · 0.1 FTE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85048" y="3785615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Relationship management, renewal, upsell identification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778240" y="1188720"/>
            <a:ext cx="320040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778240" y="1188720"/>
            <a:ext cx="32004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6968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Talking Points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87967" y="1572768"/>
            <a:ext cx="2980944" cy="482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Diagnostic Sprint can be delivered by just 1.5 FTE consultants — it's the low-risk, high-margin entry point.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Full Transformation: 4.25 FTE for 12 weeks ≈ 510 consultant-days. At $2.5K/day blended rate = $255K cost, $300K–$350K billed.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Change Management Lead is often sourced from the client's own organisation to reduce cost and improve adoption.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The AI/Platform Specialist role is the scarcest — build this capability first when standing up the practice.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Advisory retainer is high-margin: 0.6 FTE × $2.5K/day × 22 working days/mo = $33K cost, $80K billed.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Typical Engagement Timeline — Full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Option B example: 14-week end-to-end programme for a 3-team product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664208" cy="320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261872"/>
            <a:ext cx="658368" cy="320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66544" y="1298448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6624" y="1261872"/>
            <a:ext cx="658368" cy="320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1298448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1568" y="1261872"/>
            <a:ext cx="658368" cy="320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1298448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6512" y="1261872"/>
            <a:ext cx="658368" cy="320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51376" y="1298448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1456" y="1261872"/>
            <a:ext cx="658368" cy="320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298448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261872"/>
            <a:ext cx="658368" cy="320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41264" y="1298448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1261872"/>
            <a:ext cx="658368" cy="320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1298448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76288" y="1261872"/>
            <a:ext cx="658368" cy="320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1298448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71232" y="1261872"/>
            <a:ext cx="658368" cy="320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6096" y="1298448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66175" y="1261872"/>
            <a:ext cx="658368" cy="320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298448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1261872"/>
            <a:ext cx="658368" cy="320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15984" y="1298448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56063" y="1261872"/>
            <a:ext cx="658368" cy="320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10928" y="1298448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51008" y="1261872"/>
            <a:ext cx="658368" cy="320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05872" y="1298448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045952" y="1261872"/>
            <a:ext cx="658368" cy="320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00816" y="1298448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1664208"/>
            <a:ext cx="1664208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1792224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74151"/>
                </a:solidFill>
              </a:rPr>
              <a:t>Phase 1: Discover &amp; Calibrate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48256" y="1755648"/>
            <a:ext cx="62179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03120" y="181051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Wk 1–2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2286000"/>
            <a:ext cx="1664208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2414016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74151"/>
                </a:solidFill>
              </a:rPr>
              <a:t>Phase 2: Map &amp; Analyse (VSM Build)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2377440"/>
            <a:ext cx="1316736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98064" y="2432304"/>
            <a:ext cx="1207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Wk 2–4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2907792"/>
            <a:ext cx="1664208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303580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74151"/>
                </a:solidFill>
              </a:rPr>
              <a:t>Phase 3: Future State Design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33088" y="2999232"/>
            <a:ext cx="2706624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87952" y="3054096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Wk 4–8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529584"/>
            <a:ext cx="1664208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3657600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74151"/>
                </a:solidFill>
              </a:rPr>
              <a:t>Phase 4: Business Case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12864" y="3621024"/>
            <a:ext cx="1316736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67728" y="3675888"/>
            <a:ext cx="1207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Wk 8–10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4151376"/>
            <a:ext cx="1664208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279392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74151"/>
                </a:solidFill>
              </a:rPr>
              <a:t>Phase 5: Activate &amp; Handover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02751" y="4242816"/>
            <a:ext cx="2706624" cy="34747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57615" y="4297680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Wk 10–14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773168"/>
            <a:ext cx="1664208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4901184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Client Workshops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4864608"/>
            <a:ext cx="548640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98064" y="4919472"/>
            <a:ext cx="5376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Wk 2–10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5394960"/>
            <a:ext cx="1664208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5522976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Executive Steering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38144" y="5486400"/>
            <a:ext cx="7571231" cy="347472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93008" y="5541264"/>
            <a:ext cx="7461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Wk 3–14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17520" y="5897880"/>
            <a:ext cx="73152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06039" y="5925312"/>
            <a:ext cx="896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563EB"/>
                </a:solidFill>
              </a:rPr>
              <a:t>VSM
Kick-off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07408" y="5897880"/>
            <a:ext cx="73152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95928" y="5925312"/>
            <a:ext cx="896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D9488"/>
                </a:solidFill>
              </a:rPr>
              <a:t>Current
State
Approved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87184" y="5897880"/>
            <a:ext cx="73152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75704" y="5925312"/>
            <a:ext cx="896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D97706"/>
                </a:solidFill>
              </a:rPr>
              <a:t>Future
State
Approved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77072" y="5897880"/>
            <a:ext cx="73152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65592" y="5925312"/>
            <a:ext cx="896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6A34A"/>
                </a:solidFill>
              </a:rPr>
              <a:t>Business
Case
Approved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356848" y="5897880"/>
            <a:ext cx="73152" cy="4572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945368" y="5925312"/>
            <a:ext cx="896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F2D5E"/>
                </a:solidFill>
              </a:rPr>
              <a:t>Playbook
Delivered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◆ = Client approval gate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778240" y="1188720"/>
            <a:ext cx="320040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778240" y="1188720"/>
            <a:ext cx="32004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6968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Talking Points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87967" y="1572768"/>
            <a:ext cx="2980944" cy="482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Week 2 kick-off requires: ALM admin access, 3-5 stakeholder interview slots, and DORA survey completed.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Phase 3 (Future State Design) includes 3 workshops: (a) bottleneck review, (b) scenario design, (c) option selection.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Approval gates at Weeks 4, 8, 10 are critical path — delays here extend the programme.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The 14-week timeline assumes full client co-operation. Add 2 weeks buffer for large organisations.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Diagnostic Sprint = Phases 1+2 only = 4 weeks. Option A = 10 weeks. Option B/C = 14–16 weeks.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Consulting Fee &amp; Commercial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Transparent investment model — fixed-fee engagements with defined scope and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567160" cy="3657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280160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Engagement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16352" y="1280160"/>
            <a:ext cx="1042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Duration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0791" y="1280160"/>
            <a:ext cx="1042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5232" y="1280160"/>
            <a:ext cx="1362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Fee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1280160"/>
            <a:ext cx="996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Day Rate
(blended)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1280160"/>
            <a:ext cx="37856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Includes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82496"/>
            <a:ext cx="2377440" cy="6217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837944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74151"/>
                </a:solidFill>
              </a:rPr>
              <a:t>Diagnostic Sprint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682496"/>
            <a:ext cx="1188720" cy="6217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6352" y="1837944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</a:rPr>
              <a:t>2 weeks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1682496"/>
            <a:ext cx="1188720" cy="6217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0791" y="1837944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</a:rPr>
              <a:t>1.5 FTE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682496"/>
            <a:ext cx="1508760" cy="6217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5232" y="1837944"/>
            <a:ext cx="1362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$25K–$45K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682496"/>
            <a:ext cx="1143000" cy="6217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1837944"/>
            <a:ext cx="996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$3.5K/day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682496"/>
            <a:ext cx="3931920" cy="6217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1837944"/>
            <a:ext cx="37856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ALM connect + VSM + DORA + Bottleneck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340864"/>
            <a:ext cx="2377440" cy="621792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2496312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74151"/>
                </a:solidFill>
              </a:rPr>
              <a:t>Full Transformation — Option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2340864"/>
            <a:ext cx="1188720" cy="621792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16352" y="2496312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</a:rPr>
              <a:t>8–10 weeks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39" y="2340864"/>
            <a:ext cx="1188720" cy="621792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50791" y="2496312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</a:rPr>
              <a:t>3.25 FTE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340864"/>
            <a:ext cx="1508760" cy="621792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2496312"/>
            <a:ext cx="1362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</a:rPr>
              <a:t>$150K–$220K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340864"/>
            <a:ext cx="1143000" cy="621792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9712" y="2496312"/>
            <a:ext cx="996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</a:rPr>
              <a:t>$3.2K/day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2340864"/>
            <a:ext cx="3931920" cy="621792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28431" y="2496312"/>
            <a:ext cx="37856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All 5 phases + business case + playbook (Opt 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999232"/>
            <a:ext cx="2377440" cy="62179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3154680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74151"/>
                </a:solidFill>
              </a:rPr>
              <a:t>Full Transformation — Option 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2999232"/>
            <a:ext cx="1188720" cy="62179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16352" y="3154680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</a:rPr>
              <a:t>12–16 weeks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7639" y="2999232"/>
            <a:ext cx="1188720" cy="62179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50791" y="3154680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</a:rPr>
              <a:t>4.25 FTE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12080" y="2999232"/>
            <a:ext cx="1508760" cy="62179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85232" y="3154680"/>
            <a:ext cx="1362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$250K–$350K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2999232"/>
            <a:ext cx="1143000" cy="62179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39712" y="3154680"/>
            <a:ext cx="996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$3.1K/day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79" y="2999232"/>
            <a:ext cx="3931920" cy="62179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28431" y="3154680"/>
            <a:ext cx="37856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All 5 phases + custom agent dev + business case + playbook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657600"/>
            <a:ext cx="2377440" cy="62179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" y="3813048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74151"/>
                </a:solidFill>
              </a:rPr>
              <a:t>Full Transformation — Option 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3657600"/>
            <a:ext cx="1188720" cy="62179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16352" y="3813048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</a:rPr>
              <a:t>18–36 weeks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77639" y="3657600"/>
            <a:ext cx="1188720" cy="62179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50791" y="3813048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</a:rPr>
              <a:t>5.5 FTE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3657600"/>
            <a:ext cx="1508760" cy="62179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85232" y="3813048"/>
            <a:ext cx="1362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$400K–$700K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66560" y="3657600"/>
            <a:ext cx="1143000" cy="62179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39712" y="3813048"/>
            <a:ext cx="996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$3.0K/day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55279" y="3657600"/>
            <a:ext cx="3931920" cy="62179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28431" y="3813048"/>
            <a:ext cx="37856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Full agentic PDLC design + orchestration build + playbook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315968"/>
            <a:ext cx="237744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3192" y="4471416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74151"/>
                </a:solidFill>
              </a:rPr>
              <a:t>Advisory Retainer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0" y="4315968"/>
            <a:ext cx="118872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16352" y="4471416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</a:rPr>
              <a:t>12-mo min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77639" y="4315968"/>
            <a:ext cx="118872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50791" y="4471416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</a:rPr>
              <a:t>0.6 FTE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12080" y="4315968"/>
            <a:ext cx="150876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85232" y="4471416"/>
            <a:ext cx="1362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B5563"/>
                </a:solidFill>
              </a:rPr>
              <a:t>$8K–$15K/mo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66560" y="4315968"/>
            <a:ext cx="114300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39712" y="4471416"/>
            <a:ext cx="996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B5563"/>
                </a:solidFill>
              </a:rPr>
              <a:t>$2.8K/day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55279" y="4315968"/>
            <a:ext cx="393192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28431" y="4471416"/>
            <a:ext cx="37856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Quarterly VSM refresh + agent optimisation + DORA re-baseline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4974336"/>
            <a:ext cx="2377440" cy="6217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3192" y="5129783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74151"/>
                </a:solidFill>
              </a:rPr>
              <a:t>Executive Workshop (stand-alone)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0" y="4974336"/>
            <a:ext cx="1188720" cy="6217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816352" y="5129783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</a:rPr>
              <a:t>1 day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77639" y="4974336"/>
            <a:ext cx="1188720" cy="6217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050791" y="5129783"/>
            <a:ext cx="1042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74151"/>
                </a:solidFill>
              </a:rPr>
              <a:t>2 FTE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12080" y="4974336"/>
            <a:ext cx="1508760" cy="6217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285232" y="5129783"/>
            <a:ext cx="1362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$8K–$15K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766560" y="4974336"/>
            <a:ext cx="1143000" cy="6217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39712" y="5129783"/>
            <a:ext cx="996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$8K–$15K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955279" y="4974336"/>
            <a:ext cx="3931920" cy="6217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28431" y="5129783"/>
            <a:ext cx="37856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4-hour C-suite VSM briefing + live platform demo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0040" y="5897880"/>
            <a:ext cx="5120640" cy="5943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" y="59618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Target Gross Margin: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31720" y="5961888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Diagnostic 45–52%  ·  Full Transformation 40–48%  ·  Advisory 55–65%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0040" y="644652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Blended day rate assumes: Senior Consultant $4.5K/day, Mid-Senior $3.0K/day, Mid $2.0K/day billed rates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778240" y="1188720"/>
            <a:ext cx="320040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778240" y="1188720"/>
            <a:ext cx="32004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86968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Talking Points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887967" y="1572768"/>
            <a:ext cx="2980944" cy="482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Always anchor on the Diagnostic Sprint first — the $25K–$45K fixed fee is below most VP discretionary budget limits.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Full Transformation fee = (FTE × days × blended rate) + 15–20% platform/IP premium.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Advisory retainer is priced at a slight discount to full rate to incentivise continuity — but 55%+ margin makes it the highest-margin product.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Payment terms: 30% on signing, 40% at Phase 3 completion (Future State approved), 30% on final delivery.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Total Cost of Ownership vs Total Value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3-year view: combined consulting + technology investment vs cumulative savings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3749039" cy="47548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749039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Option 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1719072"/>
            <a:ext cx="3566160" cy="594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73936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Consulting Investment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0208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$150K–$220K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2377439"/>
            <a:ext cx="3566160" cy="594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432303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Technology &amp; Licensing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67919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$250K–$400K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3035808"/>
            <a:ext cx="3566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79" y="3035808"/>
            <a:ext cx="9144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3090672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</a:rPr>
              <a:t>Total 3-Year Investment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3375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$400K–$620K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79" y="3694176"/>
            <a:ext cx="3566160" cy="594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749039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Year 1 Annual Savings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9959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$1.3M–$1.95M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79" y="4352544"/>
            <a:ext cx="3566160" cy="594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4407407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3-Year Cumulative Savings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6542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$1.3M–$1.95M × 3yr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79" y="5010912"/>
            <a:ext cx="3566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79" y="5010912"/>
            <a:ext cx="9144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5065775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</a:rPr>
              <a:t>3-Year Net ROI Multiple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531266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5.8×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1234440"/>
            <a:ext cx="3749039" cy="475488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0248" y="1234440"/>
            <a:ext cx="3749039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98264" y="1261872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Option 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61688" y="1719072"/>
            <a:ext cx="3566160" cy="59436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1773936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Consulting Investment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20208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$250K–$350K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61688" y="2377439"/>
            <a:ext cx="3566160" cy="59436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2432303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Technology &amp; Licensing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267919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$600K–$1.1M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61688" y="3035808"/>
            <a:ext cx="3566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61688" y="3035808"/>
            <a:ext cx="9144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6280" y="3090672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</a:rPr>
              <a:t>Total 3-Year Investment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33375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$850K–$1.45M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61688" y="3694176"/>
            <a:ext cx="3566160" cy="59436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3749039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Year 1 Annual Savings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39959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$2.1M–$3.4M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61688" y="4352544"/>
            <a:ext cx="3566160" cy="59436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6280" y="4407407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3-Year Cumulative Savings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6280" y="46542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$2.1M–$3.4M × 3yr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61688" y="5010912"/>
            <a:ext cx="3566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61688" y="5010912"/>
            <a:ext cx="9144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26280" y="5065775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</a:rPr>
              <a:t>3-Year Net ROI Multiple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6280" y="531266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6.2×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0456" y="1234440"/>
            <a:ext cx="3749039" cy="47548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0456" y="1234440"/>
            <a:ext cx="3749039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48472" y="1261872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Option 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11896" y="1719072"/>
            <a:ext cx="3566160" cy="5943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76488" y="1773936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Consulting Investment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76488" y="20208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$400K–$700K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11896" y="2377439"/>
            <a:ext cx="3566160" cy="5943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76488" y="2432303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Technology &amp; Licensing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76488" y="267919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$2.5K–$4.5M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11896" y="3035808"/>
            <a:ext cx="3566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11896" y="3035808"/>
            <a:ext cx="91440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76488" y="3090672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</a:rPr>
              <a:t>Total 3-Year Investment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76488" y="33375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$2.9M–$5.2M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11896" y="3694176"/>
            <a:ext cx="3566160" cy="5943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76488" y="3749039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Year 1 Annual Savings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76488" y="39959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$4.6M–$8.3M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11896" y="4352544"/>
            <a:ext cx="3566160" cy="5943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76488" y="4407407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3-Year Cumulative Savings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76488" y="46542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$4.6M–$8.3M × 3yr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11896" y="5010912"/>
            <a:ext cx="3566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311896" y="5010912"/>
            <a:ext cx="91440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76488" y="5065775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</a:rPr>
              <a:t>3-Year Net ROI Multiple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76488" y="531266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6.8×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040" y="6080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Note: 3-Year Cumulative Savings assumes savings ramp: Year 1 = 70% of run-rate (adoption curve), Year 2 = 100%, Year 3 = 110% (compounding efficiency gains). Technology costs shown as Year 1 total investment.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78240" y="1188720"/>
            <a:ext cx="320040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778240" y="1188720"/>
            <a:ext cx="32004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86968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Talking Points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87967" y="1572768"/>
            <a:ext cx="2980944" cy="482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The 3-Year ROI multiples (5.8–6.8×) are higher than the headline 2.8–5.5× because they account for compounding efficiency gains in Year 3.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Use this slide for CFO presentations — it converts the ROI from 'consulting metrics' to 'capital allocation decision'.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Sensitivity: even if savings are 50% of projected, Option A still delivers 2.9× 3-year ROI — well above most capital hurdle rates.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Frame against alternative: 'What does it cost to NOT do this?' → $3–6M/year in wasted flow time for most enterprise teams.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Choose This Offering: Our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What separates this from generic digital transformation consulting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813816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109728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371600"/>
            <a:ext cx="7808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1. Data-Driven, Not Opinion-Driven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664207"/>
            <a:ext cx="7808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Every bottleneck, every ROI number, and every scenario is generated from your actual Jira/ADO data — not consultant estimates. The VSM platform eliminates the subjectivity that plagues most transformation engagements.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157984"/>
            <a:ext cx="78089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563EB"/>
                </a:solidFill>
              </a:rPr>
              <a:t>vs. McKinsey/BCG: Generic frameworks applied to your context · Our approach: Your data, your metrics, your ROI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06039"/>
            <a:ext cx="813816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606039"/>
            <a:ext cx="109728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697479"/>
            <a:ext cx="7808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2. Proprietary Multi-Agent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990087"/>
            <a:ext cx="7808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The PDLC VSM Platform is purpose-built for product delivery lifecycle analysis. 8 LangGraph agents, 7 phases, 36 activities. No competing firm has a comparable tool — analysis that takes 6 weeks of consultant time now takes 2 hours.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483863"/>
            <a:ext cx="78089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D9488"/>
                </a:solidFill>
              </a:rPr>
              <a:t>vs. Standard tools (Lucidchart VSM, Azure DevOps Analytics): No AI analysis, no future state design, no business 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931920"/>
            <a:ext cx="813816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931920"/>
            <a:ext cx="109728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023359"/>
            <a:ext cx="7808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3. Board-Ready Output in Hours, Not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315968"/>
            <a:ext cx="7808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A traditional consulting engagement takes 12–16 weeks to produce a business case. Our platform generates a board-ready ROI model, NPV analysis, and implementation roadmap in a single session — with CFO-grade financial modelling.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809744"/>
            <a:ext cx="78089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97706"/>
                </a:solidFill>
              </a:rPr>
              <a:t>vs. Traditional consulting: 3-month analysis → this platform: same-session output with your actual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257800"/>
            <a:ext cx="813816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5257800"/>
            <a:ext cx="109728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5349240"/>
            <a:ext cx="7808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4. Outcome-Committed, Not Effort-Billed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5641848"/>
            <a:ext cx="7808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Fixed-fee engagements with defined deliverables at each phase gate. Payment tied to deliverable acceptance, not time spent. We share in the outcome — if the business case doesn't hold up, you don't pay for Phase 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135624"/>
            <a:ext cx="78089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6A34A"/>
                </a:solidFill>
              </a:rPr>
              <a:t>vs. Time &amp; Materials: client carries all risk · Our model: shared accountability for quality of deliverables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0" y="1188720"/>
            <a:ext cx="320040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1188720"/>
            <a:ext cx="32004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Talking 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7" y="1572768"/>
            <a:ext cx="2980944" cy="482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Lead with #2 (proprietary platform) — it's the strongest barrier to entry. No one else has a purpose-built LangGraph VSM tool.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Differentiator #1 (data-driven) addresses the most common client objection: 'We've had consultants before and they just told us what we already knew.'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#4 (fixed-fee) is a trust signal — it says we're confident enough in our methodology to commit to deliverables, not just effort.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4151"/>
                </a:solidFill>
              </a:rPr>
              <a:t>• Competitive displacement: position against both management consultancies (too slow, too expensive) AND generic DevOps tooling vendors (no consulting, no change management).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Ready to Transform Your Delivery Engine?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FDBFF"/>
                </a:solidFill>
              </a:rPr>
              <a:t>Three ways to get started — choose the right entry point for your organisation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3063240" cy="34747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30632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1343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40864"/>
            <a:ext cx="23591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Book a
Diagnostic Sprint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34640"/>
            <a:ext cx="27249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BFF"/>
                </a:solidFill>
              </a:rPr>
              <a:t>2-week, $25K–$45K fixed engagement. Connect your ALM tool, run the full VSM analysis, get your bottleneck report. Zero long-term commitment.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434840"/>
            <a:ext cx="2724912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44531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→  Start within 2 weeks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286000"/>
            <a:ext cx="3063240" cy="34747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286000"/>
            <a:ext cx="306324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31343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340864"/>
            <a:ext cx="23591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Attend a
Platform Briefing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834640"/>
            <a:ext cx="27249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BFF"/>
                </a:solidFill>
              </a:rPr>
              <a:t>1-hour live demo of the PDLC VSM Platform with your team context loaded. See your DORA score, a sample VSM, and a business case model — live.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53712" y="4434840"/>
            <a:ext cx="2724912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44531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→  Available weekly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2286000"/>
            <a:ext cx="3063240" cy="34747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2286000"/>
            <a:ext cx="306324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7" y="231343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340864"/>
            <a:ext cx="23591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Request an
Executive Workshop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2834640"/>
            <a:ext cx="27249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BFF"/>
                </a:solidFill>
              </a:rPr>
              <a:t>Half-day, $8K–$15K fixed session. Live platform demo for your C-suite, industry-benchmarked ROI model, and a personalised transformation roadmap.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28431" y="4434840"/>
            <a:ext cx="2724912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1" y="44531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→  Book 2 weeks ahead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943600"/>
            <a:ext cx="10332720" cy="18288"/>
          </a:xfrm>
          <a:prstGeom prst="rect">
            <a:avLst/>
          </a:prstGeom>
          <a:solidFill>
            <a:srgbClr val="2A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3C5FD"/>
                </a:solidFill>
              </a:rPr>
              <a:t>PDLC VSM Platform  ·  pdlc-vsm.consulting  ·  contact@pdlc-vsm.consulting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4008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B5563"/>
                </a:solidFill>
              </a:rPr>
              <a:t>All engagements are fixed-fee with defined deliverables · Confidential service offering document · ©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