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68"/>
  </p:normalViewPr>
  <p:slideViewPr>
    <p:cSldViewPr snapToGrid="0" snapToObjects="1">
      <p:cViewPr varScale="1">
        <p:scale>
          <a:sx n="119" d="100"/>
          <a:sy n="119" d="100"/>
        </p:scale>
        <p:origin x="50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0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365760"/>
          </a:xfrm>
          <a:prstGeom prst="rect">
            <a:avLst/>
          </a:prstGeom>
          <a:solidFill>
            <a:srgbClr val="06C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01168" y="54864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PDLC System Landscape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" y="219456"/>
            <a:ext cx="64008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2BBE6"/>
                </a:solidFill>
              </a:rPr>
              <a:t>Personas  ·  PDLC Activities  ·  AI Systems  ·  Target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118872"/>
            <a:ext cx="24688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92BBE6"/>
                </a:solidFill>
              </a:rPr>
              <a:t>PDLC System Landscape  |  Generated 2026-04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365760"/>
            <a:ext cx="12188952" cy="237744"/>
          </a:xfrm>
          <a:prstGeom prst="rect">
            <a:avLst/>
          </a:prstGeom>
          <a:solidFill>
            <a:srgbClr val="000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01168" y="402336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Option A  —  Augmented Human  (AI as Assistants &amp; Co-Pilots)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411480"/>
            <a:ext cx="4297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1">
                <a:solidFill>
                  <a:srgbClr val="FFFFFF"/>
                </a:solidFill>
              </a:rPr>
              <a:t>16 AI assistants support each persona  ·  Human remains the primary actor in every phase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77824" y="603504"/>
            <a:ext cx="11183112" cy="292608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28016" y="603504"/>
            <a:ext cx="749808" cy="292608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64592" y="676656"/>
            <a:ext cx="69494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92BBE6"/>
                </a:solidFill>
              </a:rPr>
              <a:t>PHASE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77824" y="603504"/>
            <a:ext cx="1588312" cy="292608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120" y="640080"/>
            <a:ext cx="14420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Ph1  Discovery &amp;
Planning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84424" y="603504"/>
            <a:ext cx="1588312" cy="292608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566720" y="640080"/>
            <a:ext cx="14420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Ph2  Architecture
&amp; Design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91024" y="603504"/>
            <a:ext cx="1588312" cy="292608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173320" y="640080"/>
            <a:ext cx="14420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Ph3  Development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97624" y="603504"/>
            <a:ext cx="1588312" cy="292608"/>
          </a:xfrm>
          <a:prstGeom prst="rect">
            <a:avLst/>
          </a:prstGeom>
          <a:solidFill>
            <a:srgbClr val="0A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779920" y="640080"/>
            <a:ext cx="14420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Ph4  Build &amp;
CI/CD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04224" y="603504"/>
            <a:ext cx="1588312" cy="292608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86520" y="640080"/>
            <a:ext cx="14420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Ph5  Test &amp;
QA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10824" y="603504"/>
            <a:ext cx="1588312" cy="292608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993120" y="640080"/>
            <a:ext cx="14420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Ph6  Release &amp;
Deploy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517424" y="603504"/>
            <a:ext cx="1588312" cy="292608"/>
          </a:xfrm>
          <a:prstGeom prst="rect">
            <a:avLst/>
          </a:prstGeom>
          <a:solidFill>
            <a:srgbClr val="048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599720" y="640080"/>
            <a:ext cx="14420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Ph7  Operate &amp;
Monitor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28016" y="896112"/>
            <a:ext cx="11932920" cy="932688"/>
          </a:xfrm>
          <a:prstGeom prst="rect">
            <a:avLst/>
          </a:prstGeom>
          <a:solidFill>
            <a:srgbClr val="EBF3FD"/>
          </a:solidFill>
          <a:ln w="635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2484424" y="896112"/>
            <a:ext cx="13716" cy="932688"/>
          </a:xfrm>
          <a:prstGeom prst="rect">
            <a:avLst/>
          </a:prstGeom>
          <a:solidFill>
            <a:srgbClr val="C5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091024" y="896112"/>
            <a:ext cx="13716" cy="932688"/>
          </a:xfrm>
          <a:prstGeom prst="rect">
            <a:avLst/>
          </a:prstGeom>
          <a:solidFill>
            <a:srgbClr val="C5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697624" y="896112"/>
            <a:ext cx="13716" cy="932688"/>
          </a:xfrm>
          <a:prstGeom prst="rect">
            <a:avLst/>
          </a:prstGeom>
          <a:solidFill>
            <a:srgbClr val="C5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7304224" y="896112"/>
            <a:ext cx="13716" cy="932688"/>
          </a:xfrm>
          <a:prstGeom prst="rect">
            <a:avLst/>
          </a:prstGeom>
          <a:solidFill>
            <a:srgbClr val="C5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910824" y="896112"/>
            <a:ext cx="13716" cy="932688"/>
          </a:xfrm>
          <a:prstGeom prst="rect">
            <a:avLst/>
          </a:prstGeom>
          <a:solidFill>
            <a:srgbClr val="C5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10517424" y="896112"/>
            <a:ext cx="13716" cy="932688"/>
          </a:xfrm>
          <a:prstGeom prst="rect">
            <a:avLst/>
          </a:prstGeom>
          <a:solidFill>
            <a:srgbClr val="C5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128016" y="896112"/>
            <a:ext cx="749808" cy="932688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64592" y="932688"/>
            <a:ext cx="694944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PERSONAS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41832" y="960120"/>
            <a:ext cx="1478584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92B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941832" y="960120"/>
            <a:ext cx="1478584" cy="155448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78408" y="978408"/>
            <a:ext cx="14237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Product Manager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8408" y="1133856"/>
            <a:ext cx="1423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7280"/>
                </a:solidFill>
              </a:rPr>
              <a:t>Requirements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41832" y="1362456"/>
            <a:ext cx="1478584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92B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941832" y="1362456"/>
            <a:ext cx="1478584" cy="155448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78408" y="1380744"/>
            <a:ext cx="14237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Agilist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78408" y="1536192"/>
            <a:ext cx="1423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7280"/>
                </a:solidFill>
              </a:rPr>
              <a:t>Sprint Planning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548432" y="960120"/>
            <a:ext cx="1478584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92B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2548432" y="960120"/>
            <a:ext cx="1478584" cy="155448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2585008" y="978408"/>
            <a:ext cx="14237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Designer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585008" y="1133856"/>
            <a:ext cx="1423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7280"/>
                </a:solidFill>
              </a:rPr>
              <a:t>UI/UX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548432" y="1362456"/>
            <a:ext cx="1478584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92B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2548432" y="1362456"/>
            <a:ext cx="1478584" cy="155448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2585008" y="1380744"/>
            <a:ext cx="14237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Product Manager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585008" y="1536192"/>
            <a:ext cx="1423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7280"/>
                </a:solidFill>
              </a:rPr>
              <a:t>Sign-off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155032" y="960120"/>
            <a:ext cx="1478584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92B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4155032" y="960120"/>
            <a:ext cx="1478584" cy="155448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191608" y="978408"/>
            <a:ext cx="14237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Engineer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191608" y="1133856"/>
            <a:ext cx="1423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7280"/>
                </a:solidFill>
              </a:rPr>
              <a:t>Builds Code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761632" y="960120"/>
            <a:ext cx="1478584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92B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5761632" y="960120"/>
            <a:ext cx="1478584" cy="155448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5798208" y="978408"/>
            <a:ext cx="14237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Engineer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798208" y="1133856"/>
            <a:ext cx="1423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7280"/>
                </a:solidFill>
              </a:rPr>
              <a:t>Builds Code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368232" y="960120"/>
            <a:ext cx="1478584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92B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7368232" y="960120"/>
            <a:ext cx="1478584" cy="155448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7404808" y="978408"/>
            <a:ext cx="14237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Engineer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404808" y="1133856"/>
            <a:ext cx="1423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7280"/>
                </a:solidFill>
              </a:rPr>
              <a:t>Validates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368232" y="1362456"/>
            <a:ext cx="1478584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92B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7368232" y="1362456"/>
            <a:ext cx="1478584" cy="155448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7404808" y="1380744"/>
            <a:ext cx="14237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Agilist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404808" y="1536192"/>
            <a:ext cx="1423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7280"/>
                </a:solidFill>
              </a:rPr>
              <a:t>Acceptance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974832" y="960120"/>
            <a:ext cx="1478584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92B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8974832" y="960120"/>
            <a:ext cx="1478584" cy="155448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9011408" y="978408"/>
            <a:ext cx="14237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Engineer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011408" y="1133856"/>
            <a:ext cx="1423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7280"/>
                </a:solidFill>
              </a:rPr>
              <a:t>Deploys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974832" y="1362456"/>
            <a:ext cx="1478584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92B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8974832" y="1362456"/>
            <a:ext cx="1478584" cy="155448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9011408" y="1380744"/>
            <a:ext cx="14237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Risk Manager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011408" y="1536192"/>
            <a:ext cx="1423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7280"/>
                </a:solidFill>
              </a:rPr>
              <a:t>Approval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0581432" y="960120"/>
            <a:ext cx="1478584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92B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10581432" y="960120"/>
            <a:ext cx="1478584" cy="155448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10618008" y="978408"/>
            <a:ext cx="14237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Risk Manager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618008" y="1133856"/>
            <a:ext cx="1423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7280"/>
                </a:solidFill>
              </a:rPr>
              <a:t>Compliance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0581432" y="1362456"/>
            <a:ext cx="1478584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92B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10581432" y="1362456"/>
            <a:ext cx="1478584" cy="155448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10618008" y="1380744"/>
            <a:ext cx="14237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Engineer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618008" y="1536192"/>
            <a:ext cx="1423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7280"/>
                </a:solidFill>
              </a:rPr>
              <a:t>On-Call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28016" y="1828800"/>
            <a:ext cx="11932920" cy="804672"/>
          </a:xfrm>
          <a:prstGeom prst="rect">
            <a:avLst/>
          </a:prstGeom>
          <a:solidFill>
            <a:srgbClr val="F0F4FF"/>
          </a:solidFill>
          <a:ln w="635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Rectangle 85"/>
          <p:cNvSpPr/>
          <p:nvPr/>
        </p:nvSpPr>
        <p:spPr>
          <a:xfrm>
            <a:off x="2484424" y="1828800"/>
            <a:ext cx="13716" cy="804672"/>
          </a:xfrm>
          <a:prstGeom prst="rect">
            <a:avLst/>
          </a:prstGeom>
          <a:solidFill>
            <a:srgbClr val="C5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ectangle 86"/>
          <p:cNvSpPr/>
          <p:nvPr/>
        </p:nvSpPr>
        <p:spPr>
          <a:xfrm>
            <a:off x="4091024" y="1828800"/>
            <a:ext cx="13716" cy="804672"/>
          </a:xfrm>
          <a:prstGeom prst="rect">
            <a:avLst/>
          </a:prstGeom>
          <a:solidFill>
            <a:srgbClr val="C5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ectangle 87"/>
          <p:cNvSpPr/>
          <p:nvPr/>
        </p:nvSpPr>
        <p:spPr>
          <a:xfrm>
            <a:off x="5697624" y="1828800"/>
            <a:ext cx="13716" cy="804672"/>
          </a:xfrm>
          <a:prstGeom prst="rect">
            <a:avLst/>
          </a:prstGeom>
          <a:solidFill>
            <a:srgbClr val="C5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ectangle 88"/>
          <p:cNvSpPr/>
          <p:nvPr/>
        </p:nvSpPr>
        <p:spPr>
          <a:xfrm>
            <a:off x="7304224" y="1828800"/>
            <a:ext cx="13716" cy="804672"/>
          </a:xfrm>
          <a:prstGeom prst="rect">
            <a:avLst/>
          </a:prstGeom>
          <a:solidFill>
            <a:srgbClr val="C5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8910824" y="1828800"/>
            <a:ext cx="13716" cy="804672"/>
          </a:xfrm>
          <a:prstGeom prst="rect">
            <a:avLst/>
          </a:prstGeom>
          <a:solidFill>
            <a:srgbClr val="C5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ectangle 90"/>
          <p:cNvSpPr/>
          <p:nvPr/>
        </p:nvSpPr>
        <p:spPr>
          <a:xfrm>
            <a:off x="10517424" y="1828800"/>
            <a:ext cx="13716" cy="804672"/>
          </a:xfrm>
          <a:prstGeom prst="rect">
            <a:avLst/>
          </a:prstGeom>
          <a:solidFill>
            <a:srgbClr val="C5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Rectangle 91"/>
          <p:cNvSpPr/>
          <p:nvPr/>
        </p:nvSpPr>
        <p:spPr>
          <a:xfrm>
            <a:off x="128016" y="1828800"/>
            <a:ext cx="749808" cy="804672"/>
          </a:xfrm>
          <a:prstGeom prst="rect">
            <a:avLst/>
          </a:prstGeom>
          <a:solidFill>
            <a:srgbClr val="1D4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164592" y="1865376"/>
            <a:ext cx="694944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PDLC
ACTIVITIES</a:t>
            </a:r>
          </a:p>
        </p:txBody>
      </p:sp>
      <p:sp>
        <p:nvSpPr>
          <p:cNvPr id="94" name="Rectangle 93"/>
          <p:cNvSpPr/>
          <p:nvPr/>
        </p:nvSpPr>
        <p:spPr>
          <a:xfrm>
            <a:off x="960120" y="1975104"/>
            <a:ext cx="45720" cy="4572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1033272" y="1911096"/>
            <a:ext cx="13871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Feature Definition</a:t>
            </a:r>
          </a:p>
        </p:txBody>
      </p:sp>
      <p:sp>
        <p:nvSpPr>
          <p:cNvPr id="96" name="Rectangle 95"/>
          <p:cNvSpPr/>
          <p:nvPr/>
        </p:nvSpPr>
        <p:spPr>
          <a:xfrm>
            <a:off x="960120" y="2212848"/>
            <a:ext cx="45720" cy="4572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1033272" y="2148840"/>
            <a:ext cx="13871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Backlog Grooming</a:t>
            </a:r>
          </a:p>
        </p:txBody>
      </p:sp>
      <p:sp>
        <p:nvSpPr>
          <p:cNvPr id="98" name="Rectangle 97"/>
          <p:cNvSpPr/>
          <p:nvPr/>
        </p:nvSpPr>
        <p:spPr>
          <a:xfrm>
            <a:off x="960120" y="2450592"/>
            <a:ext cx="45720" cy="4572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1033272" y="2386584"/>
            <a:ext cx="13871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Sprint Planning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2566720" y="1975104"/>
            <a:ext cx="45720" cy="4572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2639872" y="1911096"/>
            <a:ext cx="13871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System Design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2566720" y="2212848"/>
            <a:ext cx="45720" cy="4572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2639872" y="2148840"/>
            <a:ext cx="13871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UI/UX Wireframes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2566720" y="2450592"/>
            <a:ext cx="45720" cy="4572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2639872" y="2386584"/>
            <a:ext cx="13871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Tech Spikes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173320" y="1975104"/>
            <a:ext cx="45720" cy="4572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4246472" y="1911096"/>
            <a:ext cx="13871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Feature Coding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4173320" y="2212848"/>
            <a:ext cx="45720" cy="4572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4246472" y="2148840"/>
            <a:ext cx="13871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Code Review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173320" y="2450592"/>
            <a:ext cx="45720" cy="4572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4246472" y="2386584"/>
            <a:ext cx="13871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PR Management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5779920" y="1975104"/>
            <a:ext cx="45720" cy="4572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5853072" y="1911096"/>
            <a:ext cx="13871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Build Automation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5779920" y="2212848"/>
            <a:ext cx="45720" cy="4572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5853072" y="2148840"/>
            <a:ext cx="13871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Unit Testing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5779920" y="2450592"/>
            <a:ext cx="45720" cy="4572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5853072" y="2386584"/>
            <a:ext cx="13871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Code Quality Scan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7386520" y="1975104"/>
            <a:ext cx="45720" cy="4572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7459672" y="1911096"/>
            <a:ext cx="13871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Integration Testing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7386520" y="2212848"/>
            <a:ext cx="45720" cy="4572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7459672" y="2148840"/>
            <a:ext cx="13871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UAT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7386520" y="2450592"/>
            <a:ext cx="45720" cy="4572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TextBox 122"/>
          <p:cNvSpPr txBox="1"/>
          <p:nvPr/>
        </p:nvSpPr>
        <p:spPr>
          <a:xfrm>
            <a:off x="7459672" y="2386584"/>
            <a:ext cx="13871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Regression Testing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8993120" y="1975104"/>
            <a:ext cx="45720" cy="4572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TextBox 124"/>
          <p:cNvSpPr txBox="1"/>
          <p:nvPr/>
        </p:nvSpPr>
        <p:spPr>
          <a:xfrm>
            <a:off x="9066272" y="1911096"/>
            <a:ext cx="13871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Release Gate Review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8993120" y="2212848"/>
            <a:ext cx="45720" cy="4572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TextBox 126"/>
          <p:cNvSpPr txBox="1"/>
          <p:nvPr/>
        </p:nvSpPr>
        <p:spPr>
          <a:xfrm>
            <a:off x="9066272" y="2148840"/>
            <a:ext cx="13871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Deployment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8993120" y="2450592"/>
            <a:ext cx="45720" cy="4572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TextBox 128"/>
          <p:cNvSpPr txBox="1"/>
          <p:nvPr/>
        </p:nvSpPr>
        <p:spPr>
          <a:xfrm>
            <a:off x="9066272" y="2386584"/>
            <a:ext cx="13871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Change Approval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10599720" y="1975104"/>
            <a:ext cx="45720" cy="4572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TextBox 130"/>
          <p:cNvSpPr txBox="1"/>
          <p:nvPr/>
        </p:nvSpPr>
        <p:spPr>
          <a:xfrm>
            <a:off x="10672872" y="1911096"/>
            <a:ext cx="13871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System Monitoring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10599720" y="2212848"/>
            <a:ext cx="45720" cy="4572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TextBox 132"/>
          <p:cNvSpPr txBox="1"/>
          <p:nvPr/>
        </p:nvSpPr>
        <p:spPr>
          <a:xfrm>
            <a:off x="10672872" y="2148840"/>
            <a:ext cx="13871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Incident Response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10599720" y="2450592"/>
            <a:ext cx="45720" cy="4572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TextBox 134"/>
          <p:cNvSpPr txBox="1"/>
          <p:nvPr/>
        </p:nvSpPr>
        <p:spPr>
          <a:xfrm>
            <a:off x="10672872" y="2386584"/>
            <a:ext cx="13871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Compliance Review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128016" y="2633472"/>
            <a:ext cx="11932920" cy="1828800"/>
          </a:xfrm>
          <a:prstGeom prst="rect">
            <a:avLst/>
          </a:prstGeom>
          <a:solidFill>
            <a:srgbClr val="EBF3FD"/>
          </a:solidFill>
          <a:ln w="635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Rectangle 136"/>
          <p:cNvSpPr/>
          <p:nvPr/>
        </p:nvSpPr>
        <p:spPr>
          <a:xfrm>
            <a:off x="2484424" y="2633472"/>
            <a:ext cx="13716" cy="1828800"/>
          </a:xfrm>
          <a:prstGeom prst="rect">
            <a:avLst/>
          </a:prstGeom>
          <a:solidFill>
            <a:srgbClr val="C5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Rectangle 137"/>
          <p:cNvSpPr/>
          <p:nvPr/>
        </p:nvSpPr>
        <p:spPr>
          <a:xfrm>
            <a:off x="4091024" y="2633472"/>
            <a:ext cx="13716" cy="1828800"/>
          </a:xfrm>
          <a:prstGeom prst="rect">
            <a:avLst/>
          </a:prstGeom>
          <a:solidFill>
            <a:srgbClr val="C5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Rectangle 138"/>
          <p:cNvSpPr/>
          <p:nvPr/>
        </p:nvSpPr>
        <p:spPr>
          <a:xfrm>
            <a:off x="5697624" y="2633472"/>
            <a:ext cx="13716" cy="1828800"/>
          </a:xfrm>
          <a:prstGeom prst="rect">
            <a:avLst/>
          </a:prstGeom>
          <a:solidFill>
            <a:srgbClr val="C5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Rectangle 139"/>
          <p:cNvSpPr/>
          <p:nvPr/>
        </p:nvSpPr>
        <p:spPr>
          <a:xfrm>
            <a:off x="7304224" y="2633472"/>
            <a:ext cx="13716" cy="1828800"/>
          </a:xfrm>
          <a:prstGeom prst="rect">
            <a:avLst/>
          </a:prstGeom>
          <a:solidFill>
            <a:srgbClr val="C5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Rectangle 140"/>
          <p:cNvSpPr/>
          <p:nvPr/>
        </p:nvSpPr>
        <p:spPr>
          <a:xfrm>
            <a:off x="8910824" y="2633472"/>
            <a:ext cx="13716" cy="1828800"/>
          </a:xfrm>
          <a:prstGeom prst="rect">
            <a:avLst/>
          </a:prstGeom>
          <a:solidFill>
            <a:srgbClr val="C5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Rectangle 141"/>
          <p:cNvSpPr/>
          <p:nvPr/>
        </p:nvSpPr>
        <p:spPr>
          <a:xfrm>
            <a:off x="10517424" y="2633472"/>
            <a:ext cx="13716" cy="1828800"/>
          </a:xfrm>
          <a:prstGeom prst="rect">
            <a:avLst/>
          </a:prstGeom>
          <a:solidFill>
            <a:srgbClr val="C5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Rectangle 142"/>
          <p:cNvSpPr/>
          <p:nvPr/>
        </p:nvSpPr>
        <p:spPr>
          <a:xfrm>
            <a:off x="128016" y="2633472"/>
            <a:ext cx="749808" cy="1828800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TextBox 143"/>
          <p:cNvSpPr txBox="1"/>
          <p:nvPr/>
        </p:nvSpPr>
        <p:spPr>
          <a:xfrm>
            <a:off x="164592" y="2670048"/>
            <a:ext cx="694944" cy="1773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AI
SYSTEMS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941832" y="2688336"/>
            <a:ext cx="1478584" cy="457200"/>
          </a:xfrm>
          <a:prstGeom prst="rect">
            <a:avLst/>
          </a:prstGeom>
          <a:solidFill>
            <a:srgbClr val="DBEAFE"/>
          </a:solidFill>
          <a:ln w="5080">
            <a:solidFill>
              <a:srgbClr val="C2D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Rectangle 145"/>
          <p:cNvSpPr/>
          <p:nvPr/>
        </p:nvSpPr>
        <p:spPr>
          <a:xfrm>
            <a:off x="941832" y="2688336"/>
            <a:ext cx="1478584" cy="146304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TextBox 146"/>
          <p:cNvSpPr txBox="1"/>
          <p:nvPr/>
        </p:nvSpPr>
        <p:spPr>
          <a:xfrm>
            <a:off x="960120" y="2706624"/>
            <a:ext cx="45720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 i="0">
                <a:solidFill>
                  <a:srgbClr val="FFFFFF"/>
                </a:solidFill>
              </a:rPr>
              <a:t>GA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978408" y="2843784"/>
            <a:ext cx="1423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0048"/>
                </a:solidFill>
              </a:rPr>
              <a:t>Backlog Assistant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941832" y="3182112"/>
            <a:ext cx="1478584" cy="457200"/>
          </a:xfrm>
          <a:prstGeom prst="rect">
            <a:avLst/>
          </a:prstGeom>
          <a:solidFill>
            <a:srgbClr val="DBEAFE"/>
          </a:solidFill>
          <a:ln w="5080">
            <a:solidFill>
              <a:srgbClr val="C2D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Rectangle 149"/>
          <p:cNvSpPr/>
          <p:nvPr/>
        </p:nvSpPr>
        <p:spPr>
          <a:xfrm>
            <a:off x="941832" y="3182112"/>
            <a:ext cx="1478584" cy="146304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TextBox 150"/>
          <p:cNvSpPr txBox="1"/>
          <p:nvPr/>
        </p:nvSpPr>
        <p:spPr>
          <a:xfrm>
            <a:off x="960120" y="3200400"/>
            <a:ext cx="45720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 i="0">
                <a:solidFill>
                  <a:srgbClr val="FFFFFF"/>
                </a:solidFill>
              </a:rPr>
              <a:t>GA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978408" y="3337560"/>
            <a:ext cx="1423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0048"/>
                </a:solidFill>
              </a:rPr>
              <a:t>USB Docs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2548432" y="2688336"/>
            <a:ext cx="1478584" cy="457200"/>
          </a:xfrm>
          <a:prstGeom prst="rect">
            <a:avLst/>
          </a:prstGeom>
          <a:solidFill>
            <a:srgbClr val="DBEAFE"/>
          </a:solidFill>
          <a:ln w="5080">
            <a:solidFill>
              <a:srgbClr val="C2D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Rectangle 153"/>
          <p:cNvSpPr/>
          <p:nvPr/>
        </p:nvSpPr>
        <p:spPr>
          <a:xfrm>
            <a:off x="2548432" y="2688336"/>
            <a:ext cx="1478584" cy="146304"/>
          </a:xfrm>
          <a:prstGeom prst="rect">
            <a:avLst/>
          </a:prstGeom>
          <a:solidFill>
            <a:srgbClr val="B45A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TextBox 154"/>
          <p:cNvSpPr txBox="1"/>
          <p:nvPr/>
        </p:nvSpPr>
        <p:spPr>
          <a:xfrm>
            <a:off x="2566720" y="2706624"/>
            <a:ext cx="45720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 i="0">
                <a:solidFill>
                  <a:srgbClr val="FFFFFF"/>
                </a:solidFill>
              </a:rPr>
              <a:t>Pilot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2585008" y="2843784"/>
            <a:ext cx="1423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0048"/>
                </a:solidFill>
              </a:rPr>
              <a:t>Figma AI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2548432" y="3182112"/>
            <a:ext cx="1478584" cy="457200"/>
          </a:xfrm>
          <a:prstGeom prst="rect">
            <a:avLst/>
          </a:prstGeom>
          <a:solidFill>
            <a:srgbClr val="DBEAFE"/>
          </a:solidFill>
          <a:ln w="5080">
            <a:solidFill>
              <a:srgbClr val="C2D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Rectangle 157"/>
          <p:cNvSpPr/>
          <p:nvPr/>
        </p:nvSpPr>
        <p:spPr>
          <a:xfrm>
            <a:off x="2548432" y="3182112"/>
            <a:ext cx="1478584" cy="146304"/>
          </a:xfrm>
          <a:prstGeom prst="rect">
            <a:avLst/>
          </a:prstGeom>
          <a:solidFill>
            <a:srgbClr val="B45A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TextBox 158"/>
          <p:cNvSpPr txBox="1"/>
          <p:nvPr/>
        </p:nvSpPr>
        <p:spPr>
          <a:xfrm>
            <a:off x="2566720" y="3200400"/>
            <a:ext cx="45720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 i="0">
                <a:solidFill>
                  <a:srgbClr val="FFFFFF"/>
                </a:solidFill>
              </a:rPr>
              <a:t>Pilot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2585008" y="3337560"/>
            <a:ext cx="1423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0048"/>
                </a:solidFill>
              </a:rPr>
              <a:t>UX Design Coder MCP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4155032" y="2688336"/>
            <a:ext cx="1478584" cy="457200"/>
          </a:xfrm>
          <a:prstGeom prst="rect">
            <a:avLst/>
          </a:prstGeom>
          <a:solidFill>
            <a:srgbClr val="DBEAFE"/>
          </a:solidFill>
          <a:ln w="5080">
            <a:solidFill>
              <a:srgbClr val="C2D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Rectangle 161"/>
          <p:cNvSpPr/>
          <p:nvPr/>
        </p:nvSpPr>
        <p:spPr>
          <a:xfrm>
            <a:off x="4155032" y="2688336"/>
            <a:ext cx="1478584" cy="146304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TextBox 162"/>
          <p:cNvSpPr txBox="1"/>
          <p:nvPr/>
        </p:nvSpPr>
        <p:spPr>
          <a:xfrm>
            <a:off x="4173320" y="2706624"/>
            <a:ext cx="45720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 i="0">
                <a:solidFill>
                  <a:srgbClr val="FFFFFF"/>
                </a:solidFill>
              </a:rPr>
              <a:t>GA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4191608" y="2843784"/>
            <a:ext cx="1423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0048"/>
                </a:solidFill>
              </a:rPr>
              <a:t>Code Review Asst.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4155032" y="3182112"/>
            <a:ext cx="1478584" cy="457200"/>
          </a:xfrm>
          <a:prstGeom prst="rect">
            <a:avLst/>
          </a:prstGeom>
          <a:solidFill>
            <a:srgbClr val="DBEAFE"/>
          </a:solidFill>
          <a:ln w="5080">
            <a:solidFill>
              <a:srgbClr val="C2D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Rectangle 165"/>
          <p:cNvSpPr/>
          <p:nvPr/>
        </p:nvSpPr>
        <p:spPr>
          <a:xfrm>
            <a:off x="4155032" y="3182112"/>
            <a:ext cx="1478584" cy="146304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7" name="TextBox 166"/>
          <p:cNvSpPr txBox="1"/>
          <p:nvPr/>
        </p:nvSpPr>
        <p:spPr>
          <a:xfrm>
            <a:off x="4173320" y="3200400"/>
            <a:ext cx="45720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 i="0">
                <a:solidFill>
                  <a:srgbClr val="FFFFFF"/>
                </a:solidFill>
              </a:rPr>
              <a:t>GA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4191608" y="3337560"/>
            <a:ext cx="1423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0048"/>
                </a:solidFill>
              </a:rPr>
              <a:t>Prompt Library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4155032" y="3675888"/>
            <a:ext cx="1478584" cy="457200"/>
          </a:xfrm>
          <a:prstGeom prst="rect">
            <a:avLst/>
          </a:prstGeom>
          <a:solidFill>
            <a:srgbClr val="DBEAFE"/>
          </a:solidFill>
          <a:ln w="5080">
            <a:solidFill>
              <a:srgbClr val="C2D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0" name="Rectangle 169"/>
          <p:cNvSpPr/>
          <p:nvPr/>
        </p:nvSpPr>
        <p:spPr>
          <a:xfrm>
            <a:off x="4155032" y="3675888"/>
            <a:ext cx="1478584" cy="146304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1" name="TextBox 170"/>
          <p:cNvSpPr txBox="1"/>
          <p:nvPr/>
        </p:nvSpPr>
        <p:spPr>
          <a:xfrm>
            <a:off x="4173320" y="3694176"/>
            <a:ext cx="45720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 i="0">
                <a:solidFill>
                  <a:srgbClr val="FFFFFF"/>
                </a:solidFill>
              </a:rPr>
              <a:t>GA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4191608" y="3831336"/>
            <a:ext cx="1423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0048"/>
                </a:solidFill>
              </a:rPr>
              <a:t>DevBridge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5761632" y="2688336"/>
            <a:ext cx="1478584" cy="457200"/>
          </a:xfrm>
          <a:prstGeom prst="rect">
            <a:avLst/>
          </a:prstGeom>
          <a:solidFill>
            <a:srgbClr val="DBEAFE"/>
          </a:solidFill>
          <a:ln w="5080">
            <a:solidFill>
              <a:srgbClr val="C2D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Rectangle 173"/>
          <p:cNvSpPr/>
          <p:nvPr/>
        </p:nvSpPr>
        <p:spPr>
          <a:xfrm>
            <a:off x="5761632" y="2688336"/>
            <a:ext cx="1478584" cy="146304"/>
          </a:xfrm>
          <a:prstGeom prst="rect">
            <a:avLst/>
          </a:prstGeom>
          <a:solidFill>
            <a:srgbClr val="B45A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" name="TextBox 174"/>
          <p:cNvSpPr txBox="1"/>
          <p:nvPr/>
        </p:nvSpPr>
        <p:spPr>
          <a:xfrm>
            <a:off x="5779920" y="2706624"/>
            <a:ext cx="45720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 i="0">
                <a:solidFill>
                  <a:srgbClr val="FFFFFF"/>
                </a:solidFill>
              </a:rPr>
              <a:t>Pilot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5798208" y="2843784"/>
            <a:ext cx="1423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0048"/>
                </a:solidFill>
              </a:rPr>
              <a:t>PipelineIQ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7368232" y="2688336"/>
            <a:ext cx="1478584" cy="457200"/>
          </a:xfrm>
          <a:prstGeom prst="rect">
            <a:avLst/>
          </a:prstGeom>
          <a:solidFill>
            <a:srgbClr val="DBEAFE"/>
          </a:solidFill>
          <a:ln w="5080">
            <a:solidFill>
              <a:srgbClr val="C2D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8" name="Rectangle 177"/>
          <p:cNvSpPr/>
          <p:nvPr/>
        </p:nvSpPr>
        <p:spPr>
          <a:xfrm>
            <a:off x="7368232" y="2688336"/>
            <a:ext cx="1478584" cy="146304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9" name="TextBox 178"/>
          <p:cNvSpPr txBox="1"/>
          <p:nvPr/>
        </p:nvSpPr>
        <p:spPr>
          <a:xfrm>
            <a:off x="7386520" y="2706624"/>
            <a:ext cx="45720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 i="0">
                <a:solidFill>
                  <a:srgbClr val="FFFFFF"/>
                </a:solidFill>
              </a:rPr>
              <a:t>GA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7404808" y="2843784"/>
            <a:ext cx="1423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0048"/>
                </a:solidFill>
              </a:rPr>
              <a:t>QA Suite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7368232" y="3182112"/>
            <a:ext cx="1478584" cy="457200"/>
          </a:xfrm>
          <a:prstGeom prst="rect">
            <a:avLst/>
          </a:prstGeom>
          <a:solidFill>
            <a:srgbClr val="DBEAFE"/>
          </a:solidFill>
          <a:ln w="5080">
            <a:solidFill>
              <a:srgbClr val="C2D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2" name="Rectangle 181"/>
          <p:cNvSpPr/>
          <p:nvPr/>
        </p:nvSpPr>
        <p:spPr>
          <a:xfrm>
            <a:off x="7368232" y="3182112"/>
            <a:ext cx="1478584" cy="146304"/>
          </a:xfrm>
          <a:prstGeom prst="rect">
            <a:avLst/>
          </a:prstGeom>
          <a:solidFill>
            <a:srgbClr val="B45A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3" name="TextBox 182"/>
          <p:cNvSpPr txBox="1"/>
          <p:nvPr/>
        </p:nvSpPr>
        <p:spPr>
          <a:xfrm>
            <a:off x="7386520" y="3200400"/>
            <a:ext cx="45720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 i="0">
                <a:solidFill>
                  <a:srgbClr val="FFFFFF"/>
                </a:solidFill>
              </a:rPr>
              <a:t>Pilot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7404808" y="3337560"/>
            <a:ext cx="1423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0048"/>
                </a:solidFill>
              </a:rPr>
              <a:t>Smart Tester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7368232" y="3675888"/>
            <a:ext cx="1478584" cy="457200"/>
          </a:xfrm>
          <a:prstGeom prst="rect">
            <a:avLst/>
          </a:prstGeom>
          <a:solidFill>
            <a:srgbClr val="DBEAFE"/>
          </a:solidFill>
          <a:ln w="5080">
            <a:solidFill>
              <a:srgbClr val="C2D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6" name="Rectangle 185"/>
          <p:cNvSpPr/>
          <p:nvPr/>
        </p:nvSpPr>
        <p:spPr>
          <a:xfrm>
            <a:off x="7368232" y="3675888"/>
            <a:ext cx="1478584" cy="146304"/>
          </a:xfrm>
          <a:prstGeom prst="rect">
            <a:avLst/>
          </a:prstGeom>
          <a:solidFill>
            <a:srgbClr val="B45A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7" name="TextBox 186"/>
          <p:cNvSpPr txBox="1"/>
          <p:nvPr/>
        </p:nvSpPr>
        <p:spPr>
          <a:xfrm>
            <a:off x="7386520" y="3694176"/>
            <a:ext cx="45720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 i="0">
                <a:solidFill>
                  <a:srgbClr val="FFFFFF"/>
                </a:solidFill>
              </a:rPr>
              <a:t>Pilot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7404808" y="3831336"/>
            <a:ext cx="1423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0048"/>
                </a:solidFill>
              </a:rPr>
              <a:t>Playwright MCP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8974832" y="2688336"/>
            <a:ext cx="1478584" cy="457200"/>
          </a:xfrm>
          <a:prstGeom prst="rect">
            <a:avLst/>
          </a:prstGeom>
          <a:solidFill>
            <a:srgbClr val="DBEAFE"/>
          </a:solidFill>
          <a:ln w="5080">
            <a:solidFill>
              <a:srgbClr val="C2D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0" name="Rectangle 189"/>
          <p:cNvSpPr/>
          <p:nvPr/>
        </p:nvSpPr>
        <p:spPr>
          <a:xfrm>
            <a:off x="8974832" y="2688336"/>
            <a:ext cx="1478584" cy="146304"/>
          </a:xfrm>
          <a:prstGeom prst="rect">
            <a:avLst/>
          </a:prstGeom>
          <a:solidFill>
            <a:srgbClr val="9B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1" name="TextBox 190"/>
          <p:cNvSpPr txBox="1"/>
          <p:nvPr/>
        </p:nvSpPr>
        <p:spPr>
          <a:xfrm>
            <a:off x="8993120" y="2706624"/>
            <a:ext cx="45720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 i="0">
                <a:solidFill>
                  <a:srgbClr val="FFFFFF"/>
                </a:solidFill>
              </a:rPr>
              <a:t>PoC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9011408" y="2843784"/>
            <a:ext cx="1423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0048"/>
                </a:solidFill>
              </a:rPr>
              <a:t>ConsoleBot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8974832" y="3182112"/>
            <a:ext cx="1478584" cy="457200"/>
          </a:xfrm>
          <a:prstGeom prst="rect">
            <a:avLst/>
          </a:prstGeom>
          <a:solidFill>
            <a:srgbClr val="DBEAFE"/>
          </a:solidFill>
          <a:ln w="5080">
            <a:solidFill>
              <a:srgbClr val="C2D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4" name="Rectangle 193"/>
          <p:cNvSpPr/>
          <p:nvPr/>
        </p:nvSpPr>
        <p:spPr>
          <a:xfrm>
            <a:off x="8974832" y="3182112"/>
            <a:ext cx="1478584" cy="146304"/>
          </a:xfrm>
          <a:prstGeom prst="rect">
            <a:avLst/>
          </a:prstGeom>
          <a:solidFill>
            <a:srgbClr val="B45A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5" name="TextBox 194"/>
          <p:cNvSpPr txBox="1"/>
          <p:nvPr/>
        </p:nvSpPr>
        <p:spPr>
          <a:xfrm>
            <a:off x="8993120" y="3200400"/>
            <a:ext cx="45720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 i="0">
                <a:solidFill>
                  <a:srgbClr val="FFFFFF"/>
                </a:solidFill>
              </a:rPr>
              <a:t>Pilot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9011408" y="3337560"/>
            <a:ext cx="1423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0048"/>
                </a:solidFill>
              </a:rPr>
              <a:t>RenovateBot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10581432" y="2688336"/>
            <a:ext cx="1478584" cy="457200"/>
          </a:xfrm>
          <a:prstGeom prst="rect">
            <a:avLst/>
          </a:prstGeom>
          <a:solidFill>
            <a:srgbClr val="DBEAFE"/>
          </a:solidFill>
          <a:ln w="5080">
            <a:solidFill>
              <a:srgbClr val="C2D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8" name="Rectangle 197"/>
          <p:cNvSpPr/>
          <p:nvPr/>
        </p:nvSpPr>
        <p:spPr>
          <a:xfrm>
            <a:off x="10581432" y="2688336"/>
            <a:ext cx="1478584" cy="146304"/>
          </a:xfrm>
          <a:prstGeom prst="rect">
            <a:avLst/>
          </a:prstGeom>
          <a:solidFill>
            <a:srgbClr val="B45A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9" name="TextBox 198"/>
          <p:cNvSpPr txBox="1"/>
          <p:nvPr/>
        </p:nvSpPr>
        <p:spPr>
          <a:xfrm>
            <a:off x="10599720" y="2706624"/>
            <a:ext cx="45720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 i="0">
                <a:solidFill>
                  <a:srgbClr val="FFFFFF"/>
                </a:solidFill>
              </a:rPr>
              <a:t>Pilot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10618008" y="2843784"/>
            <a:ext cx="1423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0048"/>
                </a:solidFill>
              </a:rPr>
              <a:t>Risk Assistant</a:t>
            </a:r>
          </a:p>
        </p:txBody>
      </p:sp>
      <p:sp>
        <p:nvSpPr>
          <p:cNvPr id="201" name="Rectangle 200"/>
          <p:cNvSpPr/>
          <p:nvPr/>
        </p:nvSpPr>
        <p:spPr>
          <a:xfrm>
            <a:off x="128016" y="4462272"/>
            <a:ext cx="11932920" cy="749808"/>
          </a:xfrm>
          <a:prstGeom prst="rect">
            <a:avLst/>
          </a:prstGeom>
          <a:solidFill>
            <a:srgbClr val="F8F8FC"/>
          </a:solidFill>
          <a:ln w="635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2" name="Rectangle 201"/>
          <p:cNvSpPr/>
          <p:nvPr/>
        </p:nvSpPr>
        <p:spPr>
          <a:xfrm>
            <a:off x="2484424" y="4462272"/>
            <a:ext cx="13716" cy="749808"/>
          </a:xfrm>
          <a:prstGeom prst="rect">
            <a:avLst/>
          </a:prstGeom>
          <a:solidFill>
            <a:srgbClr val="C5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3" name="Rectangle 202"/>
          <p:cNvSpPr/>
          <p:nvPr/>
        </p:nvSpPr>
        <p:spPr>
          <a:xfrm>
            <a:off x="4091024" y="4462272"/>
            <a:ext cx="13716" cy="749808"/>
          </a:xfrm>
          <a:prstGeom prst="rect">
            <a:avLst/>
          </a:prstGeom>
          <a:solidFill>
            <a:srgbClr val="C5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4" name="Rectangle 203"/>
          <p:cNvSpPr/>
          <p:nvPr/>
        </p:nvSpPr>
        <p:spPr>
          <a:xfrm>
            <a:off x="5697624" y="4462272"/>
            <a:ext cx="13716" cy="749808"/>
          </a:xfrm>
          <a:prstGeom prst="rect">
            <a:avLst/>
          </a:prstGeom>
          <a:solidFill>
            <a:srgbClr val="C5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5" name="Rectangle 204"/>
          <p:cNvSpPr/>
          <p:nvPr/>
        </p:nvSpPr>
        <p:spPr>
          <a:xfrm>
            <a:off x="7304224" y="4462272"/>
            <a:ext cx="13716" cy="749808"/>
          </a:xfrm>
          <a:prstGeom prst="rect">
            <a:avLst/>
          </a:prstGeom>
          <a:solidFill>
            <a:srgbClr val="C5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6" name="Rectangle 205"/>
          <p:cNvSpPr/>
          <p:nvPr/>
        </p:nvSpPr>
        <p:spPr>
          <a:xfrm>
            <a:off x="8910824" y="4462272"/>
            <a:ext cx="13716" cy="749808"/>
          </a:xfrm>
          <a:prstGeom prst="rect">
            <a:avLst/>
          </a:prstGeom>
          <a:solidFill>
            <a:srgbClr val="C5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7" name="Rectangle 206"/>
          <p:cNvSpPr/>
          <p:nvPr/>
        </p:nvSpPr>
        <p:spPr>
          <a:xfrm>
            <a:off x="10517424" y="4462272"/>
            <a:ext cx="13716" cy="749808"/>
          </a:xfrm>
          <a:prstGeom prst="rect">
            <a:avLst/>
          </a:prstGeom>
          <a:solidFill>
            <a:srgbClr val="C5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8" name="Rectangle 207"/>
          <p:cNvSpPr/>
          <p:nvPr/>
        </p:nvSpPr>
        <p:spPr>
          <a:xfrm>
            <a:off x="128016" y="4462272"/>
            <a:ext cx="749808" cy="749808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9" name="TextBox 208"/>
          <p:cNvSpPr txBox="1"/>
          <p:nvPr/>
        </p:nvSpPr>
        <p:spPr>
          <a:xfrm>
            <a:off x="164592" y="4498848"/>
            <a:ext cx="694944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TARGET
SYSTEMS</a:t>
            </a:r>
          </a:p>
        </p:txBody>
      </p:sp>
      <p:sp>
        <p:nvSpPr>
          <p:cNvPr id="210" name="Rectangle 209"/>
          <p:cNvSpPr/>
          <p:nvPr/>
        </p:nvSpPr>
        <p:spPr>
          <a:xfrm>
            <a:off x="941832" y="4526280"/>
            <a:ext cx="1478584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1" name="TextBox 210"/>
          <p:cNvSpPr txBox="1"/>
          <p:nvPr/>
        </p:nvSpPr>
        <p:spPr>
          <a:xfrm>
            <a:off x="996696" y="4590288"/>
            <a:ext cx="14054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Jira</a:t>
            </a:r>
          </a:p>
        </p:txBody>
      </p:sp>
      <p:sp>
        <p:nvSpPr>
          <p:cNvPr id="212" name="Rectangle 211"/>
          <p:cNvSpPr/>
          <p:nvPr/>
        </p:nvSpPr>
        <p:spPr>
          <a:xfrm>
            <a:off x="941832" y="4855464"/>
            <a:ext cx="1478584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3" name="TextBox 212"/>
          <p:cNvSpPr txBox="1"/>
          <p:nvPr/>
        </p:nvSpPr>
        <p:spPr>
          <a:xfrm>
            <a:off x="996696" y="4919472"/>
            <a:ext cx="14054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Confluence</a:t>
            </a:r>
          </a:p>
        </p:txBody>
      </p:sp>
      <p:sp>
        <p:nvSpPr>
          <p:cNvPr id="214" name="Rectangle 213"/>
          <p:cNvSpPr/>
          <p:nvPr/>
        </p:nvSpPr>
        <p:spPr>
          <a:xfrm>
            <a:off x="2548432" y="4526280"/>
            <a:ext cx="1478584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5" name="TextBox 214"/>
          <p:cNvSpPr txBox="1"/>
          <p:nvPr/>
        </p:nvSpPr>
        <p:spPr>
          <a:xfrm>
            <a:off x="2603296" y="4590288"/>
            <a:ext cx="14054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Figma</a:t>
            </a:r>
          </a:p>
        </p:txBody>
      </p:sp>
      <p:sp>
        <p:nvSpPr>
          <p:cNvPr id="216" name="Rectangle 215"/>
          <p:cNvSpPr/>
          <p:nvPr/>
        </p:nvSpPr>
        <p:spPr>
          <a:xfrm>
            <a:off x="2548432" y="4855464"/>
            <a:ext cx="1478584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7" name="TextBox 216"/>
          <p:cNvSpPr txBox="1"/>
          <p:nvPr/>
        </p:nvSpPr>
        <p:spPr>
          <a:xfrm>
            <a:off x="2603296" y="4919472"/>
            <a:ext cx="14054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ShieldDocs</a:t>
            </a:r>
          </a:p>
        </p:txBody>
      </p:sp>
      <p:sp>
        <p:nvSpPr>
          <p:cNvPr id="218" name="Rectangle 217"/>
          <p:cNvSpPr/>
          <p:nvPr/>
        </p:nvSpPr>
        <p:spPr>
          <a:xfrm>
            <a:off x="4155032" y="4526280"/>
            <a:ext cx="1478584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9" name="TextBox 218"/>
          <p:cNvSpPr txBox="1"/>
          <p:nvPr/>
        </p:nvSpPr>
        <p:spPr>
          <a:xfrm>
            <a:off x="4209896" y="4590288"/>
            <a:ext cx="14054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GitLab</a:t>
            </a:r>
          </a:p>
        </p:txBody>
      </p:sp>
      <p:sp>
        <p:nvSpPr>
          <p:cNvPr id="220" name="Rectangle 219"/>
          <p:cNvSpPr/>
          <p:nvPr/>
        </p:nvSpPr>
        <p:spPr>
          <a:xfrm>
            <a:off x="4155032" y="4855464"/>
            <a:ext cx="1478584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1" name="TextBox 220"/>
          <p:cNvSpPr txBox="1"/>
          <p:nvPr/>
        </p:nvSpPr>
        <p:spPr>
          <a:xfrm>
            <a:off x="4209896" y="4919472"/>
            <a:ext cx="14054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Shield UI</a:t>
            </a:r>
          </a:p>
        </p:txBody>
      </p:sp>
      <p:sp>
        <p:nvSpPr>
          <p:cNvPr id="222" name="Rectangle 221"/>
          <p:cNvSpPr/>
          <p:nvPr/>
        </p:nvSpPr>
        <p:spPr>
          <a:xfrm>
            <a:off x="5761632" y="4526280"/>
            <a:ext cx="1478584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3" name="TextBox 222"/>
          <p:cNvSpPr txBox="1"/>
          <p:nvPr/>
        </p:nvSpPr>
        <p:spPr>
          <a:xfrm>
            <a:off x="5816496" y="4590288"/>
            <a:ext cx="14054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PipelineCli</a:t>
            </a:r>
          </a:p>
        </p:txBody>
      </p:sp>
      <p:sp>
        <p:nvSpPr>
          <p:cNvPr id="224" name="Rectangle 223"/>
          <p:cNvSpPr/>
          <p:nvPr/>
        </p:nvSpPr>
        <p:spPr>
          <a:xfrm>
            <a:off x="5761632" y="4855464"/>
            <a:ext cx="1478584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5" name="TextBox 224"/>
          <p:cNvSpPr txBox="1"/>
          <p:nvPr/>
        </p:nvSpPr>
        <p:spPr>
          <a:xfrm>
            <a:off x="5816496" y="4919472"/>
            <a:ext cx="14054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DevContainers</a:t>
            </a:r>
          </a:p>
        </p:txBody>
      </p:sp>
      <p:sp>
        <p:nvSpPr>
          <p:cNvPr id="226" name="Rectangle 225"/>
          <p:cNvSpPr/>
          <p:nvPr/>
        </p:nvSpPr>
        <p:spPr>
          <a:xfrm>
            <a:off x="7368232" y="4526280"/>
            <a:ext cx="1478584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7" name="TextBox 226"/>
          <p:cNvSpPr txBox="1"/>
          <p:nvPr/>
        </p:nvSpPr>
        <p:spPr>
          <a:xfrm>
            <a:off x="7423096" y="4590288"/>
            <a:ext cx="14054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PractiTest</a:t>
            </a:r>
          </a:p>
        </p:txBody>
      </p:sp>
      <p:sp>
        <p:nvSpPr>
          <p:cNvPr id="228" name="Rectangle 227"/>
          <p:cNvSpPr/>
          <p:nvPr/>
        </p:nvSpPr>
        <p:spPr>
          <a:xfrm>
            <a:off x="7368232" y="4855464"/>
            <a:ext cx="1478584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9" name="TextBox 228"/>
          <p:cNvSpPr txBox="1"/>
          <p:nvPr/>
        </p:nvSpPr>
        <p:spPr>
          <a:xfrm>
            <a:off x="7423096" y="4919472"/>
            <a:ext cx="14054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BrowserStack</a:t>
            </a:r>
          </a:p>
        </p:txBody>
      </p:sp>
      <p:sp>
        <p:nvSpPr>
          <p:cNvPr id="230" name="Rectangle 229"/>
          <p:cNvSpPr/>
          <p:nvPr/>
        </p:nvSpPr>
        <p:spPr>
          <a:xfrm>
            <a:off x="8974832" y="4526280"/>
            <a:ext cx="1478584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1" name="TextBox 230"/>
          <p:cNvSpPr txBox="1"/>
          <p:nvPr/>
        </p:nvSpPr>
        <p:spPr>
          <a:xfrm>
            <a:off x="9029696" y="4590288"/>
            <a:ext cx="14054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AppSec</a:t>
            </a:r>
          </a:p>
        </p:txBody>
      </p:sp>
      <p:sp>
        <p:nvSpPr>
          <p:cNvPr id="232" name="Rectangle 231"/>
          <p:cNvSpPr/>
          <p:nvPr/>
        </p:nvSpPr>
        <p:spPr>
          <a:xfrm>
            <a:off x="8974832" y="4855464"/>
            <a:ext cx="1478584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3" name="TextBox 232"/>
          <p:cNvSpPr txBox="1"/>
          <p:nvPr/>
        </p:nvSpPr>
        <p:spPr>
          <a:xfrm>
            <a:off x="9029696" y="4919472"/>
            <a:ext cx="14054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CloudBees</a:t>
            </a:r>
          </a:p>
        </p:txBody>
      </p:sp>
      <p:sp>
        <p:nvSpPr>
          <p:cNvPr id="234" name="Rectangle 233"/>
          <p:cNvSpPr/>
          <p:nvPr/>
        </p:nvSpPr>
        <p:spPr>
          <a:xfrm>
            <a:off x="10581432" y="4526280"/>
            <a:ext cx="1478584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5" name="TextBox 234"/>
          <p:cNvSpPr txBox="1"/>
          <p:nvPr/>
        </p:nvSpPr>
        <p:spPr>
          <a:xfrm>
            <a:off x="10636296" y="4590288"/>
            <a:ext cx="14054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Archer</a:t>
            </a:r>
          </a:p>
        </p:txBody>
      </p:sp>
      <p:sp>
        <p:nvSpPr>
          <p:cNvPr id="236" name="Rectangle 235"/>
          <p:cNvSpPr/>
          <p:nvPr/>
        </p:nvSpPr>
        <p:spPr>
          <a:xfrm>
            <a:off x="10581432" y="4855464"/>
            <a:ext cx="1478584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7" name="TextBox 236"/>
          <p:cNvSpPr txBox="1"/>
          <p:nvPr/>
        </p:nvSpPr>
        <p:spPr>
          <a:xfrm>
            <a:off x="10636296" y="4919472"/>
            <a:ext cx="14054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Risk Database</a:t>
            </a:r>
          </a:p>
        </p:txBody>
      </p:sp>
      <p:sp>
        <p:nvSpPr>
          <p:cNvPr id="238" name="Rectangle 237"/>
          <p:cNvSpPr/>
          <p:nvPr/>
        </p:nvSpPr>
        <p:spPr>
          <a:xfrm>
            <a:off x="128016" y="5248656"/>
            <a:ext cx="11932920" cy="502920"/>
          </a:xfrm>
          <a:prstGeom prst="rect">
            <a:avLst/>
          </a:prstGeom>
          <a:solidFill>
            <a:srgbClr val="F8F9FF"/>
          </a:solidFill>
          <a:ln w="6350">
            <a:solidFill>
              <a:srgbClr val="92B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9" name="TextBox 238"/>
          <p:cNvSpPr txBox="1"/>
          <p:nvPr/>
        </p:nvSpPr>
        <p:spPr>
          <a:xfrm>
            <a:off x="201168" y="5294376"/>
            <a:ext cx="8229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0048"/>
                </a:solidFill>
              </a:rPr>
              <a:t>PLATFORMS</a:t>
            </a:r>
          </a:p>
        </p:txBody>
      </p:sp>
      <p:sp>
        <p:nvSpPr>
          <p:cNvPr id="240" name="Rectangle 239"/>
          <p:cNvSpPr/>
          <p:nvPr/>
        </p:nvSpPr>
        <p:spPr>
          <a:xfrm>
            <a:off x="1088136" y="5303520"/>
            <a:ext cx="51206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92B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1" name="Rectangle 240"/>
          <p:cNvSpPr/>
          <p:nvPr/>
        </p:nvSpPr>
        <p:spPr>
          <a:xfrm>
            <a:off x="1088136" y="5303520"/>
            <a:ext cx="5120640" cy="14630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2" name="TextBox 241"/>
          <p:cNvSpPr txBox="1"/>
          <p:nvPr/>
        </p:nvSpPr>
        <p:spPr>
          <a:xfrm>
            <a:off x="1161288" y="5312664"/>
            <a:ext cx="49377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GitHub Copilot</a:t>
            </a:r>
          </a:p>
        </p:txBody>
      </p:sp>
      <p:sp>
        <p:nvSpPr>
          <p:cNvPr id="243" name="TextBox 242"/>
          <p:cNvSpPr txBox="1"/>
          <p:nvPr/>
        </p:nvSpPr>
        <p:spPr>
          <a:xfrm>
            <a:off x="1161288" y="5458968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7280"/>
                </a:solidFill>
              </a:rPr>
              <a:t>Module: GPT, Claude, Gemini · MCP · Agents · Skills</a:t>
            </a:r>
          </a:p>
        </p:txBody>
      </p:sp>
      <p:sp>
        <p:nvSpPr>
          <p:cNvPr id="244" name="Rectangle 243"/>
          <p:cNvSpPr/>
          <p:nvPr/>
        </p:nvSpPr>
        <p:spPr>
          <a:xfrm>
            <a:off x="6391656" y="5303520"/>
            <a:ext cx="51206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92B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5" name="Rectangle 244"/>
          <p:cNvSpPr/>
          <p:nvPr/>
        </p:nvSpPr>
        <p:spPr>
          <a:xfrm>
            <a:off x="6391656" y="5303520"/>
            <a:ext cx="5120640" cy="14630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6" name="TextBox 245"/>
          <p:cNvSpPr txBox="1"/>
          <p:nvPr/>
        </p:nvSpPr>
        <p:spPr>
          <a:xfrm>
            <a:off x="6464808" y="5312664"/>
            <a:ext cx="49377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Azure Open AI</a:t>
            </a:r>
          </a:p>
        </p:txBody>
      </p:sp>
      <p:sp>
        <p:nvSpPr>
          <p:cNvPr id="247" name="TextBox 246"/>
          <p:cNvSpPr txBox="1"/>
          <p:nvPr/>
        </p:nvSpPr>
        <p:spPr>
          <a:xfrm>
            <a:off x="6464808" y="5458968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7280"/>
                </a:solidFill>
              </a:rPr>
              <a:t>Module: GPT · Services: Azure AI Search, AI Foundry, LangChain, MCP</a:t>
            </a:r>
          </a:p>
        </p:txBody>
      </p:sp>
      <p:sp>
        <p:nvSpPr>
          <p:cNvPr id="248" name="Rectangle 247"/>
          <p:cNvSpPr/>
          <p:nvPr/>
        </p:nvSpPr>
        <p:spPr>
          <a:xfrm>
            <a:off x="128016" y="5797296"/>
            <a:ext cx="11932920" cy="219456"/>
          </a:xfrm>
          <a:prstGeom prst="rect">
            <a:avLst/>
          </a:prstGeom>
          <a:solidFill>
            <a:srgbClr val="F8F9FF"/>
          </a:solidFill>
          <a:ln w="5080">
            <a:solidFill>
              <a:srgbClr val="92B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9" name="TextBox 248"/>
          <p:cNvSpPr txBox="1"/>
          <p:nvPr/>
        </p:nvSpPr>
        <p:spPr>
          <a:xfrm>
            <a:off x="201168" y="5843016"/>
            <a:ext cx="594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0048"/>
                </a:solidFill>
              </a:rPr>
              <a:t>LEGEND:</a:t>
            </a:r>
          </a:p>
        </p:txBody>
      </p:sp>
      <p:sp>
        <p:nvSpPr>
          <p:cNvPr id="250" name="Rectangle 249"/>
          <p:cNvSpPr/>
          <p:nvPr/>
        </p:nvSpPr>
        <p:spPr>
          <a:xfrm>
            <a:off x="877824" y="5843016"/>
            <a:ext cx="365760" cy="128016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1" name="TextBox 250"/>
          <p:cNvSpPr txBox="1"/>
          <p:nvPr/>
        </p:nvSpPr>
        <p:spPr>
          <a:xfrm>
            <a:off x="1298448" y="5843016"/>
            <a:ext cx="192024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GA = Generally Available</a:t>
            </a:r>
          </a:p>
        </p:txBody>
      </p:sp>
      <p:sp>
        <p:nvSpPr>
          <p:cNvPr id="252" name="Rectangle 251"/>
          <p:cNvSpPr/>
          <p:nvPr/>
        </p:nvSpPr>
        <p:spPr>
          <a:xfrm>
            <a:off x="3255264" y="5843016"/>
            <a:ext cx="365760" cy="128016"/>
          </a:xfrm>
          <a:prstGeom prst="rect">
            <a:avLst/>
          </a:prstGeom>
          <a:solidFill>
            <a:srgbClr val="B45A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3" name="TextBox 252"/>
          <p:cNvSpPr txBox="1"/>
          <p:nvPr/>
        </p:nvSpPr>
        <p:spPr>
          <a:xfrm>
            <a:off x="3675888" y="5843016"/>
            <a:ext cx="192024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Pilot = Pilot Stage</a:t>
            </a:r>
          </a:p>
        </p:txBody>
      </p:sp>
      <p:sp>
        <p:nvSpPr>
          <p:cNvPr id="254" name="Rectangle 253"/>
          <p:cNvSpPr/>
          <p:nvPr/>
        </p:nvSpPr>
        <p:spPr>
          <a:xfrm>
            <a:off x="5632704" y="5843016"/>
            <a:ext cx="365760" cy="128016"/>
          </a:xfrm>
          <a:prstGeom prst="rect">
            <a:avLst/>
          </a:prstGeom>
          <a:solidFill>
            <a:srgbClr val="9B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5" name="TextBox 254"/>
          <p:cNvSpPr txBox="1"/>
          <p:nvPr/>
        </p:nvSpPr>
        <p:spPr>
          <a:xfrm>
            <a:off x="6053328" y="5843016"/>
            <a:ext cx="192024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PoC = Proof of Concept</a:t>
            </a:r>
          </a:p>
        </p:txBody>
      </p:sp>
      <p:sp>
        <p:nvSpPr>
          <p:cNvPr id="256" name="Rectangle 255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7" name="TextBox 256"/>
          <p:cNvSpPr txBox="1"/>
          <p:nvPr/>
        </p:nvSpPr>
        <p:spPr>
          <a:xfrm>
            <a:off x="182880" y="6665976"/>
            <a:ext cx="7315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92BBE6"/>
                </a:solidFill>
              </a:rPr>
              <a:t>© 2026 Cognizant  ·  US Bank PDLC AI Transformation  ·  Confidential</a:t>
            </a:r>
          </a:p>
        </p:txBody>
      </p:sp>
      <p:sp>
        <p:nvSpPr>
          <p:cNvPr id="258" name="TextBox 257"/>
          <p:cNvSpPr txBox="1"/>
          <p:nvPr/>
        </p:nvSpPr>
        <p:spPr>
          <a:xfrm>
            <a:off x="10515600" y="6665976"/>
            <a:ext cx="15544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92BBE6"/>
                </a:solidFill>
              </a:rPr>
              <a:t>STUMP Platform  ·  Option 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0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365760"/>
          </a:xfrm>
          <a:prstGeom prst="rect">
            <a:avLst/>
          </a:prstGeom>
          <a:solidFill>
            <a:srgbClr val="06C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01168" y="54864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PDLC System Landscape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" y="219456"/>
            <a:ext cx="64008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2BBE6"/>
                </a:solidFill>
              </a:rPr>
              <a:t>Personas  ·  PDLC Activities  ·  AI Systems  ·  Target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118872"/>
            <a:ext cx="24688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92BBE6"/>
                </a:solidFill>
              </a:rPr>
              <a:t>PDLC System Landscape  |  Generated 2026-04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365760"/>
            <a:ext cx="12188952" cy="23774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01168" y="402336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Option B  —  Hybrid  (Selective Autonomous Agents)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411480"/>
            <a:ext cx="4297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1">
                <a:solidFill>
                  <a:srgbClr val="FFFFFF"/>
                </a:solidFill>
              </a:rPr>
              <a:t>12 agents independently deliver key phase outputs  ·  Humans focus on design, decisions &amp; exceptions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77824" y="603504"/>
            <a:ext cx="11183112" cy="292608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28016" y="603504"/>
            <a:ext cx="749808" cy="292608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64592" y="676656"/>
            <a:ext cx="69494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92BBE6"/>
                </a:solidFill>
              </a:rPr>
              <a:t>PHASE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77824" y="603504"/>
            <a:ext cx="1588312" cy="292608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120" y="640080"/>
            <a:ext cx="14420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Ph1  Discovery &amp;
Planning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84424" y="603504"/>
            <a:ext cx="1588312" cy="292608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566720" y="640080"/>
            <a:ext cx="14420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Ph2  Architecture
&amp; Design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91024" y="603504"/>
            <a:ext cx="1588312" cy="292608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173320" y="640080"/>
            <a:ext cx="14420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Ph3  Development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97624" y="603504"/>
            <a:ext cx="1588312" cy="292608"/>
          </a:xfrm>
          <a:prstGeom prst="rect">
            <a:avLst/>
          </a:prstGeom>
          <a:solidFill>
            <a:srgbClr val="0A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779920" y="640080"/>
            <a:ext cx="14420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Ph4  Build &amp;
CI/CD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04224" y="603504"/>
            <a:ext cx="1588312" cy="292608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86520" y="640080"/>
            <a:ext cx="14420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Ph5  Test &amp;
QA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10824" y="603504"/>
            <a:ext cx="1588312" cy="292608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993120" y="640080"/>
            <a:ext cx="14420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Ph6  Release &amp;
Deploy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517424" y="603504"/>
            <a:ext cx="1588312" cy="292608"/>
          </a:xfrm>
          <a:prstGeom prst="rect">
            <a:avLst/>
          </a:prstGeom>
          <a:solidFill>
            <a:srgbClr val="048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599720" y="640080"/>
            <a:ext cx="14420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Ph7  Operate &amp;
Monitor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28016" y="896112"/>
            <a:ext cx="11932920" cy="932688"/>
          </a:xfrm>
          <a:prstGeom prst="rect">
            <a:avLst/>
          </a:prstGeom>
          <a:solidFill>
            <a:srgbClr val="EBF3FD"/>
          </a:solidFill>
          <a:ln w="635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2484424" y="896112"/>
            <a:ext cx="13716" cy="932688"/>
          </a:xfrm>
          <a:prstGeom prst="rect">
            <a:avLst/>
          </a:prstGeom>
          <a:solidFill>
            <a:srgbClr val="C5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091024" y="896112"/>
            <a:ext cx="13716" cy="932688"/>
          </a:xfrm>
          <a:prstGeom prst="rect">
            <a:avLst/>
          </a:prstGeom>
          <a:solidFill>
            <a:srgbClr val="C5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697624" y="896112"/>
            <a:ext cx="13716" cy="932688"/>
          </a:xfrm>
          <a:prstGeom prst="rect">
            <a:avLst/>
          </a:prstGeom>
          <a:solidFill>
            <a:srgbClr val="C5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7304224" y="896112"/>
            <a:ext cx="13716" cy="932688"/>
          </a:xfrm>
          <a:prstGeom prst="rect">
            <a:avLst/>
          </a:prstGeom>
          <a:solidFill>
            <a:srgbClr val="C5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910824" y="896112"/>
            <a:ext cx="13716" cy="932688"/>
          </a:xfrm>
          <a:prstGeom prst="rect">
            <a:avLst/>
          </a:prstGeom>
          <a:solidFill>
            <a:srgbClr val="C5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10517424" y="896112"/>
            <a:ext cx="13716" cy="932688"/>
          </a:xfrm>
          <a:prstGeom prst="rect">
            <a:avLst/>
          </a:prstGeom>
          <a:solidFill>
            <a:srgbClr val="C5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128016" y="896112"/>
            <a:ext cx="749808" cy="932688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64592" y="932688"/>
            <a:ext cx="694944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PERSONAS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41832" y="960120"/>
            <a:ext cx="1478584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92B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941832" y="960120"/>
            <a:ext cx="1478584" cy="155448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78408" y="978408"/>
            <a:ext cx="14237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Product Manager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8408" y="1133856"/>
            <a:ext cx="1423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7280"/>
                </a:solidFill>
              </a:rPr>
              <a:t>Requirements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41832" y="1362456"/>
            <a:ext cx="1478584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92B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941832" y="1362456"/>
            <a:ext cx="1478584" cy="155448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78408" y="1380744"/>
            <a:ext cx="14237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Agilist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78408" y="1536192"/>
            <a:ext cx="1423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7280"/>
                </a:solidFill>
              </a:rPr>
              <a:t>Sprint Planning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548432" y="960120"/>
            <a:ext cx="1478584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92B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2548432" y="960120"/>
            <a:ext cx="1478584" cy="155448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2585008" y="978408"/>
            <a:ext cx="14237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Designer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585008" y="1133856"/>
            <a:ext cx="1423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7280"/>
                </a:solidFill>
              </a:rPr>
              <a:t>UI/UX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548432" y="1362456"/>
            <a:ext cx="1478584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92B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2548432" y="1362456"/>
            <a:ext cx="1478584" cy="155448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2585008" y="1380744"/>
            <a:ext cx="14237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Product Manager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585008" y="1536192"/>
            <a:ext cx="1423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7280"/>
                </a:solidFill>
              </a:rPr>
              <a:t>Sign-off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155032" y="960120"/>
            <a:ext cx="1478584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92B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4155032" y="960120"/>
            <a:ext cx="1478584" cy="155448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191608" y="978408"/>
            <a:ext cx="14237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Engineer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191608" y="1133856"/>
            <a:ext cx="1423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7280"/>
                </a:solidFill>
              </a:rPr>
              <a:t>Builds Code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761632" y="960120"/>
            <a:ext cx="1478584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92B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5761632" y="960120"/>
            <a:ext cx="1478584" cy="155448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5798208" y="978408"/>
            <a:ext cx="14237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Engineer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798208" y="1133856"/>
            <a:ext cx="1423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7280"/>
                </a:solidFill>
              </a:rPr>
              <a:t>Builds Code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368232" y="960120"/>
            <a:ext cx="1478584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92B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7368232" y="960120"/>
            <a:ext cx="1478584" cy="155448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7404808" y="978408"/>
            <a:ext cx="14237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Engineer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404808" y="1133856"/>
            <a:ext cx="1423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7280"/>
                </a:solidFill>
              </a:rPr>
              <a:t>Validates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368232" y="1362456"/>
            <a:ext cx="1478584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92B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7368232" y="1362456"/>
            <a:ext cx="1478584" cy="155448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7404808" y="1380744"/>
            <a:ext cx="14237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Agilist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404808" y="1536192"/>
            <a:ext cx="1423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7280"/>
                </a:solidFill>
              </a:rPr>
              <a:t>Acceptance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974832" y="960120"/>
            <a:ext cx="1478584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92B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8974832" y="960120"/>
            <a:ext cx="1478584" cy="155448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9011408" y="978408"/>
            <a:ext cx="14237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Engineer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011408" y="1133856"/>
            <a:ext cx="1423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7280"/>
                </a:solidFill>
              </a:rPr>
              <a:t>Deploys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974832" y="1362456"/>
            <a:ext cx="1478584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92B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8974832" y="1362456"/>
            <a:ext cx="1478584" cy="155448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9011408" y="1380744"/>
            <a:ext cx="14237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Risk Manager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011408" y="1536192"/>
            <a:ext cx="1423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7280"/>
                </a:solidFill>
              </a:rPr>
              <a:t>Approval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0581432" y="960120"/>
            <a:ext cx="1478584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92B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10581432" y="960120"/>
            <a:ext cx="1478584" cy="155448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10618008" y="978408"/>
            <a:ext cx="14237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Risk Manager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618008" y="1133856"/>
            <a:ext cx="1423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7280"/>
                </a:solidFill>
              </a:rPr>
              <a:t>Compliance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0581432" y="1362456"/>
            <a:ext cx="1478584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92B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10581432" y="1362456"/>
            <a:ext cx="1478584" cy="155448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10618008" y="1380744"/>
            <a:ext cx="14237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Engineer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618008" y="1536192"/>
            <a:ext cx="1423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7280"/>
                </a:solidFill>
              </a:rPr>
              <a:t>On-Call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28016" y="1828800"/>
            <a:ext cx="11932920" cy="804672"/>
          </a:xfrm>
          <a:prstGeom prst="rect">
            <a:avLst/>
          </a:prstGeom>
          <a:solidFill>
            <a:srgbClr val="F0F4FF"/>
          </a:solidFill>
          <a:ln w="635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Rectangle 85"/>
          <p:cNvSpPr/>
          <p:nvPr/>
        </p:nvSpPr>
        <p:spPr>
          <a:xfrm>
            <a:off x="2484424" y="1828800"/>
            <a:ext cx="13716" cy="804672"/>
          </a:xfrm>
          <a:prstGeom prst="rect">
            <a:avLst/>
          </a:prstGeom>
          <a:solidFill>
            <a:srgbClr val="C5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ectangle 86"/>
          <p:cNvSpPr/>
          <p:nvPr/>
        </p:nvSpPr>
        <p:spPr>
          <a:xfrm>
            <a:off x="4091024" y="1828800"/>
            <a:ext cx="13716" cy="804672"/>
          </a:xfrm>
          <a:prstGeom prst="rect">
            <a:avLst/>
          </a:prstGeom>
          <a:solidFill>
            <a:srgbClr val="C5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ectangle 87"/>
          <p:cNvSpPr/>
          <p:nvPr/>
        </p:nvSpPr>
        <p:spPr>
          <a:xfrm>
            <a:off x="5697624" y="1828800"/>
            <a:ext cx="13716" cy="804672"/>
          </a:xfrm>
          <a:prstGeom prst="rect">
            <a:avLst/>
          </a:prstGeom>
          <a:solidFill>
            <a:srgbClr val="C5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ectangle 88"/>
          <p:cNvSpPr/>
          <p:nvPr/>
        </p:nvSpPr>
        <p:spPr>
          <a:xfrm>
            <a:off x="7304224" y="1828800"/>
            <a:ext cx="13716" cy="804672"/>
          </a:xfrm>
          <a:prstGeom prst="rect">
            <a:avLst/>
          </a:prstGeom>
          <a:solidFill>
            <a:srgbClr val="C5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8910824" y="1828800"/>
            <a:ext cx="13716" cy="804672"/>
          </a:xfrm>
          <a:prstGeom prst="rect">
            <a:avLst/>
          </a:prstGeom>
          <a:solidFill>
            <a:srgbClr val="C5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ectangle 90"/>
          <p:cNvSpPr/>
          <p:nvPr/>
        </p:nvSpPr>
        <p:spPr>
          <a:xfrm>
            <a:off x="10517424" y="1828800"/>
            <a:ext cx="13716" cy="804672"/>
          </a:xfrm>
          <a:prstGeom prst="rect">
            <a:avLst/>
          </a:prstGeom>
          <a:solidFill>
            <a:srgbClr val="C5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Rectangle 91"/>
          <p:cNvSpPr/>
          <p:nvPr/>
        </p:nvSpPr>
        <p:spPr>
          <a:xfrm>
            <a:off x="128016" y="1828800"/>
            <a:ext cx="749808" cy="804672"/>
          </a:xfrm>
          <a:prstGeom prst="rect">
            <a:avLst/>
          </a:prstGeom>
          <a:solidFill>
            <a:srgbClr val="1D4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164592" y="1865376"/>
            <a:ext cx="694944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PDLC
ACTIVITIES</a:t>
            </a:r>
          </a:p>
        </p:txBody>
      </p:sp>
      <p:sp>
        <p:nvSpPr>
          <p:cNvPr id="94" name="Rectangle 93"/>
          <p:cNvSpPr/>
          <p:nvPr/>
        </p:nvSpPr>
        <p:spPr>
          <a:xfrm>
            <a:off x="960120" y="1975104"/>
            <a:ext cx="45720" cy="4572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1033272" y="1911096"/>
            <a:ext cx="13871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Feature Definition</a:t>
            </a:r>
          </a:p>
        </p:txBody>
      </p:sp>
      <p:sp>
        <p:nvSpPr>
          <p:cNvPr id="96" name="Rectangle 95"/>
          <p:cNvSpPr/>
          <p:nvPr/>
        </p:nvSpPr>
        <p:spPr>
          <a:xfrm>
            <a:off x="960120" y="2212848"/>
            <a:ext cx="45720" cy="4572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1033272" y="2148840"/>
            <a:ext cx="13871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Backlog Grooming</a:t>
            </a:r>
          </a:p>
        </p:txBody>
      </p:sp>
      <p:sp>
        <p:nvSpPr>
          <p:cNvPr id="98" name="Rectangle 97"/>
          <p:cNvSpPr/>
          <p:nvPr/>
        </p:nvSpPr>
        <p:spPr>
          <a:xfrm>
            <a:off x="960120" y="2450592"/>
            <a:ext cx="45720" cy="4572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1033272" y="2386584"/>
            <a:ext cx="13871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Sprint Planning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2566720" y="1975104"/>
            <a:ext cx="45720" cy="4572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2639872" y="1911096"/>
            <a:ext cx="13871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System Design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2566720" y="2212848"/>
            <a:ext cx="45720" cy="4572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2639872" y="2148840"/>
            <a:ext cx="13871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UI/UX Wireframes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2566720" y="2450592"/>
            <a:ext cx="45720" cy="4572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2639872" y="2386584"/>
            <a:ext cx="13871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Tech Spikes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173320" y="1975104"/>
            <a:ext cx="45720" cy="4572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4246472" y="1911096"/>
            <a:ext cx="13871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Feature Coding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4173320" y="2212848"/>
            <a:ext cx="45720" cy="4572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4246472" y="2148840"/>
            <a:ext cx="13871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Code Review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173320" y="2450592"/>
            <a:ext cx="45720" cy="4572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4246472" y="2386584"/>
            <a:ext cx="13871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PR Management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5779920" y="1975104"/>
            <a:ext cx="45720" cy="4572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5853072" y="1911096"/>
            <a:ext cx="13871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Build Automation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5779920" y="2212848"/>
            <a:ext cx="45720" cy="4572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5853072" y="2148840"/>
            <a:ext cx="13871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Unit Testing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5779920" y="2450592"/>
            <a:ext cx="45720" cy="4572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5853072" y="2386584"/>
            <a:ext cx="13871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Code Quality Scan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7386520" y="1975104"/>
            <a:ext cx="45720" cy="4572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7459672" y="1911096"/>
            <a:ext cx="13871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Integration Testing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7386520" y="2212848"/>
            <a:ext cx="45720" cy="4572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7459672" y="2148840"/>
            <a:ext cx="13871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UAT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7386520" y="2450592"/>
            <a:ext cx="45720" cy="4572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TextBox 122"/>
          <p:cNvSpPr txBox="1"/>
          <p:nvPr/>
        </p:nvSpPr>
        <p:spPr>
          <a:xfrm>
            <a:off x="7459672" y="2386584"/>
            <a:ext cx="13871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Regression Testing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8993120" y="1975104"/>
            <a:ext cx="45720" cy="4572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TextBox 124"/>
          <p:cNvSpPr txBox="1"/>
          <p:nvPr/>
        </p:nvSpPr>
        <p:spPr>
          <a:xfrm>
            <a:off x="9066272" y="1911096"/>
            <a:ext cx="13871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Release Gate Review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8993120" y="2212848"/>
            <a:ext cx="45720" cy="4572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TextBox 126"/>
          <p:cNvSpPr txBox="1"/>
          <p:nvPr/>
        </p:nvSpPr>
        <p:spPr>
          <a:xfrm>
            <a:off x="9066272" y="2148840"/>
            <a:ext cx="13871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Deployment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8993120" y="2450592"/>
            <a:ext cx="45720" cy="4572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TextBox 128"/>
          <p:cNvSpPr txBox="1"/>
          <p:nvPr/>
        </p:nvSpPr>
        <p:spPr>
          <a:xfrm>
            <a:off x="9066272" y="2386584"/>
            <a:ext cx="13871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Change Approval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10599720" y="1975104"/>
            <a:ext cx="45720" cy="4572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TextBox 130"/>
          <p:cNvSpPr txBox="1"/>
          <p:nvPr/>
        </p:nvSpPr>
        <p:spPr>
          <a:xfrm>
            <a:off x="10672872" y="1911096"/>
            <a:ext cx="13871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System Monitoring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10599720" y="2212848"/>
            <a:ext cx="45720" cy="4572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TextBox 132"/>
          <p:cNvSpPr txBox="1"/>
          <p:nvPr/>
        </p:nvSpPr>
        <p:spPr>
          <a:xfrm>
            <a:off x="10672872" y="2148840"/>
            <a:ext cx="13871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Incident Response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10599720" y="2450592"/>
            <a:ext cx="45720" cy="4572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TextBox 134"/>
          <p:cNvSpPr txBox="1"/>
          <p:nvPr/>
        </p:nvSpPr>
        <p:spPr>
          <a:xfrm>
            <a:off x="10672872" y="2386584"/>
            <a:ext cx="13871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Compliance Review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128016" y="2633472"/>
            <a:ext cx="11932920" cy="1828800"/>
          </a:xfrm>
          <a:prstGeom prst="rect">
            <a:avLst/>
          </a:prstGeom>
          <a:solidFill>
            <a:srgbClr val="ECFDF3"/>
          </a:solidFill>
          <a:ln w="635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Rectangle 136"/>
          <p:cNvSpPr/>
          <p:nvPr/>
        </p:nvSpPr>
        <p:spPr>
          <a:xfrm>
            <a:off x="2484424" y="2633472"/>
            <a:ext cx="13716" cy="1828800"/>
          </a:xfrm>
          <a:prstGeom prst="rect">
            <a:avLst/>
          </a:prstGeom>
          <a:solidFill>
            <a:srgbClr val="C5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Rectangle 137"/>
          <p:cNvSpPr/>
          <p:nvPr/>
        </p:nvSpPr>
        <p:spPr>
          <a:xfrm>
            <a:off x="4091024" y="2633472"/>
            <a:ext cx="13716" cy="1828800"/>
          </a:xfrm>
          <a:prstGeom prst="rect">
            <a:avLst/>
          </a:prstGeom>
          <a:solidFill>
            <a:srgbClr val="C5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Rectangle 138"/>
          <p:cNvSpPr/>
          <p:nvPr/>
        </p:nvSpPr>
        <p:spPr>
          <a:xfrm>
            <a:off x="5697624" y="2633472"/>
            <a:ext cx="13716" cy="1828800"/>
          </a:xfrm>
          <a:prstGeom prst="rect">
            <a:avLst/>
          </a:prstGeom>
          <a:solidFill>
            <a:srgbClr val="C5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Rectangle 139"/>
          <p:cNvSpPr/>
          <p:nvPr/>
        </p:nvSpPr>
        <p:spPr>
          <a:xfrm>
            <a:off x="7304224" y="2633472"/>
            <a:ext cx="13716" cy="1828800"/>
          </a:xfrm>
          <a:prstGeom prst="rect">
            <a:avLst/>
          </a:prstGeom>
          <a:solidFill>
            <a:srgbClr val="C5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Rectangle 140"/>
          <p:cNvSpPr/>
          <p:nvPr/>
        </p:nvSpPr>
        <p:spPr>
          <a:xfrm>
            <a:off x="8910824" y="2633472"/>
            <a:ext cx="13716" cy="1828800"/>
          </a:xfrm>
          <a:prstGeom prst="rect">
            <a:avLst/>
          </a:prstGeom>
          <a:solidFill>
            <a:srgbClr val="C5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Rectangle 141"/>
          <p:cNvSpPr/>
          <p:nvPr/>
        </p:nvSpPr>
        <p:spPr>
          <a:xfrm>
            <a:off x="10517424" y="2633472"/>
            <a:ext cx="13716" cy="1828800"/>
          </a:xfrm>
          <a:prstGeom prst="rect">
            <a:avLst/>
          </a:prstGeom>
          <a:solidFill>
            <a:srgbClr val="C5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Rectangle 142"/>
          <p:cNvSpPr/>
          <p:nvPr/>
        </p:nvSpPr>
        <p:spPr>
          <a:xfrm>
            <a:off x="128016" y="2633472"/>
            <a:ext cx="749808" cy="1828800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TextBox 143"/>
          <p:cNvSpPr txBox="1"/>
          <p:nvPr/>
        </p:nvSpPr>
        <p:spPr>
          <a:xfrm>
            <a:off x="164592" y="2670048"/>
            <a:ext cx="694944" cy="1773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AI
SYSTEMS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941832" y="2688336"/>
            <a:ext cx="1478584" cy="457200"/>
          </a:xfrm>
          <a:prstGeom prst="rect">
            <a:avLst/>
          </a:prstGeom>
          <a:solidFill>
            <a:srgbClr val="D1FAEA"/>
          </a:solidFill>
          <a:ln w="5080">
            <a:solidFill>
              <a:srgbClr val="B8E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Rectangle 145"/>
          <p:cNvSpPr/>
          <p:nvPr/>
        </p:nvSpPr>
        <p:spPr>
          <a:xfrm>
            <a:off x="941832" y="2688336"/>
            <a:ext cx="1478584" cy="146304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TextBox 146"/>
          <p:cNvSpPr txBox="1"/>
          <p:nvPr/>
        </p:nvSpPr>
        <p:spPr>
          <a:xfrm>
            <a:off x="960120" y="2706624"/>
            <a:ext cx="45720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 i="0">
                <a:solidFill>
                  <a:srgbClr val="FFFFFF"/>
                </a:solidFill>
              </a:rPr>
              <a:t>AUTO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978408" y="2843784"/>
            <a:ext cx="1423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57A55"/>
                </a:solidFill>
              </a:rPr>
              <a:t>Smart Backlog Agent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941832" y="3182112"/>
            <a:ext cx="1478584" cy="457200"/>
          </a:xfrm>
          <a:prstGeom prst="rect">
            <a:avLst/>
          </a:prstGeom>
          <a:solidFill>
            <a:srgbClr val="DBEAFE"/>
          </a:solidFill>
          <a:ln w="5080">
            <a:solidFill>
              <a:srgbClr val="C2D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Rectangle 149"/>
          <p:cNvSpPr/>
          <p:nvPr/>
        </p:nvSpPr>
        <p:spPr>
          <a:xfrm>
            <a:off x="941832" y="3182112"/>
            <a:ext cx="1478584" cy="146304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TextBox 150"/>
          <p:cNvSpPr txBox="1"/>
          <p:nvPr/>
        </p:nvSpPr>
        <p:spPr>
          <a:xfrm>
            <a:off x="960120" y="3200400"/>
            <a:ext cx="45720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 i="0">
                <a:solidFill>
                  <a:srgbClr val="FFFFFF"/>
                </a:solidFill>
              </a:rPr>
              <a:t>ASSIST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978408" y="3337560"/>
            <a:ext cx="1423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0048"/>
                </a:solidFill>
              </a:rPr>
              <a:t>USB Docs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2548432" y="2688336"/>
            <a:ext cx="1478584" cy="457200"/>
          </a:xfrm>
          <a:prstGeom prst="rect">
            <a:avLst/>
          </a:prstGeom>
          <a:solidFill>
            <a:srgbClr val="D1FAEA"/>
          </a:solidFill>
          <a:ln w="5080">
            <a:solidFill>
              <a:srgbClr val="B8E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Rectangle 153"/>
          <p:cNvSpPr/>
          <p:nvPr/>
        </p:nvSpPr>
        <p:spPr>
          <a:xfrm>
            <a:off x="2548432" y="2688336"/>
            <a:ext cx="1478584" cy="146304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TextBox 154"/>
          <p:cNvSpPr txBox="1"/>
          <p:nvPr/>
        </p:nvSpPr>
        <p:spPr>
          <a:xfrm>
            <a:off x="2566720" y="2706624"/>
            <a:ext cx="45720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 i="0">
                <a:solidFill>
                  <a:srgbClr val="FFFFFF"/>
                </a:solidFill>
              </a:rPr>
              <a:t>AUTO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2585008" y="2843784"/>
            <a:ext cx="1423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57A55"/>
                </a:solidFill>
              </a:rPr>
              <a:t>UX Design Agent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2548432" y="3182112"/>
            <a:ext cx="1478584" cy="457200"/>
          </a:xfrm>
          <a:prstGeom prst="rect">
            <a:avLst/>
          </a:prstGeom>
          <a:solidFill>
            <a:srgbClr val="D1FAEA"/>
          </a:solidFill>
          <a:ln w="5080">
            <a:solidFill>
              <a:srgbClr val="B8E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Rectangle 157"/>
          <p:cNvSpPr/>
          <p:nvPr/>
        </p:nvSpPr>
        <p:spPr>
          <a:xfrm>
            <a:off x="2548432" y="3182112"/>
            <a:ext cx="1478584" cy="146304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TextBox 158"/>
          <p:cNvSpPr txBox="1"/>
          <p:nvPr/>
        </p:nvSpPr>
        <p:spPr>
          <a:xfrm>
            <a:off x="2566720" y="3200400"/>
            <a:ext cx="45720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 i="0">
                <a:solidFill>
                  <a:srgbClr val="FFFFFF"/>
                </a:solidFill>
              </a:rPr>
              <a:t>AUTO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2585008" y="3337560"/>
            <a:ext cx="1423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57A55"/>
                </a:solidFill>
              </a:rPr>
              <a:t>Design Review Agent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4155032" y="2688336"/>
            <a:ext cx="1478584" cy="457200"/>
          </a:xfrm>
          <a:prstGeom prst="rect">
            <a:avLst/>
          </a:prstGeom>
          <a:solidFill>
            <a:srgbClr val="D1FAEA"/>
          </a:solidFill>
          <a:ln w="5080">
            <a:solidFill>
              <a:srgbClr val="B8E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Rectangle 161"/>
          <p:cNvSpPr/>
          <p:nvPr/>
        </p:nvSpPr>
        <p:spPr>
          <a:xfrm>
            <a:off x="4155032" y="2688336"/>
            <a:ext cx="1478584" cy="146304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TextBox 162"/>
          <p:cNvSpPr txBox="1"/>
          <p:nvPr/>
        </p:nvSpPr>
        <p:spPr>
          <a:xfrm>
            <a:off x="4173320" y="2706624"/>
            <a:ext cx="45720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 i="0">
                <a:solidFill>
                  <a:srgbClr val="FFFFFF"/>
                </a:solidFill>
              </a:rPr>
              <a:t>AUTO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4191608" y="2843784"/>
            <a:ext cx="1423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57A55"/>
                </a:solidFill>
              </a:rPr>
              <a:t>CodeGen Agent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4155032" y="3182112"/>
            <a:ext cx="1478584" cy="457200"/>
          </a:xfrm>
          <a:prstGeom prst="rect">
            <a:avLst/>
          </a:prstGeom>
          <a:solidFill>
            <a:srgbClr val="D1FAEA"/>
          </a:solidFill>
          <a:ln w="5080">
            <a:solidFill>
              <a:srgbClr val="B8E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Rectangle 165"/>
          <p:cNvSpPr/>
          <p:nvPr/>
        </p:nvSpPr>
        <p:spPr>
          <a:xfrm>
            <a:off x="4155032" y="3182112"/>
            <a:ext cx="1478584" cy="146304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7" name="TextBox 166"/>
          <p:cNvSpPr txBox="1"/>
          <p:nvPr/>
        </p:nvSpPr>
        <p:spPr>
          <a:xfrm>
            <a:off x="4173320" y="3200400"/>
            <a:ext cx="45720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 i="0">
                <a:solidFill>
                  <a:srgbClr val="FFFFFF"/>
                </a:solidFill>
              </a:rPr>
              <a:t>AUTO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4191608" y="3337560"/>
            <a:ext cx="1423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57A55"/>
                </a:solidFill>
              </a:rPr>
              <a:t>Code Review Agent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4155032" y="3675888"/>
            <a:ext cx="1478584" cy="457200"/>
          </a:xfrm>
          <a:prstGeom prst="rect">
            <a:avLst/>
          </a:prstGeom>
          <a:solidFill>
            <a:srgbClr val="DBEAFE"/>
          </a:solidFill>
          <a:ln w="5080">
            <a:solidFill>
              <a:srgbClr val="C2D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0" name="Rectangle 169"/>
          <p:cNvSpPr/>
          <p:nvPr/>
        </p:nvSpPr>
        <p:spPr>
          <a:xfrm>
            <a:off x="4155032" y="3675888"/>
            <a:ext cx="1478584" cy="146304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1" name="TextBox 170"/>
          <p:cNvSpPr txBox="1"/>
          <p:nvPr/>
        </p:nvSpPr>
        <p:spPr>
          <a:xfrm>
            <a:off x="4173320" y="3694176"/>
            <a:ext cx="45720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 i="0">
                <a:solidFill>
                  <a:srgbClr val="FFFFFF"/>
                </a:solidFill>
              </a:rPr>
              <a:t>ASSIST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4191608" y="3831336"/>
            <a:ext cx="1423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0048"/>
                </a:solidFill>
              </a:rPr>
              <a:t>Prompt Library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5761632" y="2688336"/>
            <a:ext cx="1478584" cy="457200"/>
          </a:xfrm>
          <a:prstGeom prst="rect">
            <a:avLst/>
          </a:prstGeom>
          <a:solidFill>
            <a:srgbClr val="D1FAEA"/>
          </a:solidFill>
          <a:ln w="5080">
            <a:solidFill>
              <a:srgbClr val="B8E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Rectangle 173"/>
          <p:cNvSpPr/>
          <p:nvPr/>
        </p:nvSpPr>
        <p:spPr>
          <a:xfrm>
            <a:off x="5761632" y="2688336"/>
            <a:ext cx="1478584" cy="146304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" name="TextBox 174"/>
          <p:cNvSpPr txBox="1"/>
          <p:nvPr/>
        </p:nvSpPr>
        <p:spPr>
          <a:xfrm>
            <a:off x="5779920" y="2706624"/>
            <a:ext cx="45720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 i="0">
                <a:solidFill>
                  <a:srgbClr val="FFFFFF"/>
                </a:solidFill>
              </a:rPr>
              <a:t>AUTO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5798208" y="2843784"/>
            <a:ext cx="1423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57A55"/>
                </a:solidFill>
              </a:rPr>
              <a:t>Pipeline Agent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7368232" y="2688336"/>
            <a:ext cx="1478584" cy="457200"/>
          </a:xfrm>
          <a:prstGeom prst="rect">
            <a:avLst/>
          </a:prstGeom>
          <a:solidFill>
            <a:srgbClr val="D1FAEA"/>
          </a:solidFill>
          <a:ln w="5080">
            <a:solidFill>
              <a:srgbClr val="B8E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8" name="Rectangle 177"/>
          <p:cNvSpPr/>
          <p:nvPr/>
        </p:nvSpPr>
        <p:spPr>
          <a:xfrm>
            <a:off x="7368232" y="2688336"/>
            <a:ext cx="1478584" cy="146304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9" name="TextBox 178"/>
          <p:cNvSpPr txBox="1"/>
          <p:nvPr/>
        </p:nvSpPr>
        <p:spPr>
          <a:xfrm>
            <a:off x="7386520" y="2706624"/>
            <a:ext cx="45720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 i="0">
                <a:solidFill>
                  <a:srgbClr val="FFFFFF"/>
                </a:solidFill>
              </a:rPr>
              <a:t>AUTO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7404808" y="2843784"/>
            <a:ext cx="1423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57A55"/>
                </a:solidFill>
              </a:rPr>
              <a:t>QA Orchestrator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7368232" y="3182112"/>
            <a:ext cx="1478584" cy="457200"/>
          </a:xfrm>
          <a:prstGeom prst="rect">
            <a:avLst/>
          </a:prstGeom>
          <a:solidFill>
            <a:srgbClr val="D1FAEA"/>
          </a:solidFill>
          <a:ln w="5080">
            <a:solidFill>
              <a:srgbClr val="B8E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2" name="Rectangle 181"/>
          <p:cNvSpPr/>
          <p:nvPr/>
        </p:nvSpPr>
        <p:spPr>
          <a:xfrm>
            <a:off x="7368232" y="3182112"/>
            <a:ext cx="1478584" cy="146304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3" name="TextBox 182"/>
          <p:cNvSpPr txBox="1"/>
          <p:nvPr/>
        </p:nvSpPr>
        <p:spPr>
          <a:xfrm>
            <a:off x="7386520" y="3200400"/>
            <a:ext cx="45720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 i="0">
                <a:solidFill>
                  <a:srgbClr val="FFFFFF"/>
                </a:solidFill>
              </a:rPr>
              <a:t>AUTO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7404808" y="3337560"/>
            <a:ext cx="1423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57A55"/>
                </a:solidFill>
              </a:rPr>
              <a:t>Playwright Agent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7368232" y="3675888"/>
            <a:ext cx="1478584" cy="457200"/>
          </a:xfrm>
          <a:prstGeom prst="rect">
            <a:avLst/>
          </a:prstGeom>
          <a:solidFill>
            <a:srgbClr val="DBEAFE"/>
          </a:solidFill>
          <a:ln w="5080">
            <a:solidFill>
              <a:srgbClr val="C2D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6" name="Rectangle 185"/>
          <p:cNvSpPr/>
          <p:nvPr/>
        </p:nvSpPr>
        <p:spPr>
          <a:xfrm>
            <a:off x="7368232" y="3675888"/>
            <a:ext cx="1478584" cy="146304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7" name="TextBox 186"/>
          <p:cNvSpPr txBox="1"/>
          <p:nvPr/>
        </p:nvSpPr>
        <p:spPr>
          <a:xfrm>
            <a:off x="7386520" y="3694176"/>
            <a:ext cx="45720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 i="0">
                <a:solidFill>
                  <a:srgbClr val="FFFFFF"/>
                </a:solidFill>
              </a:rPr>
              <a:t>ASSIST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7404808" y="3831336"/>
            <a:ext cx="1423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0048"/>
                </a:solidFill>
              </a:rPr>
              <a:t>Smart Tester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8974832" y="2688336"/>
            <a:ext cx="1478584" cy="457200"/>
          </a:xfrm>
          <a:prstGeom prst="rect">
            <a:avLst/>
          </a:prstGeom>
          <a:solidFill>
            <a:srgbClr val="D1FAEA"/>
          </a:solidFill>
          <a:ln w="5080">
            <a:solidFill>
              <a:srgbClr val="B8E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0" name="Rectangle 189"/>
          <p:cNvSpPr/>
          <p:nvPr/>
        </p:nvSpPr>
        <p:spPr>
          <a:xfrm>
            <a:off x="8974832" y="2688336"/>
            <a:ext cx="1478584" cy="146304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1" name="TextBox 190"/>
          <p:cNvSpPr txBox="1"/>
          <p:nvPr/>
        </p:nvSpPr>
        <p:spPr>
          <a:xfrm>
            <a:off x="8993120" y="2706624"/>
            <a:ext cx="45720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 i="0">
                <a:solidFill>
                  <a:srgbClr val="FFFFFF"/>
                </a:solidFill>
              </a:rPr>
              <a:t>AUTO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9011408" y="2843784"/>
            <a:ext cx="1423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57A55"/>
                </a:solidFill>
              </a:rPr>
              <a:t>Release Manager Agent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8974832" y="3182112"/>
            <a:ext cx="1478584" cy="457200"/>
          </a:xfrm>
          <a:prstGeom prst="rect">
            <a:avLst/>
          </a:prstGeom>
          <a:solidFill>
            <a:srgbClr val="DBEAFE"/>
          </a:solidFill>
          <a:ln w="5080">
            <a:solidFill>
              <a:srgbClr val="C2D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4" name="Rectangle 193"/>
          <p:cNvSpPr/>
          <p:nvPr/>
        </p:nvSpPr>
        <p:spPr>
          <a:xfrm>
            <a:off x="8974832" y="3182112"/>
            <a:ext cx="1478584" cy="146304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5" name="TextBox 194"/>
          <p:cNvSpPr txBox="1"/>
          <p:nvPr/>
        </p:nvSpPr>
        <p:spPr>
          <a:xfrm>
            <a:off x="8993120" y="3200400"/>
            <a:ext cx="45720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 i="0">
                <a:solidFill>
                  <a:srgbClr val="FFFFFF"/>
                </a:solidFill>
              </a:rPr>
              <a:t>ASSIST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9011408" y="3337560"/>
            <a:ext cx="1423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0048"/>
                </a:solidFill>
              </a:rPr>
              <a:t>RenovateBot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10581432" y="2688336"/>
            <a:ext cx="1478584" cy="457200"/>
          </a:xfrm>
          <a:prstGeom prst="rect">
            <a:avLst/>
          </a:prstGeom>
          <a:solidFill>
            <a:srgbClr val="D1FAEA"/>
          </a:solidFill>
          <a:ln w="5080">
            <a:solidFill>
              <a:srgbClr val="B8E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8" name="Rectangle 197"/>
          <p:cNvSpPr/>
          <p:nvPr/>
        </p:nvSpPr>
        <p:spPr>
          <a:xfrm>
            <a:off x="10581432" y="2688336"/>
            <a:ext cx="1478584" cy="146304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9" name="TextBox 198"/>
          <p:cNvSpPr txBox="1"/>
          <p:nvPr/>
        </p:nvSpPr>
        <p:spPr>
          <a:xfrm>
            <a:off x="10599720" y="2706624"/>
            <a:ext cx="45720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 i="0">
                <a:solidFill>
                  <a:srgbClr val="FFFFFF"/>
                </a:solidFill>
              </a:rPr>
              <a:t>AUTO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10618008" y="2843784"/>
            <a:ext cx="1423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57A55"/>
                </a:solidFill>
              </a:rPr>
              <a:t>Risk &amp; Compliance Agt</a:t>
            </a:r>
          </a:p>
        </p:txBody>
      </p:sp>
      <p:sp>
        <p:nvSpPr>
          <p:cNvPr id="201" name="Rectangle 200"/>
          <p:cNvSpPr/>
          <p:nvPr/>
        </p:nvSpPr>
        <p:spPr>
          <a:xfrm>
            <a:off x="128016" y="4462272"/>
            <a:ext cx="11932920" cy="749808"/>
          </a:xfrm>
          <a:prstGeom prst="rect">
            <a:avLst/>
          </a:prstGeom>
          <a:solidFill>
            <a:srgbClr val="F8F8FC"/>
          </a:solidFill>
          <a:ln w="635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2" name="Rectangle 201"/>
          <p:cNvSpPr/>
          <p:nvPr/>
        </p:nvSpPr>
        <p:spPr>
          <a:xfrm>
            <a:off x="2484424" y="4462272"/>
            <a:ext cx="13716" cy="749808"/>
          </a:xfrm>
          <a:prstGeom prst="rect">
            <a:avLst/>
          </a:prstGeom>
          <a:solidFill>
            <a:srgbClr val="C5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3" name="Rectangle 202"/>
          <p:cNvSpPr/>
          <p:nvPr/>
        </p:nvSpPr>
        <p:spPr>
          <a:xfrm>
            <a:off x="4091024" y="4462272"/>
            <a:ext cx="13716" cy="749808"/>
          </a:xfrm>
          <a:prstGeom prst="rect">
            <a:avLst/>
          </a:prstGeom>
          <a:solidFill>
            <a:srgbClr val="C5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4" name="Rectangle 203"/>
          <p:cNvSpPr/>
          <p:nvPr/>
        </p:nvSpPr>
        <p:spPr>
          <a:xfrm>
            <a:off x="5697624" y="4462272"/>
            <a:ext cx="13716" cy="749808"/>
          </a:xfrm>
          <a:prstGeom prst="rect">
            <a:avLst/>
          </a:prstGeom>
          <a:solidFill>
            <a:srgbClr val="C5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5" name="Rectangle 204"/>
          <p:cNvSpPr/>
          <p:nvPr/>
        </p:nvSpPr>
        <p:spPr>
          <a:xfrm>
            <a:off x="7304224" y="4462272"/>
            <a:ext cx="13716" cy="749808"/>
          </a:xfrm>
          <a:prstGeom prst="rect">
            <a:avLst/>
          </a:prstGeom>
          <a:solidFill>
            <a:srgbClr val="C5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6" name="Rectangle 205"/>
          <p:cNvSpPr/>
          <p:nvPr/>
        </p:nvSpPr>
        <p:spPr>
          <a:xfrm>
            <a:off x="8910824" y="4462272"/>
            <a:ext cx="13716" cy="749808"/>
          </a:xfrm>
          <a:prstGeom prst="rect">
            <a:avLst/>
          </a:prstGeom>
          <a:solidFill>
            <a:srgbClr val="C5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7" name="Rectangle 206"/>
          <p:cNvSpPr/>
          <p:nvPr/>
        </p:nvSpPr>
        <p:spPr>
          <a:xfrm>
            <a:off x="10517424" y="4462272"/>
            <a:ext cx="13716" cy="749808"/>
          </a:xfrm>
          <a:prstGeom prst="rect">
            <a:avLst/>
          </a:prstGeom>
          <a:solidFill>
            <a:srgbClr val="C5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8" name="Rectangle 207"/>
          <p:cNvSpPr/>
          <p:nvPr/>
        </p:nvSpPr>
        <p:spPr>
          <a:xfrm>
            <a:off x="128016" y="4462272"/>
            <a:ext cx="749808" cy="749808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9" name="TextBox 208"/>
          <p:cNvSpPr txBox="1"/>
          <p:nvPr/>
        </p:nvSpPr>
        <p:spPr>
          <a:xfrm>
            <a:off x="164592" y="4498848"/>
            <a:ext cx="694944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TARGET
SYSTEMS</a:t>
            </a:r>
          </a:p>
        </p:txBody>
      </p:sp>
      <p:sp>
        <p:nvSpPr>
          <p:cNvPr id="210" name="Rectangle 209"/>
          <p:cNvSpPr/>
          <p:nvPr/>
        </p:nvSpPr>
        <p:spPr>
          <a:xfrm>
            <a:off x="941832" y="4526280"/>
            <a:ext cx="1478584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1" name="TextBox 210"/>
          <p:cNvSpPr txBox="1"/>
          <p:nvPr/>
        </p:nvSpPr>
        <p:spPr>
          <a:xfrm>
            <a:off x="996696" y="4590288"/>
            <a:ext cx="14054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Jira</a:t>
            </a:r>
          </a:p>
        </p:txBody>
      </p:sp>
      <p:sp>
        <p:nvSpPr>
          <p:cNvPr id="212" name="Rectangle 211"/>
          <p:cNvSpPr/>
          <p:nvPr/>
        </p:nvSpPr>
        <p:spPr>
          <a:xfrm>
            <a:off x="941832" y="4855464"/>
            <a:ext cx="1478584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3" name="TextBox 212"/>
          <p:cNvSpPr txBox="1"/>
          <p:nvPr/>
        </p:nvSpPr>
        <p:spPr>
          <a:xfrm>
            <a:off x="996696" y="4919472"/>
            <a:ext cx="14054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Confluence</a:t>
            </a:r>
          </a:p>
        </p:txBody>
      </p:sp>
      <p:sp>
        <p:nvSpPr>
          <p:cNvPr id="214" name="Rectangle 213"/>
          <p:cNvSpPr/>
          <p:nvPr/>
        </p:nvSpPr>
        <p:spPr>
          <a:xfrm>
            <a:off x="2548432" y="4526280"/>
            <a:ext cx="1478584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5" name="TextBox 214"/>
          <p:cNvSpPr txBox="1"/>
          <p:nvPr/>
        </p:nvSpPr>
        <p:spPr>
          <a:xfrm>
            <a:off x="2603296" y="4590288"/>
            <a:ext cx="14054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Figma</a:t>
            </a:r>
          </a:p>
        </p:txBody>
      </p:sp>
      <p:sp>
        <p:nvSpPr>
          <p:cNvPr id="216" name="Rectangle 215"/>
          <p:cNvSpPr/>
          <p:nvPr/>
        </p:nvSpPr>
        <p:spPr>
          <a:xfrm>
            <a:off x="2548432" y="4855464"/>
            <a:ext cx="1478584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7" name="TextBox 216"/>
          <p:cNvSpPr txBox="1"/>
          <p:nvPr/>
        </p:nvSpPr>
        <p:spPr>
          <a:xfrm>
            <a:off x="2603296" y="4919472"/>
            <a:ext cx="14054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ShieldDocs</a:t>
            </a:r>
          </a:p>
        </p:txBody>
      </p:sp>
      <p:sp>
        <p:nvSpPr>
          <p:cNvPr id="218" name="Rectangle 217"/>
          <p:cNvSpPr/>
          <p:nvPr/>
        </p:nvSpPr>
        <p:spPr>
          <a:xfrm>
            <a:off x="4155032" y="4526280"/>
            <a:ext cx="1478584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9" name="TextBox 218"/>
          <p:cNvSpPr txBox="1"/>
          <p:nvPr/>
        </p:nvSpPr>
        <p:spPr>
          <a:xfrm>
            <a:off x="4209896" y="4590288"/>
            <a:ext cx="14054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GitLab</a:t>
            </a:r>
          </a:p>
        </p:txBody>
      </p:sp>
      <p:sp>
        <p:nvSpPr>
          <p:cNvPr id="220" name="Rectangle 219"/>
          <p:cNvSpPr/>
          <p:nvPr/>
        </p:nvSpPr>
        <p:spPr>
          <a:xfrm>
            <a:off x="4155032" y="4855464"/>
            <a:ext cx="1478584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1" name="TextBox 220"/>
          <p:cNvSpPr txBox="1"/>
          <p:nvPr/>
        </p:nvSpPr>
        <p:spPr>
          <a:xfrm>
            <a:off x="4209896" y="4919472"/>
            <a:ext cx="14054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Shield UI</a:t>
            </a:r>
          </a:p>
        </p:txBody>
      </p:sp>
      <p:sp>
        <p:nvSpPr>
          <p:cNvPr id="222" name="Rectangle 221"/>
          <p:cNvSpPr/>
          <p:nvPr/>
        </p:nvSpPr>
        <p:spPr>
          <a:xfrm>
            <a:off x="5761632" y="4526280"/>
            <a:ext cx="1478584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3" name="TextBox 222"/>
          <p:cNvSpPr txBox="1"/>
          <p:nvPr/>
        </p:nvSpPr>
        <p:spPr>
          <a:xfrm>
            <a:off x="5816496" y="4590288"/>
            <a:ext cx="14054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PipelineCli</a:t>
            </a:r>
          </a:p>
        </p:txBody>
      </p:sp>
      <p:sp>
        <p:nvSpPr>
          <p:cNvPr id="224" name="Rectangle 223"/>
          <p:cNvSpPr/>
          <p:nvPr/>
        </p:nvSpPr>
        <p:spPr>
          <a:xfrm>
            <a:off x="5761632" y="4855464"/>
            <a:ext cx="1478584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5" name="TextBox 224"/>
          <p:cNvSpPr txBox="1"/>
          <p:nvPr/>
        </p:nvSpPr>
        <p:spPr>
          <a:xfrm>
            <a:off x="5816496" y="4919472"/>
            <a:ext cx="14054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DevContainers</a:t>
            </a:r>
          </a:p>
        </p:txBody>
      </p:sp>
      <p:sp>
        <p:nvSpPr>
          <p:cNvPr id="226" name="Rectangle 225"/>
          <p:cNvSpPr/>
          <p:nvPr/>
        </p:nvSpPr>
        <p:spPr>
          <a:xfrm>
            <a:off x="7368232" y="4526280"/>
            <a:ext cx="1478584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7" name="TextBox 226"/>
          <p:cNvSpPr txBox="1"/>
          <p:nvPr/>
        </p:nvSpPr>
        <p:spPr>
          <a:xfrm>
            <a:off x="7423096" y="4590288"/>
            <a:ext cx="14054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PractiTest</a:t>
            </a:r>
          </a:p>
        </p:txBody>
      </p:sp>
      <p:sp>
        <p:nvSpPr>
          <p:cNvPr id="228" name="Rectangle 227"/>
          <p:cNvSpPr/>
          <p:nvPr/>
        </p:nvSpPr>
        <p:spPr>
          <a:xfrm>
            <a:off x="7368232" y="4855464"/>
            <a:ext cx="1478584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9" name="TextBox 228"/>
          <p:cNvSpPr txBox="1"/>
          <p:nvPr/>
        </p:nvSpPr>
        <p:spPr>
          <a:xfrm>
            <a:off x="7423096" y="4919472"/>
            <a:ext cx="14054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BrowserStack</a:t>
            </a:r>
          </a:p>
        </p:txBody>
      </p:sp>
      <p:sp>
        <p:nvSpPr>
          <p:cNvPr id="230" name="Rectangle 229"/>
          <p:cNvSpPr/>
          <p:nvPr/>
        </p:nvSpPr>
        <p:spPr>
          <a:xfrm>
            <a:off x="8974832" y="4526280"/>
            <a:ext cx="1478584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1" name="TextBox 230"/>
          <p:cNvSpPr txBox="1"/>
          <p:nvPr/>
        </p:nvSpPr>
        <p:spPr>
          <a:xfrm>
            <a:off x="9029696" y="4590288"/>
            <a:ext cx="14054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AppSec</a:t>
            </a:r>
          </a:p>
        </p:txBody>
      </p:sp>
      <p:sp>
        <p:nvSpPr>
          <p:cNvPr id="232" name="Rectangle 231"/>
          <p:cNvSpPr/>
          <p:nvPr/>
        </p:nvSpPr>
        <p:spPr>
          <a:xfrm>
            <a:off x="8974832" y="4855464"/>
            <a:ext cx="1478584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3" name="TextBox 232"/>
          <p:cNvSpPr txBox="1"/>
          <p:nvPr/>
        </p:nvSpPr>
        <p:spPr>
          <a:xfrm>
            <a:off x="9029696" y="4919472"/>
            <a:ext cx="14054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CloudBees</a:t>
            </a:r>
          </a:p>
        </p:txBody>
      </p:sp>
      <p:sp>
        <p:nvSpPr>
          <p:cNvPr id="234" name="Rectangle 233"/>
          <p:cNvSpPr/>
          <p:nvPr/>
        </p:nvSpPr>
        <p:spPr>
          <a:xfrm>
            <a:off x="10581432" y="4526280"/>
            <a:ext cx="1478584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5" name="TextBox 234"/>
          <p:cNvSpPr txBox="1"/>
          <p:nvPr/>
        </p:nvSpPr>
        <p:spPr>
          <a:xfrm>
            <a:off x="10636296" y="4590288"/>
            <a:ext cx="14054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Archer</a:t>
            </a:r>
          </a:p>
        </p:txBody>
      </p:sp>
      <p:sp>
        <p:nvSpPr>
          <p:cNvPr id="236" name="Rectangle 235"/>
          <p:cNvSpPr/>
          <p:nvPr/>
        </p:nvSpPr>
        <p:spPr>
          <a:xfrm>
            <a:off x="10581432" y="4855464"/>
            <a:ext cx="1478584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7" name="TextBox 236"/>
          <p:cNvSpPr txBox="1"/>
          <p:nvPr/>
        </p:nvSpPr>
        <p:spPr>
          <a:xfrm>
            <a:off x="10636296" y="4919472"/>
            <a:ext cx="14054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Risk Database</a:t>
            </a:r>
          </a:p>
        </p:txBody>
      </p:sp>
      <p:sp>
        <p:nvSpPr>
          <p:cNvPr id="238" name="Rectangle 237"/>
          <p:cNvSpPr/>
          <p:nvPr/>
        </p:nvSpPr>
        <p:spPr>
          <a:xfrm>
            <a:off x="128016" y="5248656"/>
            <a:ext cx="11932920" cy="502920"/>
          </a:xfrm>
          <a:prstGeom prst="rect">
            <a:avLst/>
          </a:prstGeom>
          <a:solidFill>
            <a:srgbClr val="F8F9FF"/>
          </a:solidFill>
          <a:ln w="6350">
            <a:solidFill>
              <a:srgbClr val="92B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9" name="TextBox 238"/>
          <p:cNvSpPr txBox="1"/>
          <p:nvPr/>
        </p:nvSpPr>
        <p:spPr>
          <a:xfrm>
            <a:off x="201168" y="5294376"/>
            <a:ext cx="8229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0048"/>
                </a:solidFill>
              </a:rPr>
              <a:t>PLATFORMS</a:t>
            </a:r>
          </a:p>
        </p:txBody>
      </p:sp>
      <p:sp>
        <p:nvSpPr>
          <p:cNvPr id="240" name="Rectangle 239"/>
          <p:cNvSpPr/>
          <p:nvPr/>
        </p:nvSpPr>
        <p:spPr>
          <a:xfrm>
            <a:off x="1088136" y="5303520"/>
            <a:ext cx="51206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92B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1" name="Rectangle 240"/>
          <p:cNvSpPr/>
          <p:nvPr/>
        </p:nvSpPr>
        <p:spPr>
          <a:xfrm>
            <a:off x="1088136" y="5303520"/>
            <a:ext cx="5120640" cy="14630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2" name="TextBox 241"/>
          <p:cNvSpPr txBox="1"/>
          <p:nvPr/>
        </p:nvSpPr>
        <p:spPr>
          <a:xfrm>
            <a:off x="1161288" y="5312664"/>
            <a:ext cx="49377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GitHub Copilot</a:t>
            </a:r>
          </a:p>
        </p:txBody>
      </p:sp>
      <p:sp>
        <p:nvSpPr>
          <p:cNvPr id="243" name="TextBox 242"/>
          <p:cNvSpPr txBox="1"/>
          <p:nvPr/>
        </p:nvSpPr>
        <p:spPr>
          <a:xfrm>
            <a:off x="1161288" y="5458968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7280"/>
                </a:solidFill>
              </a:rPr>
              <a:t>Module: GPT, Claude, Gemini · MCP · Agents · Skills</a:t>
            </a:r>
          </a:p>
        </p:txBody>
      </p:sp>
      <p:sp>
        <p:nvSpPr>
          <p:cNvPr id="244" name="Rectangle 243"/>
          <p:cNvSpPr/>
          <p:nvPr/>
        </p:nvSpPr>
        <p:spPr>
          <a:xfrm>
            <a:off x="6391656" y="5303520"/>
            <a:ext cx="51206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92B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5" name="Rectangle 244"/>
          <p:cNvSpPr/>
          <p:nvPr/>
        </p:nvSpPr>
        <p:spPr>
          <a:xfrm>
            <a:off x="6391656" y="5303520"/>
            <a:ext cx="5120640" cy="14630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6" name="TextBox 245"/>
          <p:cNvSpPr txBox="1"/>
          <p:nvPr/>
        </p:nvSpPr>
        <p:spPr>
          <a:xfrm>
            <a:off x="6464808" y="5312664"/>
            <a:ext cx="49377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Azure Open AI</a:t>
            </a:r>
          </a:p>
        </p:txBody>
      </p:sp>
      <p:sp>
        <p:nvSpPr>
          <p:cNvPr id="247" name="TextBox 246"/>
          <p:cNvSpPr txBox="1"/>
          <p:nvPr/>
        </p:nvSpPr>
        <p:spPr>
          <a:xfrm>
            <a:off x="6464808" y="5458968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7280"/>
                </a:solidFill>
              </a:rPr>
              <a:t>Module: GPT · Services: Azure AI Search, AI Foundry, LangChain, MCP</a:t>
            </a:r>
          </a:p>
        </p:txBody>
      </p:sp>
      <p:sp>
        <p:nvSpPr>
          <p:cNvPr id="248" name="Rectangle 247"/>
          <p:cNvSpPr/>
          <p:nvPr/>
        </p:nvSpPr>
        <p:spPr>
          <a:xfrm>
            <a:off x="128016" y="5797296"/>
            <a:ext cx="11932920" cy="219456"/>
          </a:xfrm>
          <a:prstGeom prst="rect">
            <a:avLst/>
          </a:prstGeom>
          <a:solidFill>
            <a:srgbClr val="F8F9FF"/>
          </a:solidFill>
          <a:ln w="5080">
            <a:solidFill>
              <a:srgbClr val="92B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9" name="TextBox 248"/>
          <p:cNvSpPr txBox="1"/>
          <p:nvPr/>
        </p:nvSpPr>
        <p:spPr>
          <a:xfrm>
            <a:off x="201168" y="5843016"/>
            <a:ext cx="594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0048"/>
                </a:solidFill>
              </a:rPr>
              <a:t>LEGEND:</a:t>
            </a:r>
          </a:p>
        </p:txBody>
      </p:sp>
      <p:sp>
        <p:nvSpPr>
          <p:cNvPr id="250" name="Rectangle 249"/>
          <p:cNvSpPr/>
          <p:nvPr/>
        </p:nvSpPr>
        <p:spPr>
          <a:xfrm>
            <a:off x="877824" y="5843016"/>
            <a:ext cx="365760" cy="128016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1" name="TextBox 250"/>
          <p:cNvSpPr txBox="1"/>
          <p:nvPr/>
        </p:nvSpPr>
        <p:spPr>
          <a:xfrm>
            <a:off x="1298448" y="5843016"/>
            <a:ext cx="192024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AUTO = Autonomous Agent</a:t>
            </a:r>
          </a:p>
        </p:txBody>
      </p:sp>
      <p:sp>
        <p:nvSpPr>
          <p:cNvPr id="252" name="Rectangle 251"/>
          <p:cNvSpPr/>
          <p:nvPr/>
        </p:nvSpPr>
        <p:spPr>
          <a:xfrm>
            <a:off x="3255264" y="5843016"/>
            <a:ext cx="365760" cy="128016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3" name="TextBox 252"/>
          <p:cNvSpPr txBox="1"/>
          <p:nvPr/>
        </p:nvSpPr>
        <p:spPr>
          <a:xfrm>
            <a:off x="3675888" y="5843016"/>
            <a:ext cx="192024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ASSIST = Co-Pilot / Assist</a:t>
            </a:r>
          </a:p>
        </p:txBody>
      </p:sp>
      <p:sp>
        <p:nvSpPr>
          <p:cNvPr id="254" name="Rectangle 253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5" name="TextBox 254"/>
          <p:cNvSpPr txBox="1"/>
          <p:nvPr/>
        </p:nvSpPr>
        <p:spPr>
          <a:xfrm>
            <a:off x="182880" y="6665976"/>
            <a:ext cx="7315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92BBE6"/>
                </a:solidFill>
              </a:rPr>
              <a:t>© 2026 Cognizant  ·  US Bank PDLC AI Transformation  ·  Confidential</a:t>
            </a:r>
          </a:p>
        </p:txBody>
      </p:sp>
      <p:sp>
        <p:nvSpPr>
          <p:cNvPr id="256" name="TextBox 255"/>
          <p:cNvSpPr txBox="1"/>
          <p:nvPr/>
        </p:nvSpPr>
        <p:spPr>
          <a:xfrm>
            <a:off x="10515600" y="6665976"/>
            <a:ext cx="15544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92BBE6"/>
                </a:solidFill>
              </a:rPr>
              <a:t>STUMP Platform  ·  Option 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0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365760"/>
          </a:xfrm>
          <a:prstGeom prst="rect">
            <a:avLst/>
          </a:prstGeom>
          <a:solidFill>
            <a:srgbClr val="06C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01168" y="54864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PDLC System Landscape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" y="219456"/>
            <a:ext cx="64008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2BBE6"/>
                </a:solidFill>
              </a:rPr>
              <a:t>Personas  ·  PDLC Activities  ·  AI Systems  ·  Target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118872"/>
            <a:ext cx="24688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92BBE6"/>
                </a:solidFill>
              </a:rPr>
              <a:t>PDLC System Landscape  |  Generated 2026-04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365760"/>
            <a:ext cx="12188952" cy="237744"/>
          </a:xfrm>
          <a:prstGeom prst="rect">
            <a:avLst/>
          </a:prstGeom>
          <a:solidFill>
            <a:srgbClr val="035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01168" y="402336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Option C  —  AI-First  (Orchestrated Agent Pipeline)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411480"/>
            <a:ext cx="4297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1">
                <a:solidFill>
                  <a:srgbClr val="FFFFFF"/>
                </a:solidFill>
              </a:rPr>
              <a:t>22 agents orchestrate full PDLC end-to-end  ·  Humans oversee, review and approve only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77824" y="603504"/>
            <a:ext cx="11183112" cy="292608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28016" y="603504"/>
            <a:ext cx="749808" cy="292608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64592" y="676656"/>
            <a:ext cx="69494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92BBE6"/>
                </a:solidFill>
              </a:rPr>
              <a:t>PHASE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77824" y="603504"/>
            <a:ext cx="1588312" cy="292608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120" y="640080"/>
            <a:ext cx="14420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Ph1  Discovery &amp;
Planning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84424" y="603504"/>
            <a:ext cx="1588312" cy="292608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566720" y="640080"/>
            <a:ext cx="14420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Ph2  Architecture
&amp; Design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91024" y="603504"/>
            <a:ext cx="1588312" cy="292608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173320" y="640080"/>
            <a:ext cx="14420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Ph3  Development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97624" y="603504"/>
            <a:ext cx="1588312" cy="292608"/>
          </a:xfrm>
          <a:prstGeom prst="rect">
            <a:avLst/>
          </a:prstGeom>
          <a:solidFill>
            <a:srgbClr val="0A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779920" y="640080"/>
            <a:ext cx="14420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Ph4  Build &amp;
CI/CD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04224" y="603504"/>
            <a:ext cx="1588312" cy="292608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86520" y="640080"/>
            <a:ext cx="14420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Ph5  Test &amp;
QA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10824" y="603504"/>
            <a:ext cx="1588312" cy="292608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993120" y="640080"/>
            <a:ext cx="14420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Ph6  Release &amp;
Deploy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517424" y="603504"/>
            <a:ext cx="1588312" cy="292608"/>
          </a:xfrm>
          <a:prstGeom prst="rect">
            <a:avLst/>
          </a:prstGeom>
          <a:solidFill>
            <a:srgbClr val="048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599720" y="640080"/>
            <a:ext cx="14420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Ph7  Operate &amp;
Monitor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28016" y="896112"/>
            <a:ext cx="11932920" cy="932688"/>
          </a:xfrm>
          <a:prstGeom prst="rect">
            <a:avLst/>
          </a:prstGeom>
          <a:solidFill>
            <a:srgbClr val="EBF3FD"/>
          </a:solidFill>
          <a:ln w="635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2484424" y="896112"/>
            <a:ext cx="13716" cy="932688"/>
          </a:xfrm>
          <a:prstGeom prst="rect">
            <a:avLst/>
          </a:prstGeom>
          <a:solidFill>
            <a:srgbClr val="C5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091024" y="896112"/>
            <a:ext cx="13716" cy="932688"/>
          </a:xfrm>
          <a:prstGeom prst="rect">
            <a:avLst/>
          </a:prstGeom>
          <a:solidFill>
            <a:srgbClr val="C5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697624" y="896112"/>
            <a:ext cx="13716" cy="932688"/>
          </a:xfrm>
          <a:prstGeom prst="rect">
            <a:avLst/>
          </a:prstGeom>
          <a:solidFill>
            <a:srgbClr val="C5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7304224" y="896112"/>
            <a:ext cx="13716" cy="932688"/>
          </a:xfrm>
          <a:prstGeom prst="rect">
            <a:avLst/>
          </a:prstGeom>
          <a:solidFill>
            <a:srgbClr val="C5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910824" y="896112"/>
            <a:ext cx="13716" cy="932688"/>
          </a:xfrm>
          <a:prstGeom prst="rect">
            <a:avLst/>
          </a:prstGeom>
          <a:solidFill>
            <a:srgbClr val="C5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10517424" y="896112"/>
            <a:ext cx="13716" cy="932688"/>
          </a:xfrm>
          <a:prstGeom prst="rect">
            <a:avLst/>
          </a:prstGeom>
          <a:solidFill>
            <a:srgbClr val="C5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128016" y="896112"/>
            <a:ext cx="749808" cy="932688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64592" y="932688"/>
            <a:ext cx="694944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PERSONAS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41832" y="960120"/>
            <a:ext cx="1478584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92B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941832" y="960120"/>
            <a:ext cx="1478584" cy="155448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78408" y="978408"/>
            <a:ext cx="14237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Product Manager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8408" y="1133856"/>
            <a:ext cx="1423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7280"/>
                </a:solidFill>
              </a:rPr>
              <a:t>Requirements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41832" y="1362456"/>
            <a:ext cx="1478584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92B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941832" y="1362456"/>
            <a:ext cx="1478584" cy="155448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78408" y="1380744"/>
            <a:ext cx="14237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Agilist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78408" y="1536192"/>
            <a:ext cx="1423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7280"/>
                </a:solidFill>
              </a:rPr>
              <a:t>Sprint Planning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548432" y="960120"/>
            <a:ext cx="1478584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92B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2548432" y="960120"/>
            <a:ext cx="1478584" cy="155448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2585008" y="978408"/>
            <a:ext cx="14237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Designer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585008" y="1133856"/>
            <a:ext cx="1423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7280"/>
                </a:solidFill>
              </a:rPr>
              <a:t>UI/UX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548432" y="1362456"/>
            <a:ext cx="1478584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92B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2548432" y="1362456"/>
            <a:ext cx="1478584" cy="155448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2585008" y="1380744"/>
            <a:ext cx="14237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Product Manager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585008" y="1536192"/>
            <a:ext cx="1423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7280"/>
                </a:solidFill>
              </a:rPr>
              <a:t>Sign-off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155032" y="960120"/>
            <a:ext cx="1478584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92B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4155032" y="960120"/>
            <a:ext cx="1478584" cy="155448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191608" y="978408"/>
            <a:ext cx="14237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Engineer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191608" y="1133856"/>
            <a:ext cx="1423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7280"/>
                </a:solidFill>
              </a:rPr>
              <a:t>Builds Code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761632" y="960120"/>
            <a:ext cx="1478584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92B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5761632" y="960120"/>
            <a:ext cx="1478584" cy="155448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5798208" y="978408"/>
            <a:ext cx="14237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Engineer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798208" y="1133856"/>
            <a:ext cx="1423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7280"/>
                </a:solidFill>
              </a:rPr>
              <a:t>Builds Code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368232" y="960120"/>
            <a:ext cx="1478584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92B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7368232" y="960120"/>
            <a:ext cx="1478584" cy="155448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7404808" y="978408"/>
            <a:ext cx="14237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Engineer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404808" y="1133856"/>
            <a:ext cx="1423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7280"/>
                </a:solidFill>
              </a:rPr>
              <a:t>Validates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368232" y="1362456"/>
            <a:ext cx="1478584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92B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7368232" y="1362456"/>
            <a:ext cx="1478584" cy="155448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7404808" y="1380744"/>
            <a:ext cx="14237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Agilist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404808" y="1536192"/>
            <a:ext cx="1423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7280"/>
                </a:solidFill>
              </a:rPr>
              <a:t>Acceptance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974832" y="960120"/>
            <a:ext cx="1478584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92B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8974832" y="960120"/>
            <a:ext cx="1478584" cy="155448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9011408" y="978408"/>
            <a:ext cx="14237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Engineer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011408" y="1133856"/>
            <a:ext cx="1423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7280"/>
                </a:solidFill>
              </a:rPr>
              <a:t>Deploys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974832" y="1362456"/>
            <a:ext cx="1478584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92B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8974832" y="1362456"/>
            <a:ext cx="1478584" cy="155448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9011408" y="1380744"/>
            <a:ext cx="14237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Risk Manager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011408" y="1536192"/>
            <a:ext cx="1423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7280"/>
                </a:solidFill>
              </a:rPr>
              <a:t>Approval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0581432" y="960120"/>
            <a:ext cx="1478584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92B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10581432" y="960120"/>
            <a:ext cx="1478584" cy="155448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10618008" y="978408"/>
            <a:ext cx="14237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Risk Manager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618008" y="1133856"/>
            <a:ext cx="1423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7280"/>
                </a:solidFill>
              </a:rPr>
              <a:t>Compliance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0581432" y="1362456"/>
            <a:ext cx="1478584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92B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10581432" y="1362456"/>
            <a:ext cx="1478584" cy="155448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10618008" y="1380744"/>
            <a:ext cx="14237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Engineer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618008" y="1536192"/>
            <a:ext cx="1423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7280"/>
                </a:solidFill>
              </a:rPr>
              <a:t>On-Call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28016" y="1828800"/>
            <a:ext cx="11932920" cy="804672"/>
          </a:xfrm>
          <a:prstGeom prst="rect">
            <a:avLst/>
          </a:prstGeom>
          <a:solidFill>
            <a:srgbClr val="F0F4FF"/>
          </a:solidFill>
          <a:ln w="635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Rectangle 85"/>
          <p:cNvSpPr/>
          <p:nvPr/>
        </p:nvSpPr>
        <p:spPr>
          <a:xfrm>
            <a:off x="2484424" y="1828800"/>
            <a:ext cx="13716" cy="804672"/>
          </a:xfrm>
          <a:prstGeom prst="rect">
            <a:avLst/>
          </a:prstGeom>
          <a:solidFill>
            <a:srgbClr val="C5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ectangle 86"/>
          <p:cNvSpPr/>
          <p:nvPr/>
        </p:nvSpPr>
        <p:spPr>
          <a:xfrm>
            <a:off x="4091024" y="1828800"/>
            <a:ext cx="13716" cy="804672"/>
          </a:xfrm>
          <a:prstGeom prst="rect">
            <a:avLst/>
          </a:prstGeom>
          <a:solidFill>
            <a:srgbClr val="C5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ectangle 87"/>
          <p:cNvSpPr/>
          <p:nvPr/>
        </p:nvSpPr>
        <p:spPr>
          <a:xfrm>
            <a:off x="5697624" y="1828800"/>
            <a:ext cx="13716" cy="804672"/>
          </a:xfrm>
          <a:prstGeom prst="rect">
            <a:avLst/>
          </a:prstGeom>
          <a:solidFill>
            <a:srgbClr val="C5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ectangle 88"/>
          <p:cNvSpPr/>
          <p:nvPr/>
        </p:nvSpPr>
        <p:spPr>
          <a:xfrm>
            <a:off x="7304224" y="1828800"/>
            <a:ext cx="13716" cy="804672"/>
          </a:xfrm>
          <a:prstGeom prst="rect">
            <a:avLst/>
          </a:prstGeom>
          <a:solidFill>
            <a:srgbClr val="C5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8910824" y="1828800"/>
            <a:ext cx="13716" cy="804672"/>
          </a:xfrm>
          <a:prstGeom prst="rect">
            <a:avLst/>
          </a:prstGeom>
          <a:solidFill>
            <a:srgbClr val="C5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ectangle 90"/>
          <p:cNvSpPr/>
          <p:nvPr/>
        </p:nvSpPr>
        <p:spPr>
          <a:xfrm>
            <a:off x="10517424" y="1828800"/>
            <a:ext cx="13716" cy="804672"/>
          </a:xfrm>
          <a:prstGeom prst="rect">
            <a:avLst/>
          </a:prstGeom>
          <a:solidFill>
            <a:srgbClr val="C5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Rectangle 91"/>
          <p:cNvSpPr/>
          <p:nvPr/>
        </p:nvSpPr>
        <p:spPr>
          <a:xfrm>
            <a:off x="128016" y="1828800"/>
            <a:ext cx="749808" cy="804672"/>
          </a:xfrm>
          <a:prstGeom prst="rect">
            <a:avLst/>
          </a:prstGeom>
          <a:solidFill>
            <a:srgbClr val="1D4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164592" y="1865376"/>
            <a:ext cx="694944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PDLC
ACTIVITIES</a:t>
            </a:r>
          </a:p>
        </p:txBody>
      </p:sp>
      <p:sp>
        <p:nvSpPr>
          <p:cNvPr id="94" name="Rectangle 93"/>
          <p:cNvSpPr/>
          <p:nvPr/>
        </p:nvSpPr>
        <p:spPr>
          <a:xfrm>
            <a:off x="960120" y="1975104"/>
            <a:ext cx="45720" cy="4572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1033272" y="1911096"/>
            <a:ext cx="13871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Feature Definition</a:t>
            </a:r>
          </a:p>
        </p:txBody>
      </p:sp>
      <p:sp>
        <p:nvSpPr>
          <p:cNvPr id="96" name="Rectangle 95"/>
          <p:cNvSpPr/>
          <p:nvPr/>
        </p:nvSpPr>
        <p:spPr>
          <a:xfrm>
            <a:off x="960120" y="2212848"/>
            <a:ext cx="45720" cy="4572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1033272" y="2148840"/>
            <a:ext cx="13871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Backlog Grooming</a:t>
            </a:r>
          </a:p>
        </p:txBody>
      </p:sp>
      <p:sp>
        <p:nvSpPr>
          <p:cNvPr id="98" name="Rectangle 97"/>
          <p:cNvSpPr/>
          <p:nvPr/>
        </p:nvSpPr>
        <p:spPr>
          <a:xfrm>
            <a:off x="960120" y="2450592"/>
            <a:ext cx="45720" cy="4572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1033272" y="2386584"/>
            <a:ext cx="13871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Sprint Planning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2566720" y="1975104"/>
            <a:ext cx="45720" cy="4572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2639872" y="1911096"/>
            <a:ext cx="13871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System Design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2566720" y="2212848"/>
            <a:ext cx="45720" cy="4572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2639872" y="2148840"/>
            <a:ext cx="13871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UI/UX Wireframes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2566720" y="2450592"/>
            <a:ext cx="45720" cy="4572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2639872" y="2386584"/>
            <a:ext cx="13871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Tech Spikes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173320" y="1975104"/>
            <a:ext cx="45720" cy="4572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4246472" y="1911096"/>
            <a:ext cx="13871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Feature Coding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4173320" y="2212848"/>
            <a:ext cx="45720" cy="4572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4246472" y="2148840"/>
            <a:ext cx="13871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Code Review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173320" y="2450592"/>
            <a:ext cx="45720" cy="4572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4246472" y="2386584"/>
            <a:ext cx="13871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PR Management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5779920" y="1975104"/>
            <a:ext cx="45720" cy="4572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5853072" y="1911096"/>
            <a:ext cx="13871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Build Automation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5779920" y="2212848"/>
            <a:ext cx="45720" cy="4572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5853072" y="2148840"/>
            <a:ext cx="13871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Unit Testing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5779920" y="2450592"/>
            <a:ext cx="45720" cy="4572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5853072" y="2386584"/>
            <a:ext cx="13871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Code Quality Scan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7386520" y="1975104"/>
            <a:ext cx="45720" cy="4572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7459672" y="1911096"/>
            <a:ext cx="13871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Integration Testing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7386520" y="2212848"/>
            <a:ext cx="45720" cy="4572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7459672" y="2148840"/>
            <a:ext cx="13871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UAT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7386520" y="2450592"/>
            <a:ext cx="45720" cy="4572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TextBox 122"/>
          <p:cNvSpPr txBox="1"/>
          <p:nvPr/>
        </p:nvSpPr>
        <p:spPr>
          <a:xfrm>
            <a:off x="7459672" y="2386584"/>
            <a:ext cx="13871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Regression Testing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8993120" y="1975104"/>
            <a:ext cx="45720" cy="4572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TextBox 124"/>
          <p:cNvSpPr txBox="1"/>
          <p:nvPr/>
        </p:nvSpPr>
        <p:spPr>
          <a:xfrm>
            <a:off x="9066272" y="1911096"/>
            <a:ext cx="13871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Release Gate Review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8993120" y="2212848"/>
            <a:ext cx="45720" cy="4572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TextBox 126"/>
          <p:cNvSpPr txBox="1"/>
          <p:nvPr/>
        </p:nvSpPr>
        <p:spPr>
          <a:xfrm>
            <a:off x="9066272" y="2148840"/>
            <a:ext cx="13871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Deployment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8993120" y="2450592"/>
            <a:ext cx="45720" cy="4572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TextBox 128"/>
          <p:cNvSpPr txBox="1"/>
          <p:nvPr/>
        </p:nvSpPr>
        <p:spPr>
          <a:xfrm>
            <a:off x="9066272" y="2386584"/>
            <a:ext cx="13871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Change Approval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10599720" y="1975104"/>
            <a:ext cx="45720" cy="4572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TextBox 130"/>
          <p:cNvSpPr txBox="1"/>
          <p:nvPr/>
        </p:nvSpPr>
        <p:spPr>
          <a:xfrm>
            <a:off x="10672872" y="1911096"/>
            <a:ext cx="13871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System Monitoring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10599720" y="2212848"/>
            <a:ext cx="45720" cy="4572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TextBox 132"/>
          <p:cNvSpPr txBox="1"/>
          <p:nvPr/>
        </p:nvSpPr>
        <p:spPr>
          <a:xfrm>
            <a:off x="10672872" y="2148840"/>
            <a:ext cx="13871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Incident Response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10599720" y="2450592"/>
            <a:ext cx="45720" cy="4572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TextBox 134"/>
          <p:cNvSpPr txBox="1"/>
          <p:nvPr/>
        </p:nvSpPr>
        <p:spPr>
          <a:xfrm>
            <a:off x="10672872" y="2386584"/>
            <a:ext cx="13871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Compliance Review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128016" y="2633472"/>
            <a:ext cx="11932920" cy="1828800"/>
          </a:xfrm>
          <a:prstGeom prst="rect">
            <a:avLst/>
          </a:prstGeom>
          <a:solidFill>
            <a:srgbClr val="F3F0FF"/>
          </a:solidFill>
          <a:ln w="635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Rectangle 136"/>
          <p:cNvSpPr/>
          <p:nvPr/>
        </p:nvSpPr>
        <p:spPr>
          <a:xfrm>
            <a:off x="2484424" y="2633472"/>
            <a:ext cx="13716" cy="1828800"/>
          </a:xfrm>
          <a:prstGeom prst="rect">
            <a:avLst/>
          </a:prstGeom>
          <a:solidFill>
            <a:srgbClr val="C5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Rectangle 137"/>
          <p:cNvSpPr/>
          <p:nvPr/>
        </p:nvSpPr>
        <p:spPr>
          <a:xfrm>
            <a:off x="4091024" y="2633472"/>
            <a:ext cx="13716" cy="1828800"/>
          </a:xfrm>
          <a:prstGeom prst="rect">
            <a:avLst/>
          </a:prstGeom>
          <a:solidFill>
            <a:srgbClr val="C5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Rectangle 138"/>
          <p:cNvSpPr/>
          <p:nvPr/>
        </p:nvSpPr>
        <p:spPr>
          <a:xfrm>
            <a:off x="5697624" y="2633472"/>
            <a:ext cx="13716" cy="1828800"/>
          </a:xfrm>
          <a:prstGeom prst="rect">
            <a:avLst/>
          </a:prstGeom>
          <a:solidFill>
            <a:srgbClr val="C5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Rectangle 139"/>
          <p:cNvSpPr/>
          <p:nvPr/>
        </p:nvSpPr>
        <p:spPr>
          <a:xfrm>
            <a:off x="7304224" y="2633472"/>
            <a:ext cx="13716" cy="1828800"/>
          </a:xfrm>
          <a:prstGeom prst="rect">
            <a:avLst/>
          </a:prstGeom>
          <a:solidFill>
            <a:srgbClr val="C5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Rectangle 140"/>
          <p:cNvSpPr/>
          <p:nvPr/>
        </p:nvSpPr>
        <p:spPr>
          <a:xfrm>
            <a:off x="8910824" y="2633472"/>
            <a:ext cx="13716" cy="1828800"/>
          </a:xfrm>
          <a:prstGeom prst="rect">
            <a:avLst/>
          </a:prstGeom>
          <a:solidFill>
            <a:srgbClr val="C5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Rectangle 141"/>
          <p:cNvSpPr/>
          <p:nvPr/>
        </p:nvSpPr>
        <p:spPr>
          <a:xfrm>
            <a:off x="10517424" y="2633472"/>
            <a:ext cx="13716" cy="1828800"/>
          </a:xfrm>
          <a:prstGeom prst="rect">
            <a:avLst/>
          </a:prstGeom>
          <a:solidFill>
            <a:srgbClr val="C5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Rectangle 142"/>
          <p:cNvSpPr/>
          <p:nvPr/>
        </p:nvSpPr>
        <p:spPr>
          <a:xfrm>
            <a:off x="128016" y="2633472"/>
            <a:ext cx="749808" cy="1828800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TextBox 143"/>
          <p:cNvSpPr txBox="1"/>
          <p:nvPr/>
        </p:nvSpPr>
        <p:spPr>
          <a:xfrm>
            <a:off x="164592" y="2670048"/>
            <a:ext cx="694944" cy="1773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AI
SYSTEMS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877824" y="2633472"/>
            <a:ext cx="11183112" cy="201168"/>
          </a:xfrm>
          <a:prstGeom prst="rect">
            <a:avLst/>
          </a:prstGeom>
          <a:solidFill>
            <a:srgbClr val="F9F0FF"/>
          </a:solidFill>
          <a:ln w="6350">
            <a:solidFill>
              <a:srgbClr val="2E30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TextBox 145"/>
          <p:cNvSpPr txBox="1"/>
          <p:nvPr/>
        </p:nvSpPr>
        <p:spPr>
          <a:xfrm>
            <a:off x="969264" y="2670048"/>
            <a:ext cx="1103680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2E308E"/>
                </a:solidFill>
              </a:rPr>
              <a:t>👤  Human Role:  OVERSEE  ·  REVIEW  ·  APPROVE  only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941832" y="2871216"/>
            <a:ext cx="1478584" cy="457200"/>
          </a:xfrm>
          <a:prstGeom prst="rect">
            <a:avLst/>
          </a:prstGeom>
          <a:solidFill>
            <a:srgbClr val="EDE9FE"/>
          </a:solidFill>
          <a:ln w="5080">
            <a:solidFill>
              <a:srgbClr val="D4D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Rectangle 147"/>
          <p:cNvSpPr/>
          <p:nvPr/>
        </p:nvSpPr>
        <p:spPr>
          <a:xfrm>
            <a:off x="941832" y="2871216"/>
            <a:ext cx="1478584" cy="14630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TextBox 148"/>
          <p:cNvSpPr txBox="1"/>
          <p:nvPr/>
        </p:nvSpPr>
        <p:spPr>
          <a:xfrm>
            <a:off x="960120" y="2889504"/>
            <a:ext cx="45720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 i="0">
                <a:solidFill>
                  <a:srgbClr val="FFFFFF"/>
                </a:solidFill>
              </a:rPr>
              <a:t>AGENT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978408" y="3026664"/>
            <a:ext cx="1423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2E308E"/>
                </a:solidFill>
              </a:rPr>
              <a:t>Discovery Agent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941832" y="3364992"/>
            <a:ext cx="1478584" cy="457200"/>
          </a:xfrm>
          <a:prstGeom prst="rect">
            <a:avLst/>
          </a:prstGeom>
          <a:solidFill>
            <a:srgbClr val="EDE9FE"/>
          </a:solidFill>
          <a:ln w="5080">
            <a:solidFill>
              <a:srgbClr val="D4D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Rectangle 151"/>
          <p:cNvSpPr/>
          <p:nvPr/>
        </p:nvSpPr>
        <p:spPr>
          <a:xfrm>
            <a:off x="941832" y="3364992"/>
            <a:ext cx="1478584" cy="14630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TextBox 152"/>
          <p:cNvSpPr txBox="1"/>
          <p:nvPr/>
        </p:nvSpPr>
        <p:spPr>
          <a:xfrm>
            <a:off x="960120" y="3383280"/>
            <a:ext cx="45720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 i="0">
                <a:solidFill>
                  <a:srgbClr val="FFFFFF"/>
                </a:solidFill>
              </a:rPr>
              <a:t>AGENT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978408" y="3520440"/>
            <a:ext cx="1423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2E308E"/>
                </a:solidFill>
              </a:rPr>
              <a:t>Backlog Agent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941832" y="3858768"/>
            <a:ext cx="1478584" cy="457200"/>
          </a:xfrm>
          <a:prstGeom prst="rect">
            <a:avLst/>
          </a:prstGeom>
          <a:solidFill>
            <a:srgbClr val="EDE9FE"/>
          </a:solidFill>
          <a:ln w="5080">
            <a:solidFill>
              <a:srgbClr val="D4D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Rectangle 155"/>
          <p:cNvSpPr/>
          <p:nvPr/>
        </p:nvSpPr>
        <p:spPr>
          <a:xfrm>
            <a:off x="941832" y="3858768"/>
            <a:ext cx="1478584" cy="14630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TextBox 156"/>
          <p:cNvSpPr txBox="1"/>
          <p:nvPr/>
        </p:nvSpPr>
        <p:spPr>
          <a:xfrm>
            <a:off x="960120" y="3877056"/>
            <a:ext cx="45720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 i="0">
                <a:solidFill>
                  <a:srgbClr val="FFFFFF"/>
                </a:solidFill>
              </a:rPr>
              <a:t>AGENT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78408" y="4014216"/>
            <a:ext cx="1423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2E308E"/>
                </a:solidFill>
              </a:rPr>
              <a:t>Sprint Agent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2548432" y="2871216"/>
            <a:ext cx="1478584" cy="457200"/>
          </a:xfrm>
          <a:prstGeom prst="rect">
            <a:avLst/>
          </a:prstGeom>
          <a:solidFill>
            <a:srgbClr val="EDE9FE"/>
          </a:solidFill>
          <a:ln w="5080">
            <a:solidFill>
              <a:srgbClr val="D4D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Rectangle 159"/>
          <p:cNvSpPr/>
          <p:nvPr/>
        </p:nvSpPr>
        <p:spPr>
          <a:xfrm>
            <a:off x="2548432" y="2871216"/>
            <a:ext cx="1478584" cy="14630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TextBox 160"/>
          <p:cNvSpPr txBox="1"/>
          <p:nvPr/>
        </p:nvSpPr>
        <p:spPr>
          <a:xfrm>
            <a:off x="2566720" y="2889504"/>
            <a:ext cx="45720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 i="0">
                <a:solidFill>
                  <a:srgbClr val="FFFFFF"/>
                </a:solidFill>
              </a:rPr>
              <a:t>AGENT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2585008" y="3026664"/>
            <a:ext cx="1423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2E308E"/>
                </a:solidFill>
              </a:rPr>
              <a:t>Architecture Agent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2548432" y="3364992"/>
            <a:ext cx="1478584" cy="457200"/>
          </a:xfrm>
          <a:prstGeom prst="rect">
            <a:avLst/>
          </a:prstGeom>
          <a:solidFill>
            <a:srgbClr val="EDE9FE"/>
          </a:solidFill>
          <a:ln w="5080">
            <a:solidFill>
              <a:srgbClr val="D4D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Rectangle 163"/>
          <p:cNvSpPr/>
          <p:nvPr/>
        </p:nvSpPr>
        <p:spPr>
          <a:xfrm>
            <a:off x="2548432" y="3364992"/>
            <a:ext cx="1478584" cy="14630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TextBox 164"/>
          <p:cNvSpPr txBox="1"/>
          <p:nvPr/>
        </p:nvSpPr>
        <p:spPr>
          <a:xfrm>
            <a:off x="2566720" y="3383280"/>
            <a:ext cx="45720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 i="0">
                <a:solidFill>
                  <a:srgbClr val="FFFFFF"/>
                </a:solidFill>
              </a:rPr>
              <a:t>AGENT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2585008" y="3520440"/>
            <a:ext cx="1423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2E308E"/>
                </a:solidFill>
              </a:rPr>
              <a:t>UI/UX Agent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2548432" y="3858768"/>
            <a:ext cx="1478584" cy="457200"/>
          </a:xfrm>
          <a:prstGeom prst="rect">
            <a:avLst/>
          </a:prstGeom>
          <a:solidFill>
            <a:srgbClr val="EDE9FE"/>
          </a:solidFill>
          <a:ln w="5080">
            <a:solidFill>
              <a:srgbClr val="D4D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8" name="Rectangle 167"/>
          <p:cNvSpPr/>
          <p:nvPr/>
        </p:nvSpPr>
        <p:spPr>
          <a:xfrm>
            <a:off x="2548432" y="3858768"/>
            <a:ext cx="1478584" cy="14630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9" name="TextBox 168"/>
          <p:cNvSpPr txBox="1"/>
          <p:nvPr/>
        </p:nvSpPr>
        <p:spPr>
          <a:xfrm>
            <a:off x="2566720" y="3877056"/>
            <a:ext cx="45720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 i="0">
                <a:solidFill>
                  <a:srgbClr val="FFFFFF"/>
                </a:solidFill>
              </a:rPr>
              <a:t>AGENT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2585008" y="4014216"/>
            <a:ext cx="1423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2E308E"/>
                </a:solidFill>
              </a:rPr>
              <a:t>Design Review Agent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4155032" y="2871216"/>
            <a:ext cx="1478584" cy="457200"/>
          </a:xfrm>
          <a:prstGeom prst="rect">
            <a:avLst/>
          </a:prstGeom>
          <a:solidFill>
            <a:srgbClr val="EDE9FE"/>
          </a:solidFill>
          <a:ln w="5080">
            <a:solidFill>
              <a:srgbClr val="D4D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2" name="Rectangle 171"/>
          <p:cNvSpPr/>
          <p:nvPr/>
        </p:nvSpPr>
        <p:spPr>
          <a:xfrm>
            <a:off x="4155032" y="2871216"/>
            <a:ext cx="1478584" cy="14630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3" name="TextBox 172"/>
          <p:cNvSpPr txBox="1"/>
          <p:nvPr/>
        </p:nvSpPr>
        <p:spPr>
          <a:xfrm>
            <a:off x="4173320" y="2889504"/>
            <a:ext cx="45720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 i="0">
                <a:solidFill>
                  <a:srgbClr val="FFFFFF"/>
                </a:solidFill>
              </a:rPr>
              <a:t>AGENT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4191608" y="3026664"/>
            <a:ext cx="1423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2E308E"/>
                </a:solidFill>
              </a:rPr>
              <a:t>Code Generator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4155032" y="3364992"/>
            <a:ext cx="1478584" cy="457200"/>
          </a:xfrm>
          <a:prstGeom prst="rect">
            <a:avLst/>
          </a:prstGeom>
          <a:solidFill>
            <a:srgbClr val="EDE9FE"/>
          </a:solidFill>
          <a:ln w="5080">
            <a:solidFill>
              <a:srgbClr val="D4D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6" name="Rectangle 175"/>
          <p:cNvSpPr/>
          <p:nvPr/>
        </p:nvSpPr>
        <p:spPr>
          <a:xfrm>
            <a:off x="4155032" y="3364992"/>
            <a:ext cx="1478584" cy="14630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7" name="TextBox 176"/>
          <p:cNvSpPr txBox="1"/>
          <p:nvPr/>
        </p:nvSpPr>
        <p:spPr>
          <a:xfrm>
            <a:off x="4173320" y="3383280"/>
            <a:ext cx="45720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 i="0">
                <a:solidFill>
                  <a:srgbClr val="FFFFFF"/>
                </a:solidFill>
              </a:rPr>
              <a:t>AGENT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4191608" y="3520440"/>
            <a:ext cx="1423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2E308E"/>
                </a:solidFill>
              </a:rPr>
              <a:t>Code Reviewer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4155032" y="3858768"/>
            <a:ext cx="1478584" cy="457200"/>
          </a:xfrm>
          <a:prstGeom prst="rect">
            <a:avLst/>
          </a:prstGeom>
          <a:solidFill>
            <a:srgbClr val="EDE9FE"/>
          </a:solidFill>
          <a:ln w="5080">
            <a:solidFill>
              <a:srgbClr val="D4D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0" name="Rectangle 179"/>
          <p:cNvSpPr/>
          <p:nvPr/>
        </p:nvSpPr>
        <p:spPr>
          <a:xfrm>
            <a:off x="4155032" y="3858768"/>
            <a:ext cx="1478584" cy="14630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1" name="TextBox 180"/>
          <p:cNvSpPr txBox="1"/>
          <p:nvPr/>
        </p:nvSpPr>
        <p:spPr>
          <a:xfrm>
            <a:off x="4173320" y="3877056"/>
            <a:ext cx="45720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 i="0">
                <a:solidFill>
                  <a:srgbClr val="FFFFFF"/>
                </a:solidFill>
              </a:rPr>
              <a:t>AGENT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4191608" y="4014216"/>
            <a:ext cx="1423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2E308E"/>
                </a:solidFill>
              </a:rPr>
              <a:t>Tech Debt Agent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5761632" y="2871216"/>
            <a:ext cx="1478584" cy="457200"/>
          </a:xfrm>
          <a:prstGeom prst="rect">
            <a:avLst/>
          </a:prstGeom>
          <a:solidFill>
            <a:srgbClr val="EDE9FE"/>
          </a:solidFill>
          <a:ln w="5080">
            <a:solidFill>
              <a:srgbClr val="D4D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4" name="Rectangle 183"/>
          <p:cNvSpPr/>
          <p:nvPr/>
        </p:nvSpPr>
        <p:spPr>
          <a:xfrm>
            <a:off x="5761632" y="2871216"/>
            <a:ext cx="1478584" cy="14630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5" name="TextBox 184"/>
          <p:cNvSpPr txBox="1"/>
          <p:nvPr/>
        </p:nvSpPr>
        <p:spPr>
          <a:xfrm>
            <a:off x="5779920" y="2889504"/>
            <a:ext cx="45720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 i="0">
                <a:solidFill>
                  <a:srgbClr val="FFFFFF"/>
                </a:solidFill>
              </a:rPr>
              <a:t>AGENT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5798208" y="3026664"/>
            <a:ext cx="1423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2E308E"/>
                </a:solidFill>
              </a:rPr>
              <a:t>Build Agent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5761632" y="3364992"/>
            <a:ext cx="1478584" cy="457200"/>
          </a:xfrm>
          <a:prstGeom prst="rect">
            <a:avLst/>
          </a:prstGeom>
          <a:solidFill>
            <a:srgbClr val="EDE9FE"/>
          </a:solidFill>
          <a:ln w="5080">
            <a:solidFill>
              <a:srgbClr val="D4D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8" name="Rectangle 187"/>
          <p:cNvSpPr/>
          <p:nvPr/>
        </p:nvSpPr>
        <p:spPr>
          <a:xfrm>
            <a:off x="5761632" y="3364992"/>
            <a:ext cx="1478584" cy="14630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9" name="TextBox 188"/>
          <p:cNvSpPr txBox="1"/>
          <p:nvPr/>
        </p:nvSpPr>
        <p:spPr>
          <a:xfrm>
            <a:off x="5779920" y="3383280"/>
            <a:ext cx="45720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 i="0">
                <a:solidFill>
                  <a:srgbClr val="FFFFFF"/>
                </a:solidFill>
              </a:rPr>
              <a:t>AGENT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5798208" y="3520440"/>
            <a:ext cx="1423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2E308E"/>
                </a:solidFill>
              </a:rPr>
              <a:t>Test Runner Agent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5761632" y="3858768"/>
            <a:ext cx="1478584" cy="457200"/>
          </a:xfrm>
          <a:prstGeom prst="rect">
            <a:avLst/>
          </a:prstGeom>
          <a:solidFill>
            <a:srgbClr val="EDE9FE"/>
          </a:solidFill>
          <a:ln w="5080">
            <a:solidFill>
              <a:srgbClr val="D4D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2" name="Rectangle 191"/>
          <p:cNvSpPr/>
          <p:nvPr/>
        </p:nvSpPr>
        <p:spPr>
          <a:xfrm>
            <a:off x="5761632" y="3858768"/>
            <a:ext cx="1478584" cy="14630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3" name="TextBox 192"/>
          <p:cNvSpPr txBox="1"/>
          <p:nvPr/>
        </p:nvSpPr>
        <p:spPr>
          <a:xfrm>
            <a:off x="5779920" y="3877056"/>
            <a:ext cx="45720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 i="0">
                <a:solidFill>
                  <a:srgbClr val="FFFFFF"/>
                </a:solidFill>
              </a:rPr>
              <a:t>AGENT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5798208" y="4014216"/>
            <a:ext cx="1423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2E308E"/>
                </a:solidFill>
              </a:rPr>
              <a:t>Quality Gate Agent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7368232" y="2871216"/>
            <a:ext cx="1478584" cy="457200"/>
          </a:xfrm>
          <a:prstGeom prst="rect">
            <a:avLst/>
          </a:prstGeom>
          <a:solidFill>
            <a:srgbClr val="EDE9FE"/>
          </a:solidFill>
          <a:ln w="5080">
            <a:solidFill>
              <a:srgbClr val="D4D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6" name="Rectangle 195"/>
          <p:cNvSpPr/>
          <p:nvPr/>
        </p:nvSpPr>
        <p:spPr>
          <a:xfrm>
            <a:off x="7368232" y="2871216"/>
            <a:ext cx="1478584" cy="14630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7" name="TextBox 196"/>
          <p:cNvSpPr txBox="1"/>
          <p:nvPr/>
        </p:nvSpPr>
        <p:spPr>
          <a:xfrm>
            <a:off x="7386520" y="2889504"/>
            <a:ext cx="45720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 i="0">
                <a:solidFill>
                  <a:srgbClr val="FFFFFF"/>
                </a:solidFill>
              </a:rPr>
              <a:t>AGENT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7404808" y="3026664"/>
            <a:ext cx="1423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2E308E"/>
                </a:solidFill>
              </a:rPr>
              <a:t>QA Orchestrator</a:t>
            </a:r>
          </a:p>
        </p:txBody>
      </p:sp>
      <p:sp>
        <p:nvSpPr>
          <p:cNvPr id="199" name="Rectangle 198"/>
          <p:cNvSpPr/>
          <p:nvPr/>
        </p:nvSpPr>
        <p:spPr>
          <a:xfrm>
            <a:off x="7368232" y="3364992"/>
            <a:ext cx="1478584" cy="457200"/>
          </a:xfrm>
          <a:prstGeom prst="rect">
            <a:avLst/>
          </a:prstGeom>
          <a:solidFill>
            <a:srgbClr val="EDE9FE"/>
          </a:solidFill>
          <a:ln w="5080">
            <a:solidFill>
              <a:srgbClr val="D4D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0" name="Rectangle 199"/>
          <p:cNvSpPr/>
          <p:nvPr/>
        </p:nvSpPr>
        <p:spPr>
          <a:xfrm>
            <a:off x="7368232" y="3364992"/>
            <a:ext cx="1478584" cy="14630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1" name="TextBox 200"/>
          <p:cNvSpPr txBox="1"/>
          <p:nvPr/>
        </p:nvSpPr>
        <p:spPr>
          <a:xfrm>
            <a:off x="7386520" y="3383280"/>
            <a:ext cx="45720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 i="0">
                <a:solidFill>
                  <a:srgbClr val="FFFFFF"/>
                </a:solidFill>
              </a:rPr>
              <a:t>AGENT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7404808" y="3520440"/>
            <a:ext cx="1423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2E308E"/>
                </a:solidFill>
              </a:rPr>
              <a:t>UAT Agent</a:t>
            </a:r>
          </a:p>
        </p:txBody>
      </p:sp>
      <p:sp>
        <p:nvSpPr>
          <p:cNvPr id="203" name="Rectangle 202"/>
          <p:cNvSpPr/>
          <p:nvPr/>
        </p:nvSpPr>
        <p:spPr>
          <a:xfrm>
            <a:off x="7368232" y="3858768"/>
            <a:ext cx="1478584" cy="457200"/>
          </a:xfrm>
          <a:prstGeom prst="rect">
            <a:avLst/>
          </a:prstGeom>
          <a:solidFill>
            <a:srgbClr val="EDE9FE"/>
          </a:solidFill>
          <a:ln w="5080">
            <a:solidFill>
              <a:srgbClr val="D4D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4" name="Rectangle 203"/>
          <p:cNvSpPr/>
          <p:nvPr/>
        </p:nvSpPr>
        <p:spPr>
          <a:xfrm>
            <a:off x="7368232" y="3858768"/>
            <a:ext cx="1478584" cy="14630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5" name="TextBox 204"/>
          <p:cNvSpPr txBox="1"/>
          <p:nvPr/>
        </p:nvSpPr>
        <p:spPr>
          <a:xfrm>
            <a:off x="7386520" y="3877056"/>
            <a:ext cx="45720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 i="0">
                <a:solidFill>
                  <a:srgbClr val="FFFFFF"/>
                </a:solidFill>
              </a:rPr>
              <a:t>AGENT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7404808" y="4014216"/>
            <a:ext cx="1423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2E308E"/>
                </a:solidFill>
              </a:rPr>
              <a:t>Security Scanner</a:t>
            </a:r>
          </a:p>
        </p:txBody>
      </p:sp>
      <p:sp>
        <p:nvSpPr>
          <p:cNvPr id="207" name="Rectangle 206"/>
          <p:cNvSpPr/>
          <p:nvPr/>
        </p:nvSpPr>
        <p:spPr>
          <a:xfrm>
            <a:off x="8974832" y="2871216"/>
            <a:ext cx="1478584" cy="457200"/>
          </a:xfrm>
          <a:prstGeom prst="rect">
            <a:avLst/>
          </a:prstGeom>
          <a:solidFill>
            <a:srgbClr val="EDE9FE"/>
          </a:solidFill>
          <a:ln w="5080">
            <a:solidFill>
              <a:srgbClr val="D4D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8" name="Rectangle 207"/>
          <p:cNvSpPr/>
          <p:nvPr/>
        </p:nvSpPr>
        <p:spPr>
          <a:xfrm>
            <a:off x="8974832" y="2871216"/>
            <a:ext cx="1478584" cy="14630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9" name="TextBox 208"/>
          <p:cNvSpPr txBox="1"/>
          <p:nvPr/>
        </p:nvSpPr>
        <p:spPr>
          <a:xfrm>
            <a:off x="8993120" y="2889504"/>
            <a:ext cx="45720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 i="0">
                <a:solidFill>
                  <a:srgbClr val="FFFFFF"/>
                </a:solidFill>
              </a:rPr>
              <a:t>AGENT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9011408" y="3026664"/>
            <a:ext cx="1423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2E308E"/>
                </a:solidFill>
              </a:rPr>
              <a:t>Release Gate Agent</a:t>
            </a:r>
          </a:p>
        </p:txBody>
      </p:sp>
      <p:sp>
        <p:nvSpPr>
          <p:cNvPr id="211" name="Rectangle 210"/>
          <p:cNvSpPr/>
          <p:nvPr/>
        </p:nvSpPr>
        <p:spPr>
          <a:xfrm>
            <a:off x="8974832" y="3364992"/>
            <a:ext cx="1478584" cy="457200"/>
          </a:xfrm>
          <a:prstGeom prst="rect">
            <a:avLst/>
          </a:prstGeom>
          <a:solidFill>
            <a:srgbClr val="EDE9FE"/>
          </a:solidFill>
          <a:ln w="5080">
            <a:solidFill>
              <a:srgbClr val="D4D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2" name="Rectangle 211"/>
          <p:cNvSpPr/>
          <p:nvPr/>
        </p:nvSpPr>
        <p:spPr>
          <a:xfrm>
            <a:off x="8974832" y="3364992"/>
            <a:ext cx="1478584" cy="14630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3" name="TextBox 212"/>
          <p:cNvSpPr txBox="1"/>
          <p:nvPr/>
        </p:nvSpPr>
        <p:spPr>
          <a:xfrm>
            <a:off x="8993120" y="3383280"/>
            <a:ext cx="45720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 i="0">
                <a:solidFill>
                  <a:srgbClr val="FFFFFF"/>
                </a:solidFill>
              </a:rPr>
              <a:t>AGENT</a:t>
            </a:r>
          </a:p>
        </p:txBody>
      </p:sp>
      <p:sp>
        <p:nvSpPr>
          <p:cNvPr id="214" name="TextBox 213"/>
          <p:cNvSpPr txBox="1"/>
          <p:nvPr/>
        </p:nvSpPr>
        <p:spPr>
          <a:xfrm>
            <a:off x="9011408" y="3520440"/>
            <a:ext cx="1423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2E308E"/>
                </a:solidFill>
              </a:rPr>
              <a:t>Deploy Agent</a:t>
            </a:r>
          </a:p>
        </p:txBody>
      </p:sp>
      <p:sp>
        <p:nvSpPr>
          <p:cNvPr id="215" name="Rectangle 214"/>
          <p:cNvSpPr/>
          <p:nvPr/>
        </p:nvSpPr>
        <p:spPr>
          <a:xfrm>
            <a:off x="8974832" y="3858768"/>
            <a:ext cx="1478584" cy="457200"/>
          </a:xfrm>
          <a:prstGeom prst="rect">
            <a:avLst/>
          </a:prstGeom>
          <a:solidFill>
            <a:srgbClr val="EDE9FE"/>
          </a:solidFill>
          <a:ln w="5080">
            <a:solidFill>
              <a:srgbClr val="D4D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6" name="Rectangle 215"/>
          <p:cNvSpPr/>
          <p:nvPr/>
        </p:nvSpPr>
        <p:spPr>
          <a:xfrm>
            <a:off x="8974832" y="3858768"/>
            <a:ext cx="1478584" cy="14630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7" name="TextBox 216"/>
          <p:cNvSpPr txBox="1"/>
          <p:nvPr/>
        </p:nvSpPr>
        <p:spPr>
          <a:xfrm>
            <a:off x="8993120" y="3877056"/>
            <a:ext cx="45720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 i="0">
                <a:solidFill>
                  <a:srgbClr val="FFFFFF"/>
                </a:solidFill>
              </a:rPr>
              <a:t>AGENT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9011408" y="4014216"/>
            <a:ext cx="1423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2E308E"/>
                </a:solidFill>
              </a:rPr>
              <a:t>Rollback Agent</a:t>
            </a:r>
          </a:p>
        </p:txBody>
      </p:sp>
      <p:sp>
        <p:nvSpPr>
          <p:cNvPr id="219" name="Rectangle 218"/>
          <p:cNvSpPr/>
          <p:nvPr/>
        </p:nvSpPr>
        <p:spPr>
          <a:xfrm>
            <a:off x="10581432" y="2871216"/>
            <a:ext cx="1478584" cy="457200"/>
          </a:xfrm>
          <a:prstGeom prst="rect">
            <a:avLst/>
          </a:prstGeom>
          <a:solidFill>
            <a:srgbClr val="EDE9FE"/>
          </a:solidFill>
          <a:ln w="5080">
            <a:solidFill>
              <a:srgbClr val="D4D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0" name="Rectangle 219"/>
          <p:cNvSpPr/>
          <p:nvPr/>
        </p:nvSpPr>
        <p:spPr>
          <a:xfrm>
            <a:off x="10581432" y="2871216"/>
            <a:ext cx="1478584" cy="14630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1" name="TextBox 220"/>
          <p:cNvSpPr txBox="1"/>
          <p:nvPr/>
        </p:nvSpPr>
        <p:spPr>
          <a:xfrm>
            <a:off x="10599720" y="2889504"/>
            <a:ext cx="45720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 i="0">
                <a:solidFill>
                  <a:srgbClr val="FFFFFF"/>
                </a:solidFill>
              </a:rPr>
              <a:t>AGENT</a:t>
            </a:r>
          </a:p>
        </p:txBody>
      </p:sp>
      <p:sp>
        <p:nvSpPr>
          <p:cNvPr id="222" name="TextBox 221"/>
          <p:cNvSpPr txBox="1"/>
          <p:nvPr/>
        </p:nvSpPr>
        <p:spPr>
          <a:xfrm>
            <a:off x="10618008" y="3026664"/>
            <a:ext cx="1423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2E308E"/>
                </a:solidFill>
              </a:rPr>
              <a:t>Monitor Agent</a:t>
            </a:r>
          </a:p>
        </p:txBody>
      </p:sp>
      <p:sp>
        <p:nvSpPr>
          <p:cNvPr id="223" name="Rectangle 222"/>
          <p:cNvSpPr/>
          <p:nvPr/>
        </p:nvSpPr>
        <p:spPr>
          <a:xfrm>
            <a:off x="10581432" y="3364992"/>
            <a:ext cx="1478584" cy="457200"/>
          </a:xfrm>
          <a:prstGeom prst="rect">
            <a:avLst/>
          </a:prstGeom>
          <a:solidFill>
            <a:srgbClr val="EDE9FE"/>
          </a:solidFill>
          <a:ln w="5080">
            <a:solidFill>
              <a:srgbClr val="D4D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4" name="Rectangle 223"/>
          <p:cNvSpPr/>
          <p:nvPr/>
        </p:nvSpPr>
        <p:spPr>
          <a:xfrm>
            <a:off x="10581432" y="3364992"/>
            <a:ext cx="1478584" cy="14630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5" name="TextBox 224"/>
          <p:cNvSpPr txBox="1"/>
          <p:nvPr/>
        </p:nvSpPr>
        <p:spPr>
          <a:xfrm>
            <a:off x="10599720" y="3383280"/>
            <a:ext cx="45720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 i="0">
                <a:solidFill>
                  <a:srgbClr val="FFFFFF"/>
                </a:solidFill>
              </a:rPr>
              <a:t>AGENT</a:t>
            </a:r>
          </a:p>
        </p:txBody>
      </p:sp>
      <p:sp>
        <p:nvSpPr>
          <p:cNvPr id="226" name="TextBox 225"/>
          <p:cNvSpPr txBox="1"/>
          <p:nvPr/>
        </p:nvSpPr>
        <p:spPr>
          <a:xfrm>
            <a:off x="10618008" y="3520440"/>
            <a:ext cx="1423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2E308E"/>
                </a:solidFill>
              </a:rPr>
              <a:t>Incident Triage Agt</a:t>
            </a:r>
          </a:p>
        </p:txBody>
      </p:sp>
      <p:sp>
        <p:nvSpPr>
          <p:cNvPr id="227" name="Rectangle 226"/>
          <p:cNvSpPr/>
          <p:nvPr/>
        </p:nvSpPr>
        <p:spPr>
          <a:xfrm>
            <a:off x="10581432" y="3858768"/>
            <a:ext cx="1478584" cy="457200"/>
          </a:xfrm>
          <a:prstGeom prst="rect">
            <a:avLst/>
          </a:prstGeom>
          <a:solidFill>
            <a:srgbClr val="EDE9FE"/>
          </a:solidFill>
          <a:ln w="5080">
            <a:solidFill>
              <a:srgbClr val="D4D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8" name="Rectangle 227"/>
          <p:cNvSpPr/>
          <p:nvPr/>
        </p:nvSpPr>
        <p:spPr>
          <a:xfrm>
            <a:off x="10581432" y="3858768"/>
            <a:ext cx="1478584" cy="14630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9" name="TextBox 228"/>
          <p:cNvSpPr txBox="1"/>
          <p:nvPr/>
        </p:nvSpPr>
        <p:spPr>
          <a:xfrm>
            <a:off x="10599720" y="3877056"/>
            <a:ext cx="45720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 i="0">
                <a:solidFill>
                  <a:srgbClr val="FFFFFF"/>
                </a:solidFill>
              </a:rPr>
              <a:t>AGENT</a:t>
            </a:r>
          </a:p>
        </p:txBody>
      </p:sp>
      <p:sp>
        <p:nvSpPr>
          <p:cNvPr id="230" name="TextBox 229"/>
          <p:cNvSpPr txBox="1"/>
          <p:nvPr/>
        </p:nvSpPr>
        <p:spPr>
          <a:xfrm>
            <a:off x="10618008" y="4014216"/>
            <a:ext cx="1423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2E308E"/>
                </a:solidFill>
              </a:rPr>
              <a:t>Compliance Agent</a:t>
            </a:r>
          </a:p>
        </p:txBody>
      </p:sp>
      <p:sp>
        <p:nvSpPr>
          <p:cNvPr id="231" name="Rectangle 230"/>
          <p:cNvSpPr/>
          <p:nvPr/>
        </p:nvSpPr>
        <p:spPr>
          <a:xfrm>
            <a:off x="2447848" y="4261104"/>
            <a:ext cx="128016" cy="14630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2" name="TextBox 231"/>
          <p:cNvSpPr txBox="1"/>
          <p:nvPr/>
        </p:nvSpPr>
        <p:spPr>
          <a:xfrm>
            <a:off x="2447848" y="4261104"/>
            <a:ext cx="12801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233" name="Rectangle 232"/>
          <p:cNvSpPr/>
          <p:nvPr/>
        </p:nvSpPr>
        <p:spPr>
          <a:xfrm>
            <a:off x="4054448" y="4261104"/>
            <a:ext cx="128016" cy="14630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4" name="TextBox 233"/>
          <p:cNvSpPr txBox="1"/>
          <p:nvPr/>
        </p:nvSpPr>
        <p:spPr>
          <a:xfrm>
            <a:off x="4054448" y="4261104"/>
            <a:ext cx="12801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235" name="Rectangle 234"/>
          <p:cNvSpPr/>
          <p:nvPr/>
        </p:nvSpPr>
        <p:spPr>
          <a:xfrm>
            <a:off x="5661048" y="4261104"/>
            <a:ext cx="128016" cy="14630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6" name="TextBox 235"/>
          <p:cNvSpPr txBox="1"/>
          <p:nvPr/>
        </p:nvSpPr>
        <p:spPr>
          <a:xfrm>
            <a:off x="5661048" y="4261104"/>
            <a:ext cx="12801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237" name="Rectangle 236"/>
          <p:cNvSpPr/>
          <p:nvPr/>
        </p:nvSpPr>
        <p:spPr>
          <a:xfrm>
            <a:off x="7267648" y="4261104"/>
            <a:ext cx="128016" cy="14630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8" name="TextBox 237"/>
          <p:cNvSpPr txBox="1"/>
          <p:nvPr/>
        </p:nvSpPr>
        <p:spPr>
          <a:xfrm>
            <a:off x="7267648" y="4261104"/>
            <a:ext cx="12801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239" name="Rectangle 238"/>
          <p:cNvSpPr/>
          <p:nvPr/>
        </p:nvSpPr>
        <p:spPr>
          <a:xfrm>
            <a:off x="8874248" y="4261104"/>
            <a:ext cx="128016" cy="14630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0" name="TextBox 239"/>
          <p:cNvSpPr txBox="1"/>
          <p:nvPr/>
        </p:nvSpPr>
        <p:spPr>
          <a:xfrm>
            <a:off x="8874248" y="4261104"/>
            <a:ext cx="12801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241" name="Rectangle 240"/>
          <p:cNvSpPr/>
          <p:nvPr/>
        </p:nvSpPr>
        <p:spPr>
          <a:xfrm>
            <a:off x="10480848" y="4261104"/>
            <a:ext cx="128016" cy="14630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2" name="TextBox 241"/>
          <p:cNvSpPr txBox="1"/>
          <p:nvPr/>
        </p:nvSpPr>
        <p:spPr>
          <a:xfrm>
            <a:off x="10480848" y="4261104"/>
            <a:ext cx="12801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243" name="Rectangle 242"/>
          <p:cNvSpPr/>
          <p:nvPr/>
        </p:nvSpPr>
        <p:spPr>
          <a:xfrm>
            <a:off x="128016" y="4462272"/>
            <a:ext cx="11932920" cy="749808"/>
          </a:xfrm>
          <a:prstGeom prst="rect">
            <a:avLst/>
          </a:prstGeom>
          <a:solidFill>
            <a:srgbClr val="F8F8FC"/>
          </a:solidFill>
          <a:ln w="635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4" name="Rectangle 243"/>
          <p:cNvSpPr/>
          <p:nvPr/>
        </p:nvSpPr>
        <p:spPr>
          <a:xfrm>
            <a:off x="2484424" y="4462272"/>
            <a:ext cx="13716" cy="749808"/>
          </a:xfrm>
          <a:prstGeom prst="rect">
            <a:avLst/>
          </a:prstGeom>
          <a:solidFill>
            <a:srgbClr val="C5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5" name="Rectangle 244"/>
          <p:cNvSpPr/>
          <p:nvPr/>
        </p:nvSpPr>
        <p:spPr>
          <a:xfrm>
            <a:off x="4091024" y="4462272"/>
            <a:ext cx="13716" cy="749808"/>
          </a:xfrm>
          <a:prstGeom prst="rect">
            <a:avLst/>
          </a:prstGeom>
          <a:solidFill>
            <a:srgbClr val="C5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6" name="Rectangle 245"/>
          <p:cNvSpPr/>
          <p:nvPr/>
        </p:nvSpPr>
        <p:spPr>
          <a:xfrm>
            <a:off x="5697624" y="4462272"/>
            <a:ext cx="13716" cy="749808"/>
          </a:xfrm>
          <a:prstGeom prst="rect">
            <a:avLst/>
          </a:prstGeom>
          <a:solidFill>
            <a:srgbClr val="C5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7" name="Rectangle 246"/>
          <p:cNvSpPr/>
          <p:nvPr/>
        </p:nvSpPr>
        <p:spPr>
          <a:xfrm>
            <a:off x="7304224" y="4462272"/>
            <a:ext cx="13716" cy="749808"/>
          </a:xfrm>
          <a:prstGeom prst="rect">
            <a:avLst/>
          </a:prstGeom>
          <a:solidFill>
            <a:srgbClr val="C5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8" name="Rectangle 247"/>
          <p:cNvSpPr/>
          <p:nvPr/>
        </p:nvSpPr>
        <p:spPr>
          <a:xfrm>
            <a:off x="8910824" y="4462272"/>
            <a:ext cx="13716" cy="749808"/>
          </a:xfrm>
          <a:prstGeom prst="rect">
            <a:avLst/>
          </a:prstGeom>
          <a:solidFill>
            <a:srgbClr val="C5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9" name="Rectangle 248"/>
          <p:cNvSpPr/>
          <p:nvPr/>
        </p:nvSpPr>
        <p:spPr>
          <a:xfrm>
            <a:off x="10517424" y="4462272"/>
            <a:ext cx="13716" cy="749808"/>
          </a:xfrm>
          <a:prstGeom prst="rect">
            <a:avLst/>
          </a:prstGeom>
          <a:solidFill>
            <a:srgbClr val="C5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0" name="Rectangle 249"/>
          <p:cNvSpPr/>
          <p:nvPr/>
        </p:nvSpPr>
        <p:spPr>
          <a:xfrm>
            <a:off x="128016" y="4462272"/>
            <a:ext cx="749808" cy="749808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1" name="TextBox 250"/>
          <p:cNvSpPr txBox="1"/>
          <p:nvPr/>
        </p:nvSpPr>
        <p:spPr>
          <a:xfrm>
            <a:off x="164592" y="4498848"/>
            <a:ext cx="694944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TARGET
SYSTEMS</a:t>
            </a:r>
          </a:p>
        </p:txBody>
      </p:sp>
      <p:sp>
        <p:nvSpPr>
          <p:cNvPr id="252" name="Rectangle 251"/>
          <p:cNvSpPr/>
          <p:nvPr/>
        </p:nvSpPr>
        <p:spPr>
          <a:xfrm>
            <a:off x="941832" y="4526280"/>
            <a:ext cx="1478584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3" name="TextBox 252"/>
          <p:cNvSpPr txBox="1"/>
          <p:nvPr/>
        </p:nvSpPr>
        <p:spPr>
          <a:xfrm>
            <a:off x="996696" y="4590288"/>
            <a:ext cx="14054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Jira</a:t>
            </a:r>
          </a:p>
        </p:txBody>
      </p:sp>
      <p:sp>
        <p:nvSpPr>
          <p:cNvPr id="254" name="Rectangle 253"/>
          <p:cNvSpPr/>
          <p:nvPr/>
        </p:nvSpPr>
        <p:spPr>
          <a:xfrm>
            <a:off x="941832" y="4855464"/>
            <a:ext cx="1478584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5" name="TextBox 254"/>
          <p:cNvSpPr txBox="1"/>
          <p:nvPr/>
        </p:nvSpPr>
        <p:spPr>
          <a:xfrm>
            <a:off x="996696" y="4919472"/>
            <a:ext cx="14054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Confluence</a:t>
            </a:r>
          </a:p>
        </p:txBody>
      </p:sp>
      <p:sp>
        <p:nvSpPr>
          <p:cNvPr id="256" name="Rectangle 255"/>
          <p:cNvSpPr/>
          <p:nvPr/>
        </p:nvSpPr>
        <p:spPr>
          <a:xfrm>
            <a:off x="2548432" y="4526280"/>
            <a:ext cx="1478584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7" name="TextBox 256"/>
          <p:cNvSpPr txBox="1"/>
          <p:nvPr/>
        </p:nvSpPr>
        <p:spPr>
          <a:xfrm>
            <a:off x="2603296" y="4590288"/>
            <a:ext cx="14054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Figma</a:t>
            </a:r>
          </a:p>
        </p:txBody>
      </p:sp>
      <p:sp>
        <p:nvSpPr>
          <p:cNvPr id="258" name="Rectangle 257"/>
          <p:cNvSpPr/>
          <p:nvPr/>
        </p:nvSpPr>
        <p:spPr>
          <a:xfrm>
            <a:off x="2548432" y="4855464"/>
            <a:ext cx="1478584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9" name="TextBox 258"/>
          <p:cNvSpPr txBox="1"/>
          <p:nvPr/>
        </p:nvSpPr>
        <p:spPr>
          <a:xfrm>
            <a:off x="2603296" y="4919472"/>
            <a:ext cx="14054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ShieldDocs</a:t>
            </a:r>
          </a:p>
        </p:txBody>
      </p:sp>
      <p:sp>
        <p:nvSpPr>
          <p:cNvPr id="260" name="Rectangle 259"/>
          <p:cNvSpPr/>
          <p:nvPr/>
        </p:nvSpPr>
        <p:spPr>
          <a:xfrm>
            <a:off x="4155032" y="4526280"/>
            <a:ext cx="1478584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1" name="TextBox 260"/>
          <p:cNvSpPr txBox="1"/>
          <p:nvPr/>
        </p:nvSpPr>
        <p:spPr>
          <a:xfrm>
            <a:off x="4209896" y="4590288"/>
            <a:ext cx="14054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GitLab</a:t>
            </a:r>
          </a:p>
        </p:txBody>
      </p:sp>
      <p:sp>
        <p:nvSpPr>
          <p:cNvPr id="262" name="Rectangle 261"/>
          <p:cNvSpPr/>
          <p:nvPr/>
        </p:nvSpPr>
        <p:spPr>
          <a:xfrm>
            <a:off x="4155032" y="4855464"/>
            <a:ext cx="1478584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3" name="TextBox 262"/>
          <p:cNvSpPr txBox="1"/>
          <p:nvPr/>
        </p:nvSpPr>
        <p:spPr>
          <a:xfrm>
            <a:off x="4209896" y="4919472"/>
            <a:ext cx="14054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Shield UI</a:t>
            </a:r>
          </a:p>
        </p:txBody>
      </p:sp>
      <p:sp>
        <p:nvSpPr>
          <p:cNvPr id="264" name="Rectangle 263"/>
          <p:cNvSpPr/>
          <p:nvPr/>
        </p:nvSpPr>
        <p:spPr>
          <a:xfrm>
            <a:off x="5761632" y="4526280"/>
            <a:ext cx="1478584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5" name="TextBox 264"/>
          <p:cNvSpPr txBox="1"/>
          <p:nvPr/>
        </p:nvSpPr>
        <p:spPr>
          <a:xfrm>
            <a:off x="5816496" y="4590288"/>
            <a:ext cx="14054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PipelineCli</a:t>
            </a:r>
          </a:p>
        </p:txBody>
      </p:sp>
      <p:sp>
        <p:nvSpPr>
          <p:cNvPr id="266" name="Rectangle 265"/>
          <p:cNvSpPr/>
          <p:nvPr/>
        </p:nvSpPr>
        <p:spPr>
          <a:xfrm>
            <a:off x="5761632" y="4855464"/>
            <a:ext cx="1478584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7" name="TextBox 266"/>
          <p:cNvSpPr txBox="1"/>
          <p:nvPr/>
        </p:nvSpPr>
        <p:spPr>
          <a:xfrm>
            <a:off x="5816496" y="4919472"/>
            <a:ext cx="14054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DevContainers</a:t>
            </a:r>
          </a:p>
        </p:txBody>
      </p:sp>
      <p:sp>
        <p:nvSpPr>
          <p:cNvPr id="268" name="Rectangle 267"/>
          <p:cNvSpPr/>
          <p:nvPr/>
        </p:nvSpPr>
        <p:spPr>
          <a:xfrm>
            <a:off x="7368232" y="4526280"/>
            <a:ext cx="1478584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9" name="TextBox 268"/>
          <p:cNvSpPr txBox="1"/>
          <p:nvPr/>
        </p:nvSpPr>
        <p:spPr>
          <a:xfrm>
            <a:off x="7423096" y="4590288"/>
            <a:ext cx="14054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PractiTest</a:t>
            </a:r>
          </a:p>
        </p:txBody>
      </p:sp>
      <p:sp>
        <p:nvSpPr>
          <p:cNvPr id="270" name="Rectangle 269"/>
          <p:cNvSpPr/>
          <p:nvPr/>
        </p:nvSpPr>
        <p:spPr>
          <a:xfrm>
            <a:off x="7368232" y="4855464"/>
            <a:ext cx="1478584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1" name="TextBox 270"/>
          <p:cNvSpPr txBox="1"/>
          <p:nvPr/>
        </p:nvSpPr>
        <p:spPr>
          <a:xfrm>
            <a:off x="7423096" y="4919472"/>
            <a:ext cx="14054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BrowserStack</a:t>
            </a:r>
          </a:p>
        </p:txBody>
      </p:sp>
      <p:sp>
        <p:nvSpPr>
          <p:cNvPr id="272" name="Rectangle 271"/>
          <p:cNvSpPr/>
          <p:nvPr/>
        </p:nvSpPr>
        <p:spPr>
          <a:xfrm>
            <a:off x="8974832" y="4526280"/>
            <a:ext cx="1478584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3" name="TextBox 272"/>
          <p:cNvSpPr txBox="1"/>
          <p:nvPr/>
        </p:nvSpPr>
        <p:spPr>
          <a:xfrm>
            <a:off x="9029696" y="4590288"/>
            <a:ext cx="14054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AppSec</a:t>
            </a:r>
          </a:p>
        </p:txBody>
      </p:sp>
      <p:sp>
        <p:nvSpPr>
          <p:cNvPr id="274" name="Rectangle 273"/>
          <p:cNvSpPr/>
          <p:nvPr/>
        </p:nvSpPr>
        <p:spPr>
          <a:xfrm>
            <a:off x="8974832" y="4855464"/>
            <a:ext cx="1478584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5" name="TextBox 274"/>
          <p:cNvSpPr txBox="1"/>
          <p:nvPr/>
        </p:nvSpPr>
        <p:spPr>
          <a:xfrm>
            <a:off x="9029696" y="4919472"/>
            <a:ext cx="14054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CloudBees</a:t>
            </a:r>
          </a:p>
        </p:txBody>
      </p:sp>
      <p:sp>
        <p:nvSpPr>
          <p:cNvPr id="276" name="Rectangle 275"/>
          <p:cNvSpPr/>
          <p:nvPr/>
        </p:nvSpPr>
        <p:spPr>
          <a:xfrm>
            <a:off x="10581432" y="4526280"/>
            <a:ext cx="1478584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7" name="TextBox 276"/>
          <p:cNvSpPr txBox="1"/>
          <p:nvPr/>
        </p:nvSpPr>
        <p:spPr>
          <a:xfrm>
            <a:off x="10636296" y="4590288"/>
            <a:ext cx="14054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Archer</a:t>
            </a:r>
          </a:p>
        </p:txBody>
      </p:sp>
      <p:sp>
        <p:nvSpPr>
          <p:cNvPr id="278" name="Rectangle 277"/>
          <p:cNvSpPr/>
          <p:nvPr/>
        </p:nvSpPr>
        <p:spPr>
          <a:xfrm>
            <a:off x="10581432" y="4855464"/>
            <a:ext cx="1478584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9" name="TextBox 278"/>
          <p:cNvSpPr txBox="1"/>
          <p:nvPr/>
        </p:nvSpPr>
        <p:spPr>
          <a:xfrm>
            <a:off x="10636296" y="4919472"/>
            <a:ext cx="14054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Risk Database</a:t>
            </a:r>
          </a:p>
        </p:txBody>
      </p:sp>
      <p:sp>
        <p:nvSpPr>
          <p:cNvPr id="280" name="Rectangle 279"/>
          <p:cNvSpPr/>
          <p:nvPr/>
        </p:nvSpPr>
        <p:spPr>
          <a:xfrm>
            <a:off x="128016" y="5248656"/>
            <a:ext cx="11932920" cy="502920"/>
          </a:xfrm>
          <a:prstGeom prst="rect">
            <a:avLst/>
          </a:prstGeom>
          <a:solidFill>
            <a:srgbClr val="F8F9FF"/>
          </a:solidFill>
          <a:ln w="6350">
            <a:solidFill>
              <a:srgbClr val="92B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1" name="TextBox 280"/>
          <p:cNvSpPr txBox="1"/>
          <p:nvPr/>
        </p:nvSpPr>
        <p:spPr>
          <a:xfrm>
            <a:off x="201168" y="5294376"/>
            <a:ext cx="8229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0048"/>
                </a:solidFill>
              </a:rPr>
              <a:t>PLATFORMS</a:t>
            </a:r>
          </a:p>
        </p:txBody>
      </p:sp>
      <p:sp>
        <p:nvSpPr>
          <p:cNvPr id="282" name="Rectangle 281"/>
          <p:cNvSpPr/>
          <p:nvPr/>
        </p:nvSpPr>
        <p:spPr>
          <a:xfrm>
            <a:off x="1088136" y="5303520"/>
            <a:ext cx="51206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92B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3" name="Rectangle 282"/>
          <p:cNvSpPr/>
          <p:nvPr/>
        </p:nvSpPr>
        <p:spPr>
          <a:xfrm>
            <a:off x="1088136" y="5303520"/>
            <a:ext cx="5120640" cy="14630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4" name="TextBox 283"/>
          <p:cNvSpPr txBox="1"/>
          <p:nvPr/>
        </p:nvSpPr>
        <p:spPr>
          <a:xfrm>
            <a:off x="1161288" y="5312664"/>
            <a:ext cx="49377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GitHub Copilot</a:t>
            </a:r>
          </a:p>
        </p:txBody>
      </p:sp>
      <p:sp>
        <p:nvSpPr>
          <p:cNvPr id="285" name="TextBox 284"/>
          <p:cNvSpPr txBox="1"/>
          <p:nvPr/>
        </p:nvSpPr>
        <p:spPr>
          <a:xfrm>
            <a:off x="1161288" y="5458968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7280"/>
                </a:solidFill>
              </a:rPr>
              <a:t>Module: GPT, Claude, Gemini · MCP · Agents · Skills</a:t>
            </a:r>
          </a:p>
        </p:txBody>
      </p:sp>
      <p:sp>
        <p:nvSpPr>
          <p:cNvPr id="286" name="Rectangle 285"/>
          <p:cNvSpPr/>
          <p:nvPr/>
        </p:nvSpPr>
        <p:spPr>
          <a:xfrm>
            <a:off x="6391656" y="5303520"/>
            <a:ext cx="51206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92B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7" name="Rectangle 286"/>
          <p:cNvSpPr/>
          <p:nvPr/>
        </p:nvSpPr>
        <p:spPr>
          <a:xfrm>
            <a:off x="6391656" y="5303520"/>
            <a:ext cx="5120640" cy="14630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8" name="TextBox 287"/>
          <p:cNvSpPr txBox="1"/>
          <p:nvPr/>
        </p:nvSpPr>
        <p:spPr>
          <a:xfrm>
            <a:off x="6464808" y="5312664"/>
            <a:ext cx="49377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Azure Open AI</a:t>
            </a:r>
          </a:p>
        </p:txBody>
      </p:sp>
      <p:sp>
        <p:nvSpPr>
          <p:cNvPr id="289" name="TextBox 288"/>
          <p:cNvSpPr txBox="1"/>
          <p:nvPr/>
        </p:nvSpPr>
        <p:spPr>
          <a:xfrm>
            <a:off x="6464808" y="5458968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7280"/>
                </a:solidFill>
              </a:rPr>
              <a:t>Module: GPT · Services: Azure AI Search, AI Foundry, LangChain, MCP</a:t>
            </a:r>
          </a:p>
        </p:txBody>
      </p:sp>
      <p:sp>
        <p:nvSpPr>
          <p:cNvPr id="290" name="Rectangle 289"/>
          <p:cNvSpPr/>
          <p:nvPr/>
        </p:nvSpPr>
        <p:spPr>
          <a:xfrm>
            <a:off x="128016" y="5797296"/>
            <a:ext cx="11932920" cy="219456"/>
          </a:xfrm>
          <a:prstGeom prst="rect">
            <a:avLst/>
          </a:prstGeom>
          <a:solidFill>
            <a:srgbClr val="F8F9FF"/>
          </a:solidFill>
          <a:ln w="5080">
            <a:solidFill>
              <a:srgbClr val="92B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1" name="TextBox 290"/>
          <p:cNvSpPr txBox="1"/>
          <p:nvPr/>
        </p:nvSpPr>
        <p:spPr>
          <a:xfrm>
            <a:off x="201168" y="5843016"/>
            <a:ext cx="594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0048"/>
                </a:solidFill>
              </a:rPr>
              <a:t>LEGEND:</a:t>
            </a:r>
          </a:p>
        </p:txBody>
      </p:sp>
      <p:sp>
        <p:nvSpPr>
          <p:cNvPr id="292" name="Rectangle 291"/>
          <p:cNvSpPr/>
          <p:nvPr/>
        </p:nvSpPr>
        <p:spPr>
          <a:xfrm>
            <a:off x="877824" y="5843016"/>
            <a:ext cx="365760" cy="128016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3" name="TextBox 292"/>
          <p:cNvSpPr txBox="1"/>
          <p:nvPr/>
        </p:nvSpPr>
        <p:spPr>
          <a:xfrm>
            <a:off x="1298448" y="5843016"/>
            <a:ext cx="192024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AGENT = Autonomous — Orchestrated</a:t>
            </a:r>
          </a:p>
        </p:txBody>
      </p:sp>
      <p:sp>
        <p:nvSpPr>
          <p:cNvPr id="294" name="Rectangle 293"/>
          <p:cNvSpPr/>
          <p:nvPr/>
        </p:nvSpPr>
        <p:spPr>
          <a:xfrm>
            <a:off x="3255264" y="5843016"/>
            <a:ext cx="365760" cy="128016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5" name="TextBox 294"/>
          <p:cNvSpPr txBox="1"/>
          <p:nvPr/>
        </p:nvSpPr>
        <p:spPr>
          <a:xfrm>
            <a:off x="3675888" y="5843016"/>
            <a:ext cx="192024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→ = Inter-agent handoff</a:t>
            </a:r>
          </a:p>
        </p:txBody>
      </p:sp>
      <p:sp>
        <p:nvSpPr>
          <p:cNvPr id="296" name="Rectangle 295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7" name="TextBox 296"/>
          <p:cNvSpPr txBox="1"/>
          <p:nvPr/>
        </p:nvSpPr>
        <p:spPr>
          <a:xfrm>
            <a:off x="182880" y="6665976"/>
            <a:ext cx="7315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92BBE6"/>
                </a:solidFill>
              </a:rPr>
              <a:t>© 2026 Cognizant  ·  US Bank PDLC AI Transformation  ·  Confidential</a:t>
            </a:r>
          </a:p>
        </p:txBody>
      </p:sp>
      <p:sp>
        <p:nvSpPr>
          <p:cNvPr id="298" name="TextBox 297"/>
          <p:cNvSpPr txBox="1"/>
          <p:nvPr/>
        </p:nvSpPr>
        <p:spPr>
          <a:xfrm>
            <a:off x="10515600" y="6665976"/>
            <a:ext cx="15544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92BBE6"/>
                </a:solidFill>
              </a:rPr>
              <a:t>STUMP Platform  ·  Option 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914400"/>
          </a:xfrm>
          <a:prstGeom prst="rect">
            <a:avLst/>
          </a:prstGeom>
          <a:solidFill>
            <a:srgbClr val="06C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37744" y="91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</a:rPr>
              <a:t>Metrics &amp; Measurement 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" y="548640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2BBE6"/>
                </a:solidFill>
              </a:rPr>
              <a:t>Two perspectives — AI Adoption + PDLC Performance — tracked from Option A through Option C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914400"/>
            <a:ext cx="12188952" cy="27432"/>
          </a:xfrm>
          <a:prstGeom prst="rect">
            <a:avLst/>
          </a:prstGeom>
          <a:solidFill>
            <a:srgbClr val="06C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620256"/>
            <a:ext cx="12188952" cy="23774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82880" y="6638544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2BBE6"/>
                </a:solidFill>
              </a:rPr>
              <a:t>STUMP  ·  Metrics &amp; Measurement Framework  ·  © 2026 Cognizant  · 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04320" y="6638544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92BBE6"/>
                </a:solidFill>
              </a:rPr>
              <a:t>M1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1005840"/>
            <a:ext cx="5870448" cy="5376672"/>
          </a:xfrm>
          <a:prstGeom prst="rect">
            <a:avLst/>
          </a:prstGeom>
          <a:solidFill>
            <a:srgbClr val="F4F7FF"/>
          </a:solidFill>
          <a:ln w="762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82880" y="1005840"/>
            <a:ext cx="5870448" cy="347472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92608" y="1042415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Perspective 1 — AI Adoption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" y="1389888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0048"/>
                </a:solidFill>
              </a:rPr>
              <a:t>How deeply and effectively are AI assistants/agents being used?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" y="1609344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B7280"/>
                </a:solidFill>
              </a:rPr>
              <a:t>Measures whether humans are actually using and trusting AI systems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2608" y="1883664"/>
            <a:ext cx="5577840" cy="320040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92608" y="1883664"/>
            <a:ext cx="64008" cy="320040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1480" y="1947672"/>
            <a:ext cx="5257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</a:rPr>
              <a:t>Agent Utilisation Rate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92608" y="2267712"/>
            <a:ext cx="5577840" cy="320040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92608" y="2267712"/>
            <a:ext cx="64008" cy="320040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11480" y="2331720"/>
            <a:ext cx="5257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</a:rPr>
              <a:t>AI Acceptance Rate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92608" y="2651760"/>
            <a:ext cx="5577840" cy="320040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92608" y="2651760"/>
            <a:ext cx="64008" cy="320040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11480" y="2715768"/>
            <a:ext cx="5257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</a:rPr>
              <a:t>Human Override Rate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92608" y="3035808"/>
            <a:ext cx="5577840" cy="320040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292608" y="3035808"/>
            <a:ext cx="64008" cy="320040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11480" y="3099816"/>
            <a:ext cx="5257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</a:rPr>
              <a:t>Time Saved per Agent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92608" y="3419856"/>
            <a:ext cx="5577840" cy="320040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292608" y="3419856"/>
            <a:ext cx="64008" cy="320040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11480" y="3483864"/>
            <a:ext cx="5257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</a:rPr>
              <a:t>Phase Coverage 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92608" y="3803904"/>
            <a:ext cx="5577840" cy="320040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292608" y="3803904"/>
            <a:ext cx="64008" cy="320040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11480" y="3867912"/>
            <a:ext cx="5257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</a:rPr>
              <a:t>Agent Throughput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92608" y="4187952"/>
            <a:ext cx="5577840" cy="320040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292608" y="4187952"/>
            <a:ext cx="64008" cy="320040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11480" y="4251960"/>
            <a:ext cx="5257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</a:rPr>
              <a:t>AI-Assisted PR Rate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92608" y="4572000"/>
            <a:ext cx="5577840" cy="320040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292608" y="4572000"/>
            <a:ext cx="64008" cy="320040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11480" y="4636008"/>
            <a:ext cx="5257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</a:rPr>
              <a:t>ROI per Agent Deployed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17920" y="1005840"/>
            <a:ext cx="5870448" cy="5376672"/>
          </a:xfrm>
          <a:prstGeom prst="rect">
            <a:avLst/>
          </a:prstGeom>
          <a:solidFill>
            <a:srgbClr val="F4F7FF"/>
          </a:solidFill>
          <a:ln w="762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217920" y="1005840"/>
            <a:ext cx="5870448" cy="347472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327648" y="1042415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Perspective 2 — PDLC Performance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27648" y="1389888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E308E"/>
                </a:solidFill>
              </a:rPr>
              <a:t>Is AI improving delivery speed, quality and flow?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27648" y="1609344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B7280"/>
                </a:solidFill>
              </a:rPr>
              <a:t>Measures whether AI is actually moving the needle on engineering metrics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327648" y="1883664"/>
            <a:ext cx="5577840" cy="320040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6327648" y="1883664"/>
            <a:ext cx="64008" cy="320040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446520" y="1947672"/>
            <a:ext cx="5257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</a:rPr>
              <a:t>Lead Time (idea → production)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327648" y="2267712"/>
            <a:ext cx="5577840" cy="320040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6327648" y="2267712"/>
            <a:ext cx="64008" cy="320040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446520" y="2331720"/>
            <a:ext cx="5257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</a:rPr>
              <a:t>Cycle Time (start → deploy)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327648" y="2651760"/>
            <a:ext cx="5577840" cy="320040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6327648" y="2651760"/>
            <a:ext cx="64008" cy="320040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446520" y="2715768"/>
            <a:ext cx="5257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</a:rPr>
              <a:t>Flow Efficiency 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327648" y="3035808"/>
            <a:ext cx="5577840" cy="320040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6327648" y="3035808"/>
            <a:ext cx="64008" cy="320040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446520" y="3099816"/>
            <a:ext cx="5257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</a:rPr>
              <a:t>Work in Progress (WIP)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327648" y="3419856"/>
            <a:ext cx="5577840" cy="320040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6327648" y="3419856"/>
            <a:ext cx="64008" cy="320040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446520" y="3483864"/>
            <a:ext cx="5257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</a:rPr>
              <a:t>Deployment Frequency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327648" y="3803904"/>
            <a:ext cx="5577840" cy="320040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6327648" y="3803904"/>
            <a:ext cx="64008" cy="320040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446520" y="3867912"/>
            <a:ext cx="5257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</a:rPr>
              <a:t>Change Failure Rate (CFR)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327648" y="4187952"/>
            <a:ext cx="5577840" cy="320040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6327648" y="4187952"/>
            <a:ext cx="64008" cy="320040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6446520" y="4251960"/>
            <a:ext cx="5257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</a:rPr>
              <a:t>Mean Time to Recovery (MTTR)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327648" y="4572000"/>
            <a:ext cx="5577840" cy="320040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6327648" y="4572000"/>
            <a:ext cx="64008" cy="320040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6446520" y="4636008"/>
            <a:ext cx="5257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</a:rPr>
              <a:t>Throughput (items/sprint)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6400800"/>
            <a:ext cx="11823192" cy="201168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310896" y="6419088"/>
            <a:ext cx="640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6C7CC"/>
                </a:solidFill>
              </a:rPr>
              <a:t>Cadence: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87552" y="6419088"/>
            <a:ext cx="5120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Daily automated collection  ·  Weekly aggregation  ·  Sprint review  ·  Monthly executive report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614416" y="6419088"/>
            <a:ext cx="640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6C7CC"/>
                </a:solidFill>
              </a:rPr>
              <a:t>Tools: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291072" y="6419088"/>
            <a:ext cx="5120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Jira  ·  GitHub  ·  CI/CD pipeline  ·  Agent telemetry  ·  STUMP dashboard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91440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37744" y="91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</a:rPr>
              <a:t>AI Adoption Metrics — Deep Dive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" y="548640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2BBE6"/>
                </a:solidFill>
              </a:rPr>
              <a:t>Agent Utilisation Rate  ·  AI Acceptance Rate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914400"/>
            <a:ext cx="12188952" cy="27432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620256"/>
            <a:ext cx="12188952" cy="23774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82880" y="6638544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2BBE6"/>
                </a:solidFill>
              </a:rPr>
              <a:t>STUMP  ·  Metrics &amp; Measurement Framework  ·  © 2026 Cognizant  · 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04320" y="6638544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92BBE6"/>
                </a:solidFill>
              </a:rPr>
              <a:t>M2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" y="1005840"/>
            <a:ext cx="5897880" cy="5486400"/>
          </a:xfrm>
          <a:prstGeom prst="rect">
            <a:avLst/>
          </a:prstGeom>
          <a:solidFill>
            <a:srgbClr val="FFFFFF"/>
          </a:solidFill>
          <a:ln w="762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37160" y="1005840"/>
            <a:ext cx="5897880" cy="42062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46888" y="1088136"/>
            <a:ext cx="57515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Agent Utilisation 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" y="1463040"/>
            <a:ext cx="57515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</a:rPr>
              <a:t>% of PDLC activities where an AI agent/assistant was actively involved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6888" y="1773936"/>
            <a:ext cx="5678424" cy="347472"/>
          </a:xfrm>
          <a:prstGeom prst="rect">
            <a:avLst/>
          </a:prstGeom>
          <a:solidFill>
            <a:srgbClr val="EFF6FF"/>
          </a:solidFill>
          <a:ln w="9525">
            <a:solidFill>
              <a:srgbClr val="2F7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38328" y="1828800"/>
            <a:ext cx="5623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0048"/>
                </a:solidFill>
              </a:rPr>
              <a:t>Formula:  (Activities with AI involvement ÷ Total PDLC activities) × 100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6888" y="2194560"/>
            <a:ext cx="1874520" cy="3602736"/>
          </a:xfrm>
          <a:prstGeom prst="rect">
            <a:avLst/>
          </a:prstGeom>
          <a:solidFill>
            <a:srgbClr val="F4F7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46888" y="2194560"/>
            <a:ext cx="1874520" cy="256032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20040" y="2240280"/>
            <a:ext cx="17647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Data Needed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8328" y="2596896"/>
            <a:ext cx="54864" cy="5486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48056" y="2505456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Work item count per phase from ALM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8328" y="3424428"/>
            <a:ext cx="54864" cy="5486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48056" y="3332988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AI agent execution logs per activity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8328" y="4251960"/>
            <a:ext cx="54864" cy="5486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48056" y="4160520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Phase-activity mapping config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8328" y="5079492"/>
            <a:ext cx="54864" cy="5486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48056" y="4988052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Sprint/release boundary timestamps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148840" y="2194560"/>
            <a:ext cx="1874520" cy="3602736"/>
          </a:xfrm>
          <a:prstGeom prst="rect">
            <a:avLst/>
          </a:prstGeom>
          <a:solidFill>
            <a:srgbClr val="F4F7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2148840" y="2194560"/>
            <a:ext cx="1874520" cy="256032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221992" y="2240280"/>
            <a:ext cx="17647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Capture Approach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240280" y="2596896"/>
            <a:ext cx="54864" cy="54864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350008" y="2505456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Instrument agent service to log each invocation with phase_id + activity_id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40280" y="3424428"/>
            <a:ext cx="54864" cy="54864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350008" y="3332988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Pull total work-item count from Jira/ADO per sprint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240280" y="4251960"/>
            <a:ext cx="54864" cy="54864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350008" y="4160520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Store in STUMP AnalysisRun.agents_run JSON per execution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240280" y="5079492"/>
            <a:ext cx="54864" cy="54864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350008" y="4988052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Aggregate weekly via APScheduler pipeline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050792" y="2194560"/>
            <a:ext cx="1874520" cy="3602736"/>
          </a:xfrm>
          <a:prstGeom prst="rect">
            <a:avLst/>
          </a:prstGeom>
          <a:solidFill>
            <a:srgbClr val="F4F7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4050792" y="2194560"/>
            <a:ext cx="1874520" cy="256032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123944" y="2240280"/>
            <a:ext cx="17647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Calculate &amp; Display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42232" y="2596896"/>
            <a:ext cx="54864" cy="5486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251960" y="2505456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Calc: SUM(ai_invocations per phase) / SUM(total_activities) × 100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142232" y="3424428"/>
            <a:ext cx="54864" cy="5486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251960" y="3332988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Chart: Stacked bar — AI-handled vs manual per phase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142232" y="4251960"/>
            <a:ext cx="54864" cy="5486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251960" y="4160520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Alert: &lt; 30 % in any active phase triggers low-adoption warning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142232" y="5079492"/>
            <a:ext cx="54864" cy="5486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251960" y="4988052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Review: Sprint retrospective scorecard widget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46888" y="5833872"/>
            <a:ext cx="1856232" cy="292608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310896" y="5897880"/>
            <a:ext cx="1764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Opt A: 30–50 %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139696" y="5833872"/>
            <a:ext cx="1856232" cy="292608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2203704" y="5897880"/>
            <a:ext cx="1764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Opt B: 60–75 %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032504" y="5833872"/>
            <a:ext cx="1856232" cy="292608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096512" y="5897880"/>
            <a:ext cx="1764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Opt C: 85–95 %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46888" y="6163056"/>
            <a:ext cx="5678424" cy="274320"/>
          </a:xfrm>
          <a:prstGeom prst="rect">
            <a:avLst/>
          </a:prstGeom>
          <a:solidFill>
            <a:srgbClr val="F3F4F6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301752" y="6227064"/>
            <a:ext cx="594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0048"/>
                </a:solidFill>
              </a:rPr>
              <a:t>Sources: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41832" y="6217920"/>
            <a:ext cx="1042415" cy="173736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78408" y="6236208"/>
            <a:ext cx="987551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</a:rPr>
              <a:t>Jira/ADO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048255" y="6217920"/>
            <a:ext cx="1143000" cy="173736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2084831" y="6236208"/>
            <a:ext cx="108813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</a:rPr>
              <a:t>Agent Logs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255263" y="6217920"/>
            <a:ext cx="1042415" cy="173736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3291839" y="6236208"/>
            <a:ext cx="987551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</a:rPr>
              <a:t>STUMP DB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153912" y="1005840"/>
            <a:ext cx="5897880" cy="5486400"/>
          </a:xfrm>
          <a:prstGeom prst="rect">
            <a:avLst/>
          </a:prstGeom>
          <a:solidFill>
            <a:srgbClr val="FFFFFF"/>
          </a:solidFill>
          <a:ln w="762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6153912" y="1005840"/>
            <a:ext cx="5897880" cy="420624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6263640" y="1088136"/>
            <a:ext cx="57515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AI Acceptance Rate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263640" y="1463040"/>
            <a:ext cx="57515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</a:rPr>
              <a:t>% of AI-generated outputs accepted or merged by humans without major revision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263640" y="1773936"/>
            <a:ext cx="5678424" cy="347472"/>
          </a:xfrm>
          <a:prstGeom prst="rect">
            <a:avLst/>
          </a:prstGeom>
          <a:solidFill>
            <a:srgbClr val="EFF6FF"/>
          </a:solidFill>
          <a:ln w="9525">
            <a:solidFill>
              <a:srgbClr val="2F7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6355080" y="1828800"/>
            <a:ext cx="5623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0048"/>
                </a:solidFill>
              </a:rPr>
              <a:t>Formula:  (AI outputs accepted as-is or minor edits ÷ Total AI outputs generated) × 100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263640" y="2194560"/>
            <a:ext cx="1874520" cy="3602736"/>
          </a:xfrm>
          <a:prstGeom prst="rect">
            <a:avLst/>
          </a:prstGeom>
          <a:solidFill>
            <a:srgbClr val="F4F7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6263640" y="2194560"/>
            <a:ext cx="1874520" cy="256032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6336792" y="2240280"/>
            <a:ext cx="17647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Data Needed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355080" y="2596896"/>
            <a:ext cx="54864" cy="5486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6464808" y="2505456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PR merge status and review comments from GitHub/GitLab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355080" y="3424428"/>
            <a:ext cx="54864" cy="5486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6464808" y="3332988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AI suggestion logs from Copilot / LLM APIs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355080" y="4251960"/>
            <a:ext cx="54864" cy="5486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6464808" y="4160520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Code review tool delta metrics (lines changed post-AI)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355080" y="5079492"/>
            <a:ext cx="54864" cy="5486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6464808" y="4988052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Acceptance event from agent feedback endpoint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165592" y="2194560"/>
            <a:ext cx="1874520" cy="3602736"/>
          </a:xfrm>
          <a:prstGeom prst="rect">
            <a:avLst/>
          </a:prstGeom>
          <a:solidFill>
            <a:srgbClr val="F4F7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8165592" y="2194560"/>
            <a:ext cx="1874520" cy="256032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8238744" y="2240280"/>
            <a:ext cx="17647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Capture Approach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257032" y="2596896"/>
            <a:ext cx="54864" cy="54864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8366760" y="2505456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GitHub webhook on PR merge — tag PRs with ai_assisted label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257032" y="3424428"/>
            <a:ext cx="54864" cy="54864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8366760" y="3332988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Compare diff size before/after AI suggestion acceptance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257032" y="4251960"/>
            <a:ext cx="54864" cy="54864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8366760" y="4160520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Agent service records accept/reject events in ActivityMetric table</a:t>
            </a:r>
          </a:p>
        </p:txBody>
      </p:sp>
      <p:sp>
        <p:nvSpPr>
          <p:cNvPr id="90" name="Rectangle 89"/>
          <p:cNvSpPr/>
          <p:nvPr/>
        </p:nvSpPr>
        <p:spPr>
          <a:xfrm>
            <a:off x="8257032" y="5079492"/>
            <a:ext cx="54864" cy="54864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8366760" y="4988052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Weekly rollup via STUMP /api/v1/accuracy endpoint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0067544" y="2194560"/>
            <a:ext cx="1874520" cy="3602736"/>
          </a:xfrm>
          <a:prstGeom prst="rect">
            <a:avLst/>
          </a:prstGeom>
          <a:solidFill>
            <a:srgbClr val="F4F7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Rectangle 92"/>
          <p:cNvSpPr/>
          <p:nvPr/>
        </p:nvSpPr>
        <p:spPr>
          <a:xfrm>
            <a:off x="10067544" y="2194560"/>
            <a:ext cx="1874520" cy="256032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10140696" y="2240280"/>
            <a:ext cx="17647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Calculate &amp; Display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0158984" y="2596896"/>
            <a:ext cx="54864" cy="5486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10268712" y="2505456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Calc: COUNT(accepted_PRs with ai_label) / COUNT(all ai_PRs) × 100</a:t>
            </a:r>
          </a:p>
        </p:txBody>
      </p:sp>
      <p:sp>
        <p:nvSpPr>
          <p:cNvPr id="97" name="Rectangle 96"/>
          <p:cNvSpPr/>
          <p:nvPr/>
        </p:nvSpPr>
        <p:spPr>
          <a:xfrm>
            <a:off x="10158984" y="3424428"/>
            <a:ext cx="54864" cy="5486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10268712" y="3332988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Chart: Trend line per agent over rolling 4 sprints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0158984" y="4251960"/>
            <a:ext cx="54864" cy="5486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10268712" y="4160520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Alert: Acceptance rate &lt; 60 % triggers quality review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10158984" y="5079492"/>
            <a:ext cx="54864" cy="5486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10268712" y="4988052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Display: Per-agent scorecard on AI Agents page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6263640" y="5833872"/>
            <a:ext cx="1856232" cy="292608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6327648" y="5897880"/>
            <a:ext cx="1764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Opt A: 55–70 %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8156448" y="5833872"/>
            <a:ext cx="1856232" cy="292608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8220456" y="5897880"/>
            <a:ext cx="1764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Opt B: 70–85 %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10049256" y="5833872"/>
            <a:ext cx="1856232" cy="292608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10113264" y="5897880"/>
            <a:ext cx="1764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Opt C: 88–95 %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6263640" y="6163056"/>
            <a:ext cx="5678424" cy="274320"/>
          </a:xfrm>
          <a:prstGeom prst="rect">
            <a:avLst/>
          </a:prstGeom>
          <a:solidFill>
            <a:srgbClr val="F3F4F6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6318504" y="6227064"/>
            <a:ext cx="594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0048"/>
                </a:solidFill>
              </a:rPr>
              <a:t>Sources: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958584" y="6217920"/>
            <a:ext cx="1293876" cy="173736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6995160" y="6236208"/>
            <a:ext cx="123901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</a:rPr>
              <a:t>GitHub/GitLab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8316468" y="6217920"/>
            <a:ext cx="1193292" cy="173736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8353044" y="6236208"/>
            <a:ext cx="113842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</a:rPr>
              <a:t>Copilot API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9573768" y="6217920"/>
            <a:ext cx="1042415" cy="173736"/>
          </a:xfrm>
          <a:prstGeom prst="rect">
            <a:avLst/>
          </a:prstGeom>
          <a:solidFill>
            <a:srgbClr val="06C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9610344" y="6236208"/>
            <a:ext cx="987551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</a:rPr>
              <a:t>LLM Logs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91440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37744" y="91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</a:rPr>
              <a:t>AI Adoption Metrics — Deep Dive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" y="548640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2BBE6"/>
                </a:solidFill>
              </a:rPr>
              <a:t>Human Override Rate  ·  Time Saved per Agent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914400"/>
            <a:ext cx="12188952" cy="27432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620256"/>
            <a:ext cx="12188952" cy="23774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82880" y="6638544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2BBE6"/>
                </a:solidFill>
              </a:rPr>
              <a:t>STUMP  ·  Metrics &amp; Measurement Framework  ·  © 2026 Cognizant  · 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04320" y="6638544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92BBE6"/>
                </a:solidFill>
              </a:rPr>
              <a:t>M3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" y="1005840"/>
            <a:ext cx="5897880" cy="5486400"/>
          </a:xfrm>
          <a:prstGeom prst="rect">
            <a:avLst/>
          </a:prstGeom>
          <a:solidFill>
            <a:srgbClr val="FFFFFF"/>
          </a:solidFill>
          <a:ln w="762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37160" y="1005840"/>
            <a:ext cx="5897880" cy="42062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46888" y="1088136"/>
            <a:ext cx="57515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Human Override 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" y="1463040"/>
            <a:ext cx="57515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</a:rPr>
              <a:t>% of AI decisions / suggestions that humans reversed or rejected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6888" y="1773936"/>
            <a:ext cx="5678424" cy="347472"/>
          </a:xfrm>
          <a:prstGeom prst="rect">
            <a:avLst/>
          </a:prstGeom>
          <a:solidFill>
            <a:srgbClr val="EFF6FF"/>
          </a:solidFill>
          <a:ln w="9525">
            <a:solidFill>
              <a:srgbClr val="2F7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38328" y="1828800"/>
            <a:ext cx="5623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0048"/>
                </a:solidFill>
              </a:rPr>
              <a:t>Formula:  (Human overrides of AI output ÷ Total AI decisions made) × 100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6888" y="2194560"/>
            <a:ext cx="1874520" cy="3602736"/>
          </a:xfrm>
          <a:prstGeom prst="rect">
            <a:avLst/>
          </a:prstGeom>
          <a:solidFill>
            <a:srgbClr val="F4F7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46888" y="2194560"/>
            <a:ext cx="1874520" cy="256032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20040" y="2240280"/>
            <a:ext cx="17647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Data Needed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8328" y="2596896"/>
            <a:ext cx="54864" cy="5486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48056" y="2505456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Override / rejection events from code review tooling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8328" y="3424428"/>
            <a:ext cx="54864" cy="5486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48056" y="3332988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Playbook action items marked 'overridden' by team leads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8328" y="4251960"/>
            <a:ext cx="54864" cy="5486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48056" y="4160520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Agent output revision history from STUMP analysis runs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8328" y="5079492"/>
            <a:ext cx="54864" cy="5486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48056" y="4988052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Manual correction logs from VSM Editor overrides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148840" y="2194560"/>
            <a:ext cx="1874520" cy="3602736"/>
          </a:xfrm>
          <a:prstGeom prst="rect">
            <a:avLst/>
          </a:prstGeom>
          <a:solidFill>
            <a:srgbClr val="F4F7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2148840" y="2194560"/>
            <a:ext cx="1874520" cy="256032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221992" y="2240280"/>
            <a:ext cx="17647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Capture Approach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240280" y="2596896"/>
            <a:ext cx="54864" cy="54864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350008" y="2505456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Log every override event in AssessmentActionItem.status = 'Overridden'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40280" y="3424428"/>
            <a:ext cx="54864" cy="54864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350008" y="3332988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Track VSMSnapshot.overrides JSON for manual corrections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240280" y="4251960"/>
            <a:ext cx="54864" cy="54864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350008" y="4160520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GitHub label ai_overridden applied by reviewers in PR comments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240280" y="5079492"/>
            <a:ext cx="54864" cy="54864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350008" y="4988052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STUMP /api/v1/accuracy feedback form captures override reason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050792" y="2194560"/>
            <a:ext cx="1874520" cy="3602736"/>
          </a:xfrm>
          <a:prstGeom prst="rect">
            <a:avLst/>
          </a:prstGeom>
          <a:solidFill>
            <a:srgbClr val="F4F7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4050792" y="2194560"/>
            <a:ext cx="1874520" cy="256032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123944" y="2240280"/>
            <a:ext cx="17647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Calculate &amp; Display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42232" y="2596896"/>
            <a:ext cx="54864" cy="5486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251960" y="2505456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Calc: COUNT(override_events) / COUNT(ai_decisions) × 100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142232" y="3424428"/>
            <a:ext cx="54864" cy="5486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251960" y="3332988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Chart: Heatmap by phase — which phases have highest override rates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142232" y="4251960"/>
            <a:ext cx="54864" cy="5486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251960" y="4160520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Alert: Override rate &gt; 30 % in any phase → retrain / recalibrate agent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142232" y="5079492"/>
            <a:ext cx="54864" cy="5486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251960" y="4988052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Display: Accuracy &amp; RAG page override breakdown table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46888" y="5833872"/>
            <a:ext cx="1856232" cy="292608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310896" y="5897880"/>
            <a:ext cx="1764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Opt A: &lt; 35 %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139696" y="5833872"/>
            <a:ext cx="1856232" cy="292608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2203704" y="5897880"/>
            <a:ext cx="1764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Opt B: &lt; 20 %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032504" y="5833872"/>
            <a:ext cx="1856232" cy="292608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096512" y="5897880"/>
            <a:ext cx="1764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Opt C: &lt; 10 %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46888" y="6163056"/>
            <a:ext cx="5678424" cy="274320"/>
          </a:xfrm>
          <a:prstGeom prst="rect">
            <a:avLst/>
          </a:prstGeom>
          <a:solidFill>
            <a:srgbClr val="F3F4F6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301752" y="6227064"/>
            <a:ext cx="594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0048"/>
                </a:solidFill>
              </a:rPr>
              <a:t>Sources: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41832" y="6217920"/>
            <a:ext cx="1042415" cy="173736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78408" y="6236208"/>
            <a:ext cx="987551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</a:rPr>
              <a:t>STUMP DB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048255" y="6217920"/>
            <a:ext cx="941832" cy="173736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2084831" y="6236208"/>
            <a:ext cx="88696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</a:rPr>
              <a:t>GitHub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054095" y="6217920"/>
            <a:ext cx="1143000" cy="173736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3090671" y="6236208"/>
            <a:ext cx="108813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</a:rPr>
              <a:t>VSM Editor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153912" y="1005840"/>
            <a:ext cx="5897880" cy="5486400"/>
          </a:xfrm>
          <a:prstGeom prst="rect">
            <a:avLst/>
          </a:prstGeom>
          <a:solidFill>
            <a:srgbClr val="FFFFFF"/>
          </a:solidFill>
          <a:ln w="762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6153912" y="1005840"/>
            <a:ext cx="5897880" cy="420624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6263640" y="1088136"/>
            <a:ext cx="57515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Time Saved per Agent (hours/sprint)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263640" y="1463040"/>
            <a:ext cx="57515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</a:rPr>
              <a:t>Actual engineering hours saved per AI agent per sprint vs. manual baseline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263640" y="1773936"/>
            <a:ext cx="5678424" cy="347472"/>
          </a:xfrm>
          <a:prstGeom prst="rect">
            <a:avLst/>
          </a:prstGeom>
          <a:solidFill>
            <a:srgbClr val="EFF6FF"/>
          </a:solidFill>
          <a:ln w="9525">
            <a:solidFill>
              <a:srgbClr val="2F7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6355080" y="1828800"/>
            <a:ext cx="5623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0048"/>
                </a:solidFill>
              </a:rPr>
              <a:t>Formula:  (Manual effort baseline hrs − Actual effort with AI hrs) per sprint, per agent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263640" y="2194560"/>
            <a:ext cx="1874520" cy="3602736"/>
          </a:xfrm>
          <a:prstGeom prst="rect">
            <a:avLst/>
          </a:prstGeom>
          <a:solidFill>
            <a:srgbClr val="F4F7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6263640" y="2194560"/>
            <a:ext cx="1874520" cy="256032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6336792" y="2240280"/>
            <a:ext cx="17647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Data Needed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355080" y="2596896"/>
            <a:ext cx="54864" cy="5486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6464808" y="2505456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Story point / time estimates before AI from Jira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355080" y="3424428"/>
            <a:ext cx="54864" cy="5486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6464808" y="3332988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Actual time-logged data (Jira worklogs or time-tracking tool)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355080" y="4251960"/>
            <a:ext cx="54864" cy="5486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6464808" y="4160520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Per-phase manual benchmark (from initial VSM baseline run)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355080" y="5079492"/>
            <a:ext cx="54864" cy="5486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6464808" y="4988052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Sprint velocity data — story points completed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165592" y="2194560"/>
            <a:ext cx="1874520" cy="3602736"/>
          </a:xfrm>
          <a:prstGeom prst="rect">
            <a:avLst/>
          </a:prstGeom>
          <a:solidFill>
            <a:srgbClr val="F4F7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8165592" y="2194560"/>
            <a:ext cx="1874520" cy="256032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8238744" y="2240280"/>
            <a:ext cx="17647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Capture Approach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257032" y="2596896"/>
            <a:ext cx="54864" cy="54864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8366760" y="2505456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Establish manual baseline in Sprint 1 before any AI agent is live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257032" y="3424428"/>
            <a:ext cx="54864" cy="54864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8366760" y="3332988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Log Jira worklog hours per story each sprint post-AI deployment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257032" y="4251960"/>
            <a:ext cx="54864" cy="54864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8366760" y="4160520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Compare: estimate_hrs × normalisation_factor vs actual_logged_hrs</a:t>
            </a:r>
          </a:p>
        </p:txBody>
      </p:sp>
      <p:sp>
        <p:nvSpPr>
          <p:cNvPr id="90" name="Rectangle 89"/>
          <p:cNvSpPr/>
          <p:nvPr/>
        </p:nvSpPr>
        <p:spPr>
          <a:xfrm>
            <a:off x="8257032" y="5079492"/>
            <a:ext cx="54864" cy="54864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8366760" y="4988052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Store delta in ActivityMetric.process_time per phase per sprint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0067544" y="2194560"/>
            <a:ext cx="1874520" cy="3602736"/>
          </a:xfrm>
          <a:prstGeom prst="rect">
            <a:avLst/>
          </a:prstGeom>
          <a:solidFill>
            <a:srgbClr val="F4F7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Rectangle 92"/>
          <p:cNvSpPr/>
          <p:nvPr/>
        </p:nvSpPr>
        <p:spPr>
          <a:xfrm>
            <a:off x="10067544" y="2194560"/>
            <a:ext cx="1874520" cy="256032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10140696" y="2240280"/>
            <a:ext cx="17647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Calculate &amp; Display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0158984" y="2596896"/>
            <a:ext cx="54864" cy="5486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10268712" y="2505456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Calc: SUM(baseline_PT − actual_PT) across agent's activities</a:t>
            </a:r>
          </a:p>
        </p:txBody>
      </p:sp>
      <p:sp>
        <p:nvSpPr>
          <p:cNvPr id="97" name="Rectangle 96"/>
          <p:cNvSpPr/>
          <p:nvPr/>
        </p:nvSpPr>
        <p:spPr>
          <a:xfrm>
            <a:off x="10158984" y="3424428"/>
            <a:ext cx="54864" cy="5486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10268712" y="3332988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Chart: Bar chart — hours saved per agent, sprint-over-sprint trend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0158984" y="4251960"/>
            <a:ext cx="54864" cy="5486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10268712" y="4160520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KPI card: Total hrs saved this sprint on Dashboard page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10158984" y="5079492"/>
            <a:ext cx="54864" cy="5486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10268712" y="4988052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Alert: Saved hours declining 2+ sprints triggers agent health review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6263640" y="5833872"/>
            <a:ext cx="1856232" cy="292608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6327648" y="5897880"/>
            <a:ext cx="1764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Opt A: 2–8 hrs/agent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8156448" y="5833872"/>
            <a:ext cx="1856232" cy="292608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8220456" y="5897880"/>
            <a:ext cx="1764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Opt B: 8–20 hrs/agent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10049256" y="5833872"/>
            <a:ext cx="1856232" cy="292608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10113264" y="5897880"/>
            <a:ext cx="1764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Opt C: 20–40 hrs/agent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6263640" y="6163056"/>
            <a:ext cx="5678424" cy="274320"/>
          </a:xfrm>
          <a:prstGeom prst="rect">
            <a:avLst/>
          </a:prstGeom>
          <a:solidFill>
            <a:srgbClr val="F3F4F6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6318504" y="6227064"/>
            <a:ext cx="594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0048"/>
                </a:solidFill>
              </a:rPr>
              <a:t>Sources: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958584" y="6217920"/>
            <a:ext cx="1293876" cy="173736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6995160" y="6236208"/>
            <a:ext cx="123901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</a:rPr>
              <a:t>Jira Worklogs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8316468" y="6217920"/>
            <a:ext cx="1243584" cy="173736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8353044" y="6236208"/>
            <a:ext cx="11887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</a:rPr>
              <a:t>VSM Baseline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9624060" y="6217920"/>
            <a:ext cx="1042415" cy="173736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9660636" y="6236208"/>
            <a:ext cx="987551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</a:rPr>
              <a:t>STUMP DB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91440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37744" y="91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</a:rPr>
              <a:t>AI Adoption Metrics — Deep Dive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" y="548640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2BBE6"/>
                </a:solidFill>
              </a:rPr>
              <a:t>Phase Coverage  ·  Agent ROI Multiple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914400"/>
            <a:ext cx="12188952" cy="27432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620256"/>
            <a:ext cx="12188952" cy="23774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82880" y="6638544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2BBE6"/>
                </a:solidFill>
              </a:rPr>
              <a:t>STUMP  ·  Metrics &amp; Measurement Framework  ·  © 2026 Cognizant  · 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04320" y="6638544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92BBE6"/>
                </a:solidFill>
              </a:rPr>
              <a:t>M4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" y="1005840"/>
            <a:ext cx="5897880" cy="5486400"/>
          </a:xfrm>
          <a:prstGeom prst="rect">
            <a:avLst/>
          </a:prstGeom>
          <a:solidFill>
            <a:srgbClr val="FFFFFF"/>
          </a:solidFill>
          <a:ln w="762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37160" y="1005840"/>
            <a:ext cx="5897880" cy="420624"/>
          </a:xfrm>
          <a:prstGeom prst="rect">
            <a:avLst/>
          </a:prstGeom>
          <a:solidFill>
            <a:srgbClr val="0A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46888" y="1088136"/>
            <a:ext cx="57515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AI Phase Coverage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" y="1463040"/>
            <a:ext cx="57515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</a:rPr>
              <a:t>% of the 7 PDLC phases that have at least one active AI agent/assistant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6888" y="1773936"/>
            <a:ext cx="5678424" cy="347472"/>
          </a:xfrm>
          <a:prstGeom prst="rect">
            <a:avLst/>
          </a:prstGeom>
          <a:solidFill>
            <a:srgbClr val="EFF6FF"/>
          </a:solidFill>
          <a:ln w="9525">
            <a:solidFill>
              <a:srgbClr val="2F7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38328" y="1828800"/>
            <a:ext cx="5623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0048"/>
                </a:solidFill>
              </a:rPr>
              <a:t>Formula:  (PDLC phases with ≥ 1 active AI agent ÷ 7 total phases) × 100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6888" y="2194560"/>
            <a:ext cx="1874520" cy="3602736"/>
          </a:xfrm>
          <a:prstGeom prst="rect">
            <a:avLst/>
          </a:prstGeom>
          <a:solidFill>
            <a:srgbClr val="F4F7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46888" y="2194560"/>
            <a:ext cx="1874520" cy="256032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20040" y="2240280"/>
            <a:ext cx="17647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Data Needed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8328" y="2596896"/>
            <a:ext cx="54864" cy="5486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48056" y="2505456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Active agent list per phase from STUMP agent registry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8328" y="3424428"/>
            <a:ext cx="54864" cy="5486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48056" y="3332988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Phase-agent mapping from LangGraph orchestrator config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8328" y="4251960"/>
            <a:ext cx="54864" cy="5486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48056" y="4160520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Agent status (GA / Pilot / PoC) per phase from platform settings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8328" y="5079492"/>
            <a:ext cx="54864" cy="5486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48056" y="4988052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Sprint release plan showing when each agent goes live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148840" y="2194560"/>
            <a:ext cx="1874520" cy="3602736"/>
          </a:xfrm>
          <a:prstGeom prst="rect">
            <a:avLst/>
          </a:prstGeom>
          <a:solidFill>
            <a:srgbClr val="F4F7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2148840" y="2194560"/>
            <a:ext cx="1874520" cy="256032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221992" y="2240280"/>
            <a:ext cx="17647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Capture Approach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240280" y="2596896"/>
            <a:ext cx="54864" cy="54864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350008" y="2505456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STUMP /api/v1/agents returns agent-phase mapping — query per sprint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40280" y="3424428"/>
            <a:ext cx="54864" cy="54864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350008" y="3332988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Tag each AnalysisRun with phases_covered list in result JSON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240280" y="4251960"/>
            <a:ext cx="54864" cy="54864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350008" y="4160520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APScheduler weekly run computes coverage and stores in PlatformSettings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240280" y="5079492"/>
            <a:ext cx="54864" cy="54864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350008" y="4988052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Manual update when new agent phases are activated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050792" y="2194560"/>
            <a:ext cx="1874520" cy="3602736"/>
          </a:xfrm>
          <a:prstGeom prst="rect">
            <a:avLst/>
          </a:prstGeom>
          <a:solidFill>
            <a:srgbClr val="F4F7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4050792" y="2194560"/>
            <a:ext cx="1874520" cy="256032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123944" y="2240280"/>
            <a:ext cx="17647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Calculate &amp; Display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42232" y="2596896"/>
            <a:ext cx="54864" cy="5486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251960" y="2505456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Calc: COUNT(DISTINCT phase_id in active_agents) / 7 × 100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142232" y="3424428"/>
            <a:ext cx="54864" cy="5486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251960" y="3332988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Chart: Radar/spider chart — 7-axis with fill showing coverage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142232" y="4251960"/>
            <a:ext cx="54864" cy="5486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251960" y="4160520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Target: 4/7 phases covered by Option A; 7/7 by Option C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142232" y="5079492"/>
            <a:ext cx="54864" cy="5486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251960" y="4988052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Display: Dashboard page phase coverage ring chart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46888" y="5833872"/>
            <a:ext cx="1856232" cy="292608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310896" y="5897880"/>
            <a:ext cx="1764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Opt A: 4 / 7 phases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139696" y="5833872"/>
            <a:ext cx="1856232" cy="292608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2203704" y="5897880"/>
            <a:ext cx="1764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Opt B: 6 / 7 phases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032504" y="5833872"/>
            <a:ext cx="1856232" cy="292608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096512" y="5897880"/>
            <a:ext cx="1764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Opt C: 7 / 7 phases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46888" y="6163056"/>
            <a:ext cx="5678424" cy="274320"/>
          </a:xfrm>
          <a:prstGeom prst="rect">
            <a:avLst/>
          </a:prstGeom>
          <a:solidFill>
            <a:srgbClr val="F3F4F6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301752" y="6227064"/>
            <a:ext cx="594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0048"/>
                </a:solidFill>
              </a:rPr>
              <a:t>Sources: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41832" y="6217920"/>
            <a:ext cx="1595628" cy="173736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78408" y="6236208"/>
            <a:ext cx="154076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</a:rPr>
              <a:t>STUMP Agent Service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601468" y="6217920"/>
            <a:ext cx="1444752" cy="173736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2638044" y="6236208"/>
            <a:ext cx="138988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</a:rPr>
              <a:t>LangGraph Config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153912" y="1005840"/>
            <a:ext cx="5897880" cy="5486400"/>
          </a:xfrm>
          <a:prstGeom prst="rect">
            <a:avLst/>
          </a:prstGeom>
          <a:solidFill>
            <a:srgbClr val="FFFFFF"/>
          </a:solidFill>
          <a:ln w="762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6153912" y="1005840"/>
            <a:ext cx="5897880" cy="420624"/>
          </a:xfrm>
          <a:prstGeom prst="rect">
            <a:avLst/>
          </a:prstGeom>
          <a:solidFill>
            <a:srgbClr val="B45A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6263640" y="1088136"/>
            <a:ext cx="57515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Agent ROI Multiple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263640" y="1463040"/>
            <a:ext cx="57515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</a:rPr>
              <a:t>Return on investment per deployed agent — value delivered vs. cost of running it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263640" y="1773936"/>
            <a:ext cx="5678424" cy="347472"/>
          </a:xfrm>
          <a:prstGeom prst="rect">
            <a:avLst/>
          </a:prstGeom>
          <a:solidFill>
            <a:srgbClr val="EFF6FF"/>
          </a:solidFill>
          <a:ln w="9525">
            <a:solidFill>
              <a:srgbClr val="2F7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6355080" y="1828800"/>
            <a:ext cx="5623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0048"/>
                </a:solidFill>
              </a:rPr>
              <a:t>Formula:  (Annual value delivered by agent £ ÷ Annual cost of agent deployment £)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263640" y="2194560"/>
            <a:ext cx="1874520" cy="3602736"/>
          </a:xfrm>
          <a:prstGeom prst="rect">
            <a:avLst/>
          </a:prstGeom>
          <a:solidFill>
            <a:srgbClr val="F4F7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6263640" y="2194560"/>
            <a:ext cx="1874520" cy="256032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6336792" y="2240280"/>
            <a:ext cx="17647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Data Needed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355080" y="2596896"/>
            <a:ext cx="54864" cy="5486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6464808" y="2505456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Engineering salary cost per hour for manual equivalent tasks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355080" y="3424428"/>
            <a:ext cx="54864" cy="5486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6464808" y="3332988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Time saved per agent per sprint (from Time Saved metric above)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355080" y="4251960"/>
            <a:ext cx="54864" cy="5486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6464808" y="4160520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Agent operational cost: LLM API cost + infra + maintenance hours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355080" y="5079492"/>
            <a:ext cx="54864" cy="5486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6464808" y="4988052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Defects prevented count and estimated cost per defect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165592" y="2194560"/>
            <a:ext cx="1874520" cy="3602736"/>
          </a:xfrm>
          <a:prstGeom prst="rect">
            <a:avLst/>
          </a:prstGeom>
          <a:solidFill>
            <a:srgbClr val="F4F7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8165592" y="2194560"/>
            <a:ext cx="1874520" cy="256032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8238744" y="2240280"/>
            <a:ext cx="17647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Capture Approach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257032" y="2596896"/>
            <a:ext cx="54864" cy="54864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8366760" y="2505456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Pull LLM API usage from Azure OpenAI billing dashboard monthly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257032" y="3424428"/>
            <a:ext cx="54864" cy="54864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8366760" y="3332988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Calculate value: time_saved_hrs × avg_eng_rate × 52 sprints/year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257032" y="4251960"/>
            <a:ext cx="54864" cy="54864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8366760" y="4160520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Track defects prevented via Quality Assurance report delta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257032" y="5079492"/>
            <a:ext cx="54864" cy="54864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8366760" y="4988052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Store ROI calculation results in STUMP business_cases result JSON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0067544" y="2194560"/>
            <a:ext cx="1874520" cy="3602736"/>
          </a:xfrm>
          <a:prstGeom prst="rect">
            <a:avLst/>
          </a:prstGeom>
          <a:solidFill>
            <a:srgbClr val="F4F7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ectangle 90"/>
          <p:cNvSpPr/>
          <p:nvPr/>
        </p:nvSpPr>
        <p:spPr>
          <a:xfrm>
            <a:off x="10067544" y="2194560"/>
            <a:ext cx="1874520" cy="256032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10140696" y="2240280"/>
            <a:ext cx="17647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Calculate &amp; Display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0158984" y="2596896"/>
            <a:ext cx="54864" cy="5486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10268712" y="2505456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Calc: (time_saved_value + defect_saving) / (llm_cost + eng_cost)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0158984" y="3424428"/>
            <a:ext cx="54864" cy="5486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10268712" y="3332988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Chart: ROI waterfall chart per agent on Business Case page</a:t>
            </a:r>
          </a:p>
        </p:txBody>
      </p:sp>
      <p:sp>
        <p:nvSpPr>
          <p:cNvPr id="97" name="Rectangle 96"/>
          <p:cNvSpPr/>
          <p:nvPr/>
        </p:nvSpPr>
        <p:spPr>
          <a:xfrm>
            <a:off x="10158984" y="4251960"/>
            <a:ext cx="54864" cy="5486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10268712" y="4160520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KPI: ROI multiple displayed on AI Agents monitor page per agent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0158984" y="5079492"/>
            <a:ext cx="54864" cy="5486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10268712" y="4988052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Alert: ROI &lt; 1.5× triggers cost-benefit review for that agent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6263640" y="5833872"/>
            <a:ext cx="1856232" cy="292608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6327648" y="5897880"/>
            <a:ext cx="1764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Opt A: 1.5 – 3×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8156448" y="5833872"/>
            <a:ext cx="1856232" cy="292608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8220456" y="5897880"/>
            <a:ext cx="1764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Opt B: 3 – 4.5×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10049256" y="5833872"/>
            <a:ext cx="1856232" cy="292608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10113264" y="5897880"/>
            <a:ext cx="1764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Opt C: 4.5 – 6×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6263640" y="6163056"/>
            <a:ext cx="5678424" cy="274320"/>
          </a:xfrm>
          <a:prstGeom prst="rect">
            <a:avLst/>
          </a:prstGeom>
          <a:solidFill>
            <a:srgbClr val="F3F4F6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6318504" y="6227064"/>
            <a:ext cx="594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0048"/>
                </a:solidFill>
              </a:rPr>
              <a:t>Sources: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6958584" y="6217920"/>
            <a:ext cx="1495044" cy="173736"/>
          </a:xfrm>
          <a:prstGeom prst="rect">
            <a:avLst/>
          </a:prstGeom>
          <a:solidFill>
            <a:srgbClr val="B45A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6995160" y="6236208"/>
            <a:ext cx="14401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</a:rPr>
              <a:t>Azure OAI Billing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8517636" y="6217920"/>
            <a:ext cx="1243584" cy="173736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8554212" y="6236208"/>
            <a:ext cx="11887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</a:rPr>
              <a:t>HR Cost Data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9825228" y="6217920"/>
            <a:ext cx="1042415" cy="173736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9861804" y="6236208"/>
            <a:ext cx="987551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</a:rPr>
              <a:t>STUMP DB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914400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37744" y="91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</a:rPr>
              <a:t>PDLC Performance Metrics — Deep Dive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" y="548640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2BBE6"/>
                </a:solidFill>
              </a:rPr>
              <a:t>Lead Time (Idea → Production)  ·  Cycle Time (Dev Start → Deploy)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914400"/>
            <a:ext cx="12188952" cy="27432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620256"/>
            <a:ext cx="12188952" cy="23774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82880" y="6638544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2BBE6"/>
                </a:solidFill>
              </a:rPr>
              <a:t>STUMP  ·  Metrics &amp; Measurement Framework  ·  © 2026 Cognizant  · 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04320" y="6638544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92BBE6"/>
                </a:solidFill>
              </a:rPr>
              <a:t>M5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" y="1005840"/>
            <a:ext cx="5897880" cy="5486400"/>
          </a:xfrm>
          <a:prstGeom prst="rect">
            <a:avLst/>
          </a:prstGeom>
          <a:solidFill>
            <a:srgbClr val="FFFFFF"/>
          </a:solidFill>
          <a:ln w="762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37160" y="1005840"/>
            <a:ext cx="5897880" cy="42062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46888" y="1088136"/>
            <a:ext cx="57515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Lead Time (Idea → Production)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" y="1463040"/>
            <a:ext cx="57515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</a:rPr>
              <a:t>Total elapsed time from a feature request being raised to it being live in production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6888" y="1773936"/>
            <a:ext cx="5678424" cy="347472"/>
          </a:xfrm>
          <a:prstGeom prst="rect">
            <a:avLst/>
          </a:prstGeom>
          <a:solidFill>
            <a:srgbClr val="EFF6FF"/>
          </a:solidFill>
          <a:ln w="9525">
            <a:solidFill>
              <a:srgbClr val="2F7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38328" y="1828800"/>
            <a:ext cx="5623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0048"/>
                </a:solidFill>
              </a:rPr>
              <a:t>Formula:  Deploy_timestamp − Feature_request_created_timestamp  (calendar days)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6888" y="2194560"/>
            <a:ext cx="1874520" cy="3602736"/>
          </a:xfrm>
          <a:prstGeom prst="rect">
            <a:avLst/>
          </a:prstGeom>
          <a:solidFill>
            <a:srgbClr val="F4F7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46888" y="2194560"/>
            <a:ext cx="1874520" cy="256032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20040" y="2240280"/>
            <a:ext cx="17647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Data Needed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8328" y="2596896"/>
            <a:ext cx="54864" cy="5486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48056" y="2505456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Work item creation date from Jira/ADO (feature request timestamp)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8328" y="3424428"/>
            <a:ext cx="54864" cy="5486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48056" y="3332988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Production deployment timestamp from CI/CD pipeline logs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8328" y="4251960"/>
            <a:ext cx="54864" cy="5486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48056" y="4160520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Release/tag event from GitHub/GitLab release API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8328" y="5079492"/>
            <a:ext cx="54864" cy="5486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48056" y="4988052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Feature-to-deployment traceability link in ALM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148840" y="2194560"/>
            <a:ext cx="1874520" cy="3602736"/>
          </a:xfrm>
          <a:prstGeom prst="rect">
            <a:avLst/>
          </a:prstGeom>
          <a:solidFill>
            <a:srgbClr val="F4F7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2148840" y="2194560"/>
            <a:ext cx="1874520" cy="256032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221992" y="2240280"/>
            <a:ext cx="17647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Capture Approach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240280" y="2596896"/>
            <a:ext cx="54864" cy="54864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350008" y="2505456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Jira webhook on issue_created → store created_at in STUMP VSMSnapshot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40280" y="3424428"/>
            <a:ext cx="54864" cy="54864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350008" y="3332988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CI/CD webhook on deployment_success → store deploy_at per feature ID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240280" y="4251960"/>
            <a:ext cx="54864" cy="54864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350008" y="4160520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Link Jira issue ID to GitHub PR and deployment tag via branch naming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240280" y="5079492"/>
            <a:ext cx="54864" cy="54864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350008" y="4988052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STUMP ALM Connector agent computes LT per phase on each run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050792" y="2194560"/>
            <a:ext cx="1874520" cy="3602736"/>
          </a:xfrm>
          <a:prstGeom prst="rect">
            <a:avLst/>
          </a:prstGeom>
          <a:solidFill>
            <a:srgbClr val="F4F7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4050792" y="2194560"/>
            <a:ext cx="1874520" cy="256032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123944" y="2240280"/>
            <a:ext cx="17647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Calculate &amp; Display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42232" y="2596896"/>
            <a:ext cx="54864" cy="5486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251960" y="2505456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Calc: AVG(deploy_date − created_date) across all features in sprint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142232" y="3424428"/>
            <a:ext cx="54864" cy="5486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251960" y="3332988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Chart: Box-plot showing LT distribution; p50 / p90 trend line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142232" y="4251960"/>
            <a:ext cx="54864" cy="5486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251960" y="4160520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DORA band: Elite &lt; 1 day; High &lt; 1 week; Medium &lt; 1 month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142232" y="5079492"/>
            <a:ext cx="54864" cy="5486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251960" y="4988052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Display: Current VSM page — per-phase LT heat strip + total LT KPI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46888" y="5833872"/>
            <a:ext cx="1856232" cy="292608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310896" y="5897880"/>
            <a:ext cx="1764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Opt A: 21 – 28 days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139696" y="5833872"/>
            <a:ext cx="1856232" cy="292608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2203704" y="5897880"/>
            <a:ext cx="1764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Opt B: 10 – 14 days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032504" y="5833872"/>
            <a:ext cx="1856232" cy="292608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096512" y="5897880"/>
            <a:ext cx="1764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Opt C: 3 – 7 days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46888" y="6163056"/>
            <a:ext cx="5678424" cy="274320"/>
          </a:xfrm>
          <a:prstGeom prst="rect">
            <a:avLst/>
          </a:prstGeom>
          <a:solidFill>
            <a:srgbClr val="F3F4F6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301752" y="6227064"/>
            <a:ext cx="594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0048"/>
                </a:solidFill>
              </a:rPr>
              <a:t>Sources: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41832" y="6217920"/>
            <a:ext cx="1042415" cy="173736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78408" y="6236208"/>
            <a:ext cx="987551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</a:rPr>
              <a:t>Jira/ADO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048255" y="6217920"/>
            <a:ext cx="1143000" cy="173736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2084831" y="6236208"/>
            <a:ext cx="108813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</a:rPr>
              <a:t>CI/CD Logs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255263" y="6217920"/>
            <a:ext cx="1193292" cy="173736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3291839" y="6236208"/>
            <a:ext cx="113842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</a:rPr>
              <a:t>GitHub Tags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153912" y="1005840"/>
            <a:ext cx="5897880" cy="5486400"/>
          </a:xfrm>
          <a:prstGeom prst="rect">
            <a:avLst/>
          </a:prstGeom>
          <a:solidFill>
            <a:srgbClr val="FFFFFF"/>
          </a:solidFill>
          <a:ln w="762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6153912" y="1005840"/>
            <a:ext cx="5897880" cy="420624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6263640" y="1088136"/>
            <a:ext cx="57515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Cycle Time (Dev Start → Deploy)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263640" y="1463040"/>
            <a:ext cx="57515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</a:rPr>
              <a:t>Time from a developer picking up a task to the code reaching production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263640" y="1773936"/>
            <a:ext cx="5678424" cy="347472"/>
          </a:xfrm>
          <a:prstGeom prst="rect">
            <a:avLst/>
          </a:prstGeom>
          <a:solidFill>
            <a:srgbClr val="EFF6FF"/>
          </a:solidFill>
          <a:ln w="9525">
            <a:solidFill>
              <a:srgbClr val="2F7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6355080" y="1828800"/>
            <a:ext cx="5623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0048"/>
                </a:solidFill>
              </a:rPr>
              <a:t>Formula:  Deploy_timestamp − In-Progress_status_timestamp  (working hours)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263640" y="2194560"/>
            <a:ext cx="1874520" cy="3602736"/>
          </a:xfrm>
          <a:prstGeom prst="rect">
            <a:avLst/>
          </a:prstGeom>
          <a:solidFill>
            <a:srgbClr val="F4F7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6263640" y="2194560"/>
            <a:ext cx="1874520" cy="256032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6336792" y="2240280"/>
            <a:ext cx="17647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Data Needed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355080" y="2596896"/>
            <a:ext cx="54864" cy="5486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6464808" y="2505456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In-Progress status transition timestamp from Jira/ADO history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355080" y="3424428"/>
            <a:ext cx="54864" cy="5486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6464808" y="3332988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Production deploy event timestamp from CI/CD pipeline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355080" y="4251960"/>
            <a:ext cx="54864" cy="5486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6464808" y="4160520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PR open and merge timestamps from GitHub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355080" y="5079492"/>
            <a:ext cx="54864" cy="5486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6464808" y="4988052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Code review start / approval timestamps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165592" y="2194560"/>
            <a:ext cx="1874520" cy="3602736"/>
          </a:xfrm>
          <a:prstGeom prst="rect">
            <a:avLst/>
          </a:prstGeom>
          <a:solidFill>
            <a:srgbClr val="F4F7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8165592" y="2194560"/>
            <a:ext cx="1874520" cy="256032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8238744" y="2240280"/>
            <a:ext cx="17647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Capture Approach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257032" y="2596896"/>
            <a:ext cx="54864" cy="54864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8366760" y="2505456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Jira issue changelog API — filter status change to 'In Progress'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257032" y="3424428"/>
            <a:ext cx="54864" cy="54864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8366760" y="3332988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GitHub PR events API — pr.created_at and pr.merged_at per feature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257032" y="4251960"/>
            <a:ext cx="54864" cy="54864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8366760" y="4160520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CI/CD deployment event webhook → log to STUMP AnalysisRun</a:t>
            </a:r>
          </a:p>
        </p:txBody>
      </p:sp>
      <p:sp>
        <p:nvSpPr>
          <p:cNvPr id="90" name="Rectangle 89"/>
          <p:cNvSpPr/>
          <p:nvPr/>
        </p:nvSpPr>
        <p:spPr>
          <a:xfrm>
            <a:off x="8257032" y="5079492"/>
            <a:ext cx="54864" cy="54864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8366760" y="4988052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STUMP VSM Analyzer computes per-phase cycle time on each pipeline run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0067544" y="2194560"/>
            <a:ext cx="1874520" cy="3602736"/>
          </a:xfrm>
          <a:prstGeom prst="rect">
            <a:avLst/>
          </a:prstGeom>
          <a:solidFill>
            <a:srgbClr val="F4F7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Rectangle 92"/>
          <p:cNvSpPr/>
          <p:nvPr/>
        </p:nvSpPr>
        <p:spPr>
          <a:xfrm>
            <a:off x="10067544" y="2194560"/>
            <a:ext cx="1874520" cy="256032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10140696" y="2240280"/>
            <a:ext cx="17647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Calculate &amp; Display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0158984" y="2596896"/>
            <a:ext cx="54864" cy="5486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10268712" y="2505456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Calc: AVG(deploy_at − in_progress_at) per sprint</a:t>
            </a:r>
          </a:p>
        </p:txBody>
      </p:sp>
      <p:sp>
        <p:nvSpPr>
          <p:cNvPr id="97" name="Rectangle 96"/>
          <p:cNvSpPr/>
          <p:nvPr/>
        </p:nvSpPr>
        <p:spPr>
          <a:xfrm>
            <a:off x="10158984" y="3424428"/>
            <a:ext cx="54864" cy="5486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10268712" y="3332988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Chart: Scatter plot — individual items plotted; percentile lines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0158984" y="4251960"/>
            <a:ext cx="54864" cy="5486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10268712" y="4160520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Target: Reduce p85 cycle time sprint-over-sprint by ≥ 10 %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10158984" y="5079492"/>
            <a:ext cx="54864" cy="5486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10268712" y="4988052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Display: Bottlenecks page — per-phase wait-time breakdown bar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6263640" y="5833872"/>
            <a:ext cx="1856232" cy="292608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6327648" y="5897880"/>
            <a:ext cx="1764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Opt A: 7 – 14 days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8156448" y="5833872"/>
            <a:ext cx="1856232" cy="292608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8220456" y="5897880"/>
            <a:ext cx="1764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Opt B: 3 – 7 days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10049256" y="5833872"/>
            <a:ext cx="1856232" cy="292608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10113264" y="5897880"/>
            <a:ext cx="1764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Opt C: &lt; 2 days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6263640" y="6163056"/>
            <a:ext cx="5678424" cy="274320"/>
          </a:xfrm>
          <a:prstGeom prst="rect">
            <a:avLst/>
          </a:prstGeom>
          <a:solidFill>
            <a:srgbClr val="F3F4F6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6318504" y="6227064"/>
            <a:ext cx="594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0048"/>
                </a:solidFill>
              </a:rPr>
              <a:t>Sources: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958584" y="6217920"/>
            <a:ext cx="1243584" cy="173736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6995160" y="6236208"/>
            <a:ext cx="11887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</a:rPr>
              <a:t>Jira History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8266176" y="6217920"/>
            <a:ext cx="1143000" cy="173736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8302752" y="6236208"/>
            <a:ext cx="108813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</a:rPr>
              <a:t>GitHub PRs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9473184" y="6217920"/>
            <a:ext cx="891540" cy="173736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9509760" y="6236208"/>
            <a:ext cx="83667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</a:rPr>
              <a:t>CI/CD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914400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37744" y="91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</a:rPr>
              <a:t>PDLC Performance Metrics — Deep Dive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" y="548640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2BBE6"/>
                </a:solidFill>
              </a:rPr>
              <a:t>Flow Efficiency %  ·  Work in Progress (WIP)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914400"/>
            <a:ext cx="12188952" cy="27432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620256"/>
            <a:ext cx="12188952" cy="23774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82880" y="6638544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2BBE6"/>
                </a:solidFill>
              </a:rPr>
              <a:t>STUMP  ·  Metrics &amp; Measurement Framework  ·  © 2026 Cognizant  · 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04320" y="6638544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92BBE6"/>
                </a:solidFill>
              </a:rPr>
              <a:t>M6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" y="1005840"/>
            <a:ext cx="5897880" cy="5486400"/>
          </a:xfrm>
          <a:prstGeom prst="rect">
            <a:avLst/>
          </a:prstGeom>
          <a:solidFill>
            <a:srgbClr val="FFFFFF"/>
          </a:solidFill>
          <a:ln w="762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37160" y="1005840"/>
            <a:ext cx="5897880" cy="420624"/>
          </a:xfrm>
          <a:prstGeom prst="rect">
            <a:avLst/>
          </a:prstGeom>
          <a:solidFill>
            <a:srgbClr val="06C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46888" y="1088136"/>
            <a:ext cx="57515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Flow Efficiency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" y="1463040"/>
            <a:ext cx="57515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</a:rPr>
              <a:t>Proportion of total lead time spent on value-adding work vs. waiting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6888" y="1773936"/>
            <a:ext cx="5678424" cy="347472"/>
          </a:xfrm>
          <a:prstGeom prst="rect">
            <a:avLst/>
          </a:prstGeom>
          <a:solidFill>
            <a:srgbClr val="EFF6FF"/>
          </a:solidFill>
          <a:ln w="9525">
            <a:solidFill>
              <a:srgbClr val="2F7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38328" y="1828800"/>
            <a:ext cx="5623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0048"/>
                </a:solidFill>
              </a:rPr>
              <a:t>Formula:  (Total Process Time ÷ Total Lead Time) × 100   [PT / (PT + WT) × 100]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6888" y="2194560"/>
            <a:ext cx="1874520" cy="3602736"/>
          </a:xfrm>
          <a:prstGeom prst="rect">
            <a:avLst/>
          </a:prstGeom>
          <a:solidFill>
            <a:srgbClr val="F4F7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46888" y="2194560"/>
            <a:ext cx="1874520" cy="256032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20040" y="2240280"/>
            <a:ext cx="17647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Data Needed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8328" y="2596896"/>
            <a:ext cx="54864" cy="5486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48056" y="2505456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Process time (active work time) per phase from ALM worklogs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8328" y="3424428"/>
            <a:ext cx="54864" cy="5486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48056" y="3332988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Wait time (queue / blocked time) per phase from status timestamps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8328" y="4251960"/>
            <a:ext cx="54864" cy="5486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48056" y="4160520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Phase boundary definitions aligned to VSM Editor config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8328" y="5079492"/>
            <a:ext cx="54864" cy="5486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48056" y="4988052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DORA calibration overrides (code review wait, build wait)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148840" y="2194560"/>
            <a:ext cx="1874520" cy="3602736"/>
          </a:xfrm>
          <a:prstGeom prst="rect">
            <a:avLst/>
          </a:prstGeom>
          <a:solidFill>
            <a:srgbClr val="F4F7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2148840" y="2194560"/>
            <a:ext cx="1874520" cy="256032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221992" y="2240280"/>
            <a:ext cx="17647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Capture Approach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240280" y="2596896"/>
            <a:ext cx="54864" cy="54864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350008" y="2505456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STUMP VSM Analyzer computes PT and WT per phase from ALM data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40280" y="3424428"/>
            <a:ext cx="54864" cy="54864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350008" y="3332988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Jira time-in-status report for WT; worklog for PT per phase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240280" y="4251960"/>
            <a:ext cx="54864" cy="54864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350008" y="4160520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DORA Assessment page captures code_review_wait and build_duration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240280" y="5079492"/>
            <a:ext cx="54864" cy="54864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350008" y="4988052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Store per-phase PT/WT in VSMSnapshot.vsm_data JSON each sprint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050792" y="2194560"/>
            <a:ext cx="1874520" cy="3602736"/>
          </a:xfrm>
          <a:prstGeom prst="rect">
            <a:avLst/>
          </a:prstGeom>
          <a:solidFill>
            <a:srgbClr val="F4F7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4050792" y="2194560"/>
            <a:ext cx="1874520" cy="256032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123944" y="2240280"/>
            <a:ext cx="17647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Calculate &amp; Display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42232" y="2596896"/>
            <a:ext cx="54864" cy="5486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251960" y="2505456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Calc: SUM(PT across 7 phases) / SUM(PT + WT across 7 phases) × 100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142232" y="3424428"/>
            <a:ext cx="54864" cy="5486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251960" y="3332988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Chart: Stacked bar — PT (blue) vs WT (grey) per phase; FE% overlay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142232" y="4251960"/>
            <a:ext cx="54864" cy="5486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251960" y="4160520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Lean target: FE &gt; 40 % = Efficient; &lt; 15 % = Critical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142232" y="5079492"/>
            <a:ext cx="54864" cy="5486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251960" y="4988052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Display: Current State VSM page — phase-by-phase FE% heat strip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46888" y="5833872"/>
            <a:ext cx="1856232" cy="292608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310896" y="5897880"/>
            <a:ext cx="1764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Opt A: 18 – 28 %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139696" y="5833872"/>
            <a:ext cx="1856232" cy="292608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2203704" y="5897880"/>
            <a:ext cx="1764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Opt B: 32 – 45 %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032504" y="5833872"/>
            <a:ext cx="1856232" cy="292608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096512" y="5897880"/>
            <a:ext cx="1764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Opt C: 50 – 65 %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46888" y="6163056"/>
            <a:ext cx="5678424" cy="274320"/>
          </a:xfrm>
          <a:prstGeom prst="rect">
            <a:avLst/>
          </a:prstGeom>
          <a:solidFill>
            <a:srgbClr val="F3F4F6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301752" y="6227064"/>
            <a:ext cx="594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0048"/>
                </a:solidFill>
              </a:rPr>
              <a:t>Sources: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41832" y="6217920"/>
            <a:ext cx="1293876" cy="173736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78408" y="6236208"/>
            <a:ext cx="123901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</a:rPr>
              <a:t>Jira Worklogs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299716" y="6217920"/>
            <a:ext cx="1243584" cy="173736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2336292" y="6236208"/>
            <a:ext cx="11887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</a:rPr>
              <a:t>VSM Analyzer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07308" y="6217920"/>
            <a:ext cx="1444752" cy="173736"/>
          </a:xfrm>
          <a:prstGeom prst="rect">
            <a:avLst/>
          </a:prstGeom>
          <a:solidFill>
            <a:srgbClr val="06C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3643884" y="6236208"/>
            <a:ext cx="138988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</a:rPr>
              <a:t>DORA Calibration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153912" y="1005840"/>
            <a:ext cx="5897880" cy="5486400"/>
          </a:xfrm>
          <a:prstGeom prst="rect">
            <a:avLst/>
          </a:prstGeom>
          <a:solidFill>
            <a:srgbClr val="FFFFFF"/>
          </a:solidFill>
          <a:ln w="762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6153912" y="1005840"/>
            <a:ext cx="5897880" cy="42062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6263640" y="1088136"/>
            <a:ext cx="57515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Work in Progress (WIP)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263640" y="1463040"/>
            <a:ext cx="57515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</a:rPr>
              <a:t>Number of work items simultaneously in an active (not done, not backlog) state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263640" y="1773936"/>
            <a:ext cx="5678424" cy="347472"/>
          </a:xfrm>
          <a:prstGeom prst="rect">
            <a:avLst/>
          </a:prstGeom>
          <a:solidFill>
            <a:srgbClr val="EFF6FF"/>
          </a:solidFill>
          <a:ln w="9525">
            <a:solidFill>
              <a:srgbClr val="2F7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6355080" y="1828800"/>
            <a:ext cx="5623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0048"/>
                </a:solidFill>
              </a:rPr>
              <a:t>Formula:  COUNT(items where status ∈ {In Progress, In Review, Blocked, In Test})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263640" y="2194560"/>
            <a:ext cx="1874520" cy="3602736"/>
          </a:xfrm>
          <a:prstGeom prst="rect">
            <a:avLst/>
          </a:prstGeom>
          <a:solidFill>
            <a:srgbClr val="F4F7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6263640" y="2194560"/>
            <a:ext cx="1874520" cy="256032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6336792" y="2240280"/>
            <a:ext cx="17647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Data Needed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355080" y="2596896"/>
            <a:ext cx="54864" cy="5486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6464808" y="2505456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Real-time work item statuses from Jira/ADO board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355080" y="3424428"/>
            <a:ext cx="54864" cy="5486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6464808" y="3332988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Team size and WIP limit policy from Settings page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355080" y="4251960"/>
            <a:ext cx="54864" cy="5486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6464808" y="4160520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Age of each in-progress item (days since In-Progress transition)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355080" y="5079492"/>
            <a:ext cx="54864" cy="5486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6464808" y="4988052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Blocked item count and blocker category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165592" y="2194560"/>
            <a:ext cx="1874520" cy="3602736"/>
          </a:xfrm>
          <a:prstGeom prst="rect">
            <a:avLst/>
          </a:prstGeom>
          <a:solidFill>
            <a:srgbClr val="F4F7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8165592" y="2194560"/>
            <a:ext cx="1874520" cy="256032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8238744" y="2240280"/>
            <a:ext cx="17647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Capture Approach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257032" y="2596896"/>
            <a:ext cx="54864" cy="54864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8366760" y="2505456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Jira/ADO Board API — poll active status counts daily via APScheduler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257032" y="3424428"/>
            <a:ext cx="54864" cy="54864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8366760" y="3332988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Store daily WIP snapshot in ActivityMetric table per phase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257032" y="4251960"/>
            <a:ext cx="54864" cy="54864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8366760" y="4160520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Flag items aged &gt; sprint_length as Aged WIP</a:t>
            </a:r>
          </a:p>
        </p:txBody>
      </p:sp>
      <p:sp>
        <p:nvSpPr>
          <p:cNvPr id="90" name="Rectangle 89"/>
          <p:cNvSpPr/>
          <p:nvPr/>
        </p:nvSpPr>
        <p:spPr>
          <a:xfrm>
            <a:off x="8257032" y="5079492"/>
            <a:ext cx="54864" cy="54864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8366760" y="4988052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STUMP Operations Intelligence page displays real-time WIP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0067544" y="2194560"/>
            <a:ext cx="1874520" cy="3602736"/>
          </a:xfrm>
          <a:prstGeom prst="rect">
            <a:avLst/>
          </a:prstGeom>
          <a:solidFill>
            <a:srgbClr val="F4F7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Rectangle 92"/>
          <p:cNvSpPr/>
          <p:nvPr/>
        </p:nvSpPr>
        <p:spPr>
          <a:xfrm>
            <a:off x="10067544" y="2194560"/>
            <a:ext cx="1874520" cy="256032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10140696" y="2240280"/>
            <a:ext cx="17647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Calculate &amp; Display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0158984" y="2596896"/>
            <a:ext cx="54864" cy="5486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10268712" y="2505456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Calc: COUNT(active_status_items) per team per day</a:t>
            </a:r>
          </a:p>
        </p:txBody>
      </p:sp>
      <p:sp>
        <p:nvSpPr>
          <p:cNvPr id="97" name="Rectangle 96"/>
          <p:cNvSpPr/>
          <p:nvPr/>
        </p:nvSpPr>
        <p:spPr>
          <a:xfrm>
            <a:off x="10158984" y="3424428"/>
            <a:ext cx="54864" cy="5486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10268712" y="3332988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Chart: WIP trend line + WIP limit rule line per sprint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0158984" y="4251960"/>
            <a:ext cx="54864" cy="5486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10268712" y="4160520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Little's Law: Throughput = WIP ÷ Cycle Time (validate consistency)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10158984" y="5079492"/>
            <a:ext cx="54864" cy="5486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10268712" y="4988052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Alert: WIP &gt; team_wip_limit triggers bottleneck notification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6263640" y="5833872"/>
            <a:ext cx="1856232" cy="292608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6327648" y="5897880"/>
            <a:ext cx="1764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Opt A: WIP ≤ 2× team size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8156448" y="5833872"/>
            <a:ext cx="1856232" cy="292608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8220456" y="5897880"/>
            <a:ext cx="1764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Opt B: WIP ≤ 1.5×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10049256" y="5833872"/>
            <a:ext cx="1856232" cy="292608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10113264" y="5897880"/>
            <a:ext cx="1764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Opt C: WIP ≤ 1×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6263640" y="6163056"/>
            <a:ext cx="5678424" cy="274320"/>
          </a:xfrm>
          <a:prstGeom prst="rect">
            <a:avLst/>
          </a:prstGeom>
          <a:solidFill>
            <a:srgbClr val="F3F4F6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6318504" y="6227064"/>
            <a:ext cx="594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0048"/>
                </a:solidFill>
              </a:rPr>
              <a:t>Sources: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958584" y="6217920"/>
            <a:ext cx="1344168" cy="173736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6995160" y="6236208"/>
            <a:ext cx="128930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</a:rPr>
              <a:t>Jira/ADO Board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8366760" y="6217920"/>
            <a:ext cx="1394460" cy="173736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8403336" y="6236208"/>
            <a:ext cx="133959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</a:rPr>
              <a:t>STUMP Scheduler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914400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37744" y="91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</a:rPr>
              <a:t>PDLC Performance Metrics — Deep Dive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" y="548640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2BBE6"/>
                </a:solidFill>
              </a:rPr>
              <a:t>Deployment Frequency  ·  Change Failure Rate &amp; MTTR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914400"/>
            <a:ext cx="12188952" cy="27432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620256"/>
            <a:ext cx="12188952" cy="23774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82880" y="6638544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2BBE6"/>
                </a:solidFill>
              </a:rPr>
              <a:t>STUMP  ·  Metrics &amp; Measurement Framework  ·  © 2026 Cognizant  · 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04320" y="6638544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92BBE6"/>
                </a:solidFill>
              </a:rPr>
              <a:t>M7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" y="1005840"/>
            <a:ext cx="5897880" cy="5486400"/>
          </a:xfrm>
          <a:prstGeom prst="rect">
            <a:avLst/>
          </a:prstGeom>
          <a:solidFill>
            <a:srgbClr val="FFFFFF"/>
          </a:solidFill>
          <a:ln w="762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37160" y="1005840"/>
            <a:ext cx="5897880" cy="420624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46888" y="1088136"/>
            <a:ext cx="57515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Deployment Frequency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" y="1463040"/>
            <a:ext cx="57515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</a:rPr>
              <a:t>How often code is successfully deployed to production per time period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6888" y="1773936"/>
            <a:ext cx="5678424" cy="347472"/>
          </a:xfrm>
          <a:prstGeom prst="rect">
            <a:avLst/>
          </a:prstGeom>
          <a:solidFill>
            <a:srgbClr val="EFF6FF"/>
          </a:solidFill>
          <a:ln w="9525">
            <a:solidFill>
              <a:srgbClr val="2F7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38328" y="1828800"/>
            <a:ext cx="5623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0048"/>
                </a:solidFill>
              </a:rPr>
              <a:t>Formula:  COUNT(successful production deployments) ÷ Time period (week / day)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6888" y="2194560"/>
            <a:ext cx="1874520" cy="3602736"/>
          </a:xfrm>
          <a:prstGeom prst="rect">
            <a:avLst/>
          </a:prstGeom>
          <a:solidFill>
            <a:srgbClr val="F4F7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46888" y="2194560"/>
            <a:ext cx="1874520" cy="256032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20040" y="2240280"/>
            <a:ext cx="17647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Data Needed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8328" y="2596896"/>
            <a:ext cx="54864" cy="5486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48056" y="2505456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Successful production deployment events from CI/CD pipeline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8328" y="3424428"/>
            <a:ext cx="54864" cy="5486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48056" y="3332988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Environment tags (prod vs staging) from deployment config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8328" y="4251960"/>
            <a:ext cx="54864" cy="5486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48056" y="4160520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Rollback events (to exclude from successful count)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8328" y="5079492"/>
            <a:ext cx="54864" cy="5486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48056" y="4988052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Release cadence config from platform Settings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148840" y="2194560"/>
            <a:ext cx="1874520" cy="3602736"/>
          </a:xfrm>
          <a:prstGeom prst="rect">
            <a:avLst/>
          </a:prstGeom>
          <a:solidFill>
            <a:srgbClr val="F4F7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2148840" y="2194560"/>
            <a:ext cx="1874520" cy="256032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221992" y="2240280"/>
            <a:ext cx="17647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Capture Approach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240280" y="2596896"/>
            <a:ext cx="54864" cy="54864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350008" y="2505456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CI/CD webhook → POST to STUMP /api/v1/alm on each prod deployment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40280" y="3424428"/>
            <a:ext cx="54864" cy="54864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350008" y="3332988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GitHub Release API — count tags published to main/prod branch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240280" y="4251960"/>
            <a:ext cx="54864" cy="54864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350008" y="4160520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Store deployment event in AnalysisRun with trigger='deployment'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240280" y="5079492"/>
            <a:ext cx="54864" cy="54864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350008" y="4988052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STUMP DORA Assessment page captures and calibrates this value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050792" y="2194560"/>
            <a:ext cx="1874520" cy="3602736"/>
          </a:xfrm>
          <a:prstGeom prst="rect">
            <a:avLst/>
          </a:prstGeom>
          <a:solidFill>
            <a:srgbClr val="F4F7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4050792" y="2194560"/>
            <a:ext cx="1874520" cy="256032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123944" y="2240280"/>
            <a:ext cx="17647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Calculate &amp; Display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42232" y="2596896"/>
            <a:ext cx="54864" cy="5486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251960" y="2505456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Calc: COUNT(prod_deployments) / days_in_period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142232" y="3424428"/>
            <a:ext cx="54864" cy="5486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251960" y="3332988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DORA bands: Elite = multiple/day; High = daily; Medium = weekly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142232" y="4251960"/>
            <a:ext cx="54864" cy="5486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251960" y="4160520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Chart: Deployment frequency bar per week; DORA band colour overlay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142232" y="5079492"/>
            <a:ext cx="54864" cy="5486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251960" y="4988052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Display: Dashboard KPI card + DORA Assessment page trend chart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46888" y="5833872"/>
            <a:ext cx="1856232" cy="292608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310896" y="5897880"/>
            <a:ext cx="1764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Opt A: Weekly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139696" y="5833872"/>
            <a:ext cx="1856232" cy="292608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2203704" y="5897880"/>
            <a:ext cx="1764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Opt B: Daily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032504" y="5833872"/>
            <a:ext cx="1856232" cy="292608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096512" y="5897880"/>
            <a:ext cx="1764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Opt C: Multiple / day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46888" y="6163056"/>
            <a:ext cx="5678424" cy="274320"/>
          </a:xfrm>
          <a:prstGeom prst="rect">
            <a:avLst/>
          </a:prstGeom>
          <a:solidFill>
            <a:srgbClr val="F3F4F6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301752" y="6227064"/>
            <a:ext cx="594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0048"/>
                </a:solidFill>
              </a:rPr>
              <a:t>Sources: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41832" y="6217920"/>
            <a:ext cx="1344168" cy="173736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78408" y="6236208"/>
            <a:ext cx="128930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</a:rPr>
              <a:t>CI/CD Pipeline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350008" y="6217920"/>
            <a:ext cx="1394460" cy="173736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2386584" y="6236208"/>
            <a:ext cx="133959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</a:rPr>
              <a:t>GitHub Releases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808476" y="6217920"/>
            <a:ext cx="1394460" cy="173736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3845052" y="6236208"/>
            <a:ext cx="133959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</a:rPr>
              <a:t>DORA Assessment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153912" y="1005840"/>
            <a:ext cx="5897880" cy="5486400"/>
          </a:xfrm>
          <a:prstGeom prst="rect">
            <a:avLst/>
          </a:prstGeom>
          <a:solidFill>
            <a:srgbClr val="FFFFFF"/>
          </a:solidFill>
          <a:ln w="762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6153912" y="1005840"/>
            <a:ext cx="5897880" cy="420624"/>
          </a:xfrm>
          <a:prstGeom prst="rect">
            <a:avLst/>
          </a:prstGeom>
          <a:solidFill>
            <a:srgbClr val="B45A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6263640" y="1088136"/>
            <a:ext cx="57515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Change Failure Rate (CFR) &amp; MTTR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263640" y="1463040"/>
            <a:ext cx="57515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</a:rPr>
              <a:t>CFR: % of deployments causing incidents.  MTTR: avg time to restore service after failure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263640" y="1773936"/>
            <a:ext cx="5678424" cy="347472"/>
          </a:xfrm>
          <a:prstGeom prst="rect">
            <a:avLst/>
          </a:prstGeom>
          <a:solidFill>
            <a:srgbClr val="EFF6FF"/>
          </a:solidFill>
          <a:ln w="9525">
            <a:solidFill>
              <a:srgbClr val="2F7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6355080" y="1828800"/>
            <a:ext cx="5623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0048"/>
                </a:solidFill>
              </a:rPr>
              <a:t>Formula:  CFR = (Failed deploys ÷ Total deploys) × 100  |  MTTR = AVG(restore_time − incident_time)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263640" y="2194560"/>
            <a:ext cx="1874520" cy="3602736"/>
          </a:xfrm>
          <a:prstGeom prst="rect">
            <a:avLst/>
          </a:prstGeom>
          <a:solidFill>
            <a:srgbClr val="F4F7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6263640" y="2194560"/>
            <a:ext cx="1874520" cy="256032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6336792" y="2240280"/>
            <a:ext cx="17647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Data Needed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355080" y="2596896"/>
            <a:ext cx="54864" cy="5486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6464808" y="2505456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Deployment success/failure status from CI/CD pipeline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355080" y="3424428"/>
            <a:ext cx="54864" cy="5486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6464808" y="3332988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Incident creation and resolution timestamps from ServiceNow/PagerDuty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355080" y="4251960"/>
            <a:ext cx="54864" cy="5486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6464808" y="4160520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Deployment-to-incident correlation (deployment_id → incident_id)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355080" y="5079492"/>
            <a:ext cx="54864" cy="5486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6464808" y="4988052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Rollback event count and duration from release tooling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165592" y="2194560"/>
            <a:ext cx="1874520" cy="3602736"/>
          </a:xfrm>
          <a:prstGeom prst="rect">
            <a:avLst/>
          </a:prstGeom>
          <a:solidFill>
            <a:srgbClr val="F4F7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8165592" y="2194560"/>
            <a:ext cx="1874520" cy="256032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8238744" y="2240280"/>
            <a:ext cx="17647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Capture Approach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257032" y="2596896"/>
            <a:ext cx="54864" cy="54864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8366760" y="2505456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CI/CD post-deploy health check — classify deploy as success/failure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257032" y="3424428"/>
            <a:ext cx="54864" cy="54864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8366760" y="3332988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ServiceNow/PagerDuty webhook → POST incident events to STUMP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257032" y="4251960"/>
            <a:ext cx="54864" cy="54864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8366760" y="4160520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Correlate by: incident created within 24h of deployment_id</a:t>
            </a:r>
          </a:p>
        </p:txBody>
      </p:sp>
      <p:sp>
        <p:nvSpPr>
          <p:cNvPr id="90" name="Rectangle 89"/>
          <p:cNvSpPr/>
          <p:nvPr/>
        </p:nvSpPr>
        <p:spPr>
          <a:xfrm>
            <a:off x="8257032" y="5079492"/>
            <a:ext cx="54864" cy="54864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8366760" y="4988052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STUMP Risk Assistant agent flags deployment-correlated incidents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0067544" y="2194560"/>
            <a:ext cx="1874520" cy="3602736"/>
          </a:xfrm>
          <a:prstGeom prst="rect">
            <a:avLst/>
          </a:prstGeom>
          <a:solidFill>
            <a:srgbClr val="F4F7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Rectangle 92"/>
          <p:cNvSpPr/>
          <p:nvPr/>
        </p:nvSpPr>
        <p:spPr>
          <a:xfrm>
            <a:off x="10067544" y="2194560"/>
            <a:ext cx="1874520" cy="256032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10140696" y="2240280"/>
            <a:ext cx="17647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Calculate &amp; Display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0158984" y="2596896"/>
            <a:ext cx="54864" cy="5486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10268712" y="2505456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CFR Calc: COUNT(failed_deploys) / COUNT(total_deploys) × 100</a:t>
            </a:r>
          </a:p>
        </p:txBody>
      </p:sp>
      <p:sp>
        <p:nvSpPr>
          <p:cNvPr id="97" name="Rectangle 96"/>
          <p:cNvSpPr/>
          <p:nvPr/>
        </p:nvSpPr>
        <p:spPr>
          <a:xfrm>
            <a:off x="10158984" y="3424428"/>
            <a:ext cx="54864" cy="5486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10268712" y="3332988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MTTR Calc: AVG(resolved_at − created_at) for deployment incidents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0158984" y="4251960"/>
            <a:ext cx="54864" cy="5486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10268712" y="4160520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DORA bands — CFR: Elite &lt; 5 %; High &lt; 10 %. MTTR: Elite &lt; 1h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10158984" y="5079492"/>
            <a:ext cx="54864" cy="5486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10268712" y="4988052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Display: Dashboard DORA KPI panel; Governance page risk heatmap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6263640" y="5833872"/>
            <a:ext cx="1856232" cy="292608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6327648" y="5897880"/>
            <a:ext cx="1764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Opt A: CFR &lt; 15 % / MTTR &lt; 4h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8156448" y="5833872"/>
            <a:ext cx="1856232" cy="292608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8220456" y="5897880"/>
            <a:ext cx="1764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Opt B: CFR &lt; 8 % / MTTR &lt; 2h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10049256" y="5833872"/>
            <a:ext cx="1856232" cy="292608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10113264" y="5897880"/>
            <a:ext cx="1764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Opt C: CFR &lt; 5 % / MTTR &lt; 1h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6263640" y="6163056"/>
            <a:ext cx="5678424" cy="274320"/>
          </a:xfrm>
          <a:prstGeom prst="rect">
            <a:avLst/>
          </a:prstGeom>
          <a:solidFill>
            <a:srgbClr val="F3F4F6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6318504" y="6227064"/>
            <a:ext cx="594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0048"/>
                </a:solidFill>
              </a:rPr>
              <a:t>Sources: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958584" y="6217920"/>
            <a:ext cx="1344168" cy="173736"/>
          </a:xfrm>
          <a:prstGeom prst="rect">
            <a:avLst/>
          </a:prstGeom>
          <a:solidFill>
            <a:srgbClr val="B45A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6995160" y="6236208"/>
            <a:ext cx="128930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</a:rPr>
              <a:t>CI/CD Pipeline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8366760" y="6217920"/>
            <a:ext cx="1293876" cy="173736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8403336" y="6236208"/>
            <a:ext cx="123901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</a:rPr>
              <a:t>ServiceNow/PD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9724644" y="6217920"/>
            <a:ext cx="1344168" cy="173736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9761220" y="6236208"/>
            <a:ext cx="128930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</a:rPr>
              <a:t>Risk Assistant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914400"/>
          </a:xfrm>
          <a:prstGeom prst="rect">
            <a:avLst/>
          </a:prstGeom>
          <a:solidFill>
            <a:srgbClr val="06C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37744" y="91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</a:rPr>
              <a:t>Data Collection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" y="548640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2BBE6"/>
                </a:solidFill>
              </a:rPr>
              <a:t>How metrics data flows from source systems through STUMP to dashboards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914400"/>
            <a:ext cx="12188952" cy="27432"/>
          </a:xfrm>
          <a:prstGeom prst="rect">
            <a:avLst/>
          </a:prstGeom>
          <a:solidFill>
            <a:srgbClr val="06C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620256"/>
            <a:ext cx="12188952" cy="23774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82880" y="6638544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2BBE6"/>
                </a:solidFill>
              </a:rPr>
              <a:t>STUMP  ·  Metrics &amp; Measurement Framework  ·  © 2026 Cognizant  · 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04320" y="6638544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92BBE6"/>
                </a:solidFill>
              </a:rPr>
              <a:t>M8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" y="1005840"/>
            <a:ext cx="3877056" cy="5230368"/>
          </a:xfrm>
          <a:prstGeom prst="rect">
            <a:avLst/>
          </a:prstGeom>
          <a:solidFill>
            <a:srgbClr val="F4F7FF"/>
          </a:solidFill>
          <a:ln w="762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37160" y="1005840"/>
            <a:ext cx="3877056" cy="274320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46888" y="1060704"/>
            <a:ext cx="37124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DATA SOURCES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" y="1389888"/>
            <a:ext cx="3694176" cy="749808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28600" y="1389888"/>
            <a:ext cx="73152" cy="749808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56616" y="1453896"/>
            <a:ext cx="35478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0048"/>
                </a:solidFill>
              </a:rPr>
              <a:t>Jira / Azure DevOps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" y="1700784"/>
            <a:ext cx="35478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</a:rPr>
              <a:t>Work items, status history, worklogs, sprint data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" y="2185416"/>
            <a:ext cx="3694176" cy="749808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28600" y="2185416"/>
            <a:ext cx="73152" cy="749808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56616" y="2249424"/>
            <a:ext cx="35478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0048"/>
                </a:solidFill>
              </a:rPr>
              <a:t>GitHub / GitLab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" y="2496312"/>
            <a:ext cx="35478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</a:rPr>
              <a:t>PR events, merge times, deployment tags, commit frequency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8600" y="2980944"/>
            <a:ext cx="3694176" cy="749808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28600" y="2980944"/>
            <a:ext cx="73152" cy="749808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56616" y="3044952"/>
            <a:ext cx="35478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0048"/>
                </a:solidFill>
              </a:rPr>
              <a:t>CI/CD Pipeline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" y="3291840"/>
            <a:ext cx="35478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</a:rPr>
              <a:t>Build results, deploy events, rollback flags, durations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8600" y="3776472"/>
            <a:ext cx="3694176" cy="749808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228600" y="3776472"/>
            <a:ext cx="73152" cy="749808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56616" y="3840480"/>
            <a:ext cx="35478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0048"/>
                </a:solidFill>
              </a:rPr>
              <a:t>ServiceNow / PagerDuty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" y="4087368"/>
            <a:ext cx="35478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</a:rPr>
              <a:t>Incident timestamps, severity, resolution events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8600" y="4572000"/>
            <a:ext cx="3694176" cy="749808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228600" y="4572000"/>
            <a:ext cx="73152" cy="749808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56616" y="4636008"/>
            <a:ext cx="35478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0048"/>
                </a:solidFill>
              </a:rPr>
              <a:t>Azure OpenAI Billing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4882896"/>
            <a:ext cx="35478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</a:rPr>
              <a:t>LLM API call counts, token usage, cost per agent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28600" y="5367528"/>
            <a:ext cx="3694176" cy="749808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228600" y="5367528"/>
            <a:ext cx="73152" cy="749808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56616" y="5431536"/>
            <a:ext cx="35478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0048"/>
                </a:solidFill>
              </a:rPr>
              <a:t>STUMP Agent Telemetry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5678424"/>
            <a:ext cx="35478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</a:rPr>
              <a:t>Agent invocations, accept/reject events, phase coverage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315968" y="1005840"/>
            <a:ext cx="3877056" cy="5230368"/>
          </a:xfrm>
          <a:prstGeom prst="rect">
            <a:avLst/>
          </a:prstGeom>
          <a:solidFill>
            <a:srgbClr val="F4F7FF"/>
          </a:solidFill>
          <a:ln w="762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4315968" y="1005840"/>
            <a:ext cx="3877056" cy="27432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425696" y="1060704"/>
            <a:ext cx="37124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STUMP PROCESSING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407408" y="1389888"/>
            <a:ext cx="3694176" cy="749808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407408" y="1389888"/>
            <a:ext cx="73152" cy="749808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535424" y="1453896"/>
            <a:ext cx="35478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F78C4"/>
                </a:solidFill>
              </a:rPr>
              <a:t>ALM Connector Agent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35424" y="1700784"/>
            <a:ext cx="35478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</a:rPr>
              <a:t>Fetches &amp; normalises work item data per PDLC phase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407408" y="2185416"/>
            <a:ext cx="3694176" cy="749808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4407408" y="2185416"/>
            <a:ext cx="73152" cy="749808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535424" y="2249424"/>
            <a:ext cx="35478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F78C4"/>
                </a:solidFill>
              </a:rPr>
              <a:t>VSM Analyzer Agent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35424" y="2496312"/>
            <a:ext cx="35478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</a:rPr>
              <a:t>Computes PT, WT, LT, FE % with DORA calibration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407408" y="2980944"/>
            <a:ext cx="3694176" cy="749808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4407408" y="2980944"/>
            <a:ext cx="73152" cy="749808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535424" y="3044952"/>
            <a:ext cx="35478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F78C4"/>
                </a:solidFill>
              </a:rPr>
              <a:t>APScheduler Pipeline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35424" y="3291840"/>
            <a:ext cx="35478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</a:rPr>
              <a:t>Automated nightly/weekly metric collection runs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407408" y="3776472"/>
            <a:ext cx="3694176" cy="749808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4407408" y="3776472"/>
            <a:ext cx="73152" cy="749808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535424" y="3840480"/>
            <a:ext cx="35478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F78C4"/>
                </a:solidFill>
              </a:rPr>
              <a:t>ActivityMetric Table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35424" y="4087368"/>
            <a:ext cx="35478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</a:rPr>
              <a:t>Persists per-phase, per-sprint metric snapshots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407408" y="4572000"/>
            <a:ext cx="3694176" cy="749808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4407408" y="4572000"/>
            <a:ext cx="73152" cy="749808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4535424" y="4636008"/>
            <a:ext cx="35478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F78C4"/>
                </a:solidFill>
              </a:rPr>
              <a:t>AnalysisRun Store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535424" y="4882896"/>
            <a:ext cx="35478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</a:rPr>
              <a:t>Full pipeline results with agent-level metadata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407408" y="5367528"/>
            <a:ext cx="3694176" cy="749808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4407408" y="5367528"/>
            <a:ext cx="73152" cy="749808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4535424" y="5431536"/>
            <a:ext cx="35478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F78C4"/>
                </a:solidFill>
              </a:rPr>
              <a:t>Accuracy Feedback Loop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535424" y="5678424"/>
            <a:ext cx="35478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</a:rPr>
              <a:t>User-calibrated override capture via /api/v1/accuracy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494776" y="1005840"/>
            <a:ext cx="3877056" cy="5230368"/>
          </a:xfrm>
          <a:prstGeom prst="rect">
            <a:avLst/>
          </a:prstGeom>
          <a:solidFill>
            <a:srgbClr val="F4F7FF"/>
          </a:solidFill>
          <a:ln w="762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8494776" y="1005840"/>
            <a:ext cx="3877056" cy="274320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8604504" y="1060704"/>
            <a:ext cx="37124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OUTPUTS &amp; MONITORING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586216" y="1389888"/>
            <a:ext cx="3694176" cy="749808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8586216" y="1389888"/>
            <a:ext cx="73152" cy="749808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8714232" y="1453896"/>
            <a:ext cx="35478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E308E"/>
                </a:solidFill>
              </a:rPr>
              <a:t>STUMP Dashboard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714232" y="1700784"/>
            <a:ext cx="35478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</a:rPr>
              <a:t>KPI cards: Lead Time, FE %, Deployment Freq, WIP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586216" y="2185416"/>
            <a:ext cx="3694176" cy="749808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8586216" y="2185416"/>
            <a:ext cx="73152" cy="749808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8714232" y="2249424"/>
            <a:ext cx="35478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E308E"/>
                </a:solidFill>
              </a:rPr>
              <a:t>Current State VSM Page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714232" y="2496312"/>
            <a:ext cx="35478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</a:rPr>
              <a:t>Phase heat-strip: PT, WT, FE % per phase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586216" y="2980944"/>
            <a:ext cx="3694176" cy="749808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8586216" y="2980944"/>
            <a:ext cx="73152" cy="749808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8714232" y="3044952"/>
            <a:ext cx="35478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E308E"/>
                </a:solidFill>
              </a:rPr>
              <a:t>AI Agents Monitor Page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714232" y="3291840"/>
            <a:ext cx="35478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</a:rPr>
              <a:t>Per-agent: utilisation, acceptance rate, ROI, savings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586216" y="3776472"/>
            <a:ext cx="3694176" cy="749808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8586216" y="3776472"/>
            <a:ext cx="73152" cy="749808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8714232" y="3840480"/>
            <a:ext cx="35478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E308E"/>
                </a:solidFill>
              </a:rPr>
              <a:t>DORA Assessment Page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714232" y="4087368"/>
            <a:ext cx="35478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</a:rPr>
              <a:t>DORA band classification: Elite / High / Medium / Low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586216" y="4572000"/>
            <a:ext cx="3694176" cy="749808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ectangle 84"/>
          <p:cNvSpPr/>
          <p:nvPr/>
        </p:nvSpPr>
        <p:spPr>
          <a:xfrm>
            <a:off x="8586216" y="4572000"/>
            <a:ext cx="73152" cy="749808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8714232" y="4636008"/>
            <a:ext cx="35478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E308E"/>
                </a:solidFill>
              </a:rPr>
              <a:t>Governance Page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714232" y="4882896"/>
            <a:ext cx="35478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</a:rPr>
              <a:t>Risk heatmap, CFR trend, MTTR trend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586216" y="5367528"/>
            <a:ext cx="3694176" cy="749808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ectangle 88"/>
          <p:cNvSpPr/>
          <p:nvPr/>
        </p:nvSpPr>
        <p:spPr>
          <a:xfrm>
            <a:off x="8586216" y="5367528"/>
            <a:ext cx="73152" cy="749808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8714232" y="5431536"/>
            <a:ext cx="35478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E308E"/>
                </a:solidFill>
              </a:rPr>
              <a:t>Excel / PDF Export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714232" y="5678424"/>
            <a:ext cx="35478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</a:rPr>
              <a:t>Downloadable sprint metrics report for stakeholders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032504" y="3474720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F78C4"/>
                </a:solidFill>
              </a:rPr>
              <a:t>→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005072" y="3913632"/>
            <a:ext cx="3474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B7280"/>
                </a:solidFill>
              </a:rPr>
              <a:t>Webhooks
API Polling
Agent Events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211312" y="3474720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E308E"/>
                </a:solidFill>
              </a:rPr>
              <a:t>→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183879" y="3913632"/>
            <a:ext cx="3474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B7280"/>
                </a:solidFill>
              </a:rPr>
              <a:t>REST API
Postgres
Export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914400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37744" y="91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</a:rPr>
              <a:t>Option A → B → C Progression Matrix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" y="548640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2BBE6"/>
                </a:solidFill>
              </a:rPr>
              <a:t>How each metric should evolve as AI adoption deepens across the PDLC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914400"/>
            <a:ext cx="12188952" cy="27432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620256"/>
            <a:ext cx="12188952" cy="23774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82880" y="6638544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2BBE6"/>
                </a:solidFill>
              </a:rPr>
              <a:t>STUMP  ·  Metrics &amp; Measurement Framework  ·  © 2026 Cognizant  · 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04320" y="6638544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92BBE6"/>
                </a:solidFill>
              </a:rPr>
              <a:t>M9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" y="1005840"/>
            <a:ext cx="2286000" cy="402336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10312" y="1051560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Metric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23160" y="1005840"/>
            <a:ext cx="822960" cy="402336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496312" y="1051560"/>
            <a:ext cx="731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Perspective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46120" y="1005840"/>
            <a:ext cx="2103120" cy="402336"/>
          </a:xfrm>
          <a:prstGeom prst="rect">
            <a:avLst/>
          </a:prstGeom>
          <a:solidFill>
            <a:srgbClr val="000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319272" y="1051560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Option A
(Augmented Human)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49240" y="1005840"/>
            <a:ext cx="2103120" cy="402336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22392" y="1051560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Option B
(Hybrid Agents)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52360" y="1005840"/>
            <a:ext cx="2103120" cy="402336"/>
          </a:xfrm>
          <a:prstGeom prst="rect">
            <a:avLst/>
          </a:prstGeom>
          <a:solidFill>
            <a:srgbClr val="035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525512" y="1051560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Option C
(AI-First)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555480" y="1005840"/>
            <a:ext cx="2103120" cy="402336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628632" y="1051560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Measurement
Source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37160" y="1408176"/>
            <a:ext cx="2286000" cy="379476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10312" y="1499616"/>
            <a:ext cx="219456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0048"/>
                </a:solidFill>
              </a:rPr>
              <a:t>Agent Utilisation Rate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23160" y="1408176"/>
            <a:ext cx="822960" cy="379476"/>
          </a:xfrm>
          <a:prstGeom prst="rect">
            <a:avLst/>
          </a:prstGeom>
          <a:solidFill>
            <a:srgbClr val="DBEAFE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496312" y="1499616"/>
            <a:ext cx="73152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</a:rPr>
              <a:t>Adoption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46120" y="1408176"/>
            <a:ext cx="2103120" cy="379476"/>
          </a:xfrm>
          <a:prstGeom prst="rect">
            <a:avLst/>
          </a:prstGeom>
          <a:solidFill>
            <a:srgbClr val="EFF6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319272" y="1499616"/>
            <a:ext cx="201168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</a:rPr>
              <a:t>30–50 %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349240" y="1408176"/>
            <a:ext cx="2103120" cy="379476"/>
          </a:xfrm>
          <a:prstGeom prst="rect">
            <a:avLst/>
          </a:prstGeom>
          <a:solidFill>
            <a:srgbClr val="F3F0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422392" y="1499616"/>
            <a:ext cx="201168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</a:rPr>
              <a:t>60–75 %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452360" y="1408176"/>
            <a:ext cx="2103120" cy="379476"/>
          </a:xfrm>
          <a:prstGeom prst="rect">
            <a:avLst/>
          </a:prstGeom>
          <a:solidFill>
            <a:srgbClr val="ECFDF3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525512" y="1499616"/>
            <a:ext cx="201168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</a:rPr>
              <a:t>85–95 %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555480" y="1408176"/>
            <a:ext cx="2103120" cy="379476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628632" y="1499616"/>
            <a:ext cx="201168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</a:rPr>
              <a:t>Agent Logs / STUMP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37160" y="1787652"/>
            <a:ext cx="2286000" cy="379476"/>
          </a:xfrm>
          <a:prstGeom prst="rect">
            <a:avLst/>
          </a:prstGeom>
          <a:solidFill>
            <a:srgbClr val="F8F9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10312" y="1879092"/>
            <a:ext cx="219456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0048"/>
                </a:solidFill>
              </a:rPr>
              <a:t>AI Acceptance Rate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423160" y="1787652"/>
            <a:ext cx="822960" cy="379476"/>
          </a:xfrm>
          <a:prstGeom prst="rect">
            <a:avLst/>
          </a:prstGeom>
          <a:solidFill>
            <a:srgbClr val="DBEAFE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496312" y="1879092"/>
            <a:ext cx="73152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</a:rPr>
              <a:t>Adoption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46120" y="1787652"/>
            <a:ext cx="2103120" cy="379476"/>
          </a:xfrm>
          <a:prstGeom prst="rect">
            <a:avLst/>
          </a:prstGeom>
          <a:solidFill>
            <a:srgbClr val="EFF6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319272" y="1879092"/>
            <a:ext cx="201168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</a:rPr>
              <a:t>55–70 %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349240" y="1787652"/>
            <a:ext cx="2103120" cy="379476"/>
          </a:xfrm>
          <a:prstGeom prst="rect">
            <a:avLst/>
          </a:prstGeom>
          <a:solidFill>
            <a:srgbClr val="F3F0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422392" y="1879092"/>
            <a:ext cx="201168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</a:rPr>
              <a:t>70–85 %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52360" y="1787652"/>
            <a:ext cx="2103120" cy="379476"/>
          </a:xfrm>
          <a:prstGeom prst="rect">
            <a:avLst/>
          </a:prstGeom>
          <a:solidFill>
            <a:srgbClr val="ECFDF3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525512" y="1879092"/>
            <a:ext cx="201168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</a:rPr>
              <a:t>88–95 %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555480" y="1787652"/>
            <a:ext cx="2103120" cy="379476"/>
          </a:xfrm>
          <a:prstGeom prst="rect">
            <a:avLst/>
          </a:prstGeom>
          <a:solidFill>
            <a:srgbClr val="F8F9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628632" y="1879092"/>
            <a:ext cx="201168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</a:rPr>
              <a:t>GitHub / LLM API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37160" y="2167128"/>
            <a:ext cx="2286000" cy="379476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10312" y="2258568"/>
            <a:ext cx="219456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0048"/>
                </a:solidFill>
              </a:rPr>
              <a:t>Human Override Rate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423160" y="2167128"/>
            <a:ext cx="822960" cy="379476"/>
          </a:xfrm>
          <a:prstGeom prst="rect">
            <a:avLst/>
          </a:prstGeom>
          <a:solidFill>
            <a:srgbClr val="DBEAFE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2496312" y="2258568"/>
            <a:ext cx="73152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</a:rPr>
              <a:t>Adoption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246120" y="2167128"/>
            <a:ext cx="2103120" cy="379476"/>
          </a:xfrm>
          <a:prstGeom prst="rect">
            <a:avLst/>
          </a:prstGeom>
          <a:solidFill>
            <a:srgbClr val="EFF6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3319272" y="2258568"/>
            <a:ext cx="201168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</a:rPr>
              <a:t>&lt; 35 %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349240" y="2167128"/>
            <a:ext cx="2103120" cy="379476"/>
          </a:xfrm>
          <a:prstGeom prst="rect">
            <a:avLst/>
          </a:prstGeom>
          <a:solidFill>
            <a:srgbClr val="F3F0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422392" y="2258568"/>
            <a:ext cx="201168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</a:rPr>
              <a:t>&lt; 20 %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452360" y="2167128"/>
            <a:ext cx="2103120" cy="379476"/>
          </a:xfrm>
          <a:prstGeom prst="rect">
            <a:avLst/>
          </a:prstGeom>
          <a:solidFill>
            <a:srgbClr val="ECFDF3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7525512" y="2258568"/>
            <a:ext cx="201168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</a:rPr>
              <a:t>&lt; 10 %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555480" y="2167128"/>
            <a:ext cx="2103120" cy="379476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9628632" y="2258568"/>
            <a:ext cx="201168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</a:rPr>
              <a:t>STUMP / GitHub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37160" y="2546604"/>
            <a:ext cx="2286000" cy="379476"/>
          </a:xfrm>
          <a:prstGeom prst="rect">
            <a:avLst/>
          </a:prstGeom>
          <a:solidFill>
            <a:srgbClr val="F8F9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210312" y="2638044"/>
            <a:ext cx="219456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0048"/>
                </a:solidFill>
              </a:rPr>
              <a:t>Time Saved / Agent / Sprint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423160" y="2546604"/>
            <a:ext cx="822960" cy="379476"/>
          </a:xfrm>
          <a:prstGeom prst="rect">
            <a:avLst/>
          </a:prstGeom>
          <a:solidFill>
            <a:srgbClr val="DBEAFE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2496312" y="2638044"/>
            <a:ext cx="73152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</a:rPr>
              <a:t>Adoption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246120" y="2546604"/>
            <a:ext cx="2103120" cy="379476"/>
          </a:xfrm>
          <a:prstGeom prst="rect">
            <a:avLst/>
          </a:prstGeom>
          <a:solidFill>
            <a:srgbClr val="EFF6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3319272" y="2638044"/>
            <a:ext cx="201168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</a:rPr>
              <a:t>2–8 hrs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349240" y="2546604"/>
            <a:ext cx="2103120" cy="379476"/>
          </a:xfrm>
          <a:prstGeom prst="rect">
            <a:avLst/>
          </a:prstGeom>
          <a:solidFill>
            <a:srgbClr val="F3F0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5422392" y="2638044"/>
            <a:ext cx="201168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</a:rPr>
              <a:t>8–20 hrs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452360" y="2546604"/>
            <a:ext cx="2103120" cy="379476"/>
          </a:xfrm>
          <a:prstGeom prst="rect">
            <a:avLst/>
          </a:prstGeom>
          <a:solidFill>
            <a:srgbClr val="ECFDF3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7525512" y="2638044"/>
            <a:ext cx="201168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</a:rPr>
              <a:t>20–40 hrs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555480" y="2546604"/>
            <a:ext cx="2103120" cy="379476"/>
          </a:xfrm>
          <a:prstGeom prst="rect">
            <a:avLst/>
          </a:prstGeom>
          <a:solidFill>
            <a:srgbClr val="F8F9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9628632" y="2638044"/>
            <a:ext cx="201168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</a:rPr>
              <a:t>Jira Worklogs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37160" y="2926080"/>
            <a:ext cx="2286000" cy="379476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210312" y="3017520"/>
            <a:ext cx="219456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0048"/>
                </a:solidFill>
              </a:rPr>
              <a:t>Agent ROI Multiple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423160" y="2926080"/>
            <a:ext cx="822960" cy="379476"/>
          </a:xfrm>
          <a:prstGeom prst="rect">
            <a:avLst/>
          </a:prstGeom>
          <a:solidFill>
            <a:srgbClr val="DBEAFE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2496312" y="3017520"/>
            <a:ext cx="73152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</a:rPr>
              <a:t>Adoption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246120" y="2926080"/>
            <a:ext cx="2103120" cy="379476"/>
          </a:xfrm>
          <a:prstGeom prst="rect">
            <a:avLst/>
          </a:prstGeom>
          <a:solidFill>
            <a:srgbClr val="EFF6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3319272" y="3017520"/>
            <a:ext cx="201168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</a:rPr>
              <a:t>1.5–3×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349240" y="2926080"/>
            <a:ext cx="2103120" cy="379476"/>
          </a:xfrm>
          <a:prstGeom prst="rect">
            <a:avLst/>
          </a:prstGeom>
          <a:solidFill>
            <a:srgbClr val="F3F0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5422392" y="3017520"/>
            <a:ext cx="201168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</a:rPr>
              <a:t>3–4.5×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452360" y="2926080"/>
            <a:ext cx="2103120" cy="379476"/>
          </a:xfrm>
          <a:prstGeom prst="rect">
            <a:avLst/>
          </a:prstGeom>
          <a:solidFill>
            <a:srgbClr val="ECFDF3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7525512" y="3017520"/>
            <a:ext cx="201168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</a:rPr>
              <a:t>4.5–6×</a:t>
            </a:r>
          </a:p>
        </p:txBody>
      </p:sp>
      <p:sp>
        <p:nvSpPr>
          <p:cNvPr id="81" name="Rectangle 80"/>
          <p:cNvSpPr/>
          <p:nvPr/>
        </p:nvSpPr>
        <p:spPr>
          <a:xfrm>
            <a:off x="9555480" y="2926080"/>
            <a:ext cx="2103120" cy="379476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9628632" y="3017520"/>
            <a:ext cx="201168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</a:rPr>
              <a:t>Billing + HR Cost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37160" y="3305556"/>
            <a:ext cx="2286000" cy="379476"/>
          </a:xfrm>
          <a:prstGeom prst="rect">
            <a:avLst/>
          </a:prstGeom>
          <a:solidFill>
            <a:srgbClr val="F8F9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210312" y="3396996"/>
            <a:ext cx="219456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0048"/>
                </a:solidFill>
              </a:rPr>
              <a:t>Lead Time</a:t>
            </a:r>
          </a:p>
        </p:txBody>
      </p:sp>
      <p:sp>
        <p:nvSpPr>
          <p:cNvPr id="85" name="Rectangle 84"/>
          <p:cNvSpPr/>
          <p:nvPr/>
        </p:nvSpPr>
        <p:spPr>
          <a:xfrm>
            <a:off x="2423160" y="3305556"/>
            <a:ext cx="822960" cy="379476"/>
          </a:xfrm>
          <a:prstGeom prst="rect">
            <a:avLst/>
          </a:prstGeom>
          <a:solidFill>
            <a:srgbClr val="E8E8F8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2496312" y="3396996"/>
            <a:ext cx="73152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</a:rPr>
              <a:t>PDLC Perf.</a:t>
            </a:r>
          </a:p>
        </p:txBody>
      </p:sp>
      <p:sp>
        <p:nvSpPr>
          <p:cNvPr id="87" name="Rectangle 86"/>
          <p:cNvSpPr/>
          <p:nvPr/>
        </p:nvSpPr>
        <p:spPr>
          <a:xfrm>
            <a:off x="3246120" y="3305556"/>
            <a:ext cx="2103120" cy="379476"/>
          </a:xfrm>
          <a:prstGeom prst="rect">
            <a:avLst/>
          </a:prstGeom>
          <a:solidFill>
            <a:srgbClr val="EFF6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3319272" y="3396996"/>
            <a:ext cx="201168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</a:rPr>
              <a:t>21–28 days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349240" y="3305556"/>
            <a:ext cx="2103120" cy="379476"/>
          </a:xfrm>
          <a:prstGeom prst="rect">
            <a:avLst/>
          </a:prstGeom>
          <a:solidFill>
            <a:srgbClr val="F3F0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5422392" y="3396996"/>
            <a:ext cx="201168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</a:rPr>
              <a:t>10–14 days</a:t>
            </a:r>
          </a:p>
        </p:txBody>
      </p:sp>
      <p:sp>
        <p:nvSpPr>
          <p:cNvPr id="91" name="Rectangle 90"/>
          <p:cNvSpPr/>
          <p:nvPr/>
        </p:nvSpPr>
        <p:spPr>
          <a:xfrm>
            <a:off x="7452360" y="3305556"/>
            <a:ext cx="2103120" cy="379476"/>
          </a:xfrm>
          <a:prstGeom prst="rect">
            <a:avLst/>
          </a:prstGeom>
          <a:solidFill>
            <a:srgbClr val="ECFDF3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7525512" y="3396996"/>
            <a:ext cx="201168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</a:rPr>
              <a:t>3–7 days</a:t>
            </a:r>
          </a:p>
        </p:txBody>
      </p:sp>
      <p:sp>
        <p:nvSpPr>
          <p:cNvPr id="93" name="Rectangle 92"/>
          <p:cNvSpPr/>
          <p:nvPr/>
        </p:nvSpPr>
        <p:spPr>
          <a:xfrm>
            <a:off x="9555480" y="3305556"/>
            <a:ext cx="2103120" cy="379476"/>
          </a:xfrm>
          <a:prstGeom prst="rect">
            <a:avLst/>
          </a:prstGeom>
          <a:solidFill>
            <a:srgbClr val="F8F9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9628632" y="3396996"/>
            <a:ext cx="201168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</a:rPr>
              <a:t>Jira + CI/CD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37160" y="3685032"/>
            <a:ext cx="2286000" cy="379476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210312" y="3776472"/>
            <a:ext cx="219456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0048"/>
                </a:solidFill>
              </a:rPr>
              <a:t>Cycle Time</a:t>
            </a:r>
          </a:p>
        </p:txBody>
      </p:sp>
      <p:sp>
        <p:nvSpPr>
          <p:cNvPr id="97" name="Rectangle 96"/>
          <p:cNvSpPr/>
          <p:nvPr/>
        </p:nvSpPr>
        <p:spPr>
          <a:xfrm>
            <a:off x="2423160" y="3685032"/>
            <a:ext cx="822960" cy="379476"/>
          </a:xfrm>
          <a:prstGeom prst="rect">
            <a:avLst/>
          </a:prstGeom>
          <a:solidFill>
            <a:srgbClr val="E8E8F8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2496312" y="3776472"/>
            <a:ext cx="73152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</a:rPr>
              <a:t>PDLC Perf.</a:t>
            </a:r>
          </a:p>
        </p:txBody>
      </p:sp>
      <p:sp>
        <p:nvSpPr>
          <p:cNvPr id="99" name="Rectangle 98"/>
          <p:cNvSpPr/>
          <p:nvPr/>
        </p:nvSpPr>
        <p:spPr>
          <a:xfrm>
            <a:off x="3246120" y="3685032"/>
            <a:ext cx="2103120" cy="379476"/>
          </a:xfrm>
          <a:prstGeom prst="rect">
            <a:avLst/>
          </a:prstGeom>
          <a:solidFill>
            <a:srgbClr val="EFF6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3319272" y="3776472"/>
            <a:ext cx="201168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</a:rPr>
              <a:t>7–14 days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5349240" y="3685032"/>
            <a:ext cx="2103120" cy="379476"/>
          </a:xfrm>
          <a:prstGeom prst="rect">
            <a:avLst/>
          </a:prstGeom>
          <a:solidFill>
            <a:srgbClr val="F3F0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5422392" y="3776472"/>
            <a:ext cx="201168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</a:rPr>
              <a:t>3–7 days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7452360" y="3685032"/>
            <a:ext cx="2103120" cy="379476"/>
          </a:xfrm>
          <a:prstGeom prst="rect">
            <a:avLst/>
          </a:prstGeom>
          <a:solidFill>
            <a:srgbClr val="ECFDF3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7525512" y="3776472"/>
            <a:ext cx="201168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</a:rPr>
              <a:t>&lt; 2 days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9555480" y="3685032"/>
            <a:ext cx="2103120" cy="379476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9628632" y="3776472"/>
            <a:ext cx="201168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</a:rPr>
              <a:t>GitHub PRs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137160" y="4064508"/>
            <a:ext cx="2286000" cy="379476"/>
          </a:xfrm>
          <a:prstGeom prst="rect">
            <a:avLst/>
          </a:prstGeom>
          <a:solidFill>
            <a:srgbClr val="F8F9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210312" y="4155948"/>
            <a:ext cx="219456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0048"/>
                </a:solidFill>
              </a:rPr>
              <a:t>Flow Efficiency %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2423160" y="4064508"/>
            <a:ext cx="822960" cy="379476"/>
          </a:xfrm>
          <a:prstGeom prst="rect">
            <a:avLst/>
          </a:prstGeom>
          <a:solidFill>
            <a:srgbClr val="E8E8F8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2496312" y="4155948"/>
            <a:ext cx="73152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</a:rPr>
              <a:t>PDLC Perf.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3246120" y="4064508"/>
            <a:ext cx="2103120" cy="379476"/>
          </a:xfrm>
          <a:prstGeom prst="rect">
            <a:avLst/>
          </a:prstGeom>
          <a:solidFill>
            <a:srgbClr val="EFF6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3319272" y="4155948"/>
            <a:ext cx="201168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</a:rPr>
              <a:t>18–28 %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5349240" y="4064508"/>
            <a:ext cx="2103120" cy="379476"/>
          </a:xfrm>
          <a:prstGeom prst="rect">
            <a:avLst/>
          </a:prstGeom>
          <a:solidFill>
            <a:srgbClr val="F3F0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5422392" y="4155948"/>
            <a:ext cx="201168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</a:rPr>
              <a:t>32–45 %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7452360" y="4064508"/>
            <a:ext cx="2103120" cy="379476"/>
          </a:xfrm>
          <a:prstGeom prst="rect">
            <a:avLst/>
          </a:prstGeom>
          <a:solidFill>
            <a:srgbClr val="ECFDF3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7525512" y="4155948"/>
            <a:ext cx="201168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</a:rPr>
              <a:t>50–65 %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9555480" y="4064508"/>
            <a:ext cx="2103120" cy="379476"/>
          </a:xfrm>
          <a:prstGeom prst="rect">
            <a:avLst/>
          </a:prstGeom>
          <a:solidFill>
            <a:srgbClr val="F8F9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9628632" y="4155948"/>
            <a:ext cx="201168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</a:rPr>
              <a:t>VSM Analyzer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137160" y="4443984"/>
            <a:ext cx="2286000" cy="379476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210312" y="4535424"/>
            <a:ext cx="219456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0048"/>
                </a:solidFill>
              </a:rPr>
              <a:t>WIP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2423160" y="4443984"/>
            <a:ext cx="822960" cy="379476"/>
          </a:xfrm>
          <a:prstGeom prst="rect">
            <a:avLst/>
          </a:prstGeom>
          <a:solidFill>
            <a:srgbClr val="E8E8F8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2496312" y="4535424"/>
            <a:ext cx="73152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</a:rPr>
              <a:t>PDLC Perf.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3246120" y="4443984"/>
            <a:ext cx="2103120" cy="379476"/>
          </a:xfrm>
          <a:prstGeom prst="rect">
            <a:avLst/>
          </a:prstGeom>
          <a:solidFill>
            <a:srgbClr val="EFF6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123"/>
          <p:cNvSpPr txBox="1"/>
          <p:nvPr/>
        </p:nvSpPr>
        <p:spPr>
          <a:xfrm>
            <a:off x="3319272" y="4535424"/>
            <a:ext cx="201168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</a:rPr>
              <a:t>≤ 2× team size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5349240" y="4443984"/>
            <a:ext cx="2103120" cy="379476"/>
          </a:xfrm>
          <a:prstGeom prst="rect">
            <a:avLst/>
          </a:prstGeom>
          <a:solidFill>
            <a:srgbClr val="F3F0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extBox 125"/>
          <p:cNvSpPr txBox="1"/>
          <p:nvPr/>
        </p:nvSpPr>
        <p:spPr>
          <a:xfrm>
            <a:off x="5422392" y="4535424"/>
            <a:ext cx="201168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</a:rPr>
              <a:t>≤ 1.5× team size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7452360" y="4443984"/>
            <a:ext cx="2103120" cy="379476"/>
          </a:xfrm>
          <a:prstGeom prst="rect">
            <a:avLst/>
          </a:prstGeom>
          <a:solidFill>
            <a:srgbClr val="ECFDF3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TextBox 127"/>
          <p:cNvSpPr txBox="1"/>
          <p:nvPr/>
        </p:nvSpPr>
        <p:spPr>
          <a:xfrm>
            <a:off x="7525512" y="4535424"/>
            <a:ext cx="201168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</a:rPr>
              <a:t>≤ 1× team size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9555480" y="4443984"/>
            <a:ext cx="2103120" cy="379476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TextBox 129"/>
          <p:cNvSpPr txBox="1"/>
          <p:nvPr/>
        </p:nvSpPr>
        <p:spPr>
          <a:xfrm>
            <a:off x="9628632" y="4535424"/>
            <a:ext cx="201168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</a:rPr>
              <a:t>Jira Board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137160" y="4823460"/>
            <a:ext cx="2286000" cy="379476"/>
          </a:xfrm>
          <a:prstGeom prst="rect">
            <a:avLst/>
          </a:prstGeom>
          <a:solidFill>
            <a:srgbClr val="F8F9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TextBox 131"/>
          <p:cNvSpPr txBox="1"/>
          <p:nvPr/>
        </p:nvSpPr>
        <p:spPr>
          <a:xfrm>
            <a:off x="210312" y="4914900"/>
            <a:ext cx="219456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0048"/>
                </a:solidFill>
              </a:rPr>
              <a:t>Deployment Frequency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2423160" y="4823460"/>
            <a:ext cx="822960" cy="379476"/>
          </a:xfrm>
          <a:prstGeom prst="rect">
            <a:avLst/>
          </a:prstGeom>
          <a:solidFill>
            <a:srgbClr val="E8E8F8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TextBox 133"/>
          <p:cNvSpPr txBox="1"/>
          <p:nvPr/>
        </p:nvSpPr>
        <p:spPr>
          <a:xfrm>
            <a:off x="2496312" y="4914900"/>
            <a:ext cx="73152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</a:rPr>
              <a:t>PDLC Perf.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3246120" y="4823460"/>
            <a:ext cx="2103120" cy="379476"/>
          </a:xfrm>
          <a:prstGeom prst="rect">
            <a:avLst/>
          </a:prstGeom>
          <a:solidFill>
            <a:srgbClr val="EFF6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TextBox 135"/>
          <p:cNvSpPr txBox="1"/>
          <p:nvPr/>
        </p:nvSpPr>
        <p:spPr>
          <a:xfrm>
            <a:off x="3319272" y="4914900"/>
            <a:ext cx="201168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</a:rPr>
              <a:t>Weekly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5349240" y="4823460"/>
            <a:ext cx="2103120" cy="379476"/>
          </a:xfrm>
          <a:prstGeom prst="rect">
            <a:avLst/>
          </a:prstGeom>
          <a:solidFill>
            <a:srgbClr val="F3F0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TextBox 137"/>
          <p:cNvSpPr txBox="1"/>
          <p:nvPr/>
        </p:nvSpPr>
        <p:spPr>
          <a:xfrm>
            <a:off x="5422392" y="4914900"/>
            <a:ext cx="201168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</a:rPr>
              <a:t>Daily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7452360" y="4823460"/>
            <a:ext cx="2103120" cy="379476"/>
          </a:xfrm>
          <a:prstGeom prst="rect">
            <a:avLst/>
          </a:prstGeom>
          <a:solidFill>
            <a:srgbClr val="ECFDF3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TextBox 139"/>
          <p:cNvSpPr txBox="1"/>
          <p:nvPr/>
        </p:nvSpPr>
        <p:spPr>
          <a:xfrm>
            <a:off x="7525512" y="4914900"/>
            <a:ext cx="201168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</a:rPr>
              <a:t>Multiple / day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9555480" y="4823460"/>
            <a:ext cx="2103120" cy="379476"/>
          </a:xfrm>
          <a:prstGeom prst="rect">
            <a:avLst/>
          </a:prstGeom>
          <a:solidFill>
            <a:srgbClr val="F8F9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TextBox 141"/>
          <p:cNvSpPr txBox="1"/>
          <p:nvPr/>
        </p:nvSpPr>
        <p:spPr>
          <a:xfrm>
            <a:off x="9628632" y="4914900"/>
            <a:ext cx="201168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</a:rPr>
              <a:t>CI/CD Pipeline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137160" y="5202936"/>
            <a:ext cx="2286000" cy="379476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TextBox 143"/>
          <p:cNvSpPr txBox="1"/>
          <p:nvPr/>
        </p:nvSpPr>
        <p:spPr>
          <a:xfrm>
            <a:off x="210312" y="5294376"/>
            <a:ext cx="219456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0048"/>
                </a:solidFill>
              </a:rPr>
              <a:t>Change Failure Rate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2423160" y="5202936"/>
            <a:ext cx="822960" cy="379476"/>
          </a:xfrm>
          <a:prstGeom prst="rect">
            <a:avLst/>
          </a:prstGeom>
          <a:solidFill>
            <a:srgbClr val="E8E8F8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TextBox 145"/>
          <p:cNvSpPr txBox="1"/>
          <p:nvPr/>
        </p:nvSpPr>
        <p:spPr>
          <a:xfrm>
            <a:off x="2496312" y="5294376"/>
            <a:ext cx="73152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</a:rPr>
              <a:t>PDLC Perf.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3246120" y="5202936"/>
            <a:ext cx="2103120" cy="379476"/>
          </a:xfrm>
          <a:prstGeom prst="rect">
            <a:avLst/>
          </a:prstGeom>
          <a:solidFill>
            <a:srgbClr val="EFF6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TextBox 147"/>
          <p:cNvSpPr txBox="1"/>
          <p:nvPr/>
        </p:nvSpPr>
        <p:spPr>
          <a:xfrm>
            <a:off x="3319272" y="5294376"/>
            <a:ext cx="201168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</a:rPr>
              <a:t>&lt; 15 %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5349240" y="5202936"/>
            <a:ext cx="2103120" cy="379476"/>
          </a:xfrm>
          <a:prstGeom prst="rect">
            <a:avLst/>
          </a:prstGeom>
          <a:solidFill>
            <a:srgbClr val="F3F0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TextBox 149"/>
          <p:cNvSpPr txBox="1"/>
          <p:nvPr/>
        </p:nvSpPr>
        <p:spPr>
          <a:xfrm>
            <a:off x="5422392" y="5294376"/>
            <a:ext cx="201168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</a:rPr>
              <a:t>&lt; 8 %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7452360" y="5202936"/>
            <a:ext cx="2103120" cy="379476"/>
          </a:xfrm>
          <a:prstGeom prst="rect">
            <a:avLst/>
          </a:prstGeom>
          <a:solidFill>
            <a:srgbClr val="ECFDF3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TextBox 151"/>
          <p:cNvSpPr txBox="1"/>
          <p:nvPr/>
        </p:nvSpPr>
        <p:spPr>
          <a:xfrm>
            <a:off x="7525512" y="5294376"/>
            <a:ext cx="201168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</a:rPr>
              <a:t>&lt; 5 %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9555480" y="5202936"/>
            <a:ext cx="2103120" cy="379476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TextBox 153"/>
          <p:cNvSpPr txBox="1"/>
          <p:nvPr/>
        </p:nvSpPr>
        <p:spPr>
          <a:xfrm>
            <a:off x="9628632" y="5294376"/>
            <a:ext cx="201168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</a:rPr>
              <a:t>CI/CD + Incidents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137160" y="5582412"/>
            <a:ext cx="2286000" cy="379476"/>
          </a:xfrm>
          <a:prstGeom prst="rect">
            <a:avLst/>
          </a:prstGeom>
          <a:solidFill>
            <a:srgbClr val="F8F9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TextBox 155"/>
          <p:cNvSpPr txBox="1"/>
          <p:nvPr/>
        </p:nvSpPr>
        <p:spPr>
          <a:xfrm>
            <a:off x="210312" y="5673852"/>
            <a:ext cx="219456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0048"/>
                </a:solidFill>
              </a:rPr>
              <a:t>MTTR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2423160" y="5582412"/>
            <a:ext cx="822960" cy="379476"/>
          </a:xfrm>
          <a:prstGeom prst="rect">
            <a:avLst/>
          </a:prstGeom>
          <a:solidFill>
            <a:srgbClr val="E8E8F8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TextBox 157"/>
          <p:cNvSpPr txBox="1"/>
          <p:nvPr/>
        </p:nvSpPr>
        <p:spPr>
          <a:xfrm>
            <a:off x="2496312" y="5673852"/>
            <a:ext cx="73152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</a:rPr>
              <a:t>PDLC Perf.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246120" y="5582412"/>
            <a:ext cx="2103120" cy="379476"/>
          </a:xfrm>
          <a:prstGeom prst="rect">
            <a:avLst/>
          </a:prstGeom>
          <a:solidFill>
            <a:srgbClr val="EFF6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TextBox 159"/>
          <p:cNvSpPr txBox="1"/>
          <p:nvPr/>
        </p:nvSpPr>
        <p:spPr>
          <a:xfrm>
            <a:off x="3319272" y="5673852"/>
            <a:ext cx="201168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</a:rPr>
              <a:t>&lt; 4 hours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5349240" y="5582412"/>
            <a:ext cx="2103120" cy="379476"/>
          </a:xfrm>
          <a:prstGeom prst="rect">
            <a:avLst/>
          </a:prstGeom>
          <a:solidFill>
            <a:srgbClr val="F3F0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TextBox 161"/>
          <p:cNvSpPr txBox="1"/>
          <p:nvPr/>
        </p:nvSpPr>
        <p:spPr>
          <a:xfrm>
            <a:off x="5422392" y="5673852"/>
            <a:ext cx="201168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</a:rPr>
              <a:t>&lt; 2 hours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7452360" y="5582412"/>
            <a:ext cx="2103120" cy="379476"/>
          </a:xfrm>
          <a:prstGeom prst="rect">
            <a:avLst/>
          </a:prstGeom>
          <a:solidFill>
            <a:srgbClr val="ECFDF3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TextBox 163"/>
          <p:cNvSpPr txBox="1"/>
          <p:nvPr/>
        </p:nvSpPr>
        <p:spPr>
          <a:xfrm>
            <a:off x="7525512" y="5673852"/>
            <a:ext cx="201168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</a:rPr>
              <a:t>&lt; 1 hour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9555480" y="5582412"/>
            <a:ext cx="2103120" cy="379476"/>
          </a:xfrm>
          <a:prstGeom prst="rect">
            <a:avLst/>
          </a:prstGeom>
          <a:solidFill>
            <a:srgbClr val="F8F9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TextBox 165"/>
          <p:cNvSpPr txBox="1"/>
          <p:nvPr/>
        </p:nvSpPr>
        <p:spPr>
          <a:xfrm>
            <a:off x="9628632" y="5673852"/>
            <a:ext cx="201168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</a:rPr>
              <a:t>ServiceNow / PD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914400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37744" y="91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</a:rPr>
              <a:t>Monitoring Dashboard  —  Illustrative Views &amp; Inference Points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" y="548640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2BBE6"/>
                </a:solidFill>
              </a:rPr>
              <a:t>AI Adoption perspective  ·  PDLC Performance perspective  ·  Key inference &amp; action points per 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914400"/>
            <a:ext cx="12188952" cy="27432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620256"/>
            <a:ext cx="12188952" cy="23774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82880" y="6638544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2BBE6"/>
                </a:solidFill>
              </a:rPr>
              <a:t>STUMP  ·  Metrics &amp; Measurement Framework  ·  © 2026 Cognizant  · 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04320" y="6638544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92BBE6"/>
                </a:solidFill>
              </a:rPr>
              <a:t>M10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8016" y="987552"/>
            <a:ext cx="5897880" cy="5504688"/>
          </a:xfrm>
          <a:prstGeom prst="rect">
            <a:avLst/>
          </a:prstGeom>
          <a:solidFill>
            <a:srgbClr val="FFFFFF"/>
          </a:solidFill>
          <a:ln w="762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28016" y="987552"/>
            <a:ext cx="5897880" cy="292608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19456" y="1051560"/>
            <a:ext cx="57698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AI Adoption Dashboard  —  Illustrative  (Option A baseline)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63056" y="987552"/>
            <a:ext cx="5897880" cy="5504688"/>
          </a:xfrm>
          <a:prstGeom prst="rect">
            <a:avLst/>
          </a:prstGeom>
          <a:solidFill>
            <a:srgbClr val="FFFFFF"/>
          </a:solidFill>
          <a:ln w="762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63056" y="987552"/>
            <a:ext cx="5897880" cy="292608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54496" y="1051560"/>
            <a:ext cx="57698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PDLC Performance Dashboard  —  Illustrative  (Option A baseline)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7744" y="1316736"/>
            <a:ext cx="1383030" cy="768096"/>
          </a:xfrm>
          <a:prstGeom prst="rect">
            <a:avLst/>
          </a:prstGeom>
          <a:solidFill>
            <a:srgbClr val="FFFFFF"/>
          </a:solidFill>
          <a:ln w="762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37744" y="1316736"/>
            <a:ext cx="1383030" cy="109728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74320" y="1463039"/>
            <a:ext cx="132816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000048"/>
                </a:solidFill>
              </a:rPr>
              <a:t>Agent
Utilisation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1719072"/>
            <a:ext cx="132816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0048"/>
                </a:solidFill>
              </a:rPr>
              <a:t>48%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91539" y="1692715"/>
            <a:ext cx="58946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 dirty="0">
                <a:solidFill>
                  <a:srgbClr val="057A55"/>
                </a:solidFill>
              </a:rPr>
              <a:t>+12pt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57350" y="1316736"/>
            <a:ext cx="1383030" cy="768096"/>
          </a:xfrm>
          <a:prstGeom prst="rect">
            <a:avLst/>
          </a:prstGeom>
          <a:solidFill>
            <a:srgbClr val="FFFFFF"/>
          </a:solidFill>
          <a:ln w="762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657350" y="1316736"/>
            <a:ext cx="1383030" cy="109728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693926" y="1463039"/>
            <a:ext cx="132816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000048"/>
                </a:solidFill>
              </a:rPr>
              <a:t>AI Acceptance
Rate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93926" y="1719072"/>
            <a:ext cx="132816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F78C4"/>
                </a:solidFill>
              </a:rPr>
              <a:t>72%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11145" y="1692715"/>
            <a:ext cx="50166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57A55"/>
                </a:solidFill>
              </a:rPr>
              <a:t>+8pt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76956" y="1316736"/>
            <a:ext cx="1383030" cy="768096"/>
          </a:xfrm>
          <a:prstGeom prst="rect">
            <a:avLst/>
          </a:prstGeom>
          <a:solidFill>
            <a:srgbClr val="FFFFFF"/>
          </a:solidFill>
          <a:ln w="762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076956" y="1316736"/>
            <a:ext cx="1383030" cy="109728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113532" y="1463039"/>
            <a:ext cx="132816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000048"/>
                </a:solidFill>
              </a:rPr>
              <a:t>Override
Rate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13532" y="1719072"/>
            <a:ext cx="132816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57A55"/>
                </a:solidFill>
              </a:rPr>
              <a:t>18%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30751" y="1692715"/>
            <a:ext cx="50166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57A55"/>
                </a:solidFill>
              </a:rPr>
              <a:t>−7pt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496562" y="1316736"/>
            <a:ext cx="1383030" cy="768096"/>
          </a:xfrm>
          <a:prstGeom prst="rect">
            <a:avLst/>
          </a:prstGeom>
          <a:solidFill>
            <a:srgbClr val="FFFFFF"/>
          </a:solidFill>
          <a:ln w="762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496562" y="1316736"/>
            <a:ext cx="1383030" cy="109728"/>
          </a:xfrm>
          <a:prstGeom prst="rect">
            <a:avLst/>
          </a:prstGeom>
          <a:solidFill>
            <a:srgbClr val="06C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533138" y="1463039"/>
            <a:ext cx="132816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000048"/>
                </a:solidFill>
              </a:rPr>
              <a:t>Time Saved
/Sprint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33138" y="1719072"/>
            <a:ext cx="132816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6C7CC"/>
                </a:solidFill>
              </a:rPr>
              <a:t>94 hrs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50357" y="1692715"/>
            <a:ext cx="50166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57A55"/>
                </a:solidFill>
              </a:rPr>
              <a:t>+22h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72784" y="1316736"/>
            <a:ext cx="1383030" cy="768096"/>
          </a:xfrm>
          <a:prstGeom prst="rect">
            <a:avLst/>
          </a:prstGeom>
          <a:solidFill>
            <a:srgbClr val="FFFFFF"/>
          </a:solidFill>
          <a:ln w="762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272784" y="1316736"/>
            <a:ext cx="1383030" cy="109728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309360" y="1463039"/>
            <a:ext cx="132816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000048"/>
                </a:solidFill>
              </a:rPr>
              <a:t>Lead
Time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09360" y="1719072"/>
            <a:ext cx="132816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0048"/>
                </a:solidFill>
              </a:rPr>
              <a:t>18 days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26578" y="1692715"/>
            <a:ext cx="50166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57A55"/>
                </a:solidFill>
              </a:rPr>
              <a:t>↓ 32%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692390" y="1316736"/>
            <a:ext cx="1383030" cy="768096"/>
          </a:xfrm>
          <a:prstGeom prst="rect">
            <a:avLst/>
          </a:prstGeom>
          <a:solidFill>
            <a:srgbClr val="FFFFFF"/>
          </a:solidFill>
          <a:ln w="762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7692390" y="1316736"/>
            <a:ext cx="1383030" cy="109728"/>
          </a:xfrm>
          <a:prstGeom prst="rect">
            <a:avLst/>
          </a:prstGeom>
          <a:solidFill>
            <a:srgbClr val="06C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728965" y="1463039"/>
            <a:ext cx="132816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000048"/>
                </a:solidFill>
              </a:rPr>
              <a:t>Flow
Eff. 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28965" y="1719072"/>
            <a:ext cx="132816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6C7CC"/>
                </a:solidFill>
              </a:rPr>
              <a:t>24%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46185" y="1692715"/>
            <a:ext cx="50166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57A55"/>
                </a:solidFill>
              </a:rPr>
              <a:t>↑ 6pt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111996" y="1316736"/>
            <a:ext cx="1383030" cy="768096"/>
          </a:xfrm>
          <a:prstGeom prst="rect">
            <a:avLst/>
          </a:prstGeom>
          <a:solidFill>
            <a:srgbClr val="FFFFFF"/>
          </a:solidFill>
          <a:ln w="762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9111996" y="1316736"/>
            <a:ext cx="1383030" cy="109728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9148572" y="1463039"/>
            <a:ext cx="132816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000048"/>
                </a:solidFill>
              </a:rPr>
              <a:t>Deploy
Freq.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48572" y="1719072"/>
            <a:ext cx="132816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F78C4"/>
                </a:solidFill>
              </a:rPr>
              <a:t>2×/wk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065791" y="1692715"/>
            <a:ext cx="50166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 dirty="0">
                <a:solidFill>
                  <a:srgbClr val="057A55"/>
                </a:solidFill>
              </a:rPr>
              <a:t>↑ vs 1×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531602" y="1316736"/>
            <a:ext cx="1383030" cy="768096"/>
          </a:xfrm>
          <a:prstGeom prst="rect">
            <a:avLst/>
          </a:prstGeom>
          <a:solidFill>
            <a:srgbClr val="FFFFFF"/>
          </a:solidFill>
          <a:ln w="762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10531602" y="1316736"/>
            <a:ext cx="1383030" cy="109728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10568178" y="1463039"/>
            <a:ext cx="132816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000048"/>
                </a:solidFill>
              </a:rPr>
              <a:t>WIP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568178" y="1719072"/>
            <a:ext cx="132816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57A55"/>
                </a:solidFill>
              </a:rPr>
              <a:t>14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485397" y="1692715"/>
            <a:ext cx="50166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57A55"/>
                </a:solidFill>
              </a:rPr>
              <a:t>↓ 4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37744" y="2157984"/>
            <a:ext cx="5678424" cy="1572768"/>
          </a:xfrm>
          <a:prstGeom prst="rect">
            <a:avLst/>
          </a:prstGeom>
          <a:solidFill>
            <a:srgbClr val="F2F6FF"/>
          </a:solidFill>
          <a:ln w="762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237744" y="2157984"/>
            <a:ext cx="5678424" cy="201168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310896" y="2194560"/>
            <a:ext cx="556869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Agent Utilisation Rate by PDLC Phase  (% activities AI-assisted)  |  Target: 40%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84048" y="3129076"/>
            <a:ext cx="675349" cy="382219"/>
          </a:xfrm>
          <a:prstGeom prst="rect">
            <a:avLst/>
          </a:prstGeom>
          <a:solidFill>
            <a:srgbClr val="92B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384048" y="2973628"/>
            <a:ext cx="675349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1F2937"/>
                </a:solidFill>
              </a:rPr>
              <a:t>38%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29184" y="3529584"/>
            <a:ext cx="785077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6B7280"/>
                </a:solidFill>
              </a:rPr>
              <a:t>Ph1
Disc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169125" y="3229660"/>
            <a:ext cx="675349" cy="281635"/>
          </a:xfrm>
          <a:prstGeom prst="rect">
            <a:avLst/>
          </a:prstGeom>
          <a:solidFill>
            <a:srgbClr val="92B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1169125" y="3074212"/>
            <a:ext cx="675349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1F2937"/>
                </a:solidFill>
              </a:rPr>
              <a:t>28%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14261" y="3529584"/>
            <a:ext cx="785077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6B7280"/>
                </a:solidFill>
              </a:rPr>
              <a:t>Ph2
Arch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954203" y="2988259"/>
            <a:ext cx="675349" cy="523036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1954203" y="2832811"/>
            <a:ext cx="675349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1F2937"/>
                </a:solidFill>
              </a:rPr>
              <a:t>52%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899339" y="3529584"/>
            <a:ext cx="785077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6B7280"/>
                </a:solidFill>
              </a:rPr>
              <a:t>Ph3
Dev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739281" y="3048609"/>
            <a:ext cx="675349" cy="462686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2739281" y="2893161"/>
            <a:ext cx="675349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1F2937"/>
                </a:solidFill>
              </a:rPr>
              <a:t>46%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684417" y="3529584"/>
            <a:ext cx="785077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6B7280"/>
                </a:solidFill>
              </a:rPr>
              <a:t>Ph4
Bld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524358" y="3088843"/>
            <a:ext cx="675349" cy="422452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3524358" y="2933395"/>
            <a:ext cx="675349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1F2937"/>
                </a:solidFill>
              </a:rPr>
              <a:t>42%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469494" y="3529584"/>
            <a:ext cx="785077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6B7280"/>
                </a:solidFill>
              </a:rPr>
              <a:t>Ph5
Test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309436" y="3290011"/>
            <a:ext cx="675349" cy="221284"/>
          </a:xfrm>
          <a:prstGeom prst="rect">
            <a:avLst/>
          </a:prstGeom>
          <a:solidFill>
            <a:srgbClr val="BBC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4309436" y="3134563"/>
            <a:ext cx="675349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1F2937"/>
                </a:solidFill>
              </a:rPr>
              <a:t>22%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254572" y="3529584"/>
            <a:ext cx="785077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6B7280"/>
                </a:solidFill>
              </a:rPr>
              <a:t>Ph6
Dep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094514" y="3330244"/>
            <a:ext cx="675349" cy="181051"/>
          </a:xfrm>
          <a:prstGeom prst="rect">
            <a:avLst/>
          </a:prstGeom>
          <a:solidFill>
            <a:srgbClr val="BBC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5094514" y="3174796"/>
            <a:ext cx="675349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1F2937"/>
                </a:solidFill>
              </a:rPr>
              <a:t>18%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039650" y="3529584"/>
            <a:ext cx="785077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6B7280"/>
                </a:solidFill>
              </a:rPr>
              <a:t>Ph7
Ops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29184" y="3108960"/>
            <a:ext cx="5495544" cy="12801"/>
          </a:xfrm>
          <a:prstGeom prst="rect">
            <a:avLst/>
          </a:prstGeom>
          <a:solidFill>
            <a:srgbClr val="B45A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5074920" y="2971800"/>
            <a:ext cx="804672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B45A09"/>
                </a:solidFill>
              </a:rPr>
              <a:t>← 40% target</a:t>
            </a:r>
          </a:p>
        </p:txBody>
      </p:sp>
      <p:sp>
        <p:nvSpPr>
          <p:cNvPr id="83" name="Rectangle 82"/>
          <p:cNvSpPr/>
          <p:nvPr/>
        </p:nvSpPr>
        <p:spPr>
          <a:xfrm>
            <a:off x="237744" y="3785616"/>
            <a:ext cx="5678424" cy="731520"/>
          </a:xfrm>
          <a:prstGeom prst="rect">
            <a:avLst/>
          </a:prstGeom>
          <a:solidFill>
            <a:srgbClr val="F2F6FF"/>
          </a:solidFill>
          <a:ln w="762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ectangle 83"/>
          <p:cNvSpPr/>
          <p:nvPr/>
        </p:nvSpPr>
        <p:spPr>
          <a:xfrm>
            <a:off x="237744" y="3785616"/>
            <a:ext cx="5678424" cy="18288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310896" y="3813048"/>
            <a:ext cx="558698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AI Acceptance Rate — 6-sprint trend  ·  Target: 85% by Option B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02336" y="4196730"/>
            <a:ext cx="769620" cy="174101"/>
          </a:xfrm>
          <a:prstGeom prst="rect">
            <a:avLst/>
          </a:prstGeom>
          <a:solidFill>
            <a:srgbClr val="92B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329184" y="4389120"/>
            <a:ext cx="91592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6B7280"/>
                </a:solidFill>
              </a:rPr>
              <a:t>S1  56%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318260" y="4181185"/>
            <a:ext cx="769620" cy="189646"/>
          </a:xfrm>
          <a:prstGeom prst="rect">
            <a:avLst/>
          </a:prstGeom>
          <a:solidFill>
            <a:srgbClr val="92B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1245108" y="4389120"/>
            <a:ext cx="91592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6B7280"/>
                </a:solidFill>
              </a:rPr>
              <a:t>S2  61%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2234184" y="4168749"/>
            <a:ext cx="769620" cy="202082"/>
          </a:xfrm>
          <a:prstGeom prst="rect">
            <a:avLst/>
          </a:prstGeom>
          <a:solidFill>
            <a:srgbClr val="92B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2161032" y="4389120"/>
            <a:ext cx="91592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6B7280"/>
                </a:solidFill>
              </a:rPr>
              <a:t>S3  65%</a:t>
            </a:r>
          </a:p>
        </p:txBody>
      </p:sp>
      <p:sp>
        <p:nvSpPr>
          <p:cNvPr id="92" name="Rectangle 91"/>
          <p:cNvSpPr/>
          <p:nvPr/>
        </p:nvSpPr>
        <p:spPr>
          <a:xfrm>
            <a:off x="3150108" y="4159422"/>
            <a:ext cx="769620" cy="211409"/>
          </a:xfrm>
          <a:prstGeom prst="rect">
            <a:avLst/>
          </a:prstGeom>
          <a:solidFill>
            <a:srgbClr val="92B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3076956" y="4389120"/>
            <a:ext cx="91592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6B7280"/>
                </a:solidFill>
              </a:rPr>
              <a:t>S4  68%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066032" y="4150095"/>
            <a:ext cx="769620" cy="220736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3992880" y="4389120"/>
            <a:ext cx="91592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6B7280"/>
                </a:solidFill>
              </a:rPr>
              <a:t>S5  71%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981956" y="4146986"/>
            <a:ext cx="769620" cy="223845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4908804" y="4389120"/>
            <a:ext cx="91592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6B7280"/>
                </a:solidFill>
              </a:rPr>
              <a:t>S6  72%</a:t>
            </a:r>
          </a:p>
        </p:txBody>
      </p:sp>
      <p:sp>
        <p:nvSpPr>
          <p:cNvPr id="98" name="Rectangle 97"/>
          <p:cNvSpPr/>
          <p:nvPr/>
        </p:nvSpPr>
        <p:spPr>
          <a:xfrm>
            <a:off x="237744" y="4572000"/>
            <a:ext cx="5678424" cy="219456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329184" y="4617720"/>
            <a:ext cx="562356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Inference &amp; Action Points  —  AI Adoption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237744" y="4846320"/>
            <a:ext cx="45720" cy="310896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329184" y="4864607"/>
            <a:ext cx="55869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F2937"/>
                </a:solidFill>
              </a:rPr>
              <a:t>Ph3 Development leads at 52% — CodeGen &amp; Review agents well adopted. Prioritise Ph6 Deploy (22%) as next activation sprint; target 40%+ for Opt B.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237744" y="5230368"/>
            <a:ext cx="45720" cy="310896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329184" y="5248655"/>
            <a:ext cx="55869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F2937"/>
                </a:solidFill>
              </a:rPr>
              <a:t>Acceptance rate growing +4.2 pts/sprint (56%→72%) — on track to reach 85% (Option B target) in ~3 sprints. Consistent quality improvement trend.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237744" y="5614416"/>
            <a:ext cx="45720" cy="310896"/>
          </a:xfrm>
          <a:prstGeom prst="rect">
            <a:avLst/>
          </a:prstGeom>
          <a:solidFill>
            <a:srgbClr val="B45A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329184" y="5632703"/>
            <a:ext cx="55869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F2937"/>
                </a:solidFill>
              </a:rPr>
              <a:t>Override rate 18% in QA exceeds &lt;10% target. Prompt recalibration needed using last 3-sprint rejection reason logs from STUMP Accuracy page.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237744" y="5998464"/>
            <a:ext cx="45720" cy="310896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329184" y="6016751"/>
            <a:ext cx="55869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F2937"/>
                </a:solidFill>
              </a:rPr>
              <a:t>Ph7 Ops utilisation 18% — Risk &amp; Monitor agents not yet activated. Enablement sprint needed before Option B transition is declared.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272784" y="2157984"/>
            <a:ext cx="5678424" cy="1572768"/>
          </a:xfrm>
          <a:prstGeom prst="rect">
            <a:avLst/>
          </a:prstGeom>
          <a:solidFill>
            <a:srgbClr val="F2F6FF"/>
          </a:solidFill>
          <a:ln w="762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Rectangle 108"/>
          <p:cNvSpPr/>
          <p:nvPr/>
        </p:nvSpPr>
        <p:spPr>
          <a:xfrm>
            <a:off x="6272784" y="2157984"/>
            <a:ext cx="5678424" cy="201168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6345936" y="2194560"/>
            <a:ext cx="556869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Flow Efficiency by Phase  —  Process Time (blue) vs Wait Time (grey)  (days)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419088" y="2840736"/>
            <a:ext cx="675349" cy="447040"/>
          </a:xfrm>
          <a:prstGeom prst="rect">
            <a:avLst/>
          </a:prstGeom>
          <a:solidFill>
            <a:srgbClr val="AAA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Rectangle 111"/>
          <p:cNvSpPr/>
          <p:nvPr/>
        </p:nvSpPr>
        <p:spPr>
          <a:xfrm>
            <a:off x="6419088" y="3287776"/>
            <a:ext cx="675349" cy="22352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6364224" y="2676144"/>
            <a:ext cx="785077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B45A09"/>
                </a:solidFill>
              </a:rPr>
              <a:t>FE
33%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6364224" y="3529584"/>
            <a:ext cx="785077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6B7280"/>
                </a:solidFill>
              </a:rPr>
              <a:t>Ph1
Disc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7204165" y="2561336"/>
            <a:ext cx="675349" cy="558800"/>
          </a:xfrm>
          <a:prstGeom prst="rect">
            <a:avLst/>
          </a:prstGeom>
          <a:solidFill>
            <a:srgbClr val="AAA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Rectangle 115"/>
          <p:cNvSpPr/>
          <p:nvPr/>
        </p:nvSpPr>
        <p:spPr>
          <a:xfrm>
            <a:off x="7204165" y="3120136"/>
            <a:ext cx="675349" cy="39116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7149301" y="2414016"/>
            <a:ext cx="785077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057A55"/>
                </a:solidFill>
              </a:rPr>
              <a:t>FE
41%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7149301" y="3529584"/>
            <a:ext cx="785077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6B7280"/>
                </a:solidFill>
              </a:rPr>
              <a:t>Ph2
Arch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7989243" y="2505456"/>
            <a:ext cx="675349" cy="447040"/>
          </a:xfrm>
          <a:prstGeom prst="rect">
            <a:avLst/>
          </a:prstGeom>
          <a:solidFill>
            <a:srgbClr val="AAA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Rectangle 119"/>
          <p:cNvSpPr/>
          <p:nvPr/>
        </p:nvSpPr>
        <p:spPr>
          <a:xfrm>
            <a:off x="7989243" y="2952496"/>
            <a:ext cx="675349" cy="55880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7934379" y="2414016"/>
            <a:ext cx="785077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057A55"/>
                </a:solidFill>
              </a:rPr>
              <a:t>FE
56%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7934379" y="3529584"/>
            <a:ext cx="785077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6B7280"/>
                </a:solidFill>
              </a:rPr>
              <a:t>Ph3
Dev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8774321" y="3064256"/>
            <a:ext cx="675349" cy="279400"/>
          </a:xfrm>
          <a:prstGeom prst="rect">
            <a:avLst/>
          </a:prstGeom>
          <a:solidFill>
            <a:srgbClr val="AAA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8774321" y="3343656"/>
            <a:ext cx="675349" cy="16764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TextBox 124"/>
          <p:cNvSpPr txBox="1"/>
          <p:nvPr/>
        </p:nvSpPr>
        <p:spPr>
          <a:xfrm>
            <a:off x="8719457" y="2899664"/>
            <a:ext cx="785077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057A55"/>
                </a:solidFill>
              </a:rPr>
              <a:t>FE
38%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8719457" y="3529584"/>
            <a:ext cx="785077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6B7280"/>
                </a:solidFill>
              </a:rPr>
              <a:t>Ph4
Bld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9559398" y="2617216"/>
            <a:ext cx="675349" cy="614680"/>
          </a:xfrm>
          <a:prstGeom prst="rect">
            <a:avLst/>
          </a:prstGeom>
          <a:solidFill>
            <a:srgbClr val="AAA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Rectangle 127"/>
          <p:cNvSpPr/>
          <p:nvPr/>
        </p:nvSpPr>
        <p:spPr>
          <a:xfrm>
            <a:off x="9559398" y="3231896"/>
            <a:ext cx="675349" cy="27940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TextBox 128"/>
          <p:cNvSpPr txBox="1"/>
          <p:nvPr/>
        </p:nvSpPr>
        <p:spPr>
          <a:xfrm>
            <a:off x="9504534" y="2452624"/>
            <a:ext cx="785077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B45A09"/>
                </a:solidFill>
              </a:rPr>
              <a:t>FE
31%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9504534" y="3529584"/>
            <a:ext cx="785077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6B7280"/>
                </a:solidFill>
              </a:rPr>
              <a:t>Ph5
Test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10344476" y="3287776"/>
            <a:ext cx="675349" cy="134112"/>
          </a:xfrm>
          <a:prstGeom prst="rect">
            <a:avLst/>
          </a:prstGeom>
          <a:solidFill>
            <a:srgbClr val="AAA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Rectangle 131"/>
          <p:cNvSpPr/>
          <p:nvPr/>
        </p:nvSpPr>
        <p:spPr>
          <a:xfrm>
            <a:off x="10344476" y="3421888"/>
            <a:ext cx="675349" cy="89408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TextBox 132"/>
          <p:cNvSpPr txBox="1"/>
          <p:nvPr/>
        </p:nvSpPr>
        <p:spPr>
          <a:xfrm>
            <a:off x="10289612" y="3123184"/>
            <a:ext cx="785077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057A55"/>
                </a:solidFill>
              </a:rPr>
              <a:t>FE
40%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0289612" y="3529584"/>
            <a:ext cx="785077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6B7280"/>
                </a:solidFill>
              </a:rPr>
              <a:t>Ph6
Dep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11129554" y="3120136"/>
            <a:ext cx="675349" cy="257047"/>
          </a:xfrm>
          <a:prstGeom prst="rect">
            <a:avLst/>
          </a:prstGeom>
          <a:solidFill>
            <a:srgbClr val="AAA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Rectangle 135"/>
          <p:cNvSpPr/>
          <p:nvPr/>
        </p:nvSpPr>
        <p:spPr>
          <a:xfrm>
            <a:off x="11129554" y="3377184"/>
            <a:ext cx="675349" cy="134112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TextBox 136"/>
          <p:cNvSpPr txBox="1"/>
          <p:nvPr/>
        </p:nvSpPr>
        <p:spPr>
          <a:xfrm>
            <a:off x="11074690" y="2955544"/>
            <a:ext cx="785077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B45A09"/>
                </a:solidFill>
              </a:rPr>
              <a:t>FE
34%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11074690" y="3529584"/>
            <a:ext cx="785077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6B7280"/>
                </a:solidFill>
              </a:rPr>
              <a:t>Ph7
Ops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6272784" y="3785616"/>
            <a:ext cx="5678424" cy="731520"/>
          </a:xfrm>
          <a:prstGeom prst="rect">
            <a:avLst/>
          </a:prstGeom>
          <a:solidFill>
            <a:srgbClr val="F2F6FF"/>
          </a:solidFill>
          <a:ln w="762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Rectangle 139"/>
          <p:cNvSpPr/>
          <p:nvPr/>
        </p:nvSpPr>
        <p:spPr>
          <a:xfrm>
            <a:off x="6272784" y="3785616"/>
            <a:ext cx="5678424" cy="182880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TextBox 140"/>
          <p:cNvSpPr txBox="1"/>
          <p:nvPr/>
        </p:nvSpPr>
        <p:spPr>
          <a:xfrm>
            <a:off x="6345936" y="3813048"/>
            <a:ext cx="558698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DORA Band Positioning  —  Current state vs Option B &amp; C targets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6345936" y="3986784"/>
            <a:ext cx="1346454" cy="365760"/>
          </a:xfrm>
          <a:prstGeom prst="rect">
            <a:avLst/>
          </a:prstGeom>
          <a:solidFill>
            <a:srgbClr val="CC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TextBox 142"/>
          <p:cNvSpPr txBox="1"/>
          <p:nvPr/>
        </p:nvSpPr>
        <p:spPr>
          <a:xfrm>
            <a:off x="6382512" y="4014216"/>
            <a:ext cx="1291589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Low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6382512" y="4169664"/>
            <a:ext cx="1291589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FFFFFF"/>
                </a:solidFill>
              </a:rPr>
              <a:t>LT&gt;6m  Monthly deploys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7728966" y="3986784"/>
            <a:ext cx="1346454" cy="365760"/>
          </a:xfrm>
          <a:prstGeom prst="rect">
            <a:avLst/>
          </a:prstGeom>
          <a:solidFill>
            <a:srgbClr val="B45A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TextBox 145"/>
          <p:cNvSpPr txBox="1"/>
          <p:nvPr/>
        </p:nvSpPr>
        <p:spPr>
          <a:xfrm>
            <a:off x="7765542" y="4014216"/>
            <a:ext cx="1291589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Medium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7765542" y="4169664"/>
            <a:ext cx="1291589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FFFFFF"/>
                </a:solidFill>
              </a:rPr>
              <a:t>LT 1w–6m  Weekly deploys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7728966" y="4361688"/>
            <a:ext cx="134645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B45A09"/>
                </a:solidFill>
              </a:rPr>
              <a:t>◀ Now (Opt A)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9111996" y="3986784"/>
            <a:ext cx="1346454" cy="36576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TextBox 149"/>
          <p:cNvSpPr txBox="1"/>
          <p:nvPr/>
        </p:nvSpPr>
        <p:spPr>
          <a:xfrm>
            <a:off x="9148572" y="4014216"/>
            <a:ext cx="1291589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9148572" y="4169664"/>
            <a:ext cx="1291589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FFFFFF"/>
                </a:solidFill>
              </a:rPr>
              <a:t>LT 1d–1wk  Daily deploys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9111996" y="4361688"/>
            <a:ext cx="134645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2F78C4"/>
                </a:solidFill>
              </a:rPr>
              <a:t>▲ Opt B target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10495026" y="3986784"/>
            <a:ext cx="1346454" cy="365760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TextBox 153"/>
          <p:cNvSpPr txBox="1"/>
          <p:nvPr/>
        </p:nvSpPr>
        <p:spPr>
          <a:xfrm>
            <a:off x="10531601" y="4014216"/>
            <a:ext cx="1291589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Elite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10531601" y="4169664"/>
            <a:ext cx="1291589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FFFFFF"/>
                </a:solidFill>
              </a:rPr>
              <a:t>LT&lt;1d  Multiple/day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10495026" y="4361688"/>
            <a:ext cx="134645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057A55"/>
                </a:solidFill>
              </a:rPr>
              <a:t>★ Opt C target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6272784" y="4572000"/>
            <a:ext cx="5678424" cy="219456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TextBox 157"/>
          <p:cNvSpPr txBox="1"/>
          <p:nvPr/>
        </p:nvSpPr>
        <p:spPr>
          <a:xfrm>
            <a:off x="6364224" y="4617720"/>
            <a:ext cx="562356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Inference &amp; Action Points  —  PDLC Performance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6272784" y="4846320"/>
            <a:ext cx="45720" cy="310896"/>
          </a:xfrm>
          <a:prstGeom prst="rect">
            <a:avLst/>
          </a:prstGeom>
          <a:solidFill>
            <a:srgbClr val="06C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TextBox 159"/>
          <p:cNvSpPr txBox="1"/>
          <p:nvPr/>
        </p:nvSpPr>
        <p:spPr>
          <a:xfrm>
            <a:off x="6364224" y="4864607"/>
            <a:ext cx="55869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F2937"/>
                </a:solidFill>
              </a:rPr>
              <a:t>Lead time reduced 32% (26→18 days) since AI in Dev &amp; Build. Ph3 cycle time 9→5 days. Ph2 Architecture wait (5 days) is the next improvement target.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6272784" y="5230368"/>
            <a:ext cx="45720" cy="310896"/>
          </a:xfrm>
          <a:prstGeom prst="rect">
            <a:avLst/>
          </a:prstGeom>
          <a:solidFill>
            <a:srgbClr val="B45A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TextBox 161"/>
          <p:cNvSpPr txBox="1"/>
          <p:nvPr/>
        </p:nvSpPr>
        <p:spPr>
          <a:xfrm>
            <a:off x="6364224" y="5248655"/>
            <a:ext cx="55869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F2937"/>
                </a:solidFill>
              </a:rPr>
              <a:t>Flow efficiency 24% overall; Ph5 Test wait is highest at 5.5 days. QA Orchestrator agent (Option B) directly cuts this — FE projected to 38%+.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6272784" y="5614416"/>
            <a:ext cx="45720" cy="310896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TextBox 163"/>
          <p:cNvSpPr txBox="1"/>
          <p:nvPr/>
        </p:nvSpPr>
        <p:spPr>
          <a:xfrm>
            <a:off x="6364224" y="5632703"/>
            <a:ext cx="55869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F2937"/>
                </a:solidFill>
              </a:rPr>
              <a:t>Deploy freq 2×/week approaching DORA 'High' band. Release Gate &amp; Deploy agents (Option B) projected to reach daily cadence by sprint 6.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272784" y="5998464"/>
            <a:ext cx="45720" cy="310896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TextBox 165"/>
          <p:cNvSpPr txBox="1"/>
          <p:nvPr/>
        </p:nvSpPr>
        <p:spPr>
          <a:xfrm>
            <a:off x="6364224" y="6016751"/>
            <a:ext cx="55869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F2937"/>
                </a:solidFill>
              </a:rPr>
              <a:t>CFR at 12% (DORA Medium). As CodeGen matures, target &lt;8% (Option B) via automated pre-merge AI review and automated quality gate enforcement.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914400"/>
          </a:xfrm>
          <a:prstGeom prst="rect">
            <a:avLst/>
          </a:prstGeom>
          <a:solidFill>
            <a:srgbClr val="06C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37744" y="91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</a:rPr>
              <a:t>Metrics &amp; Measurement 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" y="548640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2BBE6"/>
                </a:solidFill>
              </a:rPr>
              <a:t>Two perspectives — AI Adoption + PDLC Performance — tracked from Option A through Option C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914400"/>
            <a:ext cx="12188952" cy="27432"/>
          </a:xfrm>
          <a:prstGeom prst="rect">
            <a:avLst/>
          </a:prstGeom>
          <a:solidFill>
            <a:srgbClr val="06C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620256"/>
            <a:ext cx="12188952" cy="23774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" y="6638544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2BBE6"/>
                </a:solidFill>
              </a:rPr>
              <a:t>STUMP  ·  Metrics &amp; Measurement Framework  ·  © 2026 Cognizant  · 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04320" y="6638544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92BBE6"/>
                </a:solidFill>
              </a:rPr>
              <a:t>M1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1005840"/>
            <a:ext cx="5870448" cy="5376672"/>
          </a:xfrm>
          <a:prstGeom prst="rect">
            <a:avLst/>
          </a:prstGeom>
          <a:solidFill>
            <a:srgbClr val="F4F7FF"/>
          </a:solidFill>
          <a:ln w="762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82880" y="1005840"/>
            <a:ext cx="5870448" cy="347472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" y="1042415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Perspective 1 — AI Adoption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" y="1389888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0048"/>
                </a:solidFill>
              </a:rPr>
              <a:t>How deeply and effectively are AI assistants/agents being used?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" y="1609344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B7280"/>
                </a:solidFill>
              </a:rPr>
              <a:t>Measures whether humans are actually using and trusting AI systems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2608" y="1883664"/>
            <a:ext cx="5577840" cy="320040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2608" y="1883664"/>
            <a:ext cx="64008" cy="320040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1947672"/>
            <a:ext cx="5257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</a:rPr>
              <a:t>Agent Utilisation Rate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92608" y="2267712"/>
            <a:ext cx="5577840" cy="320040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92608" y="2267712"/>
            <a:ext cx="64008" cy="320040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2331720"/>
            <a:ext cx="5257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</a:rPr>
              <a:t>AI Acceptance Rate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92608" y="2651760"/>
            <a:ext cx="5577840" cy="320040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2608" y="2651760"/>
            <a:ext cx="64008" cy="320040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2715768"/>
            <a:ext cx="5257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</a:rPr>
              <a:t>Human Override Rate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92608" y="3035808"/>
            <a:ext cx="5577840" cy="320040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2608" y="3035808"/>
            <a:ext cx="64008" cy="320040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3099816"/>
            <a:ext cx="5257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</a:rPr>
              <a:t>Time Saved per Agent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92608" y="3419856"/>
            <a:ext cx="5577840" cy="320040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92608" y="3419856"/>
            <a:ext cx="64008" cy="320040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3483864"/>
            <a:ext cx="5257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</a:rPr>
              <a:t>Phase Coverage 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92608" y="3803904"/>
            <a:ext cx="5577840" cy="320040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92608" y="3803904"/>
            <a:ext cx="64008" cy="320040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80" y="3867912"/>
            <a:ext cx="5257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</a:rPr>
              <a:t>Agent Throughput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92608" y="4187952"/>
            <a:ext cx="5577840" cy="320040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92608" y="4187952"/>
            <a:ext cx="64008" cy="320040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1480" y="4251960"/>
            <a:ext cx="5257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</a:rPr>
              <a:t>AI-Assisted PR Rate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92608" y="4572000"/>
            <a:ext cx="5577840" cy="320040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92608" y="4572000"/>
            <a:ext cx="64008" cy="320040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1480" y="4636008"/>
            <a:ext cx="5257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</a:rPr>
              <a:t>ROI per Agent Deployed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17920" y="1005840"/>
            <a:ext cx="5870448" cy="5376672"/>
          </a:xfrm>
          <a:prstGeom prst="rect">
            <a:avLst/>
          </a:prstGeom>
          <a:solidFill>
            <a:srgbClr val="F4F7FF"/>
          </a:solidFill>
          <a:ln w="762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17920" y="1005840"/>
            <a:ext cx="5870448" cy="347472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27648" y="1042415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Perspective 2 — PDLC Performance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27648" y="1389888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E308E"/>
                </a:solidFill>
              </a:rPr>
              <a:t>Is AI improving delivery speed, quality and flow?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27648" y="1609344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B7280"/>
                </a:solidFill>
              </a:rPr>
              <a:t>Measures whether AI is actually moving the needle on engineering metrics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327648" y="1883664"/>
            <a:ext cx="5577840" cy="320040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327648" y="1883664"/>
            <a:ext cx="64008" cy="320040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46520" y="1947672"/>
            <a:ext cx="5257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</a:rPr>
              <a:t>Lead Time (idea → production)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327648" y="2267712"/>
            <a:ext cx="5577840" cy="320040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327648" y="2267712"/>
            <a:ext cx="64008" cy="320040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46520" y="2331720"/>
            <a:ext cx="5257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</a:rPr>
              <a:t>Cycle Time (start → deploy)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327648" y="2651760"/>
            <a:ext cx="5577840" cy="320040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327648" y="2651760"/>
            <a:ext cx="64008" cy="320040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46520" y="2715768"/>
            <a:ext cx="5257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</a:rPr>
              <a:t>Flow Efficiency 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327648" y="3035808"/>
            <a:ext cx="5577840" cy="320040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327648" y="3035808"/>
            <a:ext cx="64008" cy="320040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46520" y="3099816"/>
            <a:ext cx="5257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</a:rPr>
              <a:t>Work in Progress (WIP)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327648" y="3419856"/>
            <a:ext cx="5577840" cy="320040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327648" y="3419856"/>
            <a:ext cx="64008" cy="320040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446520" y="3483864"/>
            <a:ext cx="5257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</a:rPr>
              <a:t>Deployment Frequency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327648" y="3803904"/>
            <a:ext cx="5577840" cy="320040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6327648" y="3803904"/>
            <a:ext cx="64008" cy="320040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446520" y="3867912"/>
            <a:ext cx="5257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</a:rPr>
              <a:t>Change Failure Rate (CFR)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327648" y="4187952"/>
            <a:ext cx="5577840" cy="320040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327648" y="4187952"/>
            <a:ext cx="64008" cy="320040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446520" y="4251960"/>
            <a:ext cx="5257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</a:rPr>
              <a:t>Mean Time to Recovery (MTTR)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327648" y="4572000"/>
            <a:ext cx="5577840" cy="320040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327648" y="4572000"/>
            <a:ext cx="64008" cy="320040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446520" y="4636008"/>
            <a:ext cx="5257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</a:rPr>
              <a:t>Throughput (items/sprint)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6400800"/>
            <a:ext cx="11823192" cy="201168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10896" y="6419088"/>
            <a:ext cx="640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6C7CC"/>
                </a:solidFill>
              </a:rPr>
              <a:t>Cadence: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87552" y="6419088"/>
            <a:ext cx="5120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Daily automated collection  ·  Weekly aggregation  ·  Sprint review  ·  Monthly executive report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614416" y="6419088"/>
            <a:ext cx="640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6C7CC"/>
                </a:solidFill>
              </a:rPr>
              <a:t>Tools: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291072" y="6419088"/>
            <a:ext cx="5120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Jira  ·  GitHub  ·  CI/CD pipeline  ·  Agent telemetry  ·  STUMP dashboard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91440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37744" y="91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</a:rPr>
              <a:t>AI Adoption Metrics — Deep Dive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" y="548640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2BBE6"/>
                </a:solidFill>
              </a:rPr>
              <a:t>Agent Utilisation Rate  ·  AI Acceptance Rate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914400"/>
            <a:ext cx="12188952" cy="27432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620256"/>
            <a:ext cx="12188952" cy="23774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" y="6638544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2BBE6"/>
                </a:solidFill>
              </a:rPr>
              <a:t>STUMP  ·  Metrics &amp; Measurement Framework  ·  © 2026 Cognizant  · 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04320" y="6638544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92BBE6"/>
                </a:solidFill>
              </a:rPr>
              <a:t>M2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" y="1005840"/>
            <a:ext cx="5897880" cy="5486400"/>
          </a:xfrm>
          <a:prstGeom prst="rect">
            <a:avLst/>
          </a:prstGeom>
          <a:solidFill>
            <a:srgbClr val="FFFFFF"/>
          </a:solidFill>
          <a:ln w="762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37160" y="1005840"/>
            <a:ext cx="5897880" cy="42062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6888" y="1088136"/>
            <a:ext cx="57515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Agent Utilisation 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" y="1463040"/>
            <a:ext cx="57515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</a:rPr>
              <a:t>% of PDLC activities where an AI agent/assistant was actively involved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6888" y="1773936"/>
            <a:ext cx="5678424" cy="347472"/>
          </a:xfrm>
          <a:prstGeom prst="rect">
            <a:avLst/>
          </a:prstGeom>
          <a:solidFill>
            <a:srgbClr val="EFF6FF"/>
          </a:solidFill>
          <a:ln w="9525">
            <a:solidFill>
              <a:srgbClr val="2F7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8328" y="1828800"/>
            <a:ext cx="5623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0048"/>
                </a:solidFill>
              </a:rPr>
              <a:t>Formula:  (Activities with AI involvement ÷ Total PDLC activities) × 100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6888" y="2194560"/>
            <a:ext cx="1874520" cy="3602736"/>
          </a:xfrm>
          <a:prstGeom prst="rect">
            <a:avLst/>
          </a:prstGeom>
          <a:solidFill>
            <a:srgbClr val="F4F7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6888" y="2194560"/>
            <a:ext cx="1874520" cy="256032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2240280"/>
            <a:ext cx="17647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Data Needed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8328" y="2596896"/>
            <a:ext cx="54864" cy="5486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056" y="2505456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Work item count per phase from ALM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8328" y="3424428"/>
            <a:ext cx="54864" cy="5486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8056" y="3332988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AI agent execution logs per activity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8328" y="4251960"/>
            <a:ext cx="54864" cy="5486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8056" y="4160520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Phase-activity mapping config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8328" y="5079492"/>
            <a:ext cx="54864" cy="5486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8056" y="4988052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Sprint/release boundary timestamps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148840" y="2194560"/>
            <a:ext cx="1874520" cy="3602736"/>
          </a:xfrm>
          <a:prstGeom prst="rect">
            <a:avLst/>
          </a:prstGeom>
          <a:solidFill>
            <a:srgbClr val="F4F7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148840" y="2194560"/>
            <a:ext cx="1874520" cy="256032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221992" y="2240280"/>
            <a:ext cx="17647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Capture Approach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240280" y="2596896"/>
            <a:ext cx="54864" cy="54864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350008" y="2505456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Instrument agent service to log each invocation with phase_id + activity_id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40280" y="3424428"/>
            <a:ext cx="54864" cy="54864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350008" y="3332988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Pull total work-item count from Jira/ADO per sprint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240280" y="4251960"/>
            <a:ext cx="54864" cy="54864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350008" y="4160520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Store in STUMP AnalysisRun.agents_run JSON per execution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240280" y="5079492"/>
            <a:ext cx="54864" cy="54864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350008" y="4988052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Aggregate weekly via APScheduler pipeline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050792" y="2194560"/>
            <a:ext cx="1874520" cy="3602736"/>
          </a:xfrm>
          <a:prstGeom prst="rect">
            <a:avLst/>
          </a:prstGeom>
          <a:solidFill>
            <a:srgbClr val="F4F7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050792" y="2194560"/>
            <a:ext cx="1874520" cy="256032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23944" y="2240280"/>
            <a:ext cx="17647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Calculate &amp; Display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42232" y="2596896"/>
            <a:ext cx="54864" cy="5486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251960" y="2505456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Calc: SUM(ai_invocations per phase) / SUM(total_activities) × 100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142232" y="3424428"/>
            <a:ext cx="54864" cy="5486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251960" y="3332988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Chart: Stacked bar — AI-handled vs manual per phase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142232" y="4251960"/>
            <a:ext cx="54864" cy="5486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251960" y="4160520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Alert: &lt; 30 % in any active phase triggers low-adoption warning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142232" y="5079492"/>
            <a:ext cx="54864" cy="5486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251960" y="4988052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Review: Sprint retrospective scorecard widget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46888" y="5833872"/>
            <a:ext cx="1856232" cy="292608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10896" y="5897880"/>
            <a:ext cx="1764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Opt A: 30–50 %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139696" y="5833872"/>
            <a:ext cx="1856232" cy="292608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203704" y="5897880"/>
            <a:ext cx="1764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Opt B: 60–75 %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032504" y="5833872"/>
            <a:ext cx="1856232" cy="292608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096512" y="5897880"/>
            <a:ext cx="1764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Opt C: 85–95 %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46888" y="6163056"/>
            <a:ext cx="5678424" cy="274320"/>
          </a:xfrm>
          <a:prstGeom prst="rect">
            <a:avLst/>
          </a:prstGeom>
          <a:solidFill>
            <a:srgbClr val="F3F4F6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01752" y="6227064"/>
            <a:ext cx="594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0048"/>
                </a:solidFill>
              </a:rPr>
              <a:t>Sources: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41832" y="6217920"/>
            <a:ext cx="1042415" cy="173736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78408" y="6236208"/>
            <a:ext cx="987551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</a:rPr>
              <a:t>Jira/ADO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048255" y="6217920"/>
            <a:ext cx="1143000" cy="173736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084831" y="6236208"/>
            <a:ext cx="108813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</a:rPr>
              <a:t>Agent Logs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255263" y="6217920"/>
            <a:ext cx="1042415" cy="173736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291839" y="6236208"/>
            <a:ext cx="987551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</a:rPr>
              <a:t>STUMP DB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153912" y="1005840"/>
            <a:ext cx="5897880" cy="5486400"/>
          </a:xfrm>
          <a:prstGeom prst="rect">
            <a:avLst/>
          </a:prstGeom>
          <a:solidFill>
            <a:srgbClr val="FFFFFF"/>
          </a:solidFill>
          <a:ln w="762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153912" y="1005840"/>
            <a:ext cx="5897880" cy="420624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263640" y="1088136"/>
            <a:ext cx="57515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AI Acceptance Rate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263640" y="1463040"/>
            <a:ext cx="57515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</a:rPr>
              <a:t>% of AI-generated outputs accepted or merged by humans without major revision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263640" y="1773936"/>
            <a:ext cx="5678424" cy="347472"/>
          </a:xfrm>
          <a:prstGeom prst="rect">
            <a:avLst/>
          </a:prstGeom>
          <a:solidFill>
            <a:srgbClr val="EFF6FF"/>
          </a:solidFill>
          <a:ln w="9525">
            <a:solidFill>
              <a:srgbClr val="2F7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355080" y="1828800"/>
            <a:ext cx="5623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0048"/>
                </a:solidFill>
              </a:rPr>
              <a:t>Formula:  (AI outputs accepted as-is or minor edits ÷ Total AI outputs generated) × 100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263640" y="2194560"/>
            <a:ext cx="1874520" cy="3602736"/>
          </a:xfrm>
          <a:prstGeom prst="rect">
            <a:avLst/>
          </a:prstGeom>
          <a:solidFill>
            <a:srgbClr val="F4F7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263640" y="2194560"/>
            <a:ext cx="1874520" cy="256032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336792" y="2240280"/>
            <a:ext cx="17647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Data Needed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355080" y="2596896"/>
            <a:ext cx="54864" cy="5486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464808" y="2505456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PR merge status and review comments from GitHub/GitLab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355080" y="3424428"/>
            <a:ext cx="54864" cy="5486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464808" y="3332988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AI suggestion logs from Copilot / LLM APIs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355080" y="4251960"/>
            <a:ext cx="54864" cy="5486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464808" y="4160520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Code review tool delta metrics (lines changed post-AI)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355080" y="5079492"/>
            <a:ext cx="54864" cy="5486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464808" y="4988052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Acceptance event from agent feedback endpoint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165592" y="2194560"/>
            <a:ext cx="1874520" cy="3602736"/>
          </a:xfrm>
          <a:prstGeom prst="rect">
            <a:avLst/>
          </a:prstGeom>
          <a:solidFill>
            <a:srgbClr val="F4F7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8165592" y="2194560"/>
            <a:ext cx="1874520" cy="256032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238744" y="2240280"/>
            <a:ext cx="17647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Capture Approach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257032" y="2596896"/>
            <a:ext cx="54864" cy="54864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366760" y="2505456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GitHub webhook on PR merge — tag PRs with ai_assisted label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257032" y="3424428"/>
            <a:ext cx="54864" cy="54864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366760" y="3332988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Compare diff size before/after AI suggestion acceptance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257032" y="4251960"/>
            <a:ext cx="54864" cy="54864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8366760" y="4160520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Agent service records accept/reject events in ActivityMetric table</a:t>
            </a:r>
          </a:p>
        </p:txBody>
      </p:sp>
      <p:sp>
        <p:nvSpPr>
          <p:cNvPr id="90" name="Rectangle 89"/>
          <p:cNvSpPr/>
          <p:nvPr/>
        </p:nvSpPr>
        <p:spPr>
          <a:xfrm>
            <a:off x="8257032" y="5079492"/>
            <a:ext cx="54864" cy="54864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8366760" y="4988052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Weekly rollup via STUMP /api/v1/accuracy endpoint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0067544" y="2194560"/>
            <a:ext cx="1874520" cy="3602736"/>
          </a:xfrm>
          <a:prstGeom prst="rect">
            <a:avLst/>
          </a:prstGeom>
          <a:solidFill>
            <a:srgbClr val="F4F7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10067544" y="2194560"/>
            <a:ext cx="1874520" cy="256032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0140696" y="2240280"/>
            <a:ext cx="17647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Calculate &amp; Display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0158984" y="2596896"/>
            <a:ext cx="54864" cy="5486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0268712" y="2505456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Calc: COUNT(accepted_PRs with ai_label) / COUNT(all ai_PRs) × 100</a:t>
            </a:r>
          </a:p>
        </p:txBody>
      </p:sp>
      <p:sp>
        <p:nvSpPr>
          <p:cNvPr id="97" name="Rectangle 96"/>
          <p:cNvSpPr/>
          <p:nvPr/>
        </p:nvSpPr>
        <p:spPr>
          <a:xfrm>
            <a:off x="10158984" y="3424428"/>
            <a:ext cx="54864" cy="5486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10268712" y="3332988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Chart: Trend line per agent over rolling 4 sprints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0158984" y="4251960"/>
            <a:ext cx="54864" cy="5486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10268712" y="4160520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Alert: Acceptance rate &lt; 60 % triggers quality review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10158984" y="5079492"/>
            <a:ext cx="54864" cy="5486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10268712" y="4988052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Display: Per-agent scorecard on AI Agents page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6263640" y="5833872"/>
            <a:ext cx="1856232" cy="292608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6327648" y="5897880"/>
            <a:ext cx="1764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Opt A: 55–70 %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8156448" y="5833872"/>
            <a:ext cx="1856232" cy="292608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8220456" y="5897880"/>
            <a:ext cx="1764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Opt B: 70–85 %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10049256" y="5833872"/>
            <a:ext cx="1856232" cy="292608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10113264" y="5897880"/>
            <a:ext cx="1764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Opt C: 88–95 %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6263640" y="6163056"/>
            <a:ext cx="5678424" cy="274320"/>
          </a:xfrm>
          <a:prstGeom prst="rect">
            <a:avLst/>
          </a:prstGeom>
          <a:solidFill>
            <a:srgbClr val="F3F4F6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6318504" y="6227064"/>
            <a:ext cx="594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0048"/>
                </a:solidFill>
              </a:rPr>
              <a:t>Sources: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958584" y="6217920"/>
            <a:ext cx="1293876" cy="173736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995160" y="6236208"/>
            <a:ext cx="123901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</a:rPr>
              <a:t>GitHub/GitLab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8316468" y="6217920"/>
            <a:ext cx="1193292" cy="173736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8353044" y="6236208"/>
            <a:ext cx="113842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</a:rPr>
              <a:t>Copilot API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9573768" y="6217920"/>
            <a:ext cx="1042415" cy="173736"/>
          </a:xfrm>
          <a:prstGeom prst="rect">
            <a:avLst/>
          </a:prstGeom>
          <a:solidFill>
            <a:srgbClr val="06C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9610344" y="6236208"/>
            <a:ext cx="987551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</a:rPr>
              <a:t>LLM Logs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91440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37744" y="91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</a:rPr>
              <a:t>AI Adoption Metrics — Deep Dive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" y="548640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2BBE6"/>
                </a:solidFill>
              </a:rPr>
              <a:t>Human Override Rate  ·  Time Saved per Agent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914400"/>
            <a:ext cx="12188952" cy="27432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620256"/>
            <a:ext cx="12188952" cy="23774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" y="6638544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2BBE6"/>
                </a:solidFill>
              </a:rPr>
              <a:t>STUMP  ·  Metrics &amp; Measurement Framework  ·  © 2026 Cognizant  · 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04320" y="6638544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92BBE6"/>
                </a:solidFill>
              </a:rPr>
              <a:t>M3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" y="1005840"/>
            <a:ext cx="5897880" cy="5486400"/>
          </a:xfrm>
          <a:prstGeom prst="rect">
            <a:avLst/>
          </a:prstGeom>
          <a:solidFill>
            <a:srgbClr val="FFFFFF"/>
          </a:solidFill>
          <a:ln w="762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37160" y="1005840"/>
            <a:ext cx="5897880" cy="42062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6888" y="1088136"/>
            <a:ext cx="57515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Human Override 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" y="1463040"/>
            <a:ext cx="57515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</a:rPr>
              <a:t>% of AI decisions / suggestions that humans reversed or rejected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6888" y="1773936"/>
            <a:ext cx="5678424" cy="347472"/>
          </a:xfrm>
          <a:prstGeom prst="rect">
            <a:avLst/>
          </a:prstGeom>
          <a:solidFill>
            <a:srgbClr val="EFF6FF"/>
          </a:solidFill>
          <a:ln w="9525">
            <a:solidFill>
              <a:srgbClr val="2F7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8328" y="1828800"/>
            <a:ext cx="5623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0048"/>
                </a:solidFill>
              </a:rPr>
              <a:t>Formula:  (Human overrides of AI output ÷ Total AI decisions made) × 100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6888" y="2194560"/>
            <a:ext cx="1874520" cy="3602736"/>
          </a:xfrm>
          <a:prstGeom prst="rect">
            <a:avLst/>
          </a:prstGeom>
          <a:solidFill>
            <a:srgbClr val="F4F7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6888" y="2194560"/>
            <a:ext cx="1874520" cy="256032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2240280"/>
            <a:ext cx="17647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Data Needed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8328" y="2596896"/>
            <a:ext cx="54864" cy="5486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056" y="2505456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Override / rejection events from code review tooling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8328" y="3424428"/>
            <a:ext cx="54864" cy="5486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8056" y="3332988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Playbook action items marked 'overridden' by team leads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8328" y="4251960"/>
            <a:ext cx="54864" cy="5486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8056" y="4160520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Agent output revision history from STUMP analysis runs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8328" y="5079492"/>
            <a:ext cx="54864" cy="5486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8056" y="4988052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Manual correction logs from VSM Editor overrides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148840" y="2194560"/>
            <a:ext cx="1874520" cy="3602736"/>
          </a:xfrm>
          <a:prstGeom prst="rect">
            <a:avLst/>
          </a:prstGeom>
          <a:solidFill>
            <a:srgbClr val="F4F7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148840" y="2194560"/>
            <a:ext cx="1874520" cy="256032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221992" y="2240280"/>
            <a:ext cx="17647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Capture Approach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240280" y="2596896"/>
            <a:ext cx="54864" cy="54864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350008" y="2505456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Log every override event in AssessmentActionItem.status = 'Overridden'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40280" y="3424428"/>
            <a:ext cx="54864" cy="54864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350008" y="3332988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Track VSMSnapshot.overrides JSON for manual corrections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240280" y="4251960"/>
            <a:ext cx="54864" cy="54864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350008" y="4160520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GitHub label ai_overridden applied by reviewers in PR comments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240280" y="5079492"/>
            <a:ext cx="54864" cy="54864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350008" y="4988052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STUMP /api/v1/accuracy feedback form captures override reason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050792" y="2194560"/>
            <a:ext cx="1874520" cy="3602736"/>
          </a:xfrm>
          <a:prstGeom prst="rect">
            <a:avLst/>
          </a:prstGeom>
          <a:solidFill>
            <a:srgbClr val="F4F7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050792" y="2194560"/>
            <a:ext cx="1874520" cy="256032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23944" y="2240280"/>
            <a:ext cx="17647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Calculate &amp; Display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42232" y="2596896"/>
            <a:ext cx="54864" cy="5486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251960" y="2505456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Calc: COUNT(override_events) / COUNT(ai_decisions) × 100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142232" y="3424428"/>
            <a:ext cx="54864" cy="5486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251960" y="3332988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Chart: Heatmap by phase — which phases have highest override rates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142232" y="4251960"/>
            <a:ext cx="54864" cy="5486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251960" y="4160520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Alert: Override rate &gt; 30 % in any phase → retrain / recalibrate agent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142232" y="5079492"/>
            <a:ext cx="54864" cy="5486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251960" y="4988052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Display: Accuracy &amp; RAG page override breakdown table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46888" y="5833872"/>
            <a:ext cx="1856232" cy="292608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10896" y="5897880"/>
            <a:ext cx="1764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Opt A: &lt; 35 %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139696" y="5833872"/>
            <a:ext cx="1856232" cy="292608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203704" y="5897880"/>
            <a:ext cx="1764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Opt B: &lt; 20 %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032504" y="5833872"/>
            <a:ext cx="1856232" cy="292608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096512" y="5897880"/>
            <a:ext cx="1764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Opt C: &lt; 10 %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46888" y="6163056"/>
            <a:ext cx="5678424" cy="274320"/>
          </a:xfrm>
          <a:prstGeom prst="rect">
            <a:avLst/>
          </a:prstGeom>
          <a:solidFill>
            <a:srgbClr val="F3F4F6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01752" y="6227064"/>
            <a:ext cx="594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0048"/>
                </a:solidFill>
              </a:rPr>
              <a:t>Sources: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41832" y="6217920"/>
            <a:ext cx="1042415" cy="173736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78408" y="6236208"/>
            <a:ext cx="987551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</a:rPr>
              <a:t>STUMP DB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048255" y="6217920"/>
            <a:ext cx="941832" cy="173736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084831" y="6236208"/>
            <a:ext cx="88696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</a:rPr>
              <a:t>GitHub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054095" y="6217920"/>
            <a:ext cx="1143000" cy="173736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090671" y="6236208"/>
            <a:ext cx="108813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</a:rPr>
              <a:t>VSM Editor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153912" y="1005840"/>
            <a:ext cx="5897880" cy="5486400"/>
          </a:xfrm>
          <a:prstGeom prst="rect">
            <a:avLst/>
          </a:prstGeom>
          <a:solidFill>
            <a:srgbClr val="FFFFFF"/>
          </a:solidFill>
          <a:ln w="762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153912" y="1005840"/>
            <a:ext cx="5897880" cy="420624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263640" y="1088136"/>
            <a:ext cx="57515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Time Saved per Agent (hours/sprint)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263640" y="1463040"/>
            <a:ext cx="57515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</a:rPr>
              <a:t>Actual engineering hours saved per AI agent per sprint vs. manual baseline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263640" y="1773936"/>
            <a:ext cx="5678424" cy="347472"/>
          </a:xfrm>
          <a:prstGeom prst="rect">
            <a:avLst/>
          </a:prstGeom>
          <a:solidFill>
            <a:srgbClr val="EFF6FF"/>
          </a:solidFill>
          <a:ln w="9525">
            <a:solidFill>
              <a:srgbClr val="2F7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355080" y="1828800"/>
            <a:ext cx="5623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0048"/>
                </a:solidFill>
              </a:rPr>
              <a:t>Formula:  (Manual effort baseline hrs − Actual effort with AI hrs) per sprint, per agent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263640" y="2194560"/>
            <a:ext cx="1874520" cy="3602736"/>
          </a:xfrm>
          <a:prstGeom prst="rect">
            <a:avLst/>
          </a:prstGeom>
          <a:solidFill>
            <a:srgbClr val="F4F7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263640" y="2194560"/>
            <a:ext cx="1874520" cy="256032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336792" y="2240280"/>
            <a:ext cx="17647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Data Needed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355080" y="2596896"/>
            <a:ext cx="54864" cy="5486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464808" y="2505456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Story point / time estimates before AI from Jira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355080" y="3424428"/>
            <a:ext cx="54864" cy="5486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464808" y="3332988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Actual time-logged data (Jira worklogs or time-tracking tool)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355080" y="4251960"/>
            <a:ext cx="54864" cy="5486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464808" y="4160520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Per-phase manual benchmark (from initial VSM baseline run)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355080" y="5079492"/>
            <a:ext cx="54864" cy="5486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464808" y="4988052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Sprint velocity data — story points completed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165592" y="2194560"/>
            <a:ext cx="1874520" cy="3602736"/>
          </a:xfrm>
          <a:prstGeom prst="rect">
            <a:avLst/>
          </a:prstGeom>
          <a:solidFill>
            <a:srgbClr val="F4F7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8165592" y="2194560"/>
            <a:ext cx="1874520" cy="256032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238744" y="2240280"/>
            <a:ext cx="17647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Capture Approach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257032" y="2596896"/>
            <a:ext cx="54864" cy="54864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366760" y="2505456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Establish manual baseline in Sprint 1 before any AI agent is live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257032" y="3424428"/>
            <a:ext cx="54864" cy="54864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366760" y="3332988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Log Jira worklog hours per story each sprint post-AI deployment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257032" y="4251960"/>
            <a:ext cx="54864" cy="54864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8366760" y="4160520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Compare: estimate_hrs × normalisation_factor vs actual_logged_hrs</a:t>
            </a:r>
          </a:p>
        </p:txBody>
      </p:sp>
      <p:sp>
        <p:nvSpPr>
          <p:cNvPr id="90" name="Rectangle 89"/>
          <p:cNvSpPr/>
          <p:nvPr/>
        </p:nvSpPr>
        <p:spPr>
          <a:xfrm>
            <a:off x="8257032" y="5079492"/>
            <a:ext cx="54864" cy="54864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8366760" y="4988052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Store delta in ActivityMetric.process_time per phase per sprint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0067544" y="2194560"/>
            <a:ext cx="1874520" cy="3602736"/>
          </a:xfrm>
          <a:prstGeom prst="rect">
            <a:avLst/>
          </a:prstGeom>
          <a:solidFill>
            <a:srgbClr val="F4F7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10067544" y="2194560"/>
            <a:ext cx="1874520" cy="256032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0140696" y="2240280"/>
            <a:ext cx="17647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Calculate &amp; Display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0158984" y="2596896"/>
            <a:ext cx="54864" cy="5486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0268712" y="2505456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Calc: SUM(baseline_PT − actual_PT) across agent's activities</a:t>
            </a:r>
          </a:p>
        </p:txBody>
      </p:sp>
      <p:sp>
        <p:nvSpPr>
          <p:cNvPr id="97" name="Rectangle 96"/>
          <p:cNvSpPr/>
          <p:nvPr/>
        </p:nvSpPr>
        <p:spPr>
          <a:xfrm>
            <a:off x="10158984" y="3424428"/>
            <a:ext cx="54864" cy="5486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10268712" y="3332988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Chart: Bar chart — hours saved per agent, sprint-over-sprint trend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0158984" y="4251960"/>
            <a:ext cx="54864" cy="5486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10268712" y="4160520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KPI card: Total hrs saved this sprint on Dashboard page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10158984" y="5079492"/>
            <a:ext cx="54864" cy="5486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10268712" y="4988052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Alert: Saved hours declining 2+ sprints triggers agent health review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6263640" y="5833872"/>
            <a:ext cx="1856232" cy="292608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6327648" y="5897880"/>
            <a:ext cx="1764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Opt A: 2–8 hrs/agent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8156448" y="5833872"/>
            <a:ext cx="1856232" cy="292608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8220456" y="5897880"/>
            <a:ext cx="1764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Opt B: 8–20 hrs/agent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10049256" y="5833872"/>
            <a:ext cx="1856232" cy="292608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10113264" y="5897880"/>
            <a:ext cx="1764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Opt C: 20–40 hrs/agent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6263640" y="6163056"/>
            <a:ext cx="5678424" cy="274320"/>
          </a:xfrm>
          <a:prstGeom prst="rect">
            <a:avLst/>
          </a:prstGeom>
          <a:solidFill>
            <a:srgbClr val="F3F4F6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6318504" y="6227064"/>
            <a:ext cx="594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0048"/>
                </a:solidFill>
              </a:rPr>
              <a:t>Sources: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958584" y="6217920"/>
            <a:ext cx="1293876" cy="173736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995160" y="6236208"/>
            <a:ext cx="123901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</a:rPr>
              <a:t>Jira Worklogs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8316468" y="6217920"/>
            <a:ext cx="1243584" cy="173736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8353044" y="6236208"/>
            <a:ext cx="11887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</a:rPr>
              <a:t>VSM Baseline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9624060" y="6217920"/>
            <a:ext cx="1042415" cy="173736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9660636" y="6236208"/>
            <a:ext cx="987551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</a:rPr>
              <a:t>STUMP DB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91440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37744" y="91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</a:rPr>
              <a:t>AI Adoption Metrics — Deep Dive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" y="548640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2BBE6"/>
                </a:solidFill>
              </a:rPr>
              <a:t>Phase Coverage  ·  Agent ROI Multiple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914400"/>
            <a:ext cx="12188952" cy="27432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620256"/>
            <a:ext cx="12188952" cy="23774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" y="6638544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2BBE6"/>
                </a:solidFill>
              </a:rPr>
              <a:t>STUMP  ·  Metrics &amp; Measurement Framework  ·  © 2026 Cognizant  · 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04320" y="6638544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92BBE6"/>
                </a:solidFill>
              </a:rPr>
              <a:t>M4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" y="1005840"/>
            <a:ext cx="5897880" cy="5486400"/>
          </a:xfrm>
          <a:prstGeom prst="rect">
            <a:avLst/>
          </a:prstGeom>
          <a:solidFill>
            <a:srgbClr val="FFFFFF"/>
          </a:solidFill>
          <a:ln w="762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37160" y="1005840"/>
            <a:ext cx="5897880" cy="420624"/>
          </a:xfrm>
          <a:prstGeom prst="rect">
            <a:avLst/>
          </a:prstGeom>
          <a:solidFill>
            <a:srgbClr val="0A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6888" y="1088136"/>
            <a:ext cx="57515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AI Phase Coverage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" y="1463040"/>
            <a:ext cx="57515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</a:rPr>
              <a:t>% of the 7 PDLC phases that have at least one active AI agent/assistant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6888" y="1773936"/>
            <a:ext cx="5678424" cy="347472"/>
          </a:xfrm>
          <a:prstGeom prst="rect">
            <a:avLst/>
          </a:prstGeom>
          <a:solidFill>
            <a:srgbClr val="EFF6FF"/>
          </a:solidFill>
          <a:ln w="9525">
            <a:solidFill>
              <a:srgbClr val="2F7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8328" y="1828800"/>
            <a:ext cx="5623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0048"/>
                </a:solidFill>
              </a:rPr>
              <a:t>Formula:  (PDLC phases with ≥ 1 active AI agent ÷ 7 total phases) × 100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6888" y="2194560"/>
            <a:ext cx="1874520" cy="3602736"/>
          </a:xfrm>
          <a:prstGeom prst="rect">
            <a:avLst/>
          </a:prstGeom>
          <a:solidFill>
            <a:srgbClr val="F4F7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6888" y="2194560"/>
            <a:ext cx="1874520" cy="256032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2240280"/>
            <a:ext cx="17647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Data Needed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8328" y="2596896"/>
            <a:ext cx="54864" cy="5486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056" y="2505456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Active agent list per phase from STUMP agent registry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8328" y="3424428"/>
            <a:ext cx="54864" cy="5486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8056" y="3332988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Phase-agent mapping from LangGraph orchestrator config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8328" y="4251960"/>
            <a:ext cx="54864" cy="5486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8056" y="4160520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Agent status (GA / Pilot / PoC) per phase from platform settings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8328" y="5079492"/>
            <a:ext cx="54864" cy="5486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8056" y="4988052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Sprint release plan showing when each agent goes live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148840" y="2194560"/>
            <a:ext cx="1874520" cy="3602736"/>
          </a:xfrm>
          <a:prstGeom prst="rect">
            <a:avLst/>
          </a:prstGeom>
          <a:solidFill>
            <a:srgbClr val="F4F7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148840" y="2194560"/>
            <a:ext cx="1874520" cy="256032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221992" y="2240280"/>
            <a:ext cx="17647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Capture Approach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240280" y="2596896"/>
            <a:ext cx="54864" cy="54864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350008" y="2505456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STUMP /api/v1/agents returns agent-phase mapping — query per sprint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40280" y="3424428"/>
            <a:ext cx="54864" cy="54864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350008" y="3332988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Tag each AnalysisRun with phases_covered list in result JSON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240280" y="4251960"/>
            <a:ext cx="54864" cy="54864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350008" y="4160520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APScheduler weekly run computes coverage and stores in PlatformSettings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240280" y="5079492"/>
            <a:ext cx="54864" cy="54864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350008" y="4988052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Manual update when new agent phases are activated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050792" y="2194560"/>
            <a:ext cx="1874520" cy="3602736"/>
          </a:xfrm>
          <a:prstGeom prst="rect">
            <a:avLst/>
          </a:prstGeom>
          <a:solidFill>
            <a:srgbClr val="F4F7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050792" y="2194560"/>
            <a:ext cx="1874520" cy="256032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23944" y="2240280"/>
            <a:ext cx="17647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Calculate &amp; Display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42232" y="2596896"/>
            <a:ext cx="54864" cy="5486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251960" y="2505456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Calc: COUNT(DISTINCT phase_id in active_agents) / 7 × 100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142232" y="3424428"/>
            <a:ext cx="54864" cy="5486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251960" y="3332988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Chart: Radar/spider chart — 7-axis with fill showing coverage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142232" y="4251960"/>
            <a:ext cx="54864" cy="5486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251960" y="4160520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Target: 4/7 phases covered by Option A; 7/7 by Option C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142232" y="5079492"/>
            <a:ext cx="54864" cy="5486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251960" y="4988052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Display: Dashboard page phase coverage ring chart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46888" y="5833872"/>
            <a:ext cx="1856232" cy="292608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10896" y="5897880"/>
            <a:ext cx="1764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Opt A: 4 / 7 phases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139696" y="5833872"/>
            <a:ext cx="1856232" cy="292608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203704" y="5897880"/>
            <a:ext cx="1764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Opt B: 6 / 7 phases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032504" y="5833872"/>
            <a:ext cx="1856232" cy="292608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096512" y="5897880"/>
            <a:ext cx="1764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Opt C: 7 / 7 phases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46888" y="6163056"/>
            <a:ext cx="5678424" cy="274320"/>
          </a:xfrm>
          <a:prstGeom prst="rect">
            <a:avLst/>
          </a:prstGeom>
          <a:solidFill>
            <a:srgbClr val="F3F4F6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01752" y="6227064"/>
            <a:ext cx="594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0048"/>
                </a:solidFill>
              </a:rPr>
              <a:t>Sources: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41832" y="6217920"/>
            <a:ext cx="1595628" cy="173736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78408" y="6236208"/>
            <a:ext cx="154076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</a:rPr>
              <a:t>STUMP Agent Service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601468" y="6217920"/>
            <a:ext cx="1444752" cy="173736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638044" y="6236208"/>
            <a:ext cx="138988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</a:rPr>
              <a:t>LangGraph Config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153912" y="1005840"/>
            <a:ext cx="5897880" cy="5486400"/>
          </a:xfrm>
          <a:prstGeom prst="rect">
            <a:avLst/>
          </a:prstGeom>
          <a:solidFill>
            <a:srgbClr val="FFFFFF"/>
          </a:solidFill>
          <a:ln w="762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153912" y="1005840"/>
            <a:ext cx="5897880" cy="420624"/>
          </a:xfrm>
          <a:prstGeom prst="rect">
            <a:avLst/>
          </a:prstGeom>
          <a:solidFill>
            <a:srgbClr val="B45A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263640" y="1088136"/>
            <a:ext cx="57515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Agent ROI Multiple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263640" y="1463040"/>
            <a:ext cx="57515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</a:rPr>
              <a:t>Return on investment per deployed agent — value delivered vs. cost of running it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263640" y="1773936"/>
            <a:ext cx="5678424" cy="347472"/>
          </a:xfrm>
          <a:prstGeom prst="rect">
            <a:avLst/>
          </a:prstGeom>
          <a:solidFill>
            <a:srgbClr val="EFF6FF"/>
          </a:solidFill>
          <a:ln w="9525">
            <a:solidFill>
              <a:srgbClr val="2F7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355080" y="1828800"/>
            <a:ext cx="5623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0048"/>
                </a:solidFill>
              </a:rPr>
              <a:t>Formula:  (Annual value delivered by agent £ ÷ Annual cost of agent deployment £)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263640" y="2194560"/>
            <a:ext cx="1874520" cy="3602736"/>
          </a:xfrm>
          <a:prstGeom prst="rect">
            <a:avLst/>
          </a:prstGeom>
          <a:solidFill>
            <a:srgbClr val="F4F7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263640" y="2194560"/>
            <a:ext cx="1874520" cy="256032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336792" y="2240280"/>
            <a:ext cx="17647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Data Needed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355080" y="2596896"/>
            <a:ext cx="54864" cy="5486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464808" y="2505456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Engineering salary cost per hour for manual equivalent tasks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355080" y="3424428"/>
            <a:ext cx="54864" cy="5486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464808" y="3332988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Time saved per agent per sprint (from Time Saved metric above)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355080" y="4251960"/>
            <a:ext cx="54864" cy="5486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464808" y="4160520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Agent operational cost: LLM API cost + infra + maintenance hours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355080" y="5079492"/>
            <a:ext cx="54864" cy="5486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464808" y="4988052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Defects prevented count and estimated cost per defect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165592" y="2194560"/>
            <a:ext cx="1874520" cy="3602736"/>
          </a:xfrm>
          <a:prstGeom prst="rect">
            <a:avLst/>
          </a:prstGeom>
          <a:solidFill>
            <a:srgbClr val="F4F7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8165592" y="2194560"/>
            <a:ext cx="1874520" cy="256032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238744" y="2240280"/>
            <a:ext cx="17647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Capture Approach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257032" y="2596896"/>
            <a:ext cx="54864" cy="54864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366760" y="2505456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Pull LLM API usage from Azure OpenAI billing dashboard monthly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257032" y="3424428"/>
            <a:ext cx="54864" cy="54864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366760" y="3332988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Calculate value: time_saved_hrs × avg_eng_rate × 52 sprints/year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257032" y="4251960"/>
            <a:ext cx="54864" cy="54864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366760" y="4160520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Track defects prevented via Quality Assurance report delta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257032" y="5079492"/>
            <a:ext cx="54864" cy="54864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8366760" y="4988052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Store ROI calculation results in STUMP business_cases result JSON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0067544" y="2194560"/>
            <a:ext cx="1874520" cy="3602736"/>
          </a:xfrm>
          <a:prstGeom prst="rect">
            <a:avLst/>
          </a:prstGeom>
          <a:solidFill>
            <a:srgbClr val="F4F7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10067544" y="2194560"/>
            <a:ext cx="1874520" cy="256032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0140696" y="2240280"/>
            <a:ext cx="17647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Calculate &amp; Display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0158984" y="2596896"/>
            <a:ext cx="54864" cy="5486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0268712" y="2505456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Calc: (time_saved_value + defect_saving) / (llm_cost + eng_cost)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0158984" y="3424428"/>
            <a:ext cx="54864" cy="5486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0268712" y="3332988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Chart: ROI waterfall chart per agent on Business Case page</a:t>
            </a:r>
          </a:p>
        </p:txBody>
      </p:sp>
      <p:sp>
        <p:nvSpPr>
          <p:cNvPr id="97" name="Rectangle 96"/>
          <p:cNvSpPr/>
          <p:nvPr/>
        </p:nvSpPr>
        <p:spPr>
          <a:xfrm>
            <a:off x="10158984" y="4251960"/>
            <a:ext cx="54864" cy="5486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10268712" y="4160520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KPI: ROI multiple displayed on AI Agents monitor page per agent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0158984" y="5079492"/>
            <a:ext cx="54864" cy="5486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10268712" y="4988052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Alert: ROI &lt; 1.5× triggers cost-benefit review for that agent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6263640" y="5833872"/>
            <a:ext cx="1856232" cy="292608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6327648" y="5897880"/>
            <a:ext cx="1764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Opt A: 1.5 – 3×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8156448" y="5833872"/>
            <a:ext cx="1856232" cy="292608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8220456" y="5897880"/>
            <a:ext cx="1764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Opt B: 3 – 4.5×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10049256" y="5833872"/>
            <a:ext cx="1856232" cy="292608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10113264" y="5897880"/>
            <a:ext cx="1764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Opt C: 4.5 – 6×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6263640" y="6163056"/>
            <a:ext cx="5678424" cy="274320"/>
          </a:xfrm>
          <a:prstGeom prst="rect">
            <a:avLst/>
          </a:prstGeom>
          <a:solidFill>
            <a:srgbClr val="F3F4F6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6318504" y="6227064"/>
            <a:ext cx="594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0048"/>
                </a:solidFill>
              </a:rPr>
              <a:t>Sources: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6958584" y="6217920"/>
            <a:ext cx="1495044" cy="173736"/>
          </a:xfrm>
          <a:prstGeom prst="rect">
            <a:avLst/>
          </a:prstGeom>
          <a:solidFill>
            <a:srgbClr val="B45A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6995160" y="6236208"/>
            <a:ext cx="14401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</a:rPr>
              <a:t>Azure OAI Billing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8517636" y="6217920"/>
            <a:ext cx="1243584" cy="173736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8554212" y="6236208"/>
            <a:ext cx="11887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</a:rPr>
              <a:t>HR Cost Data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9825228" y="6217920"/>
            <a:ext cx="1042415" cy="173736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9861804" y="6236208"/>
            <a:ext cx="987551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</a:rPr>
              <a:t>STUMP DB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914400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37744" y="91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</a:rPr>
              <a:t>PDLC Performance Metrics — Deep Dive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" y="548640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2BBE6"/>
                </a:solidFill>
              </a:rPr>
              <a:t>Lead Time (Idea → Production)  ·  Cycle Time (Dev Start → Deploy)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914400"/>
            <a:ext cx="12188952" cy="27432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620256"/>
            <a:ext cx="12188952" cy="23774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" y="6638544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2BBE6"/>
                </a:solidFill>
              </a:rPr>
              <a:t>STUMP  ·  Metrics &amp; Measurement Framework  ·  © 2026 Cognizant  · 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04320" y="6638544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92BBE6"/>
                </a:solidFill>
              </a:rPr>
              <a:t>M5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" y="1005840"/>
            <a:ext cx="5897880" cy="5486400"/>
          </a:xfrm>
          <a:prstGeom prst="rect">
            <a:avLst/>
          </a:prstGeom>
          <a:solidFill>
            <a:srgbClr val="FFFFFF"/>
          </a:solidFill>
          <a:ln w="762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37160" y="1005840"/>
            <a:ext cx="5897880" cy="42062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6888" y="1088136"/>
            <a:ext cx="57515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Lead Time (Idea → Production)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" y="1463040"/>
            <a:ext cx="57515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</a:rPr>
              <a:t>Total elapsed time from a feature request being raised to it being live in production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6888" y="1773936"/>
            <a:ext cx="5678424" cy="347472"/>
          </a:xfrm>
          <a:prstGeom prst="rect">
            <a:avLst/>
          </a:prstGeom>
          <a:solidFill>
            <a:srgbClr val="EFF6FF"/>
          </a:solidFill>
          <a:ln w="9525">
            <a:solidFill>
              <a:srgbClr val="2F7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8328" y="1828800"/>
            <a:ext cx="5623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0048"/>
                </a:solidFill>
              </a:rPr>
              <a:t>Formula:  Deploy_timestamp − Feature_request_created_timestamp  (calendar days)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6888" y="2194560"/>
            <a:ext cx="1874520" cy="3602736"/>
          </a:xfrm>
          <a:prstGeom prst="rect">
            <a:avLst/>
          </a:prstGeom>
          <a:solidFill>
            <a:srgbClr val="F4F7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6888" y="2194560"/>
            <a:ext cx="1874520" cy="256032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2240280"/>
            <a:ext cx="17647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Data Needed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8328" y="2596896"/>
            <a:ext cx="54864" cy="5486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056" y="2505456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Work item creation date from Jira/ADO (feature request timestamp)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8328" y="3424428"/>
            <a:ext cx="54864" cy="5486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8056" y="3332988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Production deployment timestamp from CI/CD pipeline logs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8328" y="4251960"/>
            <a:ext cx="54864" cy="5486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8056" y="4160520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Release/tag event from GitHub/GitLab release API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8328" y="5079492"/>
            <a:ext cx="54864" cy="5486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8056" y="4988052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Feature-to-deployment traceability link in ALM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148840" y="2194560"/>
            <a:ext cx="1874520" cy="3602736"/>
          </a:xfrm>
          <a:prstGeom prst="rect">
            <a:avLst/>
          </a:prstGeom>
          <a:solidFill>
            <a:srgbClr val="F4F7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148840" y="2194560"/>
            <a:ext cx="1874520" cy="256032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221992" y="2240280"/>
            <a:ext cx="17647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Capture Approach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240280" y="2596896"/>
            <a:ext cx="54864" cy="54864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350008" y="2505456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Jira webhook on issue_created → store created_at in STUMP VSMSnapshot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40280" y="3424428"/>
            <a:ext cx="54864" cy="54864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350008" y="3332988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CI/CD webhook on deployment_success → store deploy_at per feature ID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240280" y="4251960"/>
            <a:ext cx="54864" cy="54864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350008" y="4160520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Link Jira issue ID to GitHub PR and deployment tag via branch naming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240280" y="5079492"/>
            <a:ext cx="54864" cy="54864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350008" y="4988052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STUMP ALM Connector agent computes LT per phase on each run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050792" y="2194560"/>
            <a:ext cx="1874520" cy="3602736"/>
          </a:xfrm>
          <a:prstGeom prst="rect">
            <a:avLst/>
          </a:prstGeom>
          <a:solidFill>
            <a:srgbClr val="F4F7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050792" y="2194560"/>
            <a:ext cx="1874520" cy="256032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23944" y="2240280"/>
            <a:ext cx="17647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Calculate &amp; Display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42232" y="2596896"/>
            <a:ext cx="54864" cy="5486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251960" y="2505456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Calc: AVG(deploy_date − created_date) across all features in sprint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142232" y="3424428"/>
            <a:ext cx="54864" cy="5486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251960" y="3332988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Chart: Box-plot showing LT distribution; p50 / p90 trend line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142232" y="4251960"/>
            <a:ext cx="54864" cy="5486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251960" y="4160520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DORA band: Elite &lt; 1 day; High &lt; 1 week; Medium &lt; 1 month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142232" y="5079492"/>
            <a:ext cx="54864" cy="5486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251960" y="4988052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Display: Current VSM page — per-phase LT heat strip + total LT KPI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46888" y="5833872"/>
            <a:ext cx="1856232" cy="292608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10896" y="5897880"/>
            <a:ext cx="1764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Opt A: 21 – 28 days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139696" y="5833872"/>
            <a:ext cx="1856232" cy="292608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203704" y="5897880"/>
            <a:ext cx="1764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Opt B: 10 – 14 days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032504" y="5833872"/>
            <a:ext cx="1856232" cy="292608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096512" y="5897880"/>
            <a:ext cx="1764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Opt C: 3 – 7 days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46888" y="6163056"/>
            <a:ext cx="5678424" cy="274320"/>
          </a:xfrm>
          <a:prstGeom prst="rect">
            <a:avLst/>
          </a:prstGeom>
          <a:solidFill>
            <a:srgbClr val="F3F4F6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01752" y="6227064"/>
            <a:ext cx="594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0048"/>
                </a:solidFill>
              </a:rPr>
              <a:t>Sources: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41832" y="6217920"/>
            <a:ext cx="1042415" cy="173736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78408" y="6236208"/>
            <a:ext cx="987551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</a:rPr>
              <a:t>Jira/ADO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048255" y="6217920"/>
            <a:ext cx="1143000" cy="173736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084831" y="6236208"/>
            <a:ext cx="108813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</a:rPr>
              <a:t>CI/CD Logs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255263" y="6217920"/>
            <a:ext cx="1193292" cy="173736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291839" y="6236208"/>
            <a:ext cx="113842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</a:rPr>
              <a:t>GitHub Tags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153912" y="1005840"/>
            <a:ext cx="5897880" cy="5486400"/>
          </a:xfrm>
          <a:prstGeom prst="rect">
            <a:avLst/>
          </a:prstGeom>
          <a:solidFill>
            <a:srgbClr val="FFFFFF"/>
          </a:solidFill>
          <a:ln w="762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153912" y="1005840"/>
            <a:ext cx="5897880" cy="420624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263640" y="1088136"/>
            <a:ext cx="57515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Cycle Time (Dev Start → Deploy)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263640" y="1463040"/>
            <a:ext cx="57515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</a:rPr>
              <a:t>Time from a developer picking up a task to the code reaching production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263640" y="1773936"/>
            <a:ext cx="5678424" cy="347472"/>
          </a:xfrm>
          <a:prstGeom prst="rect">
            <a:avLst/>
          </a:prstGeom>
          <a:solidFill>
            <a:srgbClr val="EFF6FF"/>
          </a:solidFill>
          <a:ln w="9525">
            <a:solidFill>
              <a:srgbClr val="2F7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355080" y="1828800"/>
            <a:ext cx="5623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0048"/>
                </a:solidFill>
              </a:rPr>
              <a:t>Formula:  Deploy_timestamp − In-Progress_status_timestamp  (working hours)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263640" y="2194560"/>
            <a:ext cx="1874520" cy="3602736"/>
          </a:xfrm>
          <a:prstGeom prst="rect">
            <a:avLst/>
          </a:prstGeom>
          <a:solidFill>
            <a:srgbClr val="F4F7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263640" y="2194560"/>
            <a:ext cx="1874520" cy="256032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336792" y="2240280"/>
            <a:ext cx="17647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Data Needed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355080" y="2596896"/>
            <a:ext cx="54864" cy="5486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464808" y="2505456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In-Progress status transition timestamp from Jira/ADO history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355080" y="3424428"/>
            <a:ext cx="54864" cy="5486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464808" y="3332988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Production deploy event timestamp from CI/CD pipeline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355080" y="4251960"/>
            <a:ext cx="54864" cy="5486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464808" y="4160520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PR open and merge timestamps from GitHub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355080" y="5079492"/>
            <a:ext cx="54864" cy="5486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464808" y="4988052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Code review start / approval timestamps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165592" y="2194560"/>
            <a:ext cx="1874520" cy="3602736"/>
          </a:xfrm>
          <a:prstGeom prst="rect">
            <a:avLst/>
          </a:prstGeom>
          <a:solidFill>
            <a:srgbClr val="F4F7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8165592" y="2194560"/>
            <a:ext cx="1874520" cy="256032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238744" y="2240280"/>
            <a:ext cx="17647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Capture Approach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257032" y="2596896"/>
            <a:ext cx="54864" cy="54864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366760" y="2505456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Jira issue changelog API — filter status change to 'In Progress'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257032" y="3424428"/>
            <a:ext cx="54864" cy="54864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366760" y="3332988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GitHub PR events API — pr.created_at and pr.merged_at per feature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257032" y="4251960"/>
            <a:ext cx="54864" cy="54864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8366760" y="4160520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CI/CD deployment event webhook → log to STUMP AnalysisRun</a:t>
            </a:r>
          </a:p>
        </p:txBody>
      </p:sp>
      <p:sp>
        <p:nvSpPr>
          <p:cNvPr id="90" name="Rectangle 89"/>
          <p:cNvSpPr/>
          <p:nvPr/>
        </p:nvSpPr>
        <p:spPr>
          <a:xfrm>
            <a:off x="8257032" y="5079492"/>
            <a:ext cx="54864" cy="54864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8366760" y="4988052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STUMP VSM Analyzer computes per-phase cycle time on each pipeline run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0067544" y="2194560"/>
            <a:ext cx="1874520" cy="3602736"/>
          </a:xfrm>
          <a:prstGeom prst="rect">
            <a:avLst/>
          </a:prstGeom>
          <a:solidFill>
            <a:srgbClr val="F4F7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10067544" y="2194560"/>
            <a:ext cx="1874520" cy="256032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0140696" y="2240280"/>
            <a:ext cx="17647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Calculate &amp; Display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0158984" y="2596896"/>
            <a:ext cx="54864" cy="5486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0268712" y="2505456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Calc: AVG(deploy_at − in_progress_at) per sprint</a:t>
            </a:r>
          </a:p>
        </p:txBody>
      </p:sp>
      <p:sp>
        <p:nvSpPr>
          <p:cNvPr id="97" name="Rectangle 96"/>
          <p:cNvSpPr/>
          <p:nvPr/>
        </p:nvSpPr>
        <p:spPr>
          <a:xfrm>
            <a:off x="10158984" y="3424428"/>
            <a:ext cx="54864" cy="5486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10268712" y="3332988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Chart: Scatter plot — individual items plotted; percentile lines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0158984" y="4251960"/>
            <a:ext cx="54864" cy="5486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10268712" y="4160520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Target: Reduce p85 cycle time sprint-over-sprint by ≥ 10 %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10158984" y="5079492"/>
            <a:ext cx="54864" cy="5486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10268712" y="4988052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Display: Bottlenecks page — per-phase wait-time breakdown bar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6263640" y="5833872"/>
            <a:ext cx="1856232" cy="292608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6327648" y="5897880"/>
            <a:ext cx="1764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Opt A: 7 – 14 days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8156448" y="5833872"/>
            <a:ext cx="1856232" cy="292608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8220456" y="5897880"/>
            <a:ext cx="1764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Opt B: 3 – 7 days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10049256" y="5833872"/>
            <a:ext cx="1856232" cy="292608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10113264" y="5897880"/>
            <a:ext cx="1764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Opt C: &lt; 2 days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6263640" y="6163056"/>
            <a:ext cx="5678424" cy="274320"/>
          </a:xfrm>
          <a:prstGeom prst="rect">
            <a:avLst/>
          </a:prstGeom>
          <a:solidFill>
            <a:srgbClr val="F3F4F6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6318504" y="6227064"/>
            <a:ext cx="594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0048"/>
                </a:solidFill>
              </a:rPr>
              <a:t>Sources: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958584" y="6217920"/>
            <a:ext cx="1243584" cy="173736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995160" y="6236208"/>
            <a:ext cx="11887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</a:rPr>
              <a:t>Jira History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8266176" y="6217920"/>
            <a:ext cx="1143000" cy="173736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8302752" y="6236208"/>
            <a:ext cx="108813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</a:rPr>
              <a:t>GitHub PRs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9473184" y="6217920"/>
            <a:ext cx="891540" cy="173736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9509760" y="6236208"/>
            <a:ext cx="83667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</a:rPr>
              <a:t>CI/CD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914400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37744" y="91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</a:rPr>
              <a:t>PDLC Performance Metrics — Deep Dive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" y="548640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2BBE6"/>
                </a:solidFill>
              </a:rPr>
              <a:t>Flow Efficiency %  ·  Work in Progress (WIP)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914400"/>
            <a:ext cx="12188952" cy="27432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620256"/>
            <a:ext cx="12188952" cy="23774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" y="6638544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2BBE6"/>
                </a:solidFill>
              </a:rPr>
              <a:t>STUMP  ·  Metrics &amp; Measurement Framework  ·  © 2026 Cognizant  · 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04320" y="6638544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92BBE6"/>
                </a:solidFill>
              </a:rPr>
              <a:t>M6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" y="1005840"/>
            <a:ext cx="5897880" cy="5486400"/>
          </a:xfrm>
          <a:prstGeom prst="rect">
            <a:avLst/>
          </a:prstGeom>
          <a:solidFill>
            <a:srgbClr val="FFFFFF"/>
          </a:solidFill>
          <a:ln w="762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37160" y="1005840"/>
            <a:ext cx="5897880" cy="420624"/>
          </a:xfrm>
          <a:prstGeom prst="rect">
            <a:avLst/>
          </a:prstGeom>
          <a:solidFill>
            <a:srgbClr val="06C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6888" y="1088136"/>
            <a:ext cx="57515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Flow Efficiency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" y="1463040"/>
            <a:ext cx="57515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</a:rPr>
              <a:t>Proportion of total lead time spent on value-adding work vs. waiting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6888" y="1773936"/>
            <a:ext cx="5678424" cy="347472"/>
          </a:xfrm>
          <a:prstGeom prst="rect">
            <a:avLst/>
          </a:prstGeom>
          <a:solidFill>
            <a:srgbClr val="EFF6FF"/>
          </a:solidFill>
          <a:ln w="9525">
            <a:solidFill>
              <a:srgbClr val="2F7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8328" y="1828800"/>
            <a:ext cx="5623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0048"/>
                </a:solidFill>
              </a:rPr>
              <a:t>Formula:  (Total Process Time ÷ Total Lead Time) × 100   [PT / (PT + WT) × 100]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6888" y="2194560"/>
            <a:ext cx="1874520" cy="3602736"/>
          </a:xfrm>
          <a:prstGeom prst="rect">
            <a:avLst/>
          </a:prstGeom>
          <a:solidFill>
            <a:srgbClr val="F4F7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6888" y="2194560"/>
            <a:ext cx="1874520" cy="256032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2240280"/>
            <a:ext cx="17647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Data Needed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8328" y="2596896"/>
            <a:ext cx="54864" cy="5486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056" y="2505456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Process time (active work time) per phase from ALM worklogs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8328" y="3424428"/>
            <a:ext cx="54864" cy="5486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8056" y="3332988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Wait time (queue / blocked time) per phase from status timestamps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8328" y="4251960"/>
            <a:ext cx="54864" cy="5486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8056" y="4160520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Phase boundary definitions aligned to VSM Editor config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8328" y="5079492"/>
            <a:ext cx="54864" cy="5486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8056" y="4988052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DORA calibration overrides (code review wait, build wait)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148840" y="2194560"/>
            <a:ext cx="1874520" cy="3602736"/>
          </a:xfrm>
          <a:prstGeom prst="rect">
            <a:avLst/>
          </a:prstGeom>
          <a:solidFill>
            <a:srgbClr val="F4F7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148840" y="2194560"/>
            <a:ext cx="1874520" cy="256032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221992" y="2240280"/>
            <a:ext cx="17647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Capture Approach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240280" y="2596896"/>
            <a:ext cx="54864" cy="54864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350008" y="2505456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STUMP VSM Analyzer computes PT and WT per phase from ALM data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40280" y="3424428"/>
            <a:ext cx="54864" cy="54864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350008" y="3332988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Jira time-in-status report for WT; worklog for PT per phase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240280" y="4251960"/>
            <a:ext cx="54864" cy="54864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350008" y="4160520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DORA Assessment page captures code_review_wait and build_duration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240280" y="5079492"/>
            <a:ext cx="54864" cy="54864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350008" y="4988052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Store per-phase PT/WT in VSMSnapshot.vsm_data JSON each sprint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050792" y="2194560"/>
            <a:ext cx="1874520" cy="3602736"/>
          </a:xfrm>
          <a:prstGeom prst="rect">
            <a:avLst/>
          </a:prstGeom>
          <a:solidFill>
            <a:srgbClr val="F4F7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050792" y="2194560"/>
            <a:ext cx="1874520" cy="256032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23944" y="2240280"/>
            <a:ext cx="17647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Calculate &amp; Display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42232" y="2596896"/>
            <a:ext cx="54864" cy="5486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251960" y="2505456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Calc: SUM(PT across 7 phases) / SUM(PT + WT across 7 phases) × 100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142232" y="3424428"/>
            <a:ext cx="54864" cy="5486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251960" y="3332988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Chart: Stacked bar — PT (blue) vs WT (grey) per phase; FE% overlay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142232" y="4251960"/>
            <a:ext cx="54864" cy="5486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251960" y="4160520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Lean target: FE &gt; 40 % = Efficient; &lt; 15 % = Critical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142232" y="5079492"/>
            <a:ext cx="54864" cy="5486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251960" y="4988052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Display: Current State VSM page — phase-by-phase FE% heat strip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46888" y="5833872"/>
            <a:ext cx="1856232" cy="292608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10896" y="5897880"/>
            <a:ext cx="1764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Opt A: 18 – 28 %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139696" y="5833872"/>
            <a:ext cx="1856232" cy="292608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203704" y="5897880"/>
            <a:ext cx="1764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Opt B: 32 – 45 %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032504" y="5833872"/>
            <a:ext cx="1856232" cy="292608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096512" y="5897880"/>
            <a:ext cx="1764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Opt C: 50 – 65 %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46888" y="6163056"/>
            <a:ext cx="5678424" cy="274320"/>
          </a:xfrm>
          <a:prstGeom prst="rect">
            <a:avLst/>
          </a:prstGeom>
          <a:solidFill>
            <a:srgbClr val="F3F4F6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01752" y="6227064"/>
            <a:ext cx="594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0048"/>
                </a:solidFill>
              </a:rPr>
              <a:t>Sources: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41832" y="6217920"/>
            <a:ext cx="1293876" cy="173736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78408" y="6236208"/>
            <a:ext cx="123901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</a:rPr>
              <a:t>Jira Worklogs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299716" y="6217920"/>
            <a:ext cx="1243584" cy="173736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336292" y="6236208"/>
            <a:ext cx="11887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</a:rPr>
              <a:t>VSM Analyzer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07308" y="6217920"/>
            <a:ext cx="1444752" cy="173736"/>
          </a:xfrm>
          <a:prstGeom prst="rect">
            <a:avLst/>
          </a:prstGeom>
          <a:solidFill>
            <a:srgbClr val="06C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643884" y="6236208"/>
            <a:ext cx="138988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</a:rPr>
              <a:t>DORA Calibration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153912" y="1005840"/>
            <a:ext cx="5897880" cy="5486400"/>
          </a:xfrm>
          <a:prstGeom prst="rect">
            <a:avLst/>
          </a:prstGeom>
          <a:solidFill>
            <a:srgbClr val="FFFFFF"/>
          </a:solidFill>
          <a:ln w="762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153912" y="1005840"/>
            <a:ext cx="5897880" cy="42062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263640" y="1088136"/>
            <a:ext cx="57515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Work in Progress (WIP)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263640" y="1463040"/>
            <a:ext cx="57515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</a:rPr>
              <a:t>Number of work items simultaneously in an active (not done, not backlog) state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263640" y="1773936"/>
            <a:ext cx="5678424" cy="347472"/>
          </a:xfrm>
          <a:prstGeom prst="rect">
            <a:avLst/>
          </a:prstGeom>
          <a:solidFill>
            <a:srgbClr val="EFF6FF"/>
          </a:solidFill>
          <a:ln w="9525">
            <a:solidFill>
              <a:srgbClr val="2F7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355080" y="1828800"/>
            <a:ext cx="5623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0048"/>
                </a:solidFill>
              </a:rPr>
              <a:t>Formula:  COUNT(items where status ∈ {In Progress, In Review, Blocked, In Test})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263640" y="2194560"/>
            <a:ext cx="1874520" cy="3602736"/>
          </a:xfrm>
          <a:prstGeom prst="rect">
            <a:avLst/>
          </a:prstGeom>
          <a:solidFill>
            <a:srgbClr val="F4F7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263640" y="2194560"/>
            <a:ext cx="1874520" cy="256032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336792" y="2240280"/>
            <a:ext cx="17647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Data Needed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355080" y="2596896"/>
            <a:ext cx="54864" cy="5486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464808" y="2505456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Real-time work item statuses from Jira/ADO board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355080" y="3424428"/>
            <a:ext cx="54864" cy="5486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464808" y="3332988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Team size and WIP limit policy from Settings page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355080" y="4251960"/>
            <a:ext cx="54864" cy="5486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464808" y="4160520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Age of each in-progress item (days since In-Progress transition)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355080" y="5079492"/>
            <a:ext cx="54864" cy="5486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464808" y="4988052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Blocked item count and blocker category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165592" y="2194560"/>
            <a:ext cx="1874520" cy="3602736"/>
          </a:xfrm>
          <a:prstGeom prst="rect">
            <a:avLst/>
          </a:prstGeom>
          <a:solidFill>
            <a:srgbClr val="F4F7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8165592" y="2194560"/>
            <a:ext cx="1874520" cy="256032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238744" y="2240280"/>
            <a:ext cx="17647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Capture Approach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257032" y="2596896"/>
            <a:ext cx="54864" cy="54864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366760" y="2505456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Jira/ADO Board API — poll active status counts daily via APScheduler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257032" y="3424428"/>
            <a:ext cx="54864" cy="54864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366760" y="3332988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Store daily WIP snapshot in ActivityMetric table per phase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257032" y="4251960"/>
            <a:ext cx="54864" cy="54864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8366760" y="4160520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Flag items aged &gt; sprint_length as Aged WIP</a:t>
            </a:r>
          </a:p>
        </p:txBody>
      </p:sp>
      <p:sp>
        <p:nvSpPr>
          <p:cNvPr id="90" name="Rectangle 89"/>
          <p:cNvSpPr/>
          <p:nvPr/>
        </p:nvSpPr>
        <p:spPr>
          <a:xfrm>
            <a:off x="8257032" y="5079492"/>
            <a:ext cx="54864" cy="54864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8366760" y="4988052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STUMP Operations Intelligence page displays real-time WIP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0067544" y="2194560"/>
            <a:ext cx="1874520" cy="3602736"/>
          </a:xfrm>
          <a:prstGeom prst="rect">
            <a:avLst/>
          </a:prstGeom>
          <a:solidFill>
            <a:srgbClr val="F4F7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10067544" y="2194560"/>
            <a:ext cx="1874520" cy="256032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0140696" y="2240280"/>
            <a:ext cx="17647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Calculate &amp; Display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0158984" y="2596896"/>
            <a:ext cx="54864" cy="5486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0268712" y="2505456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Calc: COUNT(active_status_items) per team per day</a:t>
            </a:r>
          </a:p>
        </p:txBody>
      </p:sp>
      <p:sp>
        <p:nvSpPr>
          <p:cNvPr id="97" name="Rectangle 96"/>
          <p:cNvSpPr/>
          <p:nvPr/>
        </p:nvSpPr>
        <p:spPr>
          <a:xfrm>
            <a:off x="10158984" y="3424428"/>
            <a:ext cx="54864" cy="5486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10268712" y="3332988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Chart: WIP trend line + WIP limit rule line per sprint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0158984" y="4251960"/>
            <a:ext cx="54864" cy="5486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10268712" y="4160520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Little's Law: Throughput = WIP ÷ Cycle Time (validate consistency)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10158984" y="5079492"/>
            <a:ext cx="54864" cy="5486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10268712" y="4988052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Alert: WIP &gt; team_wip_limit triggers bottleneck notification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6263640" y="5833872"/>
            <a:ext cx="1856232" cy="292608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6327648" y="5897880"/>
            <a:ext cx="1764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Opt A: WIP ≤ 2× team size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8156448" y="5833872"/>
            <a:ext cx="1856232" cy="292608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8220456" y="5897880"/>
            <a:ext cx="1764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Opt B: WIP ≤ 1.5×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10049256" y="5833872"/>
            <a:ext cx="1856232" cy="292608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10113264" y="5897880"/>
            <a:ext cx="1764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Opt C: WIP ≤ 1×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6263640" y="6163056"/>
            <a:ext cx="5678424" cy="274320"/>
          </a:xfrm>
          <a:prstGeom prst="rect">
            <a:avLst/>
          </a:prstGeom>
          <a:solidFill>
            <a:srgbClr val="F3F4F6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6318504" y="6227064"/>
            <a:ext cx="594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0048"/>
                </a:solidFill>
              </a:rPr>
              <a:t>Sources: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958584" y="6217920"/>
            <a:ext cx="1344168" cy="173736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995160" y="6236208"/>
            <a:ext cx="128930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</a:rPr>
              <a:t>Jira/ADO Board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8366760" y="6217920"/>
            <a:ext cx="1394460" cy="173736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8403336" y="6236208"/>
            <a:ext cx="133959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</a:rPr>
              <a:t>STUMP Scheduler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914400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37744" y="91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</a:rPr>
              <a:t>PDLC Performance Metrics — Deep Dive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" y="548640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2BBE6"/>
                </a:solidFill>
              </a:rPr>
              <a:t>Deployment Frequency  ·  Change Failure Rate &amp; MTTR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914400"/>
            <a:ext cx="12188952" cy="27432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620256"/>
            <a:ext cx="12188952" cy="23774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" y="6638544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2BBE6"/>
                </a:solidFill>
              </a:rPr>
              <a:t>STUMP  ·  Metrics &amp; Measurement Framework  ·  © 2026 Cognizant  · 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04320" y="6638544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92BBE6"/>
                </a:solidFill>
              </a:rPr>
              <a:t>M7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" y="1005840"/>
            <a:ext cx="5897880" cy="5486400"/>
          </a:xfrm>
          <a:prstGeom prst="rect">
            <a:avLst/>
          </a:prstGeom>
          <a:solidFill>
            <a:srgbClr val="FFFFFF"/>
          </a:solidFill>
          <a:ln w="762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37160" y="1005840"/>
            <a:ext cx="5897880" cy="420624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6888" y="1088136"/>
            <a:ext cx="57515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Deployment Frequency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" y="1463040"/>
            <a:ext cx="57515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</a:rPr>
              <a:t>How often code is successfully deployed to production per time period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6888" y="1773936"/>
            <a:ext cx="5678424" cy="347472"/>
          </a:xfrm>
          <a:prstGeom prst="rect">
            <a:avLst/>
          </a:prstGeom>
          <a:solidFill>
            <a:srgbClr val="EFF6FF"/>
          </a:solidFill>
          <a:ln w="9525">
            <a:solidFill>
              <a:srgbClr val="2F7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8328" y="1828800"/>
            <a:ext cx="5623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0048"/>
                </a:solidFill>
              </a:rPr>
              <a:t>Formula:  COUNT(successful production deployments) ÷ Time period (week / day)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6888" y="2194560"/>
            <a:ext cx="1874520" cy="3602736"/>
          </a:xfrm>
          <a:prstGeom prst="rect">
            <a:avLst/>
          </a:prstGeom>
          <a:solidFill>
            <a:srgbClr val="F4F7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6888" y="2194560"/>
            <a:ext cx="1874520" cy="256032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2240280"/>
            <a:ext cx="17647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Data Needed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8328" y="2596896"/>
            <a:ext cx="54864" cy="5486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056" y="2505456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Successful production deployment events from CI/CD pipeline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8328" y="3424428"/>
            <a:ext cx="54864" cy="5486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8056" y="3332988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Environment tags (prod vs staging) from deployment config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8328" y="4251960"/>
            <a:ext cx="54864" cy="5486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8056" y="4160520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Rollback events (to exclude from successful count)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8328" y="5079492"/>
            <a:ext cx="54864" cy="5486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8056" y="4988052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Release cadence config from platform Settings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148840" y="2194560"/>
            <a:ext cx="1874520" cy="3602736"/>
          </a:xfrm>
          <a:prstGeom prst="rect">
            <a:avLst/>
          </a:prstGeom>
          <a:solidFill>
            <a:srgbClr val="F4F7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148840" y="2194560"/>
            <a:ext cx="1874520" cy="256032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221992" y="2240280"/>
            <a:ext cx="17647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Capture Approach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240280" y="2596896"/>
            <a:ext cx="54864" cy="54864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350008" y="2505456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CI/CD webhook → POST to STUMP /api/v1/alm on each prod deployment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40280" y="3424428"/>
            <a:ext cx="54864" cy="54864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350008" y="3332988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GitHub Release API — count tags published to main/prod branch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240280" y="4251960"/>
            <a:ext cx="54864" cy="54864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350008" y="4160520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Store deployment event in AnalysisRun with trigger='deployment'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240280" y="5079492"/>
            <a:ext cx="54864" cy="54864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350008" y="4988052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STUMP DORA Assessment page captures and calibrates this value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050792" y="2194560"/>
            <a:ext cx="1874520" cy="3602736"/>
          </a:xfrm>
          <a:prstGeom prst="rect">
            <a:avLst/>
          </a:prstGeom>
          <a:solidFill>
            <a:srgbClr val="F4F7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050792" y="2194560"/>
            <a:ext cx="1874520" cy="256032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23944" y="2240280"/>
            <a:ext cx="17647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Calculate &amp; Display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42232" y="2596896"/>
            <a:ext cx="54864" cy="5486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251960" y="2505456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Calc: COUNT(prod_deployments) / days_in_period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142232" y="3424428"/>
            <a:ext cx="54864" cy="5486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251960" y="3332988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DORA bands: Elite = multiple/day; High = daily; Medium = weekly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142232" y="4251960"/>
            <a:ext cx="54864" cy="5486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251960" y="4160520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Chart: Deployment frequency bar per week; DORA band colour overlay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142232" y="5079492"/>
            <a:ext cx="54864" cy="5486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251960" y="4988052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Display: Dashboard KPI card + DORA Assessment page trend chart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46888" y="5833872"/>
            <a:ext cx="1856232" cy="292608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10896" y="5897880"/>
            <a:ext cx="1764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Opt A: Weekly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139696" y="5833872"/>
            <a:ext cx="1856232" cy="292608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203704" y="5897880"/>
            <a:ext cx="1764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Opt B: Daily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032504" y="5833872"/>
            <a:ext cx="1856232" cy="292608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096512" y="5897880"/>
            <a:ext cx="1764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Opt C: Multiple / day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46888" y="6163056"/>
            <a:ext cx="5678424" cy="274320"/>
          </a:xfrm>
          <a:prstGeom prst="rect">
            <a:avLst/>
          </a:prstGeom>
          <a:solidFill>
            <a:srgbClr val="F3F4F6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01752" y="6227064"/>
            <a:ext cx="594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0048"/>
                </a:solidFill>
              </a:rPr>
              <a:t>Sources: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41832" y="6217920"/>
            <a:ext cx="1344168" cy="173736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78408" y="6236208"/>
            <a:ext cx="128930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</a:rPr>
              <a:t>CI/CD Pipeline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350008" y="6217920"/>
            <a:ext cx="1394460" cy="173736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386584" y="6236208"/>
            <a:ext cx="133959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</a:rPr>
              <a:t>GitHub Releases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808476" y="6217920"/>
            <a:ext cx="1394460" cy="173736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845052" y="6236208"/>
            <a:ext cx="133959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</a:rPr>
              <a:t>DORA Assessment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153912" y="1005840"/>
            <a:ext cx="5897880" cy="5486400"/>
          </a:xfrm>
          <a:prstGeom prst="rect">
            <a:avLst/>
          </a:prstGeom>
          <a:solidFill>
            <a:srgbClr val="FFFFFF"/>
          </a:solidFill>
          <a:ln w="762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153912" y="1005840"/>
            <a:ext cx="5897880" cy="420624"/>
          </a:xfrm>
          <a:prstGeom prst="rect">
            <a:avLst/>
          </a:prstGeom>
          <a:solidFill>
            <a:srgbClr val="B45A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263640" y="1088136"/>
            <a:ext cx="57515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Change Failure Rate (CFR) &amp; MTTR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263640" y="1463040"/>
            <a:ext cx="57515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</a:rPr>
              <a:t>CFR: % of deployments causing incidents.  MTTR: avg time to restore service after failure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263640" y="1773936"/>
            <a:ext cx="5678424" cy="347472"/>
          </a:xfrm>
          <a:prstGeom prst="rect">
            <a:avLst/>
          </a:prstGeom>
          <a:solidFill>
            <a:srgbClr val="EFF6FF"/>
          </a:solidFill>
          <a:ln w="9525">
            <a:solidFill>
              <a:srgbClr val="2F7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355080" y="1828800"/>
            <a:ext cx="5623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0048"/>
                </a:solidFill>
              </a:rPr>
              <a:t>Formula:  CFR = (Failed deploys ÷ Total deploys) × 100  |  MTTR = AVG(restore_time − incident_time)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263640" y="2194560"/>
            <a:ext cx="1874520" cy="3602736"/>
          </a:xfrm>
          <a:prstGeom prst="rect">
            <a:avLst/>
          </a:prstGeom>
          <a:solidFill>
            <a:srgbClr val="F4F7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263640" y="2194560"/>
            <a:ext cx="1874520" cy="256032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336792" y="2240280"/>
            <a:ext cx="17647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Data Needed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355080" y="2596896"/>
            <a:ext cx="54864" cy="5486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464808" y="2505456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Deployment success/failure status from CI/CD pipeline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355080" y="3424428"/>
            <a:ext cx="54864" cy="5486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464808" y="3332988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Incident creation and resolution timestamps from ServiceNow/PagerDuty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355080" y="4251960"/>
            <a:ext cx="54864" cy="5486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464808" y="4160520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Deployment-to-incident correlation (deployment_id → incident_id)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355080" y="5079492"/>
            <a:ext cx="54864" cy="5486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464808" y="4988052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Rollback event count and duration from release tooling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165592" y="2194560"/>
            <a:ext cx="1874520" cy="3602736"/>
          </a:xfrm>
          <a:prstGeom prst="rect">
            <a:avLst/>
          </a:prstGeom>
          <a:solidFill>
            <a:srgbClr val="F4F7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8165592" y="2194560"/>
            <a:ext cx="1874520" cy="256032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238744" y="2240280"/>
            <a:ext cx="17647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Capture Approach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257032" y="2596896"/>
            <a:ext cx="54864" cy="54864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366760" y="2505456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CI/CD post-deploy health check — classify deploy as success/failure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257032" y="3424428"/>
            <a:ext cx="54864" cy="54864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366760" y="3332988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ServiceNow/PagerDuty webhook → POST incident events to STUMP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257032" y="4251960"/>
            <a:ext cx="54864" cy="54864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8366760" y="4160520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Correlate by: incident created within 24h of deployment_id</a:t>
            </a:r>
          </a:p>
        </p:txBody>
      </p:sp>
      <p:sp>
        <p:nvSpPr>
          <p:cNvPr id="90" name="Rectangle 89"/>
          <p:cNvSpPr/>
          <p:nvPr/>
        </p:nvSpPr>
        <p:spPr>
          <a:xfrm>
            <a:off x="8257032" y="5079492"/>
            <a:ext cx="54864" cy="54864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8366760" y="4988052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STUMP Risk Assistant agent flags deployment-correlated incidents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0067544" y="2194560"/>
            <a:ext cx="1874520" cy="3602736"/>
          </a:xfrm>
          <a:prstGeom prst="rect">
            <a:avLst/>
          </a:prstGeom>
          <a:solidFill>
            <a:srgbClr val="F4F7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10067544" y="2194560"/>
            <a:ext cx="1874520" cy="256032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0140696" y="2240280"/>
            <a:ext cx="17647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Calculate &amp; Display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0158984" y="2596896"/>
            <a:ext cx="54864" cy="5486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0268712" y="2505456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CFR Calc: COUNT(failed_deploys) / COUNT(total_deploys) × 100</a:t>
            </a:r>
          </a:p>
        </p:txBody>
      </p:sp>
      <p:sp>
        <p:nvSpPr>
          <p:cNvPr id="97" name="Rectangle 96"/>
          <p:cNvSpPr/>
          <p:nvPr/>
        </p:nvSpPr>
        <p:spPr>
          <a:xfrm>
            <a:off x="10158984" y="3424428"/>
            <a:ext cx="54864" cy="5486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10268712" y="3332988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MTTR Calc: AVG(resolved_at − created_at) for deployment incidents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0158984" y="4251960"/>
            <a:ext cx="54864" cy="5486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10268712" y="4160520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DORA bands — CFR: Elite &lt; 5 %; High &lt; 10 %. MTTR: Elite &lt; 1h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10158984" y="5079492"/>
            <a:ext cx="54864" cy="54864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10268712" y="4988052"/>
            <a:ext cx="1618488" cy="77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Display: Dashboard DORA KPI panel; Governance page risk heatmap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6263640" y="5833872"/>
            <a:ext cx="1856232" cy="292608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6327648" y="5897880"/>
            <a:ext cx="1764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Opt A: CFR &lt; 15 % / MTTR &lt; 4h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8156448" y="5833872"/>
            <a:ext cx="1856232" cy="292608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8220456" y="5897880"/>
            <a:ext cx="1764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Opt B: CFR &lt; 8 % / MTTR &lt; 2h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10049256" y="5833872"/>
            <a:ext cx="1856232" cy="292608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10113264" y="5897880"/>
            <a:ext cx="1764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Opt C: CFR &lt; 5 % / MTTR &lt; 1h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6263640" y="6163056"/>
            <a:ext cx="5678424" cy="274320"/>
          </a:xfrm>
          <a:prstGeom prst="rect">
            <a:avLst/>
          </a:prstGeom>
          <a:solidFill>
            <a:srgbClr val="F3F4F6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6318504" y="6227064"/>
            <a:ext cx="594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0048"/>
                </a:solidFill>
              </a:rPr>
              <a:t>Sources: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958584" y="6217920"/>
            <a:ext cx="1344168" cy="173736"/>
          </a:xfrm>
          <a:prstGeom prst="rect">
            <a:avLst/>
          </a:prstGeom>
          <a:solidFill>
            <a:srgbClr val="B45A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995160" y="6236208"/>
            <a:ext cx="128930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</a:rPr>
              <a:t>CI/CD Pipeline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8366760" y="6217920"/>
            <a:ext cx="1293876" cy="173736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8403336" y="6236208"/>
            <a:ext cx="123901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</a:rPr>
              <a:t>ServiceNow/PD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9724644" y="6217920"/>
            <a:ext cx="1344168" cy="173736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9761220" y="6236208"/>
            <a:ext cx="128930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</a:rPr>
              <a:t>Risk Assistant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914400"/>
          </a:xfrm>
          <a:prstGeom prst="rect">
            <a:avLst/>
          </a:prstGeom>
          <a:solidFill>
            <a:srgbClr val="06C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37744" y="91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</a:rPr>
              <a:t>Data Collection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" y="548640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2BBE6"/>
                </a:solidFill>
              </a:rPr>
              <a:t>How metrics data flows from source systems through STUMP to dashboards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914400"/>
            <a:ext cx="12188952" cy="27432"/>
          </a:xfrm>
          <a:prstGeom prst="rect">
            <a:avLst/>
          </a:prstGeom>
          <a:solidFill>
            <a:srgbClr val="06C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620256"/>
            <a:ext cx="12188952" cy="23774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" y="6638544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2BBE6"/>
                </a:solidFill>
              </a:rPr>
              <a:t>STUMP  ·  Metrics &amp; Measurement Framework  ·  © 2026 Cognizant  · 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04320" y="6638544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92BBE6"/>
                </a:solidFill>
              </a:rPr>
              <a:t>M8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" y="1005840"/>
            <a:ext cx="3877056" cy="5230368"/>
          </a:xfrm>
          <a:prstGeom prst="rect">
            <a:avLst/>
          </a:prstGeom>
          <a:solidFill>
            <a:srgbClr val="F4F7FF"/>
          </a:solidFill>
          <a:ln w="762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37160" y="1005840"/>
            <a:ext cx="3877056" cy="274320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6888" y="1060704"/>
            <a:ext cx="37124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DATA SOURCES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" y="1389888"/>
            <a:ext cx="3694176" cy="749808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8600" y="1389888"/>
            <a:ext cx="73152" cy="749808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616" y="1453896"/>
            <a:ext cx="35478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0048"/>
                </a:solidFill>
              </a:rPr>
              <a:t>Jira / Azure DevOps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" y="1700784"/>
            <a:ext cx="35478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</a:rPr>
              <a:t>Work items, status history, worklogs, sprint data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" y="2185416"/>
            <a:ext cx="3694176" cy="749808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8600" y="2185416"/>
            <a:ext cx="73152" cy="749808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6616" y="2249424"/>
            <a:ext cx="35478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0048"/>
                </a:solidFill>
              </a:rPr>
              <a:t>GitHub / GitLab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" y="2496312"/>
            <a:ext cx="35478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</a:rPr>
              <a:t>PR events, merge times, deployment tags, commit frequency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8600" y="2980944"/>
            <a:ext cx="3694176" cy="749808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28600" y="2980944"/>
            <a:ext cx="73152" cy="749808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6616" y="3044952"/>
            <a:ext cx="35478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0048"/>
                </a:solidFill>
              </a:rPr>
              <a:t>CI/CD Pipeline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" y="3291840"/>
            <a:ext cx="35478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</a:rPr>
              <a:t>Build results, deploy events, rollback flags, durations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8600" y="3776472"/>
            <a:ext cx="3694176" cy="749808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28600" y="3776472"/>
            <a:ext cx="73152" cy="749808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6616" y="3840480"/>
            <a:ext cx="35478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0048"/>
                </a:solidFill>
              </a:rPr>
              <a:t>ServiceNow / PagerDuty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" y="4087368"/>
            <a:ext cx="35478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</a:rPr>
              <a:t>Incident timestamps, severity, resolution events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8600" y="4572000"/>
            <a:ext cx="3694176" cy="749808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28600" y="4572000"/>
            <a:ext cx="73152" cy="749808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6616" y="4636008"/>
            <a:ext cx="35478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0048"/>
                </a:solidFill>
              </a:rPr>
              <a:t>Azure OpenAI Billing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4882896"/>
            <a:ext cx="35478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</a:rPr>
              <a:t>LLM API call counts, token usage, cost per agent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28600" y="5367528"/>
            <a:ext cx="3694176" cy="749808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28600" y="5367528"/>
            <a:ext cx="73152" cy="749808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56616" y="5431536"/>
            <a:ext cx="35478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0048"/>
                </a:solidFill>
              </a:rPr>
              <a:t>STUMP Agent Telemetry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5678424"/>
            <a:ext cx="35478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</a:rPr>
              <a:t>Agent invocations, accept/reject events, phase coverage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315968" y="1005840"/>
            <a:ext cx="3877056" cy="5230368"/>
          </a:xfrm>
          <a:prstGeom prst="rect">
            <a:avLst/>
          </a:prstGeom>
          <a:solidFill>
            <a:srgbClr val="F4F7FF"/>
          </a:solidFill>
          <a:ln w="762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315968" y="1005840"/>
            <a:ext cx="3877056" cy="27432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425696" y="1060704"/>
            <a:ext cx="37124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STUMP PROCESSING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407408" y="1389888"/>
            <a:ext cx="3694176" cy="749808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407408" y="1389888"/>
            <a:ext cx="73152" cy="749808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35424" y="1453896"/>
            <a:ext cx="35478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F78C4"/>
                </a:solidFill>
              </a:rPr>
              <a:t>ALM Connector Agent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35424" y="1700784"/>
            <a:ext cx="35478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</a:rPr>
              <a:t>Fetches &amp; normalises work item data per PDLC phase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407408" y="2185416"/>
            <a:ext cx="3694176" cy="749808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407408" y="2185416"/>
            <a:ext cx="73152" cy="749808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35424" y="2249424"/>
            <a:ext cx="35478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F78C4"/>
                </a:solidFill>
              </a:rPr>
              <a:t>VSM Analyzer Agent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35424" y="2496312"/>
            <a:ext cx="35478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</a:rPr>
              <a:t>Computes PT, WT, LT, FE % with DORA calibration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407408" y="2980944"/>
            <a:ext cx="3694176" cy="749808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407408" y="2980944"/>
            <a:ext cx="73152" cy="749808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35424" y="3044952"/>
            <a:ext cx="35478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F78C4"/>
                </a:solidFill>
              </a:rPr>
              <a:t>APScheduler Pipeline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35424" y="3291840"/>
            <a:ext cx="35478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</a:rPr>
              <a:t>Automated nightly/weekly metric collection runs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407408" y="3776472"/>
            <a:ext cx="3694176" cy="749808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407408" y="3776472"/>
            <a:ext cx="73152" cy="749808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535424" y="3840480"/>
            <a:ext cx="35478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F78C4"/>
                </a:solidFill>
              </a:rPr>
              <a:t>ActivityMetric Table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35424" y="4087368"/>
            <a:ext cx="35478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</a:rPr>
              <a:t>Persists per-phase, per-sprint metric snapshots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407408" y="4572000"/>
            <a:ext cx="3694176" cy="749808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407408" y="4572000"/>
            <a:ext cx="73152" cy="749808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535424" y="4636008"/>
            <a:ext cx="35478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F78C4"/>
                </a:solidFill>
              </a:rPr>
              <a:t>AnalysisRun Store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535424" y="4882896"/>
            <a:ext cx="35478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</a:rPr>
              <a:t>Full pipeline results with agent-level metadata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407408" y="5367528"/>
            <a:ext cx="3694176" cy="749808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4407408" y="5367528"/>
            <a:ext cx="73152" cy="749808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535424" y="5431536"/>
            <a:ext cx="35478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F78C4"/>
                </a:solidFill>
              </a:rPr>
              <a:t>Accuracy Feedback Loop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535424" y="5678424"/>
            <a:ext cx="35478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</a:rPr>
              <a:t>User-calibrated override capture via /api/v1/accuracy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494776" y="1005840"/>
            <a:ext cx="3877056" cy="5230368"/>
          </a:xfrm>
          <a:prstGeom prst="rect">
            <a:avLst/>
          </a:prstGeom>
          <a:solidFill>
            <a:srgbClr val="F4F7FF"/>
          </a:solidFill>
          <a:ln w="762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494776" y="1005840"/>
            <a:ext cx="3877056" cy="274320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604504" y="1060704"/>
            <a:ext cx="37124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OUTPUTS &amp; MONITORING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586216" y="1389888"/>
            <a:ext cx="3694176" cy="749808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8586216" y="1389888"/>
            <a:ext cx="73152" cy="749808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714232" y="1453896"/>
            <a:ext cx="35478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E308E"/>
                </a:solidFill>
              </a:rPr>
              <a:t>STUMP Dashboard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714232" y="1700784"/>
            <a:ext cx="35478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</a:rPr>
              <a:t>KPI cards: Lead Time, FE %, Deployment Freq, WIP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586216" y="2185416"/>
            <a:ext cx="3694176" cy="749808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8586216" y="2185416"/>
            <a:ext cx="73152" cy="749808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714232" y="2249424"/>
            <a:ext cx="35478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E308E"/>
                </a:solidFill>
              </a:rPr>
              <a:t>Current State VSM Page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714232" y="2496312"/>
            <a:ext cx="35478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</a:rPr>
              <a:t>Phase heat-strip: PT, WT, FE % per phase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586216" y="2980944"/>
            <a:ext cx="3694176" cy="749808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8586216" y="2980944"/>
            <a:ext cx="73152" cy="749808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714232" y="3044952"/>
            <a:ext cx="35478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E308E"/>
                </a:solidFill>
              </a:rPr>
              <a:t>AI Agents Monitor Page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714232" y="3291840"/>
            <a:ext cx="35478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</a:rPr>
              <a:t>Per-agent: utilisation, acceptance rate, ROI, savings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586216" y="3776472"/>
            <a:ext cx="3694176" cy="749808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8586216" y="3776472"/>
            <a:ext cx="73152" cy="749808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714232" y="3840480"/>
            <a:ext cx="35478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E308E"/>
                </a:solidFill>
              </a:rPr>
              <a:t>DORA Assessment Page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714232" y="4087368"/>
            <a:ext cx="35478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</a:rPr>
              <a:t>DORA band classification: Elite / High / Medium / Low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586216" y="4572000"/>
            <a:ext cx="3694176" cy="749808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8586216" y="4572000"/>
            <a:ext cx="73152" cy="749808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714232" y="4636008"/>
            <a:ext cx="35478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E308E"/>
                </a:solidFill>
              </a:rPr>
              <a:t>Governance Page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714232" y="4882896"/>
            <a:ext cx="35478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</a:rPr>
              <a:t>Risk heatmap, CFR trend, MTTR trend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586216" y="5367528"/>
            <a:ext cx="3694176" cy="749808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586216" y="5367528"/>
            <a:ext cx="73152" cy="749808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714232" y="5431536"/>
            <a:ext cx="35478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E308E"/>
                </a:solidFill>
              </a:rPr>
              <a:t>Excel / PDF Export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714232" y="5678424"/>
            <a:ext cx="35478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</a:rPr>
              <a:t>Downloadable sprint metrics report for stakeholders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032504" y="3474720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F78C4"/>
                </a:solidFill>
              </a:rPr>
              <a:t>→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005072" y="3913632"/>
            <a:ext cx="3474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B7280"/>
                </a:solidFill>
              </a:rPr>
              <a:t>Webhooks
API Polling
Agent Events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211312" y="3474720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E308E"/>
                </a:solidFill>
              </a:rPr>
              <a:t>→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183879" y="3913632"/>
            <a:ext cx="3474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B7280"/>
                </a:solidFill>
              </a:rPr>
              <a:t>REST API
Postgres
Export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914400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37744" y="91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</a:rPr>
              <a:t>Option A → B → C Progression Matrix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" y="548640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2BBE6"/>
                </a:solidFill>
              </a:rPr>
              <a:t>How each metric should evolve as AI adoption deepens across the PDLC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914400"/>
            <a:ext cx="12188952" cy="27432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620256"/>
            <a:ext cx="12188952" cy="23774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" y="6638544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2BBE6"/>
                </a:solidFill>
              </a:rPr>
              <a:t>STUMP  ·  Metrics &amp; Measurement Framework  ·  © 2026 Cognizant  · 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04320" y="6638544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92BBE6"/>
                </a:solidFill>
              </a:rPr>
              <a:t>M9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" y="1005840"/>
            <a:ext cx="2286000" cy="402336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" y="1051560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Metric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23160" y="1005840"/>
            <a:ext cx="822960" cy="402336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96312" y="1051560"/>
            <a:ext cx="731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Perspective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46120" y="1005840"/>
            <a:ext cx="2103120" cy="402336"/>
          </a:xfrm>
          <a:prstGeom prst="rect">
            <a:avLst/>
          </a:prstGeom>
          <a:solidFill>
            <a:srgbClr val="000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19272" y="1051560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Option A
(Augmented Human)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49240" y="1005840"/>
            <a:ext cx="2103120" cy="402336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22392" y="1051560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Option B
(Hybrid Agents)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52360" y="1005840"/>
            <a:ext cx="2103120" cy="402336"/>
          </a:xfrm>
          <a:prstGeom prst="rect">
            <a:avLst/>
          </a:prstGeom>
          <a:solidFill>
            <a:srgbClr val="035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25512" y="1051560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Option C
(AI-First)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555480" y="1005840"/>
            <a:ext cx="2103120" cy="402336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28632" y="1051560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Measurement
Source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37160" y="1408176"/>
            <a:ext cx="2286000" cy="379476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0312" y="1499616"/>
            <a:ext cx="219456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0048"/>
                </a:solidFill>
              </a:rPr>
              <a:t>Agent Utilisation Rate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23160" y="1408176"/>
            <a:ext cx="822960" cy="379476"/>
          </a:xfrm>
          <a:prstGeom prst="rect">
            <a:avLst/>
          </a:prstGeom>
          <a:solidFill>
            <a:srgbClr val="DBEAFE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496312" y="1499616"/>
            <a:ext cx="73152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</a:rPr>
              <a:t>Adoption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46120" y="1408176"/>
            <a:ext cx="2103120" cy="379476"/>
          </a:xfrm>
          <a:prstGeom prst="rect">
            <a:avLst/>
          </a:prstGeom>
          <a:solidFill>
            <a:srgbClr val="EFF6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19272" y="1499616"/>
            <a:ext cx="201168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</a:rPr>
              <a:t>30–50 %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349240" y="1408176"/>
            <a:ext cx="2103120" cy="379476"/>
          </a:xfrm>
          <a:prstGeom prst="rect">
            <a:avLst/>
          </a:prstGeom>
          <a:solidFill>
            <a:srgbClr val="F3F0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22392" y="1499616"/>
            <a:ext cx="201168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</a:rPr>
              <a:t>60–75 %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452360" y="1408176"/>
            <a:ext cx="2103120" cy="379476"/>
          </a:xfrm>
          <a:prstGeom prst="rect">
            <a:avLst/>
          </a:prstGeom>
          <a:solidFill>
            <a:srgbClr val="ECFDF3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25512" y="1499616"/>
            <a:ext cx="201168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</a:rPr>
              <a:t>85–95 %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555480" y="1408176"/>
            <a:ext cx="2103120" cy="379476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28632" y="1499616"/>
            <a:ext cx="201168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</a:rPr>
              <a:t>Agent Logs / STUMP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37160" y="1787652"/>
            <a:ext cx="2286000" cy="379476"/>
          </a:xfrm>
          <a:prstGeom prst="rect">
            <a:avLst/>
          </a:prstGeom>
          <a:solidFill>
            <a:srgbClr val="F8F9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10312" y="1879092"/>
            <a:ext cx="219456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0048"/>
                </a:solidFill>
              </a:rPr>
              <a:t>AI Acceptance Rate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423160" y="1787652"/>
            <a:ext cx="822960" cy="379476"/>
          </a:xfrm>
          <a:prstGeom prst="rect">
            <a:avLst/>
          </a:prstGeom>
          <a:solidFill>
            <a:srgbClr val="DBEAFE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496312" y="1879092"/>
            <a:ext cx="73152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</a:rPr>
              <a:t>Adoption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46120" y="1787652"/>
            <a:ext cx="2103120" cy="379476"/>
          </a:xfrm>
          <a:prstGeom prst="rect">
            <a:avLst/>
          </a:prstGeom>
          <a:solidFill>
            <a:srgbClr val="EFF6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319272" y="1879092"/>
            <a:ext cx="201168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</a:rPr>
              <a:t>55–70 %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349240" y="1787652"/>
            <a:ext cx="2103120" cy="379476"/>
          </a:xfrm>
          <a:prstGeom prst="rect">
            <a:avLst/>
          </a:prstGeom>
          <a:solidFill>
            <a:srgbClr val="F3F0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22392" y="1879092"/>
            <a:ext cx="201168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</a:rPr>
              <a:t>70–85 %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52360" y="1787652"/>
            <a:ext cx="2103120" cy="379476"/>
          </a:xfrm>
          <a:prstGeom prst="rect">
            <a:avLst/>
          </a:prstGeom>
          <a:solidFill>
            <a:srgbClr val="ECFDF3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525512" y="1879092"/>
            <a:ext cx="201168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</a:rPr>
              <a:t>88–95 %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555480" y="1787652"/>
            <a:ext cx="2103120" cy="379476"/>
          </a:xfrm>
          <a:prstGeom prst="rect">
            <a:avLst/>
          </a:prstGeom>
          <a:solidFill>
            <a:srgbClr val="F8F9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628632" y="1879092"/>
            <a:ext cx="201168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</a:rPr>
              <a:t>GitHub / LLM API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37160" y="2167128"/>
            <a:ext cx="2286000" cy="379476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10312" y="2258568"/>
            <a:ext cx="219456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0048"/>
                </a:solidFill>
              </a:rPr>
              <a:t>Human Override Rate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423160" y="2167128"/>
            <a:ext cx="822960" cy="379476"/>
          </a:xfrm>
          <a:prstGeom prst="rect">
            <a:avLst/>
          </a:prstGeom>
          <a:solidFill>
            <a:srgbClr val="DBEAFE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496312" y="2258568"/>
            <a:ext cx="73152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</a:rPr>
              <a:t>Adoption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246120" y="2167128"/>
            <a:ext cx="2103120" cy="379476"/>
          </a:xfrm>
          <a:prstGeom prst="rect">
            <a:avLst/>
          </a:prstGeom>
          <a:solidFill>
            <a:srgbClr val="EFF6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319272" y="2258568"/>
            <a:ext cx="201168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</a:rPr>
              <a:t>&lt; 35 %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349240" y="2167128"/>
            <a:ext cx="2103120" cy="379476"/>
          </a:xfrm>
          <a:prstGeom prst="rect">
            <a:avLst/>
          </a:prstGeom>
          <a:solidFill>
            <a:srgbClr val="F3F0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422392" y="2258568"/>
            <a:ext cx="201168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</a:rPr>
              <a:t>&lt; 20 %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452360" y="2167128"/>
            <a:ext cx="2103120" cy="379476"/>
          </a:xfrm>
          <a:prstGeom prst="rect">
            <a:avLst/>
          </a:prstGeom>
          <a:solidFill>
            <a:srgbClr val="ECFDF3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525512" y="2258568"/>
            <a:ext cx="201168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</a:rPr>
              <a:t>&lt; 10 %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555480" y="2167128"/>
            <a:ext cx="2103120" cy="379476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628632" y="2258568"/>
            <a:ext cx="201168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</a:rPr>
              <a:t>STUMP / GitHub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37160" y="2546604"/>
            <a:ext cx="2286000" cy="379476"/>
          </a:xfrm>
          <a:prstGeom prst="rect">
            <a:avLst/>
          </a:prstGeom>
          <a:solidFill>
            <a:srgbClr val="F8F9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10312" y="2638044"/>
            <a:ext cx="219456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0048"/>
                </a:solidFill>
              </a:rPr>
              <a:t>Time Saved / Agent / Sprint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423160" y="2546604"/>
            <a:ext cx="822960" cy="379476"/>
          </a:xfrm>
          <a:prstGeom prst="rect">
            <a:avLst/>
          </a:prstGeom>
          <a:solidFill>
            <a:srgbClr val="DBEAFE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496312" y="2638044"/>
            <a:ext cx="73152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</a:rPr>
              <a:t>Adoption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246120" y="2546604"/>
            <a:ext cx="2103120" cy="379476"/>
          </a:xfrm>
          <a:prstGeom prst="rect">
            <a:avLst/>
          </a:prstGeom>
          <a:solidFill>
            <a:srgbClr val="EFF6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319272" y="2638044"/>
            <a:ext cx="201168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</a:rPr>
              <a:t>2–8 hrs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349240" y="2546604"/>
            <a:ext cx="2103120" cy="379476"/>
          </a:xfrm>
          <a:prstGeom prst="rect">
            <a:avLst/>
          </a:prstGeom>
          <a:solidFill>
            <a:srgbClr val="F3F0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22392" y="2638044"/>
            <a:ext cx="201168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</a:rPr>
              <a:t>8–20 hrs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452360" y="2546604"/>
            <a:ext cx="2103120" cy="379476"/>
          </a:xfrm>
          <a:prstGeom prst="rect">
            <a:avLst/>
          </a:prstGeom>
          <a:solidFill>
            <a:srgbClr val="ECFDF3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525512" y="2638044"/>
            <a:ext cx="201168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</a:rPr>
              <a:t>20–40 hrs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555480" y="2546604"/>
            <a:ext cx="2103120" cy="379476"/>
          </a:xfrm>
          <a:prstGeom prst="rect">
            <a:avLst/>
          </a:prstGeom>
          <a:solidFill>
            <a:srgbClr val="F8F9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628632" y="2638044"/>
            <a:ext cx="201168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</a:rPr>
              <a:t>Jira Worklogs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37160" y="2926080"/>
            <a:ext cx="2286000" cy="379476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10312" y="3017520"/>
            <a:ext cx="219456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0048"/>
                </a:solidFill>
              </a:rPr>
              <a:t>Agent ROI Multiple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423160" y="2926080"/>
            <a:ext cx="822960" cy="379476"/>
          </a:xfrm>
          <a:prstGeom prst="rect">
            <a:avLst/>
          </a:prstGeom>
          <a:solidFill>
            <a:srgbClr val="DBEAFE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496312" y="3017520"/>
            <a:ext cx="73152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</a:rPr>
              <a:t>Adoption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246120" y="2926080"/>
            <a:ext cx="2103120" cy="379476"/>
          </a:xfrm>
          <a:prstGeom prst="rect">
            <a:avLst/>
          </a:prstGeom>
          <a:solidFill>
            <a:srgbClr val="EFF6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319272" y="3017520"/>
            <a:ext cx="201168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</a:rPr>
              <a:t>1.5–3×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349240" y="2926080"/>
            <a:ext cx="2103120" cy="379476"/>
          </a:xfrm>
          <a:prstGeom prst="rect">
            <a:avLst/>
          </a:prstGeom>
          <a:solidFill>
            <a:srgbClr val="F3F0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422392" y="3017520"/>
            <a:ext cx="201168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</a:rPr>
              <a:t>3–4.5×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452360" y="2926080"/>
            <a:ext cx="2103120" cy="379476"/>
          </a:xfrm>
          <a:prstGeom prst="rect">
            <a:avLst/>
          </a:prstGeom>
          <a:solidFill>
            <a:srgbClr val="ECFDF3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7525512" y="3017520"/>
            <a:ext cx="201168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</a:rPr>
              <a:t>4.5–6×</a:t>
            </a:r>
          </a:p>
        </p:txBody>
      </p:sp>
      <p:sp>
        <p:nvSpPr>
          <p:cNvPr id="81" name="Rectangle 80"/>
          <p:cNvSpPr/>
          <p:nvPr/>
        </p:nvSpPr>
        <p:spPr>
          <a:xfrm>
            <a:off x="9555480" y="2926080"/>
            <a:ext cx="2103120" cy="379476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9628632" y="3017520"/>
            <a:ext cx="201168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</a:rPr>
              <a:t>Billing + HR Cost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37160" y="3305556"/>
            <a:ext cx="2286000" cy="379476"/>
          </a:xfrm>
          <a:prstGeom prst="rect">
            <a:avLst/>
          </a:prstGeom>
          <a:solidFill>
            <a:srgbClr val="F8F9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210312" y="3396996"/>
            <a:ext cx="219456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0048"/>
                </a:solidFill>
              </a:rPr>
              <a:t>Lead Time</a:t>
            </a:r>
          </a:p>
        </p:txBody>
      </p:sp>
      <p:sp>
        <p:nvSpPr>
          <p:cNvPr id="85" name="Rectangle 84"/>
          <p:cNvSpPr/>
          <p:nvPr/>
        </p:nvSpPr>
        <p:spPr>
          <a:xfrm>
            <a:off x="2423160" y="3305556"/>
            <a:ext cx="822960" cy="379476"/>
          </a:xfrm>
          <a:prstGeom prst="rect">
            <a:avLst/>
          </a:prstGeom>
          <a:solidFill>
            <a:srgbClr val="E8E8F8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2496312" y="3396996"/>
            <a:ext cx="73152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</a:rPr>
              <a:t>PDLC Perf.</a:t>
            </a:r>
          </a:p>
        </p:txBody>
      </p:sp>
      <p:sp>
        <p:nvSpPr>
          <p:cNvPr id="87" name="Rectangle 86"/>
          <p:cNvSpPr/>
          <p:nvPr/>
        </p:nvSpPr>
        <p:spPr>
          <a:xfrm>
            <a:off x="3246120" y="3305556"/>
            <a:ext cx="2103120" cy="379476"/>
          </a:xfrm>
          <a:prstGeom prst="rect">
            <a:avLst/>
          </a:prstGeom>
          <a:solidFill>
            <a:srgbClr val="EFF6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3319272" y="3396996"/>
            <a:ext cx="201168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</a:rPr>
              <a:t>21–28 days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349240" y="3305556"/>
            <a:ext cx="2103120" cy="379476"/>
          </a:xfrm>
          <a:prstGeom prst="rect">
            <a:avLst/>
          </a:prstGeom>
          <a:solidFill>
            <a:srgbClr val="F3F0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422392" y="3396996"/>
            <a:ext cx="201168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</a:rPr>
              <a:t>10–14 days</a:t>
            </a:r>
          </a:p>
        </p:txBody>
      </p:sp>
      <p:sp>
        <p:nvSpPr>
          <p:cNvPr id="91" name="Rectangle 90"/>
          <p:cNvSpPr/>
          <p:nvPr/>
        </p:nvSpPr>
        <p:spPr>
          <a:xfrm>
            <a:off x="7452360" y="3305556"/>
            <a:ext cx="2103120" cy="379476"/>
          </a:xfrm>
          <a:prstGeom prst="rect">
            <a:avLst/>
          </a:prstGeom>
          <a:solidFill>
            <a:srgbClr val="ECFDF3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7525512" y="3396996"/>
            <a:ext cx="201168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</a:rPr>
              <a:t>3–7 days</a:t>
            </a:r>
          </a:p>
        </p:txBody>
      </p:sp>
      <p:sp>
        <p:nvSpPr>
          <p:cNvPr id="93" name="Rectangle 92"/>
          <p:cNvSpPr/>
          <p:nvPr/>
        </p:nvSpPr>
        <p:spPr>
          <a:xfrm>
            <a:off x="9555480" y="3305556"/>
            <a:ext cx="2103120" cy="379476"/>
          </a:xfrm>
          <a:prstGeom prst="rect">
            <a:avLst/>
          </a:prstGeom>
          <a:solidFill>
            <a:srgbClr val="F8F9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9628632" y="3396996"/>
            <a:ext cx="201168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</a:rPr>
              <a:t>Jira + CI/CD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37160" y="3685032"/>
            <a:ext cx="2286000" cy="379476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210312" y="3776472"/>
            <a:ext cx="219456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0048"/>
                </a:solidFill>
              </a:rPr>
              <a:t>Cycle Time</a:t>
            </a:r>
          </a:p>
        </p:txBody>
      </p:sp>
      <p:sp>
        <p:nvSpPr>
          <p:cNvPr id="97" name="Rectangle 96"/>
          <p:cNvSpPr/>
          <p:nvPr/>
        </p:nvSpPr>
        <p:spPr>
          <a:xfrm>
            <a:off x="2423160" y="3685032"/>
            <a:ext cx="822960" cy="379476"/>
          </a:xfrm>
          <a:prstGeom prst="rect">
            <a:avLst/>
          </a:prstGeom>
          <a:solidFill>
            <a:srgbClr val="E8E8F8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2496312" y="3776472"/>
            <a:ext cx="73152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</a:rPr>
              <a:t>PDLC Perf.</a:t>
            </a:r>
          </a:p>
        </p:txBody>
      </p:sp>
      <p:sp>
        <p:nvSpPr>
          <p:cNvPr id="99" name="Rectangle 98"/>
          <p:cNvSpPr/>
          <p:nvPr/>
        </p:nvSpPr>
        <p:spPr>
          <a:xfrm>
            <a:off x="3246120" y="3685032"/>
            <a:ext cx="2103120" cy="379476"/>
          </a:xfrm>
          <a:prstGeom prst="rect">
            <a:avLst/>
          </a:prstGeom>
          <a:solidFill>
            <a:srgbClr val="EFF6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3319272" y="3776472"/>
            <a:ext cx="201168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</a:rPr>
              <a:t>7–14 days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5349240" y="3685032"/>
            <a:ext cx="2103120" cy="379476"/>
          </a:xfrm>
          <a:prstGeom prst="rect">
            <a:avLst/>
          </a:prstGeom>
          <a:solidFill>
            <a:srgbClr val="F3F0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5422392" y="3776472"/>
            <a:ext cx="201168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</a:rPr>
              <a:t>3–7 days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7452360" y="3685032"/>
            <a:ext cx="2103120" cy="379476"/>
          </a:xfrm>
          <a:prstGeom prst="rect">
            <a:avLst/>
          </a:prstGeom>
          <a:solidFill>
            <a:srgbClr val="ECFDF3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7525512" y="3776472"/>
            <a:ext cx="201168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</a:rPr>
              <a:t>&lt; 2 days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9555480" y="3685032"/>
            <a:ext cx="2103120" cy="379476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9628632" y="3776472"/>
            <a:ext cx="201168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</a:rPr>
              <a:t>GitHub PRs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137160" y="4064508"/>
            <a:ext cx="2286000" cy="379476"/>
          </a:xfrm>
          <a:prstGeom prst="rect">
            <a:avLst/>
          </a:prstGeom>
          <a:solidFill>
            <a:srgbClr val="F8F9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210312" y="4155948"/>
            <a:ext cx="219456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0048"/>
                </a:solidFill>
              </a:rPr>
              <a:t>Flow Efficiency %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2423160" y="4064508"/>
            <a:ext cx="822960" cy="379476"/>
          </a:xfrm>
          <a:prstGeom prst="rect">
            <a:avLst/>
          </a:prstGeom>
          <a:solidFill>
            <a:srgbClr val="E8E8F8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2496312" y="4155948"/>
            <a:ext cx="73152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</a:rPr>
              <a:t>PDLC Perf.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3246120" y="4064508"/>
            <a:ext cx="2103120" cy="379476"/>
          </a:xfrm>
          <a:prstGeom prst="rect">
            <a:avLst/>
          </a:prstGeom>
          <a:solidFill>
            <a:srgbClr val="EFF6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3319272" y="4155948"/>
            <a:ext cx="201168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</a:rPr>
              <a:t>18–28 %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5349240" y="4064508"/>
            <a:ext cx="2103120" cy="379476"/>
          </a:xfrm>
          <a:prstGeom prst="rect">
            <a:avLst/>
          </a:prstGeom>
          <a:solidFill>
            <a:srgbClr val="F3F0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5422392" y="4155948"/>
            <a:ext cx="201168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</a:rPr>
              <a:t>32–45 %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7452360" y="4064508"/>
            <a:ext cx="2103120" cy="379476"/>
          </a:xfrm>
          <a:prstGeom prst="rect">
            <a:avLst/>
          </a:prstGeom>
          <a:solidFill>
            <a:srgbClr val="ECFDF3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7525512" y="4155948"/>
            <a:ext cx="201168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</a:rPr>
              <a:t>50–65 %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9555480" y="4064508"/>
            <a:ext cx="2103120" cy="379476"/>
          </a:xfrm>
          <a:prstGeom prst="rect">
            <a:avLst/>
          </a:prstGeom>
          <a:solidFill>
            <a:srgbClr val="F8F9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9628632" y="4155948"/>
            <a:ext cx="201168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</a:rPr>
              <a:t>VSM Analyzer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137160" y="4443984"/>
            <a:ext cx="2286000" cy="379476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210312" y="4535424"/>
            <a:ext cx="219456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0048"/>
                </a:solidFill>
              </a:rPr>
              <a:t>WIP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2423160" y="4443984"/>
            <a:ext cx="822960" cy="379476"/>
          </a:xfrm>
          <a:prstGeom prst="rect">
            <a:avLst/>
          </a:prstGeom>
          <a:solidFill>
            <a:srgbClr val="E8E8F8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2496312" y="4535424"/>
            <a:ext cx="73152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</a:rPr>
              <a:t>PDLC Perf.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3246120" y="4443984"/>
            <a:ext cx="2103120" cy="379476"/>
          </a:xfrm>
          <a:prstGeom prst="rect">
            <a:avLst/>
          </a:prstGeom>
          <a:solidFill>
            <a:srgbClr val="EFF6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3319272" y="4535424"/>
            <a:ext cx="201168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</a:rPr>
              <a:t>≤ 2× team size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5349240" y="4443984"/>
            <a:ext cx="2103120" cy="379476"/>
          </a:xfrm>
          <a:prstGeom prst="rect">
            <a:avLst/>
          </a:prstGeom>
          <a:solidFill>
            <a:srgbClr val="F3F0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5422392" y="4535424"/>
            <a:ext cx="201168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</a:rPr>
              <a:t>≤ 1.5× team size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7452360" y="4443984"/>
            <a:ext cx="2103120" cy="379476"/>
          </a:xfrm>
          <a:prstGeom prst="rect">
            <a:avLst/>
          </a:prstGeom>
          <a:solidFill>
            <a:srgbClr val="ECFDF3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7525512" y="4535424"/>
            <a:ext cx="201168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</a:rPr>
              <a:t>≤ 1× team size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9555480" y="4443984"/>
            <a:ext cx="2103120" cy="379476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9628632" y="4535424"/>
            <a:ext cx="201168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</a:rPr>
              <a:t>Jira Board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137160" y="4823460"/>
            <a:ext cx="2286000" cy="379476"/>
          </a:xfrm>
          <a:prstGeom prst="rect">
            <a:avLst/>
          </a:prstGeom>
          <a:solidFill>
            <a:srgbClr val="F8F9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210312" y="4914900"/>
            <a:ext cx="219456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0048"/>
                </a:solidFill>
              </a:rPr>
              <a:t>Deployment Frequency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2423160" y="4823460"/>
            <a:ext cx="822960" cy="379476"/>
          </a:xfrm>
          <a:prstGeom prst="rect">
            <a:avLst/>
          </a:prstGeom>
          <a:solidFill>
            <a:srgbClr val="E8E8F8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2496312" y="4914900"/>
            <a:ext cx="73152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</a:rPr>
              <a:t>PDLC Perf.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3246120" y="4823460"/>
            <a:ext cx="2103120" cy="379476"/>
          </a:xfrm>
          <a:prstGeom prst="rect">
            <a:avLst/>
          </a:prstGeom>
          <a:solidFill>
            <a:srgbClr val="EFF6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3319272" y="4914900"/>
            <a:ext cx="201168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</a:rPr>
              <a:t>Weekly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5349240" y="4823460"/>
            <a:ext cx="2103120" cy="379476"/>
          </a:xfrm>
          <a:prstGeom prst="rect">
            <a:avLst/>
          </a:prstGeom>
          <a:solidFill>
            <a:srgbClr val="F3F0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5422392" y="4914900"/>
            <a:ext cx="201168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</a:rPr>
              <a:t>Daily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7452360" y="4823460"/>
            <a:ext cx="2103120" cy="379476"/>
          </a:xfrm>
          <a:prstGeom prst="rect">
            <a:avLst/>
          </a:prstGeom>
          <a:solidFill>
            <a:srgbClr val="ECFDF3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7525512" y="4914900"/>
            <a:ext cx="201168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</a:rPr>
              <a:t>Multiple / day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9555480" y="4823460"/>
            <a:ext cx="2103120" cy="379476"/>
          </a:xfrm>
          <a:prstGeom prst="rect">
            <a:avLst/>
          </a:prstGeom>
          <a:solidFill>
            <a:srgbClr val="F8F9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9628632" y="4914900"/>
            <a:ext cx="201168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</a:rPr>
              <a:t>CI/CD Pipeline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137160" y="5202936"/>
            <a:ext cx="2286000" cy="379476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210312" y="5294376"/>
            <a:ext cx="219456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0048"/>
                </a:solidFill>
              </a:rPr>
              <a:t>Change Failure Rate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2423160" y="5202936"/>
            <a:ext cx="822960" cy="379476"/>
          </a:xfrm>
          <a:prstGeom prst="rect">
            <a:avLst/>
          </a:prstGeom>
          <a:solidFill>
            <a:srgbClr val="E8E8F8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2496312" y="5294376"/>
            <a:ext cx="73152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</a:rPr>
              <a:t>PDLC Perf.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3246120" y="5202936"/>
            <a:ext cx="2103120" cy="379476"/>
          </a:xfrm>
          <a:prstGeom prst="rect">
            <a:avLst/>
          </a:prstGeom>
          <a:solidFill>
            <a:srgbClr val="EFF6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3319272" y="5294376"/>
            <a:ext cx="201168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</a:rPr>
              <a:t>&lt; 15 %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5349240" y="5202936"/>
            <a:ext cx="2103120" cy="379476"/>
          </a:xfrm>
          <a:prstGeom prst="rect">
            <a:avLst/>
          </a:prstGeom>
          <a:solidFill>
            <a:srgbClr val="F3F0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5422392" y="5294376"/>
            <a:ext cx="201168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</a:rPr>
              <a:t>&lt; 8 %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7452360" y="5202936"/>
            <a:ext cx="2103120" cy="379476"/>
          </a:xfrm>
          <a:prstGeom prst="rect">
            <a:avLst/>
          </a:prstGeom>
          <a:solidFill>
            <a:srgbClr val="ECFDF3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7525512" y="5294376"/>
            <a:ext cx="201168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</a:rPr>
              <a:t>&lt; 5 %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9555480" y="5202936"/>
            <a:ext cx="2103120" cy="379476"/>
          </a:xfrm>
          <a:prstGeom prst="rect">
            <a:avLst/>
          </a:prstGeom>
          <a:solidFill>
            <a:srgbClr val="FFFF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9628632" y="5294376"/>
            <a:ext cx="201168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</a:rPr>
              <a:t>CI/CD + Incidents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137160" y="5582412"/>
            <a:ext cx="2286000" cy="379476"/>
          </a:xfrm>
          <a:prstGeom prst="rect">
            <a:avLst/>
          </a:prstGeom>
          <a:solidFill>
            <a:srgbClr val="F8F9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210312" y="5673852"/>
            <a:ext cx="219456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0048"/>
                </a:solidFill>
              </a:rPr>
              <a:t>MTTR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2423160" y="5582412"/>
            <a:ext cx="822960" cy="379476"/>
          </a:xfrm>
          <a:prstGeom prst="rect">
            <a:avLst/>
          </a:prstGeom>
          <a:solidFill>
            <a:srgbClr val="E8E8F8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2496312" y="5673852"/>
            <a:ext cx="73152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</a:rPr>
              <a:t>PDLC Perf.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246120" y="5582412"/>
            <a:ext cx="2103120" cy="379476"/>
          </a:xfrm>
          <a:prstGeom prst="rect">
            <a:avLst/>
          </a:prstGeom>
          <a:solidFill>
            <a:srgbClr val="EFF6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3319272" y="5673852"/>
            <a:ext cx="201168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</a:rPr>
              <a:t>&lt; 4 hours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5349240" y="5582412"/>
            <a:ext cx="2103120" cy="379476"/>
          </a:xfrm>
          <a:prstGeom prst="rect">
            <a:avLst/>
          </a:prstGeom>
          <a:solidFill>
            <a:srgbClr val="F3F0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5422392" y="5673852"/>
            <a:ext cx="201168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</a:rPr>
              <a:t>&lt; 2 hours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7452360" y="5582412"/>
            <a:ext cx="2103120" cy="379476"/>
          </a:xfrm>
          <a:prstGeom prst="rect">
            <a:avLst/>
          </a:prstGeom>
          <a:solidFill>
            <a:srgbClr val="ECFDF3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7525512" y="5673852"/>
            <a:ext cx="201168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</a:rPr>
              <a:t>&lt; 1 hour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9555480" y="5582412"/>
            <a:ext cx="2103120" cy="379476"/>
          </a:xfrm>
          <a:prstGeom prst="rect">
            <a:avLst/>
          </a:prstGeom>
          <a:solidFill>
            <a:srgbClr val="F8F9FF"/>
          </a:solidFill>
          <a:ln w="508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9628632" y="5673852"/>
            <a:ext cx="2011680" cy="30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</a:rPr>
              <a:t>ServiceNow / PD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914400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37744" y="91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</a:rPr>
              <a:t>Monitoring Dashboard  —  Illustrative Views &amp; Inference Points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" y="548640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2BBE6"/>
                </a:solidFill>
              </a:rPr>
              <a:t>AI Adoption perspective  ·  PDLC Performance perspective  ·  Key inference &amp; action points per 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914400"/>
            <a:ext cx="12188952" cy="27432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620256"/>
            <a:ext cx="12188952" cy="23774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" y="6638544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2BBE6"/>
                </a:solidFill>
              </a:rPr>
              <a:t>STUMP  ·  Metrics &amp; Measurement Framework  ·  © 2026 Cognizant  · 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04320" y="6638544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92BBE6"/>
                </a:solidFill>
              </a:rPr>
              <a:t>M10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8016" y="987552"/>
            <a:ext cx="5897880" cy="5504688"/>
          </a:xfrm>
          <a:prstGeom prst="rect">
            <a:avLst/>
          </a:prstGeom>
          <a:solidFill>
            <a:srgbClr val="FFFFFF"/>
          </a:solidFill>
          <a:ln w="762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8016" y="987552"/>
            <a:ext cx="5897880" cy="292608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9456" y="1051560"/>
            <a:ext cx="57698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AI Adoption Dashboard  —  Illustrative  (Option A baseline)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63056" y="987552"/>
            <a:ext cx="5897880" cy="5504688"/>
          </a:xfrm>
          <a:prstGeom prst="rect">
            <a:avLst/>
          </a:prstGeom>
          <a:solidFill>
            <a:srgbClr val="FFFFFF"/>
          </a:solidFill>
          <a:ln w="762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63056" y="987552"/>
            <a:ext cx="5897880" cy="292608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54496" y="1051560"/>
            <a:ext cx="57698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PDLC Performance Dashboard  —  Illustrative  (Option A baseline)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7744" y="1316736"/>
            <a:ext cx="1383030" cy="768096"/>
          </a:xfrm>
          <a:prstGeom prst="rect">
            <a:avLst/>
          </a:prstGeom>
          <a:solidFill>
            <a:srgbClr val="FFFFFF"/>
          </a:solidFill>
          <a:ln w="762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37744" y="1316736"/>
            <a:ext cx="1383030" cy="109728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1463039"/>
            <a:ext cx="132816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000048"/>
                </a:solidFill>
              </a:rPr>
              <a:t>Agent
Utilisation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1719072"/>
            <a:ext cx="132816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0048"/>
                </a:solidFill>
              </a:rPr>
              <a:t>48%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09878" y="1929384"/>
            <a:ext cx="32918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057A55"/>
                </a:solidFill>
              </a:rPr>
              <a:t>+12pt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57350" y="1316736"/>
            <a:ext cx="1383030" cy="768096"/>
          </a:xfrm>
          <a:prstGeom prst="rect">
            <a:avLst/>
          </a:prstGeom>
          <a:solidFill>
            <a:srgbClr val="FFFFFF"/>
          </a:solidFill>
          <a:ln w="762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657350" y="1316736"/>
            <a:ext cx="1383030" cy="109728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693926" y="1463039"/>
            <a:ext cx="132816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000048"/>
                </a:solidFill>
              </a:rPr>
              <a:t>AI Acceptance
Rate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93926" y="1719072"/>
            <a:ext cx="132816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F78C4"/>
                </a:solidFill>
              </a:rPr>
              <a:t>72%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29484" y="1929384"/>
            <a:ext cx="32918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057A55"/>
                </a:solidFill>
              </a:rPr>
              <a:t>+8pt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76956" y="1316736"/>
            <a:ext cx="1383030" cy="768096"/>
          </a:xfrm>
          <a:prstGeom prst="rect">
            <a:avLst/>
          </a:prstGeom>
          <a:solidFill>
            <a:srgbClr val="FFFFFF"/>
          </a:solidFill>
          <a:ln w="762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076956" y="1316736"/>
            <a:ext cx="1383030" cy="109728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113532" y="1463039"/>
            <a:ext cx="132816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000048"/>
                </a:solidFill>
              </a:rPr>
              <a:t>Override
Rate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13532" y="1719072"/>
            <a:ext cx="132816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57A55"/>
                </a:solidFill>
              </a:rPr>
              <a:t>18%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49090" y="1929384"/>
            <a:ext cx="32918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057A55"/>
                </a:solidFill>
              </a:rPr>
              <a:t>−7pt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496562" y="1316736"/>
            <a:ext cx="1383030" cy="768096"/>
          </a:xfrm>
          <a:prstGeom prst="rect">
            <a:avLst/>
          </a:prstGeom>
          <a:solidFill>
            <a:srgbClr val="FFFFFF"/>
          </a:solidFill>
          <a:ln w="762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496562" y="1316736"/>
            <a:ext cx="1383030" cy="109728"/>
          </a:xfrm>
          <a:prstGeom prst="rect">
            <a:avLst/>
          </a:prstGeom>
          <a:solidFill>
            <a:srgbClr val="06C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33138" y="1463039"/>
            <a:ext cx="132816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000048"/>
                </a:solidFill>
              </a:rPr>
              <a:t>Time Saved
/Sprint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33138" y="1719072"/>
            <a:ext cx="132816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6C7CC"/>
                </a:solidFill>
              </a:rPr>
              <a:t>94 hrs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568696" y="1929384"/>
            <a:ext cx="32918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057A55"/>
                </a:solidFill>
              </a:rPr>
              <a:t>+22h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72784" y="1316736"/>
            <a:ext cx="1383030" cy="768096"/>
          </a:xfrm>
          <a:prstGeom prst="rect">
            <a:avLst/>
          </a:prstGeom>
          <a:solidFill>
            <a:srgbClr val="FFFFFF"/>
          </a:solidFill>
          <a:ln w="762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272784" y="1316736"/>
            <a:ext cx="1383030" cy="109728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09360" y="1463039"/>
            <a:ext cx="132816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000048"/>
                </a:solidFill>
              </a:rPr>
              <a:t>Lead
Time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09360" y="1719072"/>
            <a:ext cx="132816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0048"/>
                </a:solidFill>
              </a:rPr>
              <a:t>18 days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44917" y="1929384"/>
            <a:ext cx="32918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057A55"/>
                </a:solidFill>
              </a:rPr>
              <a:t>↓ 32%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692390" y="1316736"/>
            <a:ext cx="1383030" cy="768096"/>
          </a:xfrm>
          <a:prstGeom prst="rect">
            <a:avLst/>
          </a:prstGeom>
          <a:solidFill>
            <a:srgbClr val="FFFFFF"/>
          </a:solidFill>
          <a:ln w="762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692390" y="1316736"/>
            <a:ext cx="1383030" cy="109728"/>
          </a:xfrm>
          <a:prstGeom prst="rect">
            <a:avLst/>
          </a:prstGeom>
          <a:solidFill>
            <a:srgbClr val="06C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728965" y="1463039"/>
            <a:ext cx="132816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000048"/>
                </a:solidFill>
              </a:rPr>
              <a:t>Flow
Eff. 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28965" y="1719072"/>
            <a:ext cx="132816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6C7CC"/>
                </a:solidFill>
              </a:rPr>
              <a:t>24%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764524" y="1929384"/>
            <a:ext cx="32918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057A55"/>
                </a:solidFill>
              </a:rPr>
              <a:t>↑ 6pt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111996" y="1316736"/>
            <a:ext cx="1383030" cy="768096"/>
          </a:xfrm>
          <a:prstGeom prst="rect">
            <a:avLst/>
          </a:prstGeom>
          <a:solidFill>
            <a:srgbClr val="FFFFFF"/>
          </a:solidFill>
          <a:ln w="762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111996" y="1316736"/>
            <a:ext cx="1383030" cy="109728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148572" y="1463039"/>
            <a:ext cx="132816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000048"/>
                </a:solidFill>
              </a:rPr>
              <a:t>Deploy
Freq.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48572" y="1719072"/>
            <a:ext cx="132816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F78C4"/>
                </a:solidFill>
              </a:rPr>
              <a:t>2×/wk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184130" y="1929384"/>
            <a:ext cx="32918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057A55"/>
                </a:solidFill>
              </a:rPr>
              <a:t>↑ vs 1×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531602" y="1316736"/>
            <a:ext cx="1383030" cy="768096"/>
          </a:xfrm>
          <a:prstGeom prst="rect">
            <a:avLst/>
          </a:prstGeom>
          <a:solidFill>
            <a:srgbClr val="FFFFFF"/>
          </a:solidFill>
          <a:ln w="762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0531602" y="1316736"/>
            <a:ext cx="1383030" cy="109728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568178" y="1463039"/>
            <a:ext cx="132816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000048"/>
                </a:solidFill>
              </a:rPr>
              <a:t>WIP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568178" y="1719072"/>
            <a:ext cx="132816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57A55"/>
                </a:solidFill>
              </a:rPr>
              <a:t>14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603736" y="1929384"/>
            <a:ext cx="32918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057A55"/>
                </a:solidFill>
              </a:rPr>
              <a:t>↓ 4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37744" y="2157984"/>
            <a:ext cx="5678424" cy="1572768"/>
          </a:xfrm>
          <a:prstGeom prst="rect">
            <a:avLst/>
          </a:prstGeom>
          <a:solidFill>
            <a:srgbClr val="F2F6FF"/>
          </a:solidFill>
          <a:ln w="762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237744" y="2157984"/>
            <a:ext cx="5678424" cy="201168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10896" y="2194560"/>
            <a:ext cx="556869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Agent Utilisation Rate by PDLC Phase  (% activities AI-assisted)  |  Target: 40%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84048" y="3129076"/>
            <a:ext cx="675349" cy="382219"/>
          </a:xfrm>
          <a:prstGeom prst="rect">
            <a:avLst/>
          </a:prstGeom>
          <a:solidFill>
            <a:srgbClr val="92B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84048" y="2973628"/>
            <a:ext cx="675349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1F2937"/>
                </a:solidFill>
              </a:rPr>
              <a:t>38%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29184" y="3529584"/>
            <a:ext cx="785077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6B7280"/>
                </a:solidFill>
              </a:rPr>
              <a:t>Ph1
Disc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169125" y="3229660"/>
            <a:ext cx="675349" cy="281635"/>
          </a:xfrm>
          <a:prstGeom prst="rect">
            <a:avLst/>
          </a:prstGeom>
          <a:solidFill>
            <a:srgbClr val="92B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169125" y="3074212"/>
            <a:ext cx="675349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1F2937"/>
                </a:solidFill>
              </a:rPr>
              <a:t>28%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14261" y="3529584"/>
            <a:ext cx="785077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6B7280"/>
                </a:solidFill>
              </a:rPr>
              <a:t>Ph2
Arch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954203" y="2988259"/>
            <a:ext cx="675349" cy="523036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954203" y="2832811"/>
            <a:ext cx="675349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1F2937"/>
                </a:solidFill>
              </a:rPr>
              <a:t>52%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899339" y="3529584"/>
            <a:ext cx="785077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6B7280"/>
                </a:solidFill>
              </a:rPr>
              <a:t>Ph3
Dev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739281" y="3048609"/>
            <a:ext cx="675349" cy="462686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739281" y="2893161"/>
            <a:ext cx="675349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1F2937"/>
                </a:solidFill>
              </a:rPr>
              <a:t>46%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684417" y="3529584"/>
            <a:ext cx="785077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6B7280"/>
                </a:solidFill>
              </a:rPr>
              <a:t>Ph4
Bld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524358" y="3088843"/>
            <a:ext cx="675349" cy="422452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524358" y="2933395"/>
            <a:ext cx="675349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1F2937"/>
                </a:solidFill>
              </a:rPr>
              <a:t>42%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469494" y="3529584"/>
            <a:ext cx="785077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6B7280"/>
                </a:solidFill>
              </a:rPr>
              <a:t>Ph5
Test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309436" y="3290011"/>
            <a:ext cx="675349" cy="221284"/>
          </a:xfrm>
          <a:prstGeom prst="rect">
            <a:avLst/>
          </a:prstGeom>
          <a:solidFill>
            <a:srgbClr val="BBC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309436" y="3134563"/>
            <a:ext cx="675349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1F2937"/>
                </a:solidFill>
              </a:rPr>
              <a:t>22%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254572" y="3529584"/>
            <a:ext cx="785077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6B7280"/>
                </a:solidFill>
              </a:rPr>
              <a:t>Ph6
Dep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094514" y="3330244"/>
            <a:ext cx="675349" cy="181051"/>
          </a:xfrm>
          <a:prstGeom prst="rect">
            <a:avLst/>
          </a:prstGeom>
          <a:solidFill>
            <a:srgbClr val="BBC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094514" y="3174796"/>
            <a:ext cx="675349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1F2937"/>
                </a:solidFill>
              </a:rPr>
              <a:t>18%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039650" y="3529584"/>
            <a:ext cx="785077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6B7280"/>
                </a:solidFill>
              </a:rPr>
              <a:t>Ph7
Ops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29184" y="3108960"/>
            <a:ext cx="5495544" cy="12801"/>
          </a:xfrm>
          <a:prstGeom prst="rect">
            <a:avLst/>
          </a:prstGeom>
          <a:solidFill>
            <a:srgbClr val="B45A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074920" y="2971800"/>
            <a:ext cx="804672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B45A09"/>
                </a:solidFill>
              </a:rPr>
              <a:t>← 40% target</a:t>
            </a:r>
          </a:p>
        </p:txBody>
      </p:sp>
      <p:sp>
        <p:nvSpPr>
          <p:cNvPr id="83" name="Rectangle 82"/>
          <p:cNvSpPr/>
          <p:nvPr/>
        </p:nvSpPr>
        <p:spPr>
          <a:xfrm>
            <a:off x="237744" y="3785616"/>
            <a:ext cx="5678424" cy="731520"/>
          </a:xfrm>
          <a:prstGeom prst="rect">
            <a:avLst/>
          </a:prstGeom>
          <a:solidFill>
            <a:srgbClr val="F2F6FF"/>
          </a:solidFill>
          <a:ln w="762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237744" y="3785616"/>
            <a:ext cx="5678424" cy="18288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10896" y="3813048"/>
            <a:ext cx="558698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AI Acceptance Rate — 6-sprint trend  ·  Target: 85% by Option B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02336" y="4196730"/>
            <a:ext cx="769620" cy="174101"/>
          </a:xfrm>
          <a:prstGeom prst="rect">
            <a:avLst/>
          </a:prstGeom>
          <a:solidFill>
            <a:srgbClr val="92B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329184" y="4389120"/>
            <a:ext cx="91592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6B7280"/>
                </a:solidFill>
              </a:rPr>
              <a:t>S1  56%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318260" y="4181185"/>
            <a:ext cx="769620" cy="189646"/>
          </a:xfrm>
          <a:prstGeom prst="rect">
            <a:avLst/>
          </a:prstGeom>
          <a:solidFill>
            <a:srgbClr val="92B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245108" y="4389120"/>
            <a:ext cx="91592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6B7280"/>
                </a:solidFill>
              </a:rPr>
              <a:t>S2  61%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2234184" y="4168749"/>
            <a:ext cx="769620" cy="202082"/>
          </a:xfrm>
          <a:prstGeom prst="rect">
            <a:avLst/>
          </a:prstGeom>
          <a:solidFill>
            <a:srgbClr val="92B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2161032" y="4389120"/>
            <a:ext cx="91592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6B7280"/>
                </a:solidFill>
              </a:rPr>
              <a:t>S3  65%</a:t>
            </a:r>
          </a:p>
        </p:txBody>
      </p:sp>
      <p:sp>
        <p:nvSpPr>
          <p:cNvPr id="92" name="Rectangle 91"/>
          <p:cNvSpPr/>
          <p:nvPr/>
        </p:nvSpPr>
        <p:spPr>
          <a:xfrm>
            <a:off x="3150108" y="4159422"/>
            <a:ext cx="769620" cy="211409"/>
          </a:xfrm>
          <a:prstGeom prst="rect">
            <a:avLst/>
          </a:prstGeom>
          <a:solidFill>
            <a:srgbClr val="92B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3076956" y="4389120"/>
            <a:ext cx="91592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6B7280"/>
                </a:solidFill>
              </a:rPr>
              <a:t>S4  68%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066032" y="4150095"/>
            <a:ext cx="769620" cy="220736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3992880" y="4389120"/>
            <a:ext cx="91592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6B7280"/>
                </a:solidFill>
              </a:rPr>
              <a:t>S5  71%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981956" y="4146986"/>
            <a:ext cx="769620" cy="223845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908804" y="4389120"/>
            <a:ext cx="91592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6B7280"/>
                </a:solidFill>
              </a:rPr>
              <a:t>S6  72%</a:t>
            </a:r>
          </a:p>
        </p:txBody>
      </p:sp>
      <p:sp>
        <p:nvSpPr>
          <p:cNvPr id="98" name="Rectangle 97"/>
          <p:cNvSpPr/>
          <p:nvPr/>
        </p:nvSpPr>
        <p:spPr>
          <a:xfrm>
            <a:off x="237744" y="4572000"/>
            <a:ext cx="5678424" cy="219456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329184" y="4617720"/>
            <a:ext cx="562356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Inference &amp; Action Points  —  AI Adoption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237744" y="4846320"/>
            <a:ext cx="45720" cy="310896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329184" y="4864607"/>
            <a:ext cx="55869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F2937"/>
                </a:solidFill>
              </a:rPr>
              <a:t>Ph3 Development leads at 52% — CodeGen &amp; Review agents well adopted. Prioritise Ph6 Deploy (22%) as next activation sprint; target 40%+ for Opt B.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237744" y="5230368"/>
            <a:ext cx="45720" cy="310896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329184" y="5248655"/>
            <a:ext cx="55869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F2937"/>
                </a:solidFill>
              </a:rPr>
              <a:t>Acceptance rate growing +4.2 pts/sprint (56%→72%) — on track to reach 85% (Option B target) in ~3 sprints. Consistent quality improvement trend.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237744" y="5614416"/>
            <a:ext cx="45720" cy="310896"/>
          </a:xfrm>
          <a:prstGeom prst="rect">
            <a:avLst/>
          </a:prstGeom>
          <a:solidFill>
            <a:srgbClr val="B45A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329184" y="5632703"/>
            <a:ext cx="55869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F2937"/>
                </a:solidFill>
              </a:rPr>
              <a:t>Override rate 18% in QA exceeds &lt;10% target. Prompt recalibration needed using last 3-sprint rejection reason logs from STUMP Accuracy page.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237744" y="5998464"/>
            <a:ext cx="45720" cy="310896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329184" y="6016751"/>
            <a:ext cx="55869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F2937"/>
                </a:solidFill>
              </a:rPr>
              <a:t>Ph7 Ops utilisation 18% — Risk &amp; Monitor agents not yet activated. Enablement sprint needed before Option B transition is declared.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272784" y="2157984"/>
            <a:ext cx="5678424" cy="1572768"/>
          </a:xfrm>
          <a:prstGeom prst="rect">
            <a:avLst/>
          </a:prstGeom>
          <a:solidFill>
            <a:srgbClr val="F2F6FF"/>
          </a:solidFill>
          <a:ln w="762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6272784" y="2157984"/>
            <a:ext cx="5678424" cy="201168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6345936" y="2194560"/>
            <a:ext cx="556869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Flow Efficiency by Phase  —  Process Time (blue) vs Wait Time (grey)  (days)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419088" y="2840736"/>
            <a:ext cx="675349" cy="447040"/>
          </a:xfrm>
          <a:prstGeom prst="rect">
            <a:avLst/>
          </a:prstGeom>
          <a:solidFill>
            <a:srgbClr val="AAA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6419088" y="3287776"/>
            <a:ext cx="675349" cy="22352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364224" y="2676144"/>
            <a:ext cx="785077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B45A09"/>
                </a:solidFill>
              </a:rPr>
              <a:t>FE
33%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6364224" y="3529584"/>
            <a:ext cx="785077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6B7280"/>
                </a:solidFill>
              </a:rPr>
              <a:t>Ph1
Disc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7204165" y="2561336"/>
            <a:ext cx="675349" cy="558800"/>
          </a:xfrm>
          <a:prstGeom prst="rect">
            <a:avLst/>
          </a:prstGeom>
          <a:solidFill>
            <a:srgbClr val="AAA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7204165" y="3120136"/>
            <a:ext cx="675349" cy="39116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7149301" y="2414016"/>
            <a:ext cx="785077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057A55"/>
                </a:solidFill>
              </a:rPr>
              <a:t>FE
41%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7149301" y="3529584"/>
            <a:ext cx="785077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6B7280"/>
                </a:solidFill>
              </a:rPr>
              <a:t>Ph2
Arch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7989243" y="2505456"/>
            <a:ext cx="675349" cy="447040"/>
          </a:xfrm>
          <a:prstGeom prst="rect">
            <a:avLst/>
          </a:prstGeom>
          <a:solidFill>
            <a:srgbClr val="AAA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7989243" y="2952496"/>
            <a:ext cx="675349" cy="55880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7934379" y="2414016"/>
            <a:ext cx="785077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057A55"/>
                </a:solidFill>
              </a:rPr>
              <a:t>FE
56%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7934379" y="3529584"/>
            <a:ext cx="785077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6B7280"/>
                </a:solidFill>
              </a:rPr>
              <a:t>Ph3
Dev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8774321" y="3064256"/>
            <a:ext cx="675349" cy="279400"/>
          </a:xfrm>
          <a:prstGeom prst="rect">
            <a:avLst/>
          </a:prstGeom>
          <a:solidFill>
            <a:srgbClr val="AAA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8774321" y="3343656"/>
            <a:ext cx="675349" cy="16764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8719457" y="2899664"/>
            <a:ext cx="785077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057A55"/>
                </a:solidFill>
              </a:rPr>
              <a:t>FE
38%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8719457" y="3529584"/>
            <a:ext cx="785077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6B7280"/>
                </a:solidFill>
              </a:rPr>
              <a:t>Ph4
Bld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9559398" y="2617216"/>
            <a:ext cx="675349" cy="614680"/>
          </a:xfrm>
          <a:prstGeom prst="rect">
            <a:avLst/>
          </a:prstGeom>
          <a:solidFill>
            <a:srgbClr val="AAA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9559398" y="3231896"/>
            <a:ext cx="675349" cy="27940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9504534" y="2452624"/>
            <a:ext cx="785077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B45A09"/>
                </a:solidFill>
              </a:rPr>
              <a:t>FE
31%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9504534" y="3529584"/>
            <a:ext cx="785077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6B7280"/>
                </a:solidFill>
              </a:rPr>
              <a:t>Ph5
Test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10344476" y="3287776"/>
            <a:ext cx="675349" cy="134112"/>
          </a:xfrm>
          <a:prstGeom prst="rect">
            <a:avLst/>
          </a:prstGeom>
          <a:solidFill>
            <a:srgbClr val="AAA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10344476" y="3421888"/>
            <a:ext cx="675349" cy="89408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10289612" y="3123184"/>
            <a:ext cx="785077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057A55"/>
                </a:solidFill>
              </a:rPr>
              <a:t>FE
40%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0289612" y="3529584"/>
            <a:ext cx="785077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6B7280"/>
                </a:solidFill>
              </a:rPr>
              <a:t>Ph6
Dep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11129554" y="3120136"/>
            <a:ext cx="675349" cy="257047"/>
          </a:xfrm>
          <a:prstGeom prst="rect">
            <a:avLst/>
          </a:prstGeom>
          <a:solidFill>
            <a:srgbClr val="AAA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11129554" y="3377184"/>
            <a:ext cx="675349" cy="134112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11074690" y="2955544"/>
            <a:ext cx="785077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B45A09"/>
                </a:solidFill>
              </a:rPr>
              <a:t>FE
34%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11074690" y="3529584"/>
            <a:ext cx="785077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6B7280"/>
                </a:solidFill>
              </a:rPr>
              <a:t>Ph7
Ops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6272784" y="3785616"/>
            <a:ext cx="5678424" cy="731520"/>
          </a:xfrm>
          <a:prstGeom prst="rect">
            <a:avLst/>
          </a:prstGeom>
          <a:solidFill>
            <a:srgbClr val="F2F6FF"/>
          </a:solidFill>
          <a:ln w="762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6272784" y="3785616"/>
            <a:ext cx="5678424" cy="182880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6345936" y="3813048"/>
            <a:ext cx="558698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DORA Band Positioning  —  Current state vs Option B &amp; C targets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6345936" y="3986784"/>
            <a:ext cx="1346454" cy="365760"/>
          </a:xfrm>
          <a:prstGeom prst="rect">
            <a:avLst/>
          </a:prstGeom>
          <a:solidFill>
            <a:srgbClr val="CC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6382512" y="4014216"/>
            <a:ext cx="1291589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Low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6382512" y="4169664"/>
            <a:ext cx="1291589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FFFFFF"/>
                </a:solidFill>
              </a:rPr>
              <a:t>LT&gt;6m  Monthly deploys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7728966" y="3986784"/>
            <a:ext cx="1346454" cy="365760"/>
          </a:xfrm>
          <a:prstGeom prst="rect">
            <a:avLst/>
          </a:prstGeom>
          <a:solidFill>
            <a:srgbClr val="B45A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7765542" y="4014216"/>
            <a:ext cx="1291589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Medium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7765542" y="4169664"/>
            <a:ext cx="1291589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FFFFFF"/>
                </a:solidFill>
              </a:rPr>
              <a:t>LT 1w–6m  Weekly deploys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7728966" y="4361688"/>
            <a:ext cx="134645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B45A09"/>
                </a:solidFill>
              </a:rPr>
              <a:t>◀ Now (Opt A)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9111996" y="3986784"/>
            <a:ext cx="1346454" cy="36576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9148572" y="4014216"/>
            <a:ext cx="1291589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9148572" y="4169664"/>
            <a:ext cx="1291589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FFFFFF"/>
                </a:solidFill>
              </a:rPr>
              <a:t>LT 1d–1wk  Daily deploys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9111996" y="4361688"/>
            <a:ext cx="134645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2F78C4"/>
                </a:solidFill>
              </a:rPr>
              <a:t>▲ Opt B target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10495026" y="3986784"/>
            <a:ext cx="1346454" cy="365760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10531601" y="4014216"/>
            <a:ext cx="1291589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Elite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10531601" y="4169664"/>
            <a:ext cx="1291589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FFFFFF"/>
                </a:solidFill>
              </a:rPr>
              <a:t>LT&lt;1d  Multiple/day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10495026" y="4361688"/>
            <a:ext cx="134645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057A55"/>
                </a:solidFill>
              </a:rPr>
              <a:t>★ Opt C target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6272784" y="4572000"/>
            <a:ext cx="5678424" cy="219456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6364224" y="4617720"/>
            <a:ext cx="562356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Inference &amp; Action Points  —  PDLC Performance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6272784" y="4846320"/>
            <a:ext cx="45720" cy="310896"/>
          </a:xfrm>
          <a:prstGeom prst="rect">
            <a:avLst/>
          </a:prstGeom>
          <a:solidFill>
            <a:srgbClr val="06C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6364224" y="4864607"/>
            <a:ext cx="55869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F2937"/>
                </a:solidFill>
              </a:rPr>
              <a:t>Lead time reduced 32% (26→18 days) since AI in Dev &amp; Build. Ph3 cycle time 9→5 days. Ph2 Architecture wait (5 days) is the next improvement target.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6272784" y="5230368"/>
            <a:ext cx="45720" cy="310896"/>
          </a:xfrm>
          <a:prstGeom prst="rect">
            <a:avLst/>
          </a:prstGeom>
          <a:solidFill>
            <a:srgbClr val="B45A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6364224" y="5248655"/>
            <a:ext cx="55869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F2937"/>
                </a:solidFill>
              </a:rPr>
              <a:t>Flow efficiency 24% overall; Ph5 Test wait is highest at 5.5 days. QA Orchestrator agent (Option B) directly cuts this — FE projected to 38%+.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6272784" y="5614416"/>
            <a:ext cx="45720" cy="310896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6364224" y="5632703"/>
            <a:ext cx="55869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F2937"/>
                </a:solidFill>
              </a:rPr>
              <a:t>Deploy freq 2×/week approaching DORA 'High' band. Release Gate &amp; Deploy agents (Option B) projected to reach daily cadence by sprint 6.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272784" y="5998464"/>
            <a:ext cx="45720" cy="310896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364224" y="6016751"/>
            <a:ext cx="55869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F2937"/>
                </a:solidFill>
              </a:rPr>
              <a:t>CFR at 12% (DORA Medium). As CodeGen matures, target &lt;8% (Option B) via automated pre-merge AI review and automated quality gate enforcement.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914400"/>
          </a:xfrm>
          <a:prstGeom prst="rect">
            <a:avLst/>
          </a:prstGeom>
          <a:solidFill>
            <a:srgbClr val="06C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37744" y="91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</a:rPr>
              <a:t>Productivity — Measurement, Formula &amp; Automated Data Collection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" y="548640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2BBE6"/>
                </a:solidFill>
              </a:rPr>
              <a:t>Story Points → Effort → Cost  ·  Zero-touch data capture via STUMP ALM Connector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914400"/>
            <a:ext cx="12188952" cy="27432"/>
          </a:xfrm>
          <a:prstGeom prst="rect">
            <a:avLst/>
          </a:prstGeom>
          <a:solidFill>
            <a:srgbClr val="06C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620256"/>
            <a:ext cx="12188952" cy="237744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" y="6638544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2BBE6"/>
                </a:solidFill>
              </a:rPr>
              <a:t>STUMP  ·  Metrics &amp; Measurement Framework  ·  © 2026 Cognizant  · 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04320" y="6638544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92BBE6"/>
                </a:solidFill>
              </a:rPr>
              <a:t>M11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" y="987552"/>
            <a:ext cx="11914632" cy="384048"/>
          </a:xfrm>
          <a:prstGeom prst="rect">
            <a:avLst/>
          </a:prstGeom>
          <a:solidFill>
            <a:srgbClr val="E8F0FB"/>
          </a:solidFill>
          <a:ln w="6350">
            <a:solidFill>
              <a:srgbClr val="2F7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6888" y="1060704"/>
            <a:ext cx="98755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000048"/>
                </a:solidFill>
              </a:rPr>
              <a:t>DEFINITION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71016" y="1042416"/>
            <a:ext cx="280111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F2937"/>
                </a:solidFill>
              </a:rPr>
              <a:t>Productivity  =  Value Delivered  ÷  Capacity Consumed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99560" y="1042416"/>
            <a:ext cx="13716" cy="27432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18432" y="1060704"/>
            <a:ext cx="98755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2F78C4"/>
                </a:solidFill>
              </a:rPr>
              <a:t>PRIMARY UNIT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42560" y="1042416"/>
            <a:ext cx="280111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F2937"/>
                </a:solidFill>
              </a:rPr>
              <a:t>Story Points Delivered per Person-Sprint  (calibrated per team)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71104" y="1042416"/>
            <a:ext cx="13716" cy="27432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89975" y="1060704"/>
            <a:ext cx="98755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2E308E"/>
                </a:solidFill>
              </a:rPr>
              <a:t>QUALITY ADJ.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14104" y="1042416"/>
            <a:ext cx="280111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F2937"/>
                </a:solidFill>
              </a:rPr>
              <a:t>Multiply × (1 − Change Failure Rate)  to exclude rework waste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7160" y="1444752"/>
            <a:ext cx="3794760" cy="4544568"/>
          </a:xfrm>
          <a:prstGeom prst="rect">
            <a:avLst/>
          </a:prstGeom>
          <a:solidFill>
            <a:srgbClr val="F9FBFF"/>
          </a:solidFill>
          <a:ln w="762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7160" y="1444752"/>
            <a:ext cx="3794760" cy="256032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28600" y="1490472"/>
            <a:ext cx="366674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FORMULAS &amp; KEY DIMENSIONS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1444752"/>
            <a:ext cx="3794760" cy="4544568"/>
          </a:xfrm>
          <a:prstGeom prst="rect">
            <a:avLst/>
          </a:prstGeom>
          <a:solidFill>
            <a:srgbClr val="F9FBFF"/>
          </a:solidFill>
          <a:ln w="762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023360" y="1444752"/>
            <a:ext cx="3794760" cy="256032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0" y="1490472"/>
            <a:ext cx="366674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STORY POINTS  →  EFFORT  →  COST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09560" y="1444752"/>
            <a:ext cx="4059936" cy="4544568"/>
          </a:xfrm>
          <a:prstGeom prst="rect">
            <a:avLst/>
          </a:prstGeom>
          <a:solidFill>
            <a:srgbClr val="F9FBFF"/>
          </a:solidFill>
          <a:ln w="762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909560" y="1444752"/>
            <a:ext cx="4059936" cy="256032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01000" y="14904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WORKED EXAMPLE  —  6-Person Sprint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6888" y="1755648"/>
            <a:ext cx="363016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0048"/>
                </a:solidFill>
              </a:rPr>
              <a:t>Primary Productivity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10311" y="1929384"/>
            <a:ext cx="3648456" cy="256032"/>
          </a:xfrm>
          <a:prstGeom prst="rect">
            <a:avLst/>
          </a:prstGeom>
          <a:solidFill>
            <a:srgbClr val="EFF6FF"/>
          </a:solidFill>
          <a:ln w="9525">
            <a:solidFill>
              <a:srgbClr val="2F7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01751" y="1965960"/>
            <a:ext cx="3520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0048"/>
                </a:solidFill>
              </a:rPr>
              <a:t>Productivity  =  SP Delivered  ÷  Capacity (person-days)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6888" y="2276856"/>
            <a:ext cx="363016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0048"/>
                </a:solidFill>
              </a:rPr>
              <a:t>Normalised Velocity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10311" y="2450592"/>
            <a:ext cx="3648456" cy="256032"/>
          </a:xfrm>
          <a:prstGeom prst="rect">
            <a:avLst/>
          </a:prstGeom>
          <a:solidFill>
            <a:srgbClr val="EFF6FF"/>
          </a:solidFill>
          <a:ln w="9525">
            <a:solidFill>
              <a:srgbClr val="2F7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01751" y="2487168"/>
            <a:ext cx="3520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0048"/>
                </a:solidFill>
              </a:rPr>
              <a:t>Team Velocity  =  SP / Sprint   [rolling 3-sprint average]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46888" y="2798064"/>
            <a:ext cx="363016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0048"/>
                </a:solidFill>
              </a:rPr>
              <a:t>Quality-Adjusted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10311" y="2971800"/>
            <a:ext cx="3648456" cy="256032"/>
          </a:xfrm>
          <a:prstGeom prst="rect">
            <a:avLst/>
          </a:prstGeom>
          <a:solidFill>
            <a:srgbClr val="EFF6FF"/>
          </a:solidFill>
          <a:ln w="9525">
            <a:solidFill>
              <a:srgbClr val="2F7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01751" y="3008376"/>
            <a:ext cx="3520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0048"/>
                </a:solidFill>
              </a:rPr>
              <a:t>Adj. Productivity  =  SP × (1 – CFR)  ÷  Capacity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46888" y="3319272"/>
            <a:ext cx="363016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0048"/>
                </a:solidFill>
              </a:rPr>
              <a:t>Productivity Index  (vs Baseline)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10311" y="3493008"/>
            <a:ext cx="3648456" cy="256032"/>
          </a:xfrm>
          <a:prstGeom prst="rect">
            <a:avLst/>
          </a:prstGeom>
          <a:solidFill>
            <a:srgbClr val="EFF6FF"/>
          </a:solidFill>
          <a:ln w="9525">
            <a:solidFill>
              <a:srgbClr val="2F7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01751" y="3529584"/>
            <a:ext cx="3520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0048"/>
                </a:solidFill>
              </a:rPr>
              <a:t>Prod. Index  =  (Current SP/day  ÷  Baseline SP/day) × 100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46888" y="3950208"/>
            <a:ext cx="363016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6C7CC"/>
                </a:solidFill>
              </a:rPr>
              <a:t>KEY DIMENSIONS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28600" y="4215384"/>
            <a:ext cx="45720" cy="4572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20040" y="4151376"/>
            <a:ext cx="3557016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Numerator  →  SP with status 'Done' / 'Accepted' at sprint close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28600" y="4411980"/>
            <a:ext cx="45720" cy="4572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0040" y="4347972"/>
            <a:ext cx="3557016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Denominator  →  team_size × sprint_days × utilisation % (default 0.8)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28600" y="4608576"/>
            <a:ext cx="45720" cy="4572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20040" y="4544568"/>
            <a:ext cx="3557016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CFR  →  prod bugs ÷ items deployed  (trailing 30-day window)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28600" y="4805172"/>
            <a:ext cx="45720" cy="4572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20040" y="4741164"/>
            <a:ext cx="3557016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Baseline  →  12-sprint rolling avg captured before AI enablement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28600" y="5001768"/>
            <a:ext cx="45720" cy="4572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20040" y="4937760"/>
            <a:ext cx="3557016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Outlier filter  →  stories &gt; 3× team median SP auto-excluded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096512" y="1755648"/>
            <a:ext cx="3648456" cy="822960"/>
          </a:xfrm>
          <a:prstGeom prst="rect">
            <a:avLst/>
          </a:prstGeom>
          <a:solidFill>
            <a:srgbClr val="F2F7FF"/>
          </a:solidFill>
          <a:ln w="9525">
            <a:solidFill>
              <a:srgbClr val="06C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096512" y="1755648"/>
            <a:ext cx="3648456" cy="219456"/>
          </a:xfrm>
          <a:prstGeom prst="rect">
            <a:avLst/>
          </a:prstGeom>
          <a:solidFill>
            <a:srgbClr val="06C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187952" y="1792224"/>
            <a:ext cx="353872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STEP 1  —  CALIBRATE  SP RATE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151376" y="2011680"/>
            <a:ext cx="357530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F2937"/>
                </a:solidFill>
              </a:rPr>
              <a:t>SP Rate (days/SP)  =  avg Effort Logged ÷ SP Accepted
Computed from 6-sprint rolling window via Jira time logs.
Typical range: 0.3 – 0.8 days/SP;  recalibrates quarterly.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856732" y="2587751"/>
            <a:ext cx="128016" cy="82296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096512" y="2670048"/>
            <a:ext cx="3648456" cy="822960"/>
          </a:xfrm>
          <a:prstGeom prst="rect">
            <a:avLst/>
          </a:prstGeom>
          <a:solidFill>
            <a:srgbClr val="F2F7FF"/>
          </a:solidFill>
          <a:ln w="9525">
            <a:solidFill>
              <a:srgbClr val="2F7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096512" y="2670048"/>
            <a:ext cx="3648456" cy="219456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187952" y="2706624"/>
            <a:ext cx="353872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STEP 2  —  SP  →  EFFORT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151376" y="2926080"/>
            <a:ext cx="357530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F2937"/>
                </a:solidFill>
              </a:rPr>
              <a:t>Effort (person-days)  =  SP Delivered × SP Rate
Example:  72 SP  ×  0.5 days/SP  =  36 person-days
Represents productive capacity actually consumed.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856732" y="3502151"/>
            <a:ext cx="128016" cy="82296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4096512" y="3584448"/>
            <a:ext cx="3648456" cy="822960"/>
          </a:xfrm>
          <a:prstGeom prst="rect">
            <a:avLst/>
          </a:prstGeom>
          <a:solidFill>
            <a:srgbClr val="F2F7FF"/>
          </a:solidFill>
          <a:ln w="9525">
            <a:solidFill>
              <a:srgbClr val="2E30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4096512" y="3584448"/>
            <a:ext cx="3648456" cy="219456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187952" y="3621024"/>
            <a:ext cx="353872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STEP 3  —  EFFORT  →  COST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151376" y="3840480"/>
            <a:ext cx="357530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F2937"/>
                </a:solidFill>
              </a:rPr>
              <a:t>Cost ($)  =  Effort (days)  ×  Blended Daily Rate
Example:  36 days  ×  $800/day  =  $28,800
Blended rate from Finance/HR feed or manual config.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856732" y="4416552"/>
            <a:ext cx="128016" cy="82296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4096512" y="4498848"/>
            <a:ext cx="3648456" cy="822960"/>
          </a:xfrm>
          <a:prstGeom prst="rect">
            <a:avLst/>
          </a:prstGeom>
          <a:solidFill>
            <a:srgbClr val="F2F7FF"/>
          </a:solidFill>
          <a:ln w="9525">
            <a:solidFill>
              <a:srgbClr val="000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4096512" y="4498848"/>
            <a:ext cx="3648456" cy="219456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187952" y="4535424"/>
            <a:ext cx="353872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STEP 4  —  UNIT ECONOMICS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151376" y="4754880"/>
            <a:ext cx="357530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F2937"/>
                </a:solidFill>
              </a:rPr>
              <a:t>Cost per SP  =  Total Cost  ÷  SP Delivered
Example:  $28,800  ÷  72 SP  =  $400 / Story Point
Track sprint-over-sprint to quantify AI efficiency gain.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096512" y="5449824"/>
            <a:ext cx="3648456" cy="347472"/>
          </a:xfrm>
          <a:prstGeom prst="rect">
            <a:avLst/>
          </a:prstGeom>
          <a:solidFill>
            <a:srgbClr val="FFF8E8"/>
          </a:solidFill>
          <a:ln w="7620">
            <a:solidFill>
              <a:srgbClr val="B45A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151376" y="5513832"/>
            <a:ext cx="35753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B45A09"/>
                </a:solidFill>
              </a:rPr>
              <a:t>All inputs (SP, effort logs, sprint dates) are pulled automatically from Jira / ADO by the STUMP ALM Connector — no manual data entry at any step.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019288" y="1755648"/>
            <a:ext cx="389534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0048"/>
                </a:solidFill>
              </a:rPr>
              <a:t>INPUTS  (Sprint 8  ·  Team Alpha)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982712" y="1956816"/>
            <a:ext cx="3913632" cy="201168"/>
          </a:xfrm>
          <a:prstGeom prst="rect">
            <a:avLst/>
          </a:prstGeom>
          <a:solidFill>
            <a:srgbClr val="EF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037576" y="1984248"/>
            <a:ext cx="164592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0048"/>
                </a:solidFill>
              </a:rPr>
              <a:t>Team size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701784" y="1984248"/>
            <a:ext cx="2176272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6 engineers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982712" y="2176272"/>
            <a:ext cx="3913632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037576" y="2203703"/>
            <a:ext cx="164592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0048"/>
                </a:solidFill>
              </a:rPr>
              <a:t>Sprint length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701784" y="2203703"/>
            <a:ext cx="2176272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10 working days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982712" y="2395728"/>
            <a:ext cx="3913632" cy="201168"/>
          </a:xfrm>
          <a:prstGeom prst="rect">
            <a:avLst/>
          </a:prstGeom>
          <a:solidFill>
            <a:srgbClr val="EF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037576" y="2423160"/>
            <a:ext cx="164592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0048"/>
                </a:solidFill>
              </a:rPr>
              <a:t>Utilisation %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701784" y="2423160"/>
            <a:ext cx="2176272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80%  (focus factor)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982712" y="2615184"/>
            <a:ext cx="3913632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037576" y="2642616"/>
            <a:ext cx="164592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0048"/>
                </a:solidFill>
              </a:rPr>
              <a:t>Capacity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701784" y="2642616"/>
            <a:ext cx="2176272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6 × 10 × 0.8  =  48 person-days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982712" y="2834640"/>
            <a:ext cx="3913632" cy="201168"/>
          </a:xfrm>
          <a:prstGeom prst="rect">
            <a:avLst/>
          </a:prstGeom>
          <a:solidFill>
            <a:srgbClr val="EF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037576" y="2862072"/>
            <a:ext cx="164592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0048"/>
                </a:solidFill>
              </a:rPr>
              <a:t>SP Rate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01784" y="2862072"/>
            <a:ext cx="2176272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0.5 days/SP  (6-sprint calibration)</a:t>
            </a:r>
          </a:p>
        </p:txBody>
      </p:sp>
      <p:sp>
        <p:nvSpPr>
          <p:cNvPr id="89" name="Rectangle 88"/>
          <p:cNvSpPr/>
          <p:nvPr/>
        </p:nvSpPr>
        <p:spPr>
          <a:xfrm>
            <a:off x="7982712" y="3054096"/>
            <a:ext cx="3913632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037576" y="3081527"/>
            <a:ext cx="164592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0048"/>
                </a:solidFill>
              </a:rPr>
              <a:t>Blended rate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701784" y="3081527"/>
            <a:ext cx="2176272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$800 / person-day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982712" y="3273552"/>
            <a:ext cx="3913632" cy="201168"/>
          </a:xfrm>
          <a:prstGeom prst="rect">
            <a:avLst/>
          </a:prstGeom>
          <a:solidFill>
            <a:srgbClr val="EF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8037576" y="3300984"/>
            <a:ext cx="164592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0048"/>
                </a:solidFill>
              </a:rPr>
              <a:t>SP Delivered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9701784" y="3300984"/>
            <a:ext cx="2176272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F2937"/>
                </a:solidFill>
              </a:rPr>
              <a:t>72 SP  (Done + Accepted at close)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019288" y="3602736"/>
            <a:ext cx="389534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57A55"/>
                </a:solidFill>
              </a:rPr>
              <a:t>CALCULATED RESULTS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982712" y="3803904"/>
            <a:ext cx="36576" cy="18288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8055864" y="3831336"/>
            <a:ext cx="1463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F78C4"/>
                </a:solidFill>
              </a:rPr>
              <a:t>Productivity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9555480" y="3831336"/>
            <a:ext cx="234086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F2937"/>
                </a:solidFill>
              </a:rPr>
              <a:t>72 ÷ 48  =  1.5 SP / person-day</a:t>
            </a:r>
          </a:p>
        </p:txBody>
      </p:sp>
      <p:sp>
        <p:nvSpPr>
          <p:cNvPr id="99" name="Rectangle 98"/>
          <p:cNvSpPr/>
          <p:nvPr/>
        </p:nvSpPr>
        <p:spPr>
          <a:xfrm>
            <a:off x="7982712" y="4050791"/>
            <a:ext cx="36576" cy="18288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8055864" y="4078224"/>
            <a:ext cx="1463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F78C4"/>
                </a:solidFill>
              </a:rPr>
              <a:t>Effort used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9555480" y="4078224"/>
            <a:ext cx="234086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F2937"/>
                </a:solidFill>
              </a:rPr>
              <a:t>72 × 0.5  =  36 person-days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982712" y="4297680"/>
            <a:ext cx="36576" cy="182880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8055864" y="4325112"/>
            <a:ext cx="1463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F78C4"/>
                </a:solidFill>
              </a:rPr>
              <a:t>Sprint cost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9555480" y="4325112"/>
            <a:ext cx="234086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F2937"/>
                </a:solidFill>
              </a:rPr>
              <a:t>36 × $800  =  $28,800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7982712" y="4544568"/>
            <a:ext cx="36576" cy="182880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8055864" y="4572000"/>
            <a:ext cx="1463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E308E"/>
                </a:solidFill>
              </a:rPr>
              <a:t>Cost / SP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9555480" y="4572000"/>
            <a:ext cx="234086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F2937"/>
                </a:solidFill>
              </a:rPr>
              <a:t>$28,800 ÷ 72  =  $400 / Story Point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982712" y="4791456"/>
            <a:ext cx="36576" cy="182880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8055864" y="4818888"/>
            <a:ext cx="1463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57A55"/>
                </a:solidFill>
              </a:rPr>
              <a:t>vs Baseline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9555480" y="4818888"/>
            <a:ext cx="234086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F2937"/>
                </a:solidFill>
              </a:rPr>
              <a:t>+20% gain  (prev. 60 SP  @  $500/SP)  ↑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137160" y="6044183"/>
            <a:ext cx="11914632" cy="548640"/>
          </a:xfrm>
          <a:prstGeom prst="rect">
            <a:avLst/>
          </a:prstGeom>
          <a:solidFill>
            <a:srgbClr val="F0F5FF"/>
          </a:solidFill>
          <a:ln w="7620">
            <a:solidFill>
              <a:srgbClr val="C5D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228600" y="6089903"/>
            <a:ext cx="6858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0048"/>
                </a:solidFill>
              </a:rPr>
              <a:t>AUTOMATED DATA COLLECTION PIPELINE  —  Zero Manual Entry  ·  Outlier Detection  ·  Full Audit Trail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329184" y="6281927"/>
            <a:ext cx="2181758" cy="237743"/>
          </a:xfrm>
          <a:prstGeom prst="rect">
            <a:avLst/>
          </a:prstGeom>
          <a:solidFill>
            <a:srgbClr val="000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329184" y="6291071"/>
            <a:ext cx="218175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Jira / ADO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329184" y="6419088"/>
            <a:ext cx="218175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FFFFFF"/>
                </a:solidFill>
              </a:rPr>
              <a:t>Sprint close
trigger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2510942" y="6291071"/>
            <a:ext cx="109728" cy="54864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2657246" y="6281927"/>
            <a:ext cx="2181758" cy="237743"/>
          </a:xfrm>
          <a:prstGeom prst="rect">
            <a:avLst/>
          </a:prstGeom>
          <a:solidFill>
            <a:srgbClr val="2F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2657246" y="6291071"/>
            <a:ext cx="218175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ALM Connector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2657246" y="6419088"/>
            <a:ext cx="218175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FFFFFF"/>
                </a:solidFill>
              </a:rPr>
              <a:t>Webhook +
batch pull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4839004" y="6291071"/>
            <a:ext cx="109728" cy="54864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4985308" y="6281927"/>
            <a:ext cx="2181758" cy="237743"/>
          </a:xfrm>
          <a:prstGeom prst="rect">
            <a:avLst/>
          </a:prstGeom>
          <a:solidFill>
            <a:srgbClr val="06C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4985308" y="6291071"/>
            <a:ext cx="218175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VSM Analyser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4985308" y="6419088"/>
            <a:ext cx="218175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FFFFFF"/>
                </a:solidFill>
              </a:rPr>
              <a:t>Cycle time &amp;
lead time calc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7167067" y="6291071"/>
            <a:ext cx="109728" cy="54864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7313371" y="6281927"/>
            <a:ext cx="2181758" cy="237743"/>
          </a:xfrm>
          <a:prstGeom prst="rect">
            <a:avLst/>
          </a:prstGeom>
          <a:solidFill>
            <a:srgbClr val="2E3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7313371" y="6291071"/>
            <a:ext cx="218175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Metrics Engine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7313371" y="6419088"/>
            <a:ext cx="218175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FFFFFF"/>
                </a:solidFill>
              </a:rPr>
              <a:t>Prod., cost &amp;
trend compute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9495129" y="6291071"/>
            <a:ext cx="109728" cy="54864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9641433" y="6281927"/>
            <a:ext cx="2181758" cy="237743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9641433" y="6291071"/>
            <a:ext cx="218175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Dashboard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9641433" y="6419088"/>
            <a:ext cx="218175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FFFFFF"/>
                </a:solidFill>
              </a:rPr>
              <a:t>Live charts,
alerts &amp; export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4870</Words>
  <Application>Microsoft Macintosh PowerPoint</Application>
  <PresentationFormat>Custom</PresentationFormat>
  <Paragraphs>935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Elangovan, Porkkovan (Cognizant)</cp:lastModifiedBy>
  <cp:revision>2</cp:revision>
  <dcterms:created xsi:type="dcterms:W3CDTF">2013-01-27T09:14:16Z</dcterms:created>
  <dcterms:modified xsi:type="dcterms:W3CDTF">2026-04-20T09:36:00Z</dcterms:modified>
  <cp:category/>
</cp:coreProperties>
</file>