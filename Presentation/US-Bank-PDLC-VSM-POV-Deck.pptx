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37160" cy="5943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Calibri"/>
              </a:rPr>
              <a:t>US BANK — PAYMENTS &amp; TRANSFERS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From Medium DORA Performer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to AI-Driven Delivery Excellence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Team Phoenix · Payments &amp; Transfers · Digital Banking Division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TRANSFORMATION NARRATIVE &amp;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E"/>
                </a:solidFill>
                <a:latin typeface="Calibri"/>
              </a:rPr>
              <a:t>PDLC VSM Platform  ·  LangGraph AI Agents  ·  March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09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DBEAFE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Story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US Bank Team Phoenix — 26-week transformation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148840" cy="43891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2588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1  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8308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42-day lead time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8.1% flow efficiency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28 activities mapped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392 deployments analysed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234440"/>
            <a:ext cx="2148840" cy="43891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32588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2  ASSESS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78308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DORA: Medium Performer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12% change fail rate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2.3-day MTTR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AI-scored with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1234440"/>
            <a:ext cx="2148840" cy="43891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132588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3  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178308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8 critical bottlenecks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#1: CAB + Wed window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#2: PCI-DSS pen-test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AI root-cause mapped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1234440"/>
            <a:ext cx="2148840" cy="43891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32588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4 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78308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Option A: 18d → High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Option B: 10d → Elite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Option C ADLC: 3d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Per-option activities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9800" y="1234440"/>
            <a:ext cx="2148840" cy="43891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132588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5  TRANSFORM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178308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$660K net ROI/yr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7-mo payback (Opt B)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$1.1M/yr (Option C)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Elite DORA in 24mo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PART 1: THE TRANSFORMATION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FDBFF"/>
                </a:solidFill>
                <a:latin typeface="Calibri"/>
              </a:rPr>
              <a:t>A story of structural waste, AI-driven discovery, and three futures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Who Is Team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US Bank · Digital Banking Division · Payments &amp; Transfers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303520" cy="52120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THE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12 engineers | Minneapolis HQ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Product Owner: Jennifer Zhao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Architect: Marcus Thompson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Stack: Java/Spring Boot, React 18, AKS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CI/CD: GitHub Actions + Jira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Monitoring: Datadog + PagerDuty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Compliance: PCI-DSS L1, SOC2 T2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AI Licences: Copilot Enterprise (100 seats,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             34 active — 66 unused)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143000"/>
            <a:ext cx="5852160" cy="5212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664208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→  42-day avg lead time (feature→production)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→  8.1% flow efficiency (91.9% wait time)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→  12% change failure rate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→  2.3-day mean time to restore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→  Weekly deployments vs fintechs: daily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→  Wednesday-only release window (CAB)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→  5.2-day mandatory pen-test gate (PCI-DSS)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→  18h median PR code review wait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→  No AI-assisted incident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Hidden Waste — 91.9% of Your Pipeline Is Queue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4114800" cy="42062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DC2626"/>
                </a:solidFill>
                <a:latin typeface="Calibri"/>
              </a:rPr>
              <a:t>91.9%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918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74151"/>
                </a:solidFill>
                <a:latin typeface="Calibri"/>
              </a:rPr>
              <a:t>of feature lead time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033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  <a:latin typeface="Calibri"/>
              </a:rPr>
              <a:t>NON-VALUE-ADDING WAIT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062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Calibri"/>
              </a:rPr>
              <a:t>730 hours per feature cycle | 59 hours of actual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188720"/>
            <a:ext cx="70866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2344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WHERE THE 671 HOURS OF WAIT COME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Architecture Review Board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1691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2626"/>
                </a:solidFill>
                <a:latin typeface="Calibri"/>
              </a:rPr>
              <a:t>72h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0756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CAB submission + Wednesday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075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2626"/>
                </a:solidFill>
                <a:latin typeface="Calibri"/>
              </a:rPr>
              <a:t>128h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4597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PCI-DSS penetration test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4597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2626"/>
                </a:solidFill>
                <a:latin typeface="Calibri"/>
              </a:rPr>
              <a:t>40h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8437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PR code review 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8437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97706"/>
                </a:solidFill>
                <a:latin typeface="Calibri"/>
              </a:rPr>
              <a:t>18h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278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Sequential test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2278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97706"/>
                </a:solidFill>
                <a:latin typeface="Calibri"/>
              </a:rPr>
              <a:t>28h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611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DBA on-call gap (after-hours)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611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97706"/>
                </a:solidFill>
                <a:latin typeface="Calibri"/>
              </a:rPr>
              <a:t>46h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9959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Quarterly planning / grooming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9959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97706"/>
                </a:solidFill>
                <a:latin typeface="Calibri"/>
              </a:rPr>
              <a:t>72h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3799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SIT environment promotion 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43799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9488"/>
                </a:solidFill>
                <a:latin typeface="Calibri"/>
              </a:rPr>
              <a:t>6h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7640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Build dependency download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7640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9488"/>
                </a:solidFill>
                <a:latin typeface="Calibri"/>
              </a:rPr>
              <a:t>12h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1480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Other approval queues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5148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B5563"/>
                </a:solidFill>
                <a:latin typeface="Calibri"/>
              </a:rPr>
              <a:t>249h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Current State Value Stream Map — Team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Phase-by-phase PT, WT, and Flow Efficiency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5544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07008"/>
            <a:ext cx="14081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1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Backlog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&amp;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103120"/>
            <a:ext cx="1408176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1305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alibri"/>
              </a:rPr>
              <a:t>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317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31h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633472"/>
            <a:ext cx="1408176" cy="47548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651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2626"/>
                </a:solidFill>
                <a:latin typeface="Calibri"/>
              </a:rPr>
              <a:t>WT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8529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72h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3163824"/>
            <a:ext cx="1408176" cy="6400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200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2626"/>
                </a:solidFill>
                <a:latin typeface="Calibri"/>
              </a:rPr>
              <a:t>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4015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30%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1143000"/>
            <a:ext cx="15544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1207008"/>
            <a:ext cx="14081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2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Architecture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&amp; UX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2103120"/>
            <a:ext cx="1408176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93976" y="21305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alibri"/>
              </a:rPr>
              <a:t>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93976" y="23317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36h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2633472"/>
            <a:ext cx="1408176" cy="47548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3976" y="2651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2626"/>
                </a:solidFill>
                <a:latin typeface="Calibri"/>
              </a:rPr>
              <a:t>WT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93976" y="28529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176h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3163824"/>
            <a:ext cx="1408176" cy="6400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3976" y="3200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2626"/>
                </a:solidFill>
                <a:latin typeface="Calibri"/>
              </a:rPr>
              <a:t>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93976" y="34015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17%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1143000"/>
            <a:ext cx="15544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7328" y="1207008"/>
            <a:ext cx="14081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3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Code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Management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67328" y="2103120"/>
            <a:ext cx="1408176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03904" y="21305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alibri"/>
              </a:rPr>
              <a:t>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03904" y="23317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13h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67328" y="2633472"/>
            <a:ext cx="1408176" cy="47548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03904" y="2651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2626"/>
                </a:solidFill>
                <a:latin typeface="Calibri"/>
              </a:rPr>
              <a:t>WT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03904" y="28529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18h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67328" y="3163824"/>
            <a:ext cx="1408176" cy="6400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03904" y="3200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97706"/>
                </a:solidFill>
                <a:latin typeface="Calibri"/>
              </a:rPr>
              <a:t>FE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03904" y="34015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42%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4104" y="1143000"/>
            <a:ext cx="15544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77256" y="1207008"/>
            <a:ext cx="14081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4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Continuous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Integration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77256" y="2103120"/>
            <a:ext cx="1408176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3832" y="21305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alibri"/>
              </a:rPr>
              <a:t>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13832" y="23317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2h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77256" y="2633472"/>
            <a:ext cx="1408176" cy="47548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13832" y="2651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2626"/>
                </a:solidFill>
                <a:latin typeface="Calibri"/>
              </a:rPr>
              <a:t>WT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13832" y="28529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6.5h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77256" y="3163824"/>
            <a:ext cx="1408176" cy="6400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13832" y="3200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97706"/>
                </a:solidFill>
                <a:latin typeface="Calibri"/>
              </a:rPr>
              <a:t>FE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13832" y="34015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24%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14032" y="1143000"/>
            <a:ext cx="15544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87184" y="1207008"/>
            <a:ext cx="14081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5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Continuous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Testing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87184" y="2103120"/>
            <a:ext cx="1408176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0" y="21305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alibri"/>
              </a:rPr>
              <a:t>PT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23317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34h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87184" y="2633472"/>
            <a:ext cx="1408176" cy="47548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23760" y="2651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2626"/>
                </a:solidFill>
                <a:latin typeface="Calibri"/>
              </a:rPr>
              <a:t>WT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28529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88h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87184" y="3163824"/>
            <a:ext cx="1408176" cy="6400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23760" y="3200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97706"/>
                </a:solidFill>
                <a:latin typeface="Calibri"/>
              </a:rPr>
              <a:t>FE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34015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28%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23960" y="1143000"/>
            <a:ext cx="15544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97112" y="1207008"/>
            <a:ext cx="14081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6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Continuous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Delivery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97112" y="2103120"/>
            <a:ext cx="1408176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33688" y="21305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alibri"/>
              </a:rPr>
              <a:t>PT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33688" y="23317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8h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97112" y="2633472"/>
            <a:ext cx="1408176" cy="47548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33688" y="2651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2626"/>
                </a:solidFill>
                <a:latin typeface="Calibri"/>
              </a:rPr>
              <a:t>WT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33688" y="28529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144h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97112" y="3163824"/>
            <a:ext cx="1408176" cy="6400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33688" y="3200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2626"/>
                </a:solidFill>
                <a:latin typeface="Calibri"/>
              </a:rPr>
              <a:t>FE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33688" y="34015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33888" y="1143000"/>
            <a:ext cx="155448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07040" y="1207008"/>
            <a:ext cx="14081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7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Monitoring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&amp; Feedback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607040" y="2103120"/>
            <a:ext cx="1408176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643616" y="21305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alibri"/>
              </a:rPr>
              <a:t>PT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43616" y="23317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6h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607040" y="2633472"/>
            <a:ext cx="1408176" cy="47548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643616" y="2651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2626"/>
                </a:solidFill>
                <a:latin typeface="Calibri"/>
              </a:rPr>
              <a:t>WT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43616" y="28529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96h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607040" y="3163824"/>
            <a:ext cx="1408176" cy="6400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643616" y="3200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2626"/>
                </a:solidFill>
                <a:latin typeface="Calibri"/>
              </a:rPr>
              <a:t>FE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3616" y="34015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166360"/>
            <a:ext cx="3657600" cy="13716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1480" y="52303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TOTAL PROCESS TIME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" y="5532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130 hours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06240" y="5166360"/>
            <a:ext cx="365760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43400" y="52303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TOTAL WAIT TIME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43400" y="5532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600 hours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38160" y="5166360"/>
            <a:ext cx="3749039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75320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FLOW EFFICIENCY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75320" y="5532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8.1%  (target: 40%+)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DORA Assessment — AI Auto-Scored from Source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Evidence-graded scoring with human validation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697480" cy="3200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16152"/>
            <a:ext cx="2478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DEPLOYMENT</a:t>
            </a:r>
          </a:p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FREQUENCY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2D5E"/>
                </a:solidFill>
                <a:latin typeface="Calibri"/>
              </a:rPr>
              <a:t>Once per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50592"/>
            <a:ext cx="214884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9631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880360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151"/>
                </a:solidFill>
                <a:latin typeface="Calibri"/>
              </a:rPr>
              <a:t>CAB gate prevents daily deploy. 47 prod deploys Q4 2025.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43000"/>
            <a:ext cx="2697480" cy="3200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216152"/>
            <a:ext cx="2478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LEAD TIME</a:t>
            </a:r>
          </a:p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FOR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2D5E"/>
                </a:solidFill>
                <a:latin typeface="Calibri"/>
              </a:rPr>
              <a:t>1–2 weeks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450592"/>
            <a:ext cx="214884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49631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2880360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151"/>
                </a:solidFill>
                <a:latin typeface="Calibri"/>
              </a:rPr>
              <a:t>Pen-test gate (PCI-DSS): 5.2 days. Median: 9.4 working days.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43000"/>
            <a:ext cx="2697480" cy="3200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216152"/>
            <a:ext cx="2478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CHANGE</a:t>
            </a:r>
          </a:p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FAILURE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2D5E"/>
                </a:solidFill>
                <a:latin typeface="Calibri"/>
              </a:rPr>
              <a:t>12%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450592"/>
            <a:ext cx="214884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49631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2880360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151"/>
                </a:solidFill>
                <a:latin typeface="Calibri"/>
              </a:rPr>
              <a:t>47/392 deployments failed. DB migration failures = 61%.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143000"/>
            <a:ext cx="2697480" cy="3200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1216152"/>
            <a:ext cx="2478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MEAN TIME</a:t>
            </a:r>
          </a:p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TO RESTORE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2D5E"/>
                </a:solidFill>
                <a:latin typeface="Calibri"/>
              </a:rPr>
              <a:t>1–7 days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2450592"/>
            <a:ext cx="214884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49631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2880360"/>
            <a:ext cx="2478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151"/>
                </a:solidFill>
                <a:latin typeface="Calibri"/>
              </a:rPr>
              <a:t>P50: 2.3 days. DBA off-hours gap. Manual RCA process.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526280"/>
            <a:ext cx="11640312" cy="2057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9028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AI AUTO-SCORE VALIDATION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9377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✓  Every metric scored against 2–3 source documents with specific quoted findings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3036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✓  Confidence % based on source document completeness and data recency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2297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✓  Root cause analysis: structural explanation of why the metric is at this level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1558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✓  Gap analysis: comparison to DORA 2024 benchmark bands for financial 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1081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✓  Human validation: Product Owner reviews, accepts or overrides each score before VSM calibration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8 Critical Bottlenecks — Where the Waste Actually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AI analysis ranked by composite impact: wait time saved × business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669280" cy="120700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618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#1  CAB Gate + Wednesday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45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Phase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128h WT saved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59" y="1261872"/>
            <a:ext cx="86868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12801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669280" cy="120700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618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#2  PCI-DSS Pen-Test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Phase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40h WT saved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27080" y="1261872"/>
            <a:ext cx="86868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27080" y="12801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14600"/>
            <a:ext cx="5669280" cy="120700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5877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#3  Architecture Review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72h WT saved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59" y="2587752"/>
            <a:ext cx="86868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59" y="26060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514600"/>
            <a:ext cx="5669280" cy="120700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5877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#4  PR Code Review Wait (18h)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12h per PR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27080" y="2587752"/>
            <a:ext cx="86868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27080" y="26060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40480"/>
            <a:ext cx="5669280" cy="120700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39136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#5  Sequential Test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28h saved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59" y="3913632"/>
            <a:ext cx="86868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59" y="39319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840480"/>
            <a:ext cx="5669280" cy="120700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9136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#6  CI Build — No Caching (24min)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Phase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14 min/build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27080" y="3913632"/>
            <a:ext cx="86868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27080" y="39319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166359"/>
            <a:ext cx="5669280" cy="120700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79" y="52395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#7  DBA Availability Gap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79" y="56235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Phase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5960" y="56235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24h per inc.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59" y="5239512"/>
            <a:ext cx="86868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59" y="525779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5166359"/>
            <a:ext cx="5669280" cy="120700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52395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#8  Quarterly Planning Cadence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6235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Phase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56235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48h per cycle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27080" y="5239512"/>
            <a:ext cx="86868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27080" y="525779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Two Critical Bottlenecks —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AI-diagnosed from CAB records, CISO policy, and deployment logs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53035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#1  CAB GATE + WEDNESDAY RELEASE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128h wait per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Root cause: Not a technical limitation.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The CAB meets every Tuesday 2pm. All changes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require 48h advance submission + sign-off from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CTO, CISO, and Release Manager.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Result: Wednesday 10pm–2am is the ONLY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deployment window. Every feature waits.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Solution: Risk-tiered deployment model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→ Standard (low-risk): pre-approved, deploy any day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→ Normal: Tuesday CAB as today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→ Emergency: expedited 2-approver path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Impact: Eliminates 128h wait for ~70% of deploys.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669280" cy="5303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#2  PCI-DSS PENETRATION TEST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E"/>
                </a:solidFill>
                <a:latin typeface="Calibri"/>
              </a:rPr>
              <a:t>40h wait per feature (5.2 days)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Root cause: CISO Policy v3.2 mandates external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pen-testing for ALL CDE changes — regardless of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risk level. SecureWorks SLA: 5 business days.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Team Phoenix Payments = 100% PCI-DSS scope.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Every feature goes through this gate.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Solution: AI-powered DAST/SAST in CI pipeline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→ Low-risk changes: AI scanner in &lt;5 min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→ High-risk changes: external pen-test as now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→ Risk classification: automated by AI agent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Impact: Eliminates 5.2-day wait for ~70% of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deployments while maintaining full compliance.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THE THREE FUTURES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FDBFF"/>
                </a:solidFill>
                <a:latin typeface="Calibri"/>
              </a:rPr>
              <a:t>Option A · Option B · Option C (ADLC)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Three Transformation Options — The Choice Is About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All three options measured at activity level with distinct VSM metrics per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240280" cy="6858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88720"/>
            <a:ext cx="2121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143000"/>
            <a:ext cx="1965960" cy="6858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1188720"/>
            <a:ext cx="18470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CURRENT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143000"/>
            <a:ext cx="20574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188720"/>
            <a:ext cx="193852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OPTION A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Augmented PDLC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1143000"/>
            <a:ext cx="20574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2" y="1188720"/>
            <a:ext cx="193852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OPTION B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Automated PDLC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143000"/>
            <a:ext cx="214884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118872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OPTION C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ADLC (AI-Driven)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20240"/>
            <a:ext cx="2240280" cy="42062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1993392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Lead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1920240"/>
            <a:ext cx="19659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9192" y="199339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42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920240"/>
            <a:ext cx="2057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1993392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alibri"/>
              </a:rPr>
              <a:t>18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1920240"/>
            <a:ext cx="2057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1993392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10 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920240"/>
            <a:ext cx="2148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4272" y="1993392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3 days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359152"/>
            <a:ext cx="2240280" cy="42062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432304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Flow Efficiency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2359152"/>
            <a:ext cx="196596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79192" y="2432304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8.1%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359152"/>
            <a:ext cx="205740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2432304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alibri"/>
              </a:rPr>
              <a:t>30%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2359152"/>
            <a:ext cx="205740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85432" y="2432304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44%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359152"/>
            <a:ext cx="214884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34272" y="2432304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62%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798064"/>
            <a:ext cx="2240280" cy="42062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2871216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Process 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2798064"/>
            <a:ext cx="19659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79192" y="2871216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130 hours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2798064"/>
            <a:ext cx="2057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36592" y="2871216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alibri"/>
              </a:rPr>
              <a:t>65 hours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12280" y="2798064"/>
            <a:ext cx="2057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85432" y="2871216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30 hours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2798064"/>
            <a:ext cx="2148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34272" y="2871216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8 hours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236976"/>
            <a:ext cx="2240280" cy="42062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3310128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Wait Time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06040" y="3236976"/>
            <a:ext cx="196596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79192" y="331012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600 hours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3236976"/>
            <a:ext cx="205740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36592" y="3310128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alibri"/>
              </a:rPr>
              <a:t>155 hours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12280" y="3236976"/>
            <a:ext cx="205740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85432" y="3310128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38 hours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3236976"/>
            <a:ext cx="214884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34272" y="3310128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5 hours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675887"/>
            <a:ext cx="2240280" cy="42062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" y="3749039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DORA Band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06040" y="3675887"/>
            <a:ext cx="19659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79192" y="3749039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Medium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3675887"/>
            <a:ext cx="2057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36592" y="3749039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alibri"/>
              </a:rPr>
              <a:t>High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12280" y="3675887"/>
            <a:ext cx="2057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85432" y="3749039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High/Elite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61120" y="3675887"/>
            <a:ext cx="2148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34272" y="3749039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Elite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114800"/>
            <a:ext cx="2240280" cy="42062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7472" y="4187952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Deploy Frequency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06040" y="4114800"/>
            <a:ext cx="196596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79192" y="418795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1×/week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4114800"/>
            <a:ext cx="205740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36592" y="4187952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alibri"/>
              </a:rPr>
              <a:t>3×/week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12280" y="4114800"/>
            <a:ext cx="205740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85432" y="4187952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Daily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61120" y="4114800"/>
            <a:ext cx="214884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34272" y="4187952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Continuous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553712"/>
            <a:ext cx="2240280" cy="42062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47472" y="4626864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Change Fail Rate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06040" y="4553712"/>
            <a:ext cx="19659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79192" y="4626864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12%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63440" y="4553712"/>
            <a:ext cx="2057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36592" y="4626864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alibri"/>
              </a:rPr>
              <a:t>8%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12280" y="4553712"/>
            <a:ext cx="2057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85432" y="4626864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5%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61120" y="4553712"/>
            <a:ext cx="2148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34272" y="4626864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3%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4992624"/>
            <a:ext cx="2240280" cy="42062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7472" y="5065776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MTTR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06040" y="4992624"/>
            <a:ext cx="196596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79192" y="5065776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2.3 days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63440" y="4992624"/>
            <a:ext cx="205740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36592" y="5065776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alibri"/>
              </a:rPr>
              <a:t>18 hours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12280" y="4992624"/>
            <a:ext cx="205740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885432" y="5065776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4 hours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61120" y="4992624"/>
            <a:ext cx="214884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34272" y="5065776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1 hour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5431536"/>
            <a:ext cx="2240280" cy="42062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47472" y="5504688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Agent Activities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606040" y="5431536"/>
            <a:ext cx="19659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79192" y="550468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0 of 28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63440" y="5431536"/>
            <a:ext cx="2057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36592" y="5504688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alibri"/>
              </a:rPr>
              <a:t>8 of 28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12280" y="5431536"/>
            <a:ext cx="2057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85432" y="5504688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18 of 28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61120" y="5431536"/>
            <a:ext cx="2148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034272" y="5504688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26 of 28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5870448"/>
            <a:ext cx="2240280" cy="42062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47472" y="5943600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Est. Net ROI/yr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06040" y="5870448"/>
            <a:ext cx="196596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679192" y="5943600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63440" y="5870448"/>
            <a:ext cx="205740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36592" y="5943600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alibri"/>
              </a:rPr>
              <a:t>$340K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12280" y="5870448"/>
            <a:ext cx="205740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885432" y="5943600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$660K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61120" y="5870448"/>
            <a:ext cx="2148840" cy="42062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034272" y="5943600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$1.1M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Option A — Augmented PDLC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6–12 months | AI augments human effort | DORA: Medium → High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0" cy="53035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WHAT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Phase 1:  Continuous OKR cycles begin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Phase 2:  ARB self-service catalogue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Phase 3:  GitHub Copilot 100% + AI PR review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          PR wait: 18h → 6h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Phase 4:  Build caching + parallel tests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          Build: 24min → 8min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Phase 5:  Automated regression upgrade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          DB rollback scripts automated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Phase 6:  CAB risk-tier model proposed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Phase 7:  Basic alert correlation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143000"/>
            <a:ext cx="3931920" cy="53035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2344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ACTIVITY EXAMPLE: PHASE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1664208"/>
            <a:ext cx="35661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  <a:latin typeface="Calibri"/>
              </a:rPr>
              <a:t>Copilot-assisted coding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719072"/>
            <a:ext cx="109728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17373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4825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6h PT  0h WT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2468880"/>
            <a:ext cx="35661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5237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  <a:latin typeface="Calibri"/>
              </a:rPr>
              <a:t>AI PR description gen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2523744"/>
            <a:ext cx="109728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254203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8529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0.3h PT  0h WT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273552"/>
            <a:ext cx="35661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3284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  <a:latin typeface="Calibri"/>
              </a:rPr>
              <a:t>AI PR pre-review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3328416"/>
            <a:ext cx="109728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334670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6576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0.5h PT  0h WT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4078224"/>
            <a:ext cx="35661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330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  <a:latin typeface="Calibri"/>
              </a:rPr>
              <a:t>Senior engineer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4133087"/>
            <a:ext cx="1097280" cy="20116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415137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HUMAN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46227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2h PT  6h WT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4882896"/>
            <a:ext cx="35661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49377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  <a:latin typeface="Calibri"/>
              </a:rPr>
              <a:t>Merge + conflict check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4937759"/>
            <a:ext cx="109728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495604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26694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0.5h PT  0.5h WT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1143000"/>
            <a:ext cx="3017520" cy="1554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79408" y="1261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Lead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9408" y="15727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2D5E"/>
                </a:solidFill>
                <a:latin typeface="Calibri"/>
              </a:rPr>
              <a:t>18 days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23960" y="2971800"/>
            <a:ext cx="3017520" cy="1554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79408" y="3090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408" y="34015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2D5E"/>
                </a:solidFill>
                <a:latin typeface="Calibri"/>
              </a:rPr>
              <a:t>30%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23960" y="4800600"/>
            <a:ext cx="3017520" cy="1554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79408" y="4919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ROI/yr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9408" y="52303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2D5E"/>
                </a:solidFill>
                <a:latin typeface="Calibri"/>
              </a:rPr>
              <a:t>$340K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Option B — Automated PDLC (Recommended)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12–18 months | AI agents run delivery pipeline | DORA: High/Elite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0" cy="53035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WHAT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Phase 5:  DAST/SAST replaces pen-test gate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          (70% of features skip 5.2-day queue)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          Parallel test execution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          AI-generated test cases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Phase 6:  CAB risk-tier model LIVE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          Deploy any day (low-risk auto-approved)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          Deployment agent: deploy + rollback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Phase 7:  AIOps: auto RCA + runbooks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          MTTR: 2.3 days → 4 hours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          False positives: 18% → &lt;5%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143000"/>
            <a:ext cx="3931920" cy="53035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2344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ACTIVITY EXAMPLE: PHASE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1664208"/>
            <a:ext cx="35661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  <a:latin typeface="Calibri"/>
              </a:rPr>
              <a:t>AI DAST/SAST scanner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719072"/>
            <a:ext cx="109728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17373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4825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0.5h PT  0h WT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2468880"/>
            <a:ext cx="35661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5237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  <a:latin typeface="Calibri"/>
              </a:rPr>
              <a:t>AI regression suite (parallel)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2523744"/>
            <a:ext cx="109728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254203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8529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0.5h PT  0h WT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273552"/>
            <a:ext cx="35661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3284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  <a:latin typeface="Calibri"/>
              </a:rPr>
              <a:t>Performance load test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3328416"/>
            <a:ext cx="109728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334670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6576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0.5h PT  0h WT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4078224"/>
            <a:ext cx="35661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330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  <a:latin typeface="Calibri"/>
              </a:rPr>
              <a:t>AI risk scoring engine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4133087"/>
            <a:ext cx="109728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415137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46227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0.3h PT  0h WT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4882896"/>
            <a:ext cx="35661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49377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  <a:latin typeface="Calibri"/>
              </a:rPr>
              <a:t>Human override (high-risk)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4937759"/>
            <a:ext cx="1097280" cy="2011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495604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OVERSIGHT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26694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0.5h PT  1h WT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1143000"/>
            <a:ext cx="3017520" cy="155448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79408" y="1261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Lead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9408" y="15727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2D5E"/>
                </a:solidFill>
                <a:latin typeface="Calibri"/>
              </a:rPr>
              <a:t>10 days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23960" y="2971800"/>
            <a:ext cx="3017520" cy="155448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79408" y="3090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408" y="34015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9488"/>
                </a:solidFill>
                <a:latin typeface="Calibri"/>
              </a:rPr>
              <a:t>44%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23960" y="4800600"/>
            <a:ext cx="3017520" cy="1554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79408" y="4919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ROI/yr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9408" y="52303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A34A"/>
                </a:solidFill>
                <a:latin typeface="Calibri"/>
              </a:rPr>
              <a:t>$660K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Option C — ADLC: AI-Driven Lifecycle (BMAD Approach)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18–24 months | 2 human roles | 26 of 28 activities agent-driven | Elite DORA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887200" cy="56692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 BMAD Philosophy: Build → Measure → Automate →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990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BEAFE"/>
                </a:solidFill>
                <a:latin typeface="Calibri"/>
              </a:rPr>
              <a:t>Two Human Roles Only: Product Definer (sets intent) + Product Builder (supervises + holds production gate)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1554480" cy="3840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938528"/>
            <a:ext cx="1408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1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Intent &amp;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Outcome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Definition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852928"/>
            <a:ext cx="1408176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871216"/>
            <a:ext cx="14081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Product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Definer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3383280"/>
            <a:ext cx="14081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PT/WT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1h / 0h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1874519"/>
            <a:ext cx="1554480" cy="3840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1938528"/>
            <a:ext cx="1408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2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Autonomous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Architecture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&amp;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2852928"/>
            <a:ext cx="1408176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2871216"/>
            <a:ext cx="14081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Product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Builder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383280"/>
            <a:ext cx="14081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PT/WT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1.5h / 0.5h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4096512"/>
            <a:ext cx="1408176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4114800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🤖 Agent-driven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94176" y="1874519"/>
            <a:ext cx="1554480" cy="3840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1938528"/>
            <a:ext cx="1408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3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Agentic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Code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Generation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7328" y="2852928"/>
            <a:ext cx="1408176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7328" y="2871216"/>
            <a:ext cx="14081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Product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Builder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3383280"/>
            <a:ext cx="14081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PT/WT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2.5h / 0.5h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4096512"/>
            <a:ext cx="1408176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67328" y="4114800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🤖 Agent-driven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4104" y="1874519"/>
            <a:ext cx="1554480" cy="3840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77256" y="1938528"/>
            <a:ext cx="1408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4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Autonomous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Integration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Pipeline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77256" y="2852928"/>
            <a:ext cx="1408176" cy="4754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871216"/>
            <a:ext cx="14081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Automated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7256" y="3383280"/>
            <a:ext cx="14081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PT/WT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0.5h / 0h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77256" y="4096512"/>
            <a:ext cx="1408176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77256" y="4114800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🤖 Agent-driven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14032" y="1874519"/>
            <a:ext cx="1554480" cy="3840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87184" y="1938528"/>
            <a:ext cx="1408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5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Quality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Intelligence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7184" y="2852928"/>
            <a:ext cx="1408176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87184" y="2871216"/>
            <a:ext cx="14081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Product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Builder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87184" y="3383280"/>
            <a:ext cx="14081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PT/WT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1h / 0.5h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87184" y="4096512"/>
            <a:ext cx="1408176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87184" y="4114800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🤖 Agent-driven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23960" y="1874519"/>
            <a:ext cx="1554480" cy="3840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97112" y="1938528"/>
            <a:ext cx="1408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6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Zero-Touch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Delivery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97112" y="2852928"/>
            <a:ext cx="1408176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97112" y="2871216"/>
            <a:ext cx="14081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Product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Builder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97112" y="3383280"/>
            <a:ext cx="14081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PT/WT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0.5h / 1h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97112" y="4096512"/>
            <a:ext cx="1408176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97112" y="4114800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🤖 Agent-driven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33888" y="1874519"/>
            <a:ext cx="1554480" cy="3840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07040" y="1938528"/>
            <a:ext cx="1408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7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AIOps &amp;</a:t>
            </a:r>
          </a:p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Learning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07040" y="2852928"/>
            <a:ext cx="1408176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07040" y="2871216"/>
            <a:ext cx="14081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Escalation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3383280"/>
            <a:ext cx="14081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PT/WT</a:t>
            </a:r>
          </a:p>
          <a:p>
            <a:pPr algn="ctr"/>
            <a:r>
              <a:rPr sz="900" b="1" i="0">
                <a:solidFill>
                  <a:srgbClr val="0F2D5E"/>
                </a:solidFill>
                <a:latin typeface="Calibri"/>
              </a:rPr>
              <a:t>1h / 2.5h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607040" y="4096512"/>
            <a:ext cx="1408176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07040" y="4114800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🤖 Agent-driven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897880"/>
            <a:ext cx="2743200" cy="7772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596188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PT (total)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79" y="61904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Calibri"/>
              </a:rPr>
              <a:t>8 hours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0" y="5897880"/>
            <a:ext cx="2743200" cy="7772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37560" y="596188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WT (total)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7560" y="61904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Calibri"/>
              </a:rPr>
              <a:t>5 hours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5897880"/>
            <a:ext cx="2743200" cy="7772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596188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Lead Time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61904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E"/>
                </a:solidFill>
                <a:latin typeface="Calibri"/>
              </a:rPr>
              <a:t>~3 days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52560" y="5897880"/>
            <a:ext cx="2743200" cy="7772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89720" y="596188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Flow Eff.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89720" y="61904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Calibri"/>
              </a:rPr>
              <a:t>62%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750040" y="5897880"/>
            <a:ext cx="1828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ADLC Deep Dive — Phase 3: Agentic Code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From 13h PT + 18h WT (current) to 2.5h PT + 0.5h WT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0700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CURRENT STATE (Phase 3 — Code Management)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72768"/>
            <a:ext cx="5577840" cy="89611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  <a:latin typeface="Calibri"/>
              </a:rPr>
              <a:t>Feature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0482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2626"/>
                </a:solidFill>
                <a:latin typeface="Calibri"/>
              </a:rPr>
              <a:t>8h PT | 4h WT | Human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60320"/>
            <a:ext cx="5577840" cy="89611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633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  <a:latin typeface="Calibri"/>
              </a:rPr>
              <a:t>Code Review &amp; PR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0358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2626"/>
                </a:solidFill>
                <a:latin typeface="Calibri"/>
              </a:rPr>
              <a:t>4h PT | 18h WT | Human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47872"/>
            <a:ext cx="5577840" cy="89611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36210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  <a:latin typeface="Calibri"/>
              </a:rPr>
              <a:t>Branch Merge &amp; Conflict 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4023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2626"/>
                </a:solidFill>
                <a:latin typeface="Calibri"/>
              </a:rPr>
              <a:t>1h PT | 4h WT | Human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5537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Total: 13h PT + 22h WT = FE 37%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143000"/>
            <a:ext cx="45720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20700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ADLC STATE (Phase 3 — Agentic Code Generation)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572768"/>
            <a:ext cx="5577840" cy="8961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16459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  <a:latin typeface="Calibri"/>
              </a:rPr>
              <a:t>Intent parsing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04825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6A34A"/>
                </a:solidFill>
                <a:latin typeface="Calibri"/>
              </a:rPr>
              <a:t>0.5h PT | 0h WT | 🤖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560320"/>
            <a:ext cx="5577840" cy="8961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6334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  <a:latin typeface="Calibri"/>
              </a:rPr>
              <a:t>Multi-agent code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0358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6A34A"/>
                </a:solidFill>
                <a:latin typeface="Calibri"/>
              </a:rPr>
              <a:t>1.5h PT | 0h WT | 🤖 Agent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547872"/>
            <a:ext cx="5577840" cy="8961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36210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  <a:latin typeface="Calibri"/>
              </a:rPr>
              <a:t>AI peer review &amp; refactor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4023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6A34A"/>
                </a:solidFill>
                <a:latin typeface="Calibri"/>
              </a:rPr>
              <a:t>0.5h PT | 0h WT | 🤖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535424"/>
            <a:ext cx="5577840" cy="8961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6085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  <a:latin typeface="Calibri"/>
              </a:rPr>
              <a:t>PB quality gate (oversight)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50109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6A34A"/>
                </a:solidFill>
                <a:latin typeface="Calibri"/>
              </a:rPr>
              <a:t>0.5h PT | 0.5h WT | 👁 Product Builder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5537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Total: 3h PT + 0.5h WT = FE 86%  (2.4h → 3.5h → DONE)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02920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563EB"/>
                </a:solidFill>
                <a:latin typeface="Calibri"/>
              </a:rPr>
              <a:t>"No PR review queue. No senior engineer availability gate.
From intent to code-ready: 3 hours."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PART 2: THE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FDBFF"/>
                </a:solidFill>
                <a:latin typeface="Calibri"/>
              </a:rPr>
              <a:t>Challenge · Approach · Solution · Results · Learnings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Case Study: Client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US Bank / Team Phoenix — the problem beneath the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486400" cy="53035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THE VISIBLE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✅  47 features shipped in Q4 2025 — best quarter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✅  Sprint velocity trending upward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✅  GitHub Copilot at 34% adoption and growing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✅  Strong engineering team — experienced, motivated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✅  Compliance maintained — zero regulatory incidents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563EB"/>
                </a:solidFill>
                <a:latin typeface="Calibri"/>
              </a:rPr>
              <a:t>"By every internal dashboard, the team looks healthy."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143000"/>
            <a:ext cx="5760720" cy="53035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THE HIDDEN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❌  42-day lead time: 10× slower than elite benchmark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❌  8.1% flow efficiency — 91.9% waste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❌  $8.5M/yr incident cost from 12% change failures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❌  Fintechs deploying 50× more frequently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❌  66 Copilot seats unused — $2,574/mo wasted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❌  Compliance processes protecting Q3 risks in Q4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3035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C2626"/>
                </a:solidFill>
                <a:latin typeface="Calibri"/>
              </a:rPr>
              <a:t>"The dashboards were measuring the wrong things."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Case Study: Approach — The PDLC VSM Platform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AI-powered discovery, scoring, and recommendation in 15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23317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02920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6596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Ingest 26 weeks of Jira cycle time data. Map 28 activities across 7 PDLC phases. No surveys — actual measurements from production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88720"/>
            <a:ext cx="3749039" cy="23317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502920" cy="2331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96596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ASSESS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691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DORA auto-scoring from source documents: Jira reports, GitHub logs, PagerDuty analytics, CISO policy. Human validation layer: PO reviews each score.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3749039" cy="23317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502920" cy="2331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96596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691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Activity-level VSM: process time, wait time, flow efficiency per activity (not just phase). 8.1% FE revealed — invisible to prior tooling.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3749039" cy="23317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03320"/>
            <a:ext cx="502920" cy="2331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480559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947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206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8 bottlenecks ranked by AI. CAB gate and pen-test gate identified as critical. Root causes traced to source documents.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3703320"/>
            <a:ext cx="3749039" cy="23317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3703320"/>
            <a:ext cx="502920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79" y="4480559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7947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206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Three future state options with DISTINCT activities per phase. Option C modelled as ADLC — 7 AI capability domains replace 7 PDLC phases.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703320"/>
            <a:ext cx="3749039" cy="2331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703320"/>
            <a:ext cx="502920" cy="23317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4480559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7947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E"/>
                </a:solidFill>
                <a:latin typeface="Calibri"/>
              </a:rPr>
              <a:t>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4206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Business case + 20-sprint implementation roadmap. Playbook Context enriched with 7 org documents for AI-generated implementation guide.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Case Study: The AI Auto-Score Validation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Every recommendation is grounded in evidence — humans hold accountability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53035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HOW THE AI VALIDATION MODEL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64208"/>
            <a:ext cx="5321808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Step 1: Data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AI agents read source docs: Jira, GitHub, PagerDuty, CISO policy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450592"/>
            <a:ext cx="5321808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5054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Step 2: Score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980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Each DORA metric scored with: suggested value + confidence % + 2–3 source quotes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3236976"/>
            <a:ext cx="5321808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Step 3: Root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5844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Structural explanation: WHY is the metric at this level? Not just what.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4023360"/>
            <a:ext cx="5321808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0782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Step 4: Gap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3708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Comparison to DORA 2024 financial services benchmarks (36,000 practitioners)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4809744"/>
            <a:ext cx="5321808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6460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Step 5: Human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1572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Product Owner reviews source, challenges AI, accepts or overrides each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5596128"/>
            <a:ext cx="5321808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650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Step 6: VSM Calibration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436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DORA-derived wait times applied to VSM phases — grounded in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143000"/>
            <a:ext cx="5577840" cy="53035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123444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EXAMPLE: CHANGE FAILURE RATE SCORE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2512" y="1618488"/>
            <a:ext cx="5349240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6642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AI SUGGESTED VALUE: 12%   (Confidence: 94%)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19456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SOURCE DOCUMENTS: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2542032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• Incident Log Q3–Q4 2025: "47 deployment incidents out of 392 deployments = 12.0% CFR"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182111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• PagerDuty Report 2025: "61% of failures caused by DB migration scripts failing in production"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822191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• SonarQube History: "Coverage below 60% threshold 23 times — correlating with 71% of defects"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48056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ROOT CAUSE: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773168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12% CFR driven by: (1) DB migration failures (29/47 incidents) — no automated rollback scripts. (2) 38% of code untested. (3) 14 SIT/prod config parity gaps.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2512" y="5715000"/>
            <a:ext cx="246888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8064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 ACCEPT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5715000"/>
            <a:ext cx="2606040" cy="5486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16568" y="580644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74151"/>
                </a:solidFill>
                <a:latin typeface="Calibri"/>
              </a:rPr>
              <a:t>✎ OVERRIDE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Case Study: Business Case — Option B (Recommended)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Conservative financial model — excludes strategic and revenue upside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498079" cy="53035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OPTION B FINANCIAL MODEL (ANNUAL)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64208"/>
            <a:ext cx="7168896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Engineering capacity recovered (36% WT reduction)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7190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6A34A"/>
                </a:solidFill>
                <a:latin typeface="Calibri"/>
              </a:rPr>
              <a:t>+$780,000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84832"/>
            <a:ext cx="71688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396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Incident cost reduction (CFR 12%→5%, 33 fewer incidents)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13969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6A34A"/>
                </a:solidFill>
                <a:latin typeface="Calibri"/>
              </a:rPr>
              <a:t>+$630,000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2505456"/>
            <a:ext cx="7168896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560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MTTR improvement (2.3d→4h, reduced customer impact)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5603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6A34A"/>
                </a:solidFill>
                <a:latin typeface="Calibri"/>
              </a:rPr>
              <a:t>+$480,000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2926080"/>
            <a:ext cx="7168896" cy="38404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9809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  <a:latin typeface="Calibri"/>
              </a:rPr>
              <a:t>GROSS ANNUAL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98094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6A34A"/>
                </a:solidFill>
                <a:latin typeface="Calibri"/>
              </a:rPr>
              <a:t>+$1,890,000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3346704"/>
            <a:ext cx="7168896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4015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AI tooling investment (DAST/SAST, AIOps, licences)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4015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C2626"/>
                </a:solidFill>
                <a:latin typeface="Calibri"/>
              </a:rPr>
              <a:t>−$180,000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3767328"/>
            <a:ext cx="71688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82219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Implementation effort (internal sprint capacity)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822191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C2626"/>
                </a:solidFill>
                <a:latin typeface="Calibri"/>
              </a:rPr>
              <a:t>−$180,000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4187952"/>
            <a:ext cx="7168896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2428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Training &amp; change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24281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C2626"/>
                </a:solidFill>
                <a:latin typeface="Calibri"/>
              </a:rPr>
              <a:t>−$90,000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" y="4608576"/>
            <a:ext cx="7168896" cy="38404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663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  <a:latin typeface="Calibri"/>
              </a:rPr>
              <a:t>TOTAL INVESTMENT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6634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C2626"/>
                </a:solidFill>
                <a:latin typeface="Calibri"/>
              </a:rPr>
              <a:t>−$450,000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5029200"/>
            <a:ext cx="7168896" cy="3840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0840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  <a:latin typeface="Calibri"/>
              </a:rPr>
              <a:t>NET ANNUAL BENEFIT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508406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9488"/>
                </a:solidFill>
                <a:latin typeface="Calibri"/>
              </a:rPr>
              <a:t>$660,000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5449824"/>
            <a:ext cx="71688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55046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  <a:latin typeface="Calibri"/>
              </a:rPr>
              <a:t>PAYBACK PERIOD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55046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9488"/>
                </a:solidFill>
                <a:latin typeface="Calibri"/>
              </a:rPr>
              <a:t>7–9 months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" y="5870448"/>
            <a:ext cx="7168896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59253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3-YEAR NPV (8% discount)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592531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9488"/>
                </a:solidFill>
                <a:latin typeface="Calibri"/>
              </a:rPr>
              <a:t>~$1.6M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1143000"/>
            <a:ext cx="3749039" cy="53035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12344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BEYOND THE NUMBERS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1664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Revenue acceleration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19659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4× faster → 4× more experiments/yr. Payment feature first-mover advantage is measurable in customer acquisition.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8529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Compliance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31546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DAST/SAST generates PCI-DSS evidence automatically. Annual attestation effort: weeks → hours.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041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Talent retention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3434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Engineers in high-flow AI environments have measurably higher satisfaction than those in queue-dominated processes.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Risk reduction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5321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56 fewer incidents/yr. Fewer APRA CPS 234 notification triggers. Lower regulatory exposure.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Implementation Roadmap — 20-Sprint Journey to Option B (+ C Path)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Sprint 1–4: Foundation | 5–10: Automation | 11–20: AI-Native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703320" cy="53035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0332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8872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Foundation Layer</a:t>
            </a:r>
          </a:p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Sprints 1–4 (Weeks 1–8)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01952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S1: Copilot 100% activation + AI PR review → PR wait 18h→6h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542032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S2: Build caching + parallel tests → 24min→8min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182112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S3: CAB risk-tier proposal + ARB self-service catalogue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822191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S4: Test coverage sprint (62%→70%), quality gate restored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143000"/>
            <a:ext cx="3703320" cy="53035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143000"/>
            <a:ext cx="3703320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18872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Automation Layer</a:t>
            </a:r>
          </a:p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Sprints 5–10 (Weeks 9–20)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901952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S5: DAST/SAST in CI pipeline; CAB risk-tier model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542032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S6: Playwright migration + parallel execution (suite 2h→40min)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182112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S7: PagerDuty alert correlation (false +ve 18%→&lt;5%)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822191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S8: AIOps runbooks for top-10 incident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462272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S9: Rolling 6-week OKR planning replaces quarterly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5102352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S10: IaC 45%→70%, Oracle→Azure SQL migration begins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143000"/>
            <a:ext cx="3703320" cy="5303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143000"/>
            <a:ext cx="3703320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18872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AI-Native Layer</a:t>
            </a:r>
          </a:p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Sprints 11–20 (Weeks 21–40) — Option C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901952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S11–12: LangGraph agent framework pilot (non-CDE product)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542032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S13–14: Full Option B achieved — DORA benchmarking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182112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S15–16: Code generation agent swarm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822191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S17–18: Deployment agent + Zero-Touch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462272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→ S19–20: Full ADLC state — Elite DORA performance achieved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Case Study: Key Learnings &amp; Applicability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What made this engagement different — and what applies to your organisation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669280" cy="24688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Data-grounded, not hypothesis-led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Every bottleneck and recommendation is traceable to a source document with a quoted finding. Sprint retrospectives independently corroborated the VSM's top 3 bottlenecks — converging AI analysis and human testimony.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669280" cy="246888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Human validation is the accountability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19072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The AI accelerates and informs — it does not replace the human decision. Product Owner reviewed each DORA score against evidence and made the final call. This is the right architecture for regulated environments.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840480"/>
            <a:ext cx="5669280" cy="24688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50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Compliance and transformation are not opposites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70832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PCI-DSS mandates what must be controlled, not how. AI-powered DAST satisfies the control in 5 min for 70% of changes. Intelligent compliance is not regulatory arbitrage — it's applying the right control at the right risk level.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840480"/>
            <a:ext cx="5669280" cy="24688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50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ADLC is a destination, not a disruption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370832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Option C is not a revolution — it is the top of a capability staircase. Each option builds the technical and cultural foundation the next option requires. Teams that skip foundations struggle with Option 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Applicability — The Team Phoenix Patterns Are Not Unique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FDBFF"/>
                </a:solidFill>
                <a:latin typeface="Calibri"/>
              </a:rPr>
              <a:t>These structural bottlenecks appear in every regulated financial services engineering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D5E"/>
                </a:solidFill>
                <a:latin typeface="Calibri"/>
              </a:rPr>
              <a:t>The 4 Universal Patterns of Regulated Financial Services Engineering Waste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5623560" cy="21031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73152" cy="2103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Pattern 1: CAB governance gates designed for quarterly releases operating in a weekly delivery world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The CAB risk-model does not differentiate by change risk — uniform governance for heterogeneous risk creates uniform queues.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5623560" cy="21031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73152" cy="2103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Pattern 2: Compliance frameworks prescribing controls without risk-tiering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Pen-tests, security reviews, and change gates apply equally to high-risk and low-risk changes. AI-assisted risk tiering can solve this without reducing compliance rigour.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77639"/>
            <a:ext cx="5623560" cy="21031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77639"/>
            <a:ext cx="73152" cy="2103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69079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Pattern 3: Shared services silos (DBA, Security, Architecture) at business-hours availability in a continuous delivery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17720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The 2.3-day MTTR is not an engineering failure — it is an organisational design issue. 24/7 AIOps remediates this structurally.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77639"/>
            <a:ext cx="5623560" cy="21031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977639"/>
            <a:ext cx="73152" cy="2103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69079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Pattern 4: AI tool licencing ahead of AI enablement investment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17720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66 Copilot seats unused. Tool adoption is 10% of the value — the other 90% is embedding AI into workflow, training teams, and creating the cultural permission to use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35508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563EB"/>
                </a:solidFill>
                <a:latin typeface="Calibri"/>
              </a:rPr>
              <a:t>"Any financial services team scoring Medium or Low on DORA will find material parallels. The numbers differ. The structural patterns do not."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Calibri"/>
              </a:rPr>
              <a:t>PDLC VSM Platform  ·  US Bank / Team Phoenix  ·  March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Calibri"/>
              </a:rPr>
              <a:t>THE INVITATION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question is no longer whether to transform.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question is which option you start with — and how fast.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80360"/>
            <a:ext cx="338328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443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OPTION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101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6–12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7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BEAFE"/>
                </a:solidFill>
                <a:latin typeface="Calibri"/>
              </a:rPr>
              <a:t>High Performer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880360"/>
            <a:ext cx="338328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9443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OPTION B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3101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12–18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675887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BEAFE"/>
                </a:solidFill>
                <a:latin typeface="Calibri"/>
              </a:rPr>
              <a:t>High/Elite | $660K ROI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880360"/>
            <a:ext cx="3749039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9443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OPTION C — ADLC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3101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18–24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675887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Elite | 3-day lead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3C5FD"/>
                </a:solidFill>
                <a:latin typeface="Calibri"/>
              </a:rPr>
              <a:t>PDLC VSM Platform  ·  US Bank / Team Phoenix  ·  March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