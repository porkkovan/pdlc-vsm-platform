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PDLC = Product Development Lifecycle — end-to-end process from idea to production deployment</a:t>
            </a:r>
          </a:p>
          <a:p>
            <a:r>
              <a:t>• ALM = Application Lifecycle Management — tooling that tracks work items, sprints, and releases</a:t>
            </a:r>
          </a:p>
          <a:p>
            <a:r>
              <a:t>• VSM = Value Stream Mapping — lean technique for visualising and measuring the flow of work</a:t>
            </a:r>
          </a:p>
          <a:p>
            <a:r>
              <a:t>• CI/CD = Continuous Integration / Continuous Deployment — automated build, test, and release pipeline</a:t>
            </a:r>
          </a:p>
          <a:p>
            <a:r>
              <a:t>• API = Application Programming Interface — contract allowing systems to communicate</a:t>
            </a:r>
          </a:p>
          <a:p>
            <a:r>
              <a:t>• LLM = Large Language Model — AI model trained on large text corpora (e.g. GPT-4)</a:t>
            </a:r>
          </a:p>
          <a:p>
            <a:r>
              <a:t>• ADO = Azure DevOps — Microsoft ALM and CI/CD platform</a:t>
            </a:r>
          </a:p>
          <a:p>
            <a:r>
              <a:t>• Option A = Manual / rule-based PDLC with limited AI assistance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PDLC = Product Development Lifecycle</a:t>
            </a:r>
          </a:p>
          <a:p>
            <a:r>
              <a:t>• ALM = Application Lifecycle Management</a:t>
            </a:r>
          </a:p>
          <a:p>
            <a:r>
              <a:t>• VSM = Value Stream Mapping</a:t>
            </a:r>
          </a:p>
          <a:p>
            <a:r>
              <a:t>• CI/CD = Continuous Integration / Continuous Deployment</a:t>
            </a:r>
          </a:p>
          <a:p>
            <a:r>
              <a:t>• API = Application Programming Interface</a:t>
            </a:r>
          </a:p>
          <a:p>
            <a:r>
              <a:t>• LLM = Large Language Model</a:t>
            </a:r>
          </a:p>
          <a:p>
            <a:r>
              <a:t>• ADO = Azure DevOps</a:t>
            </a:r>
          </a:p>
          <a:p>
            <a:r>
              <a:t>• Option B = Augmented PDLC — AI agents assist humans; human override retained at key gates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PDLC = Product Development Lifecycle</a:t>
            </a:r>
          </a:p>
          <a:p>
            <a:r>
              <a:t>• ALM = Application Lifecycle Management</a:t>
            </a:r>
          </a:p>
          <a:p>
            <a:r>
              <a:t>• VSM = Value Stream Mapping</a:t>
            </a:r>
          </a:p>
          <a:p>
            <a:r>
              <a:t>• CI/CD = Continuous Integration / Continuous Deployment</a:t>
            </a:r>
          </a:p>
          <a:p>
            <a:r>
              <a:t>• API = Application Programming Interface</a:t>
            </a:r>
          </a:p>
          <a:p>
            <a:r>
              <a:t>• LLM = Large Language Model</a:t>
            </a:r>
          </a:p>
          <a:p>
            <a:r>
              <a:t>• ADO = Azure DevOps</a:t>
            </a:r>
          </a:p>
          <a:p>
            <a:r>
              <a:t>• LangGraph = Python framework for building stateful multi-agent AI workflows</a:t>
            </a:r>
          </a:p>
          <a:p>
            <a:r>
              <a:t>• Option C = Autonomous PDLC — AI agents own full phases; humans set policy and review exceptions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DORA = DevOps Research &amp; Assessment — industry benchmark programme defining Elite / High / Medium / Low performance bands</a:t>
            </a:r>
          </a:p>
          <a:p>
            <a:r>
              <a:t>• ROI = Return on Investment — financial benefit divided by cost of investment</a:t>
            </a:r>
          </a:p>
          <a:p>
            <a:r>
              <a:t>• ALM = Application Lifecycle Management — tooling that tracks work items, sprints, and releases (e.g. Jira, Azure DevOps)</a:t>
            </a:r>
          </a:p>
          <a:p>
            <a:r>
              <a:t>• WIP = Work in Progress — count of items actively being worked on at any point in time</a:t>
            </a:r>
          </a:p>
          <a:p>
            <a:r>
              <a:t>• CFR = Change Failure Rate — percentage of deployments that cause a production failure requiring rollback or hotfix</a:t>
            </a:r>
          </a:p>
          <a:p>
            <a:r>
              <a:t>• MTTR = Mean Time To Recover — average time from incident detection to full service restoration</a:t>
            </a:r>
          </a:p>
          <a:p>
            <a:r>
              <a:t>• KPI = Key Performance Indicator — quantifiable measure used to evaluate success against objectives</a:t>
            </a:r>
          </a:p>
          <a:p>
            <a:r>
              <a:t>• M1–M11 = Metric slides 1–11 in the STUMP Metrics &amp; Measurement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ALM = Application Lifecycle Management — tooling that tracks work items, sprints, and releases</a:t>
            </a:r>
          </a:p>
          <a:p>
            <a:r>
              <a:t>• ADO = Azure DevOps — Microsoft's ALM and CI/CD platform</a:t>
            </a:r>
          </a:p>
          <a:p>
            <a:r>
              <a:t>• JSON = JavaScript Object Notation — lightweight data-interchange format used in API responses</a:t>
            </a:r>
          </a:p>
          <a:p>
            <a:r>
              <a:t>• PR = Pull Request — a proposed code change submitted for peer review before merging</a:t>
            </a:r>
          </a:p>
          <a:p>
            <a:r>
              <a:t>• APScheduler = Advanced Python Scheduler — Python library for scheduling recurring background jobs</a:t>
            </a:r>
          </a:p>
          <a:p>
            <a:r>
              <a:t>• AI = Artificial Intelligence</a:t>
            </a:r>
          </a:p>
          <a:p>
            <a:r>
              <a:t>• Agent Utilisation Rate = percentage of PDLC phases where an AI agent performed or assisted with work</a:t>
            </a:r>
          </a:p>
          <a:p>
            <a:r>
              <a:t>• AI Acceptance Rate = percentage of AI suggestions that were accepted without modification by developers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VSM = Value Stream Mapping — lean technique for visualising and measuring the flow of work</a:t>
            </a:r>
          </a:p>
          <a:p>
            <a:r>
              <a:t>• PR = Pull Request — a proposed code change submitted for peer review before merging</a:t>
            </a:r>
          </a:p>
          <a:p>
            <a:r>
              <a:t>• API = Application Programming Interface — contract allowing systems to communicate</a:t>
            </a:r>
          </a:p>
          <a:p>
            <a:r>
              <a:t>• FTE = Full-Time Equivalent — measure of workload corresponding to one full-time employee</a:t>
            </a:r>
          </a:p>
          <a:p>
            <a:r>
              <a:t>• Human Override Rate = percentage of AI-generated outputs that a human modified or rejected</a:t>
            </a:r>
          </a:p>
          <a:p>
            <a:r>
              <a:t>• Time Saved per Agent = estimated FTE hours saved per sprint by each AI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GA = General Availability — production release open to all users</a:t>
            </a:r>
          </a:p>
          <a:p>
            <a:r>
              <a:t>• PoC = Proof of Concept — small-scale experiment to validate feasibility before full build</a:t>
            </a:r>
          </a:p>
          <a:p>
            <a:r>
              <a:t>• LangGraph = Python framework for building stateful multi-agent AI workflows</a:t>
            </a:r>
          </a:p>
          <a:p>
            <a:r>
              <a:t>• API = Application Programming Interface</a:t>
            </a:r>
          </a:p>
          <a:p>
            <a:r>
              <a:t>• AI Phase Coverage = percentage of PDLC phases that have at least one active AI agent</a:t>
            </a:r>
          </a:p>
          <a:p>
            <a:r>
              <a:t>• Agent ROI Multiple = ratio of value delivered by AI agents to the cost of running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ALM = Application Lifecycle Management</a:t>
            </a:r>
          </a:p>
          <a:p>
            <a:r>
              <a:t>• ADO = Azure DevOps</a:t>
            </a:r>
          </a:p>
          <a:p>
            <a:r>
              <a:t>• CI/CD = Continuous Integration / Continuous Deployment — automated build, test, and release pipeline</a:t>
            </a:r>
          </a:p>
          <a:p>
            <a:r>
              <a:t>• p50 = 50th percentile (median) — half of observations fall below this value</a:t>
            </a:r>
          </a:p>
          <a:p>
            <a:r>
              <a:t>• p90 = 90th percentile — 90% of observations fall below this value; a common tail-latency benchmark</a:t>
            </a:r>
          </a:p>
          <a:p>
            <a:r>
              <a:t>• DORA bands = Elite / High / Medium / Low performance tiers defined by the DevOps Research &amp; Assessment programme</a:t>
            </a:r>
          </a:p>
          <a:p>
            <a:r>
              <a:t>• Lead Time = total elapsed time from a feature request being raised to it being live in production</a:t>
            </a:r>
          </a:p>
          <a:p>
            <a:r>
              <a:t>• Cycle Time = time from a developer starting work on a task to the code reaching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WIP = Work in Progress — count of items actively in flight</a:t>
            </a:r>
          </a:p>
          <a:p>
            <a:r>
              <a:t>• PT = Processing Time — time actively spent working on an item (value-adding time)</a:t>
            </a:r>
          </a:p>
          <a:p>
            <a:r>
              <a:t>• WT = Wait Time — time an item is queued but not being actively worked on</a:t>
            </a:r>
          </a:p>
          <a:p>
            <a:r>
              <a:t>• FE% = Flow Efficiency percentage — PT ÷ (PT + WT) × 100; measures proportion of time adding value</a:t>
            </a:r>
          </a:p>
          <a:p>
            <a:r>
              <a:t>• DORA = DevOps Research &amp; Assessment</a:t>
            </a:r>
          </a:p>
          <a:p>
            <a:r>
              <a:t>• VSM = Value Stream Mapping</a:t>
            </a:r>
          </a:p>
          <a:p>
            <a:r>
              <a:t>• Flow Efficiency = FE% — lean measure of how much of total lead time is value-adding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CFR = Change Failure Rate — percentage of deployments that cause a production failure requiring rollback or hotfix</a:t>
            </a:r>
          </a:p>
          <a:p>
            <a:r>
              <a:t>• MTTR = Mean Time To Recover — average time from incident detection to full service restoration</a:t>
            </a:r>
          </a:p>
          <a:p>
            <a:r>
              <a:t>• DORA bands = Elite / High / Medium / Low performance tiers</a:t>
            </a:r>
          </a:p>
          <a:p>
            <a:r>
              <a:t>• Deployment Frequency = how often code is successfully released to production (DORA metric)</a:t>
            </a:r>
          </a:p>
          <a:p>
            <a:r>
              <a:t>• Elite band (DORA): Deployment Frequency = on-demand / multiple per day; CFR &lt; 5%; MTTR &lt; 1 hour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ALM = Application Lifecycle Management</a:t>
            </a:r>
          </a:p>
          <a:p>
            <a:r>
              <a:t>• CI/CD = Continuous Integration / Continuous Deployment</a:t>
            </a:r>
          </a:p>
          <a:p>
            <a:r>
              <a:t>• LLM = Large Language Model — AI model trained on large text corpora</a:t>
            </a:r>
          </a:p>
          <a:p>
            <a:r>
              <a:t>• API = Application Programming Interface</a:t>
            </a:r>
          </a:p>
          <a:p>
            <a:r>
              <a:t>• ETL = Extract, Transform, Load — process for moving data between systems</a:t>
            </a:r>
          </a:p>
          <a:p>
            <a:r>
              <a:t>• APScheduler = Advanced Python Scheduler — Python library for scheduling recurring background jobs</a:t>
            </a:r>
          </a:p>
          <a:p>
            <a:r>
              <a:t>• Data Collection Architecture = the system design for capturing, storing, and aggregating metrics from ALM, CI/CD, and AI tool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WIP = Work in Progress — count of items actively in flight</a:t>
            </a:r>
          </a:p>
          <a:p>
            <a:r>
              <a:t>• CFR = Change Failure Rate — percentage of deployments causing a production failure</a:t>
            </a:r>
          </a:p>
          <a:p>
            <a:r>
              <a:t>• MTTR = Mean Time To Recover — time from incident detection to service restoration</a:t>
            </a:r>
          </a:p>
          <a:p>
            <a:r>
              <a:t>• DORA = DevOps Research &amp; Assessment</a:t>
            </a:r>
          </a:p>
          <a:p>
            <a:r>
              <a:t>• ROI = Return on Investment</a:t>
            </a:r>
          </a:p>
          <a:p>
            <a:r>
              <a:t>• FE% = Flow Efficiency percentage — value-adding time ÷ total lead time × 100</a:t>
            </a:r>
          </a:p>
          <a:p>
            <a:r>
              <a:t>• Option A → B → C Progression = staged maturity journey from manual to augmented to autonomous PDLC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RAG status = Red / Amber / Green indicator — a traffic-light health signal (Red = issue, Amber = at risk, Green = on track)</a:t>
            </a:r>
          </a:p>
          <a:p>
            <a:r>
              <a:t>• CFR = Change Failure Rate — percentage of deployments that cause a production failure</a:t>
            </a:r>
          </a:p>
          <a:p>
            <a:r>
              <a:t>• MTTR = Mean Time To Recover — time from incident detection to service restoration</a:t>
            </a:r>
          </a:p>
          <a:p>
            <a:r>
              <a:t>• DORA = DevOps Research &amp; Assessment — industry benchmark programme</a:t>
            </a:r>
          </a:p>
          <a:p>
            <a:r>
              <a:t>• WIP = Work in Progress — count of items actively in flight</a:t>
            </a:r>
          </a:p>
          <a:p>
            <a:r>
              <a:t>• KPI = Key Performance Indicator</a:t>
            </a:r>
          </a:p>
          <a:p/>
          <a:p>
            <a:r>
              <a:t>Note: RAG here means Red/Amber/Green status indicator (not Retrieval-Augmented Generation)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 used in this slide:</a:t>
            </a:r>
          </a:p>
          <a:p>
            <a:r>
              <a:t>• CFR = Change Failure Rate — percentage of deployments that cause a production failure</a:t>
            </a:r>
          </a:p>
          <a:p>
            <a:r>
              <a:t>• SP = Story Points — relative unit of effort estimation used in agile sprints</a:t>
            </a:r>
          </a:p>
          <a:p>
            <a:r>
              <a:t>• FTE = Full-Time Equivalent — measure of workload equivalent to one full-time employee</a:t>
            </a:r>
          </a:p>
          <a:p>
            <a:r>
              <a:t>• Adj. Productivity Index = Adjusted Productivity Index — normalised productivity measure accounting for team size and AI assistance level</a:t>
            </a:r>
          </a:p>
          <a:p>
            <a:r>
              <a:t>• AI = Artificial Intelligence</a:t>
            </a:r>
          </a:p>
          <a:p>
            <a:r>
              <a:t>• PDLC = Product Development Lifecycle</a:t>
            </a:r>
          </a:p>
          <a:p>
            <a:r>
              <a:t>• M11 = Metric slide 11 in the STUMP framework — Productivity Measurement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Abbreviations: ALM = Application Lifecycle Management · p50 = 50th percentile (median) · p90 = 90th percentile · Copilot = GitHub Copilot AI coding assistant · PDLC = Product Development Lifecycle · KLOC = Kilo Lines of Code (1,000 lines) · AVG = Average · SUM = Summation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Abbreviations: SAST = Static Application Security Testing (automated code scan for vulnerabilities before deployment) · DAST = Dynamic Application Security Testing (scan of running application) · KLOC = Kilo Lines of Code (1,000 lines of source code) · LOC = Lines of Code · SonarQube / Checkmarx / Snyk = SAST tooling vendors · CFR = Change Failure Rate · PR = Pull Request · AI =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Abbreviations: KPI = Key Performance Indicator · ROI = Return on Investment · CFR = Change Failure Rate · MTTR = Mean Time To Recover · DORA = DevOps Research &amp; Assessment · ALM = Application Lifecycle Management · SAST = Static Application Security Testing · KLOC = Kilo Lines of Code · FE% = Flow Efficiency percentage · WIP = Work in Progress · p50/p90 = 50th/90th percentile · SP = Story Points · FTE = Full-Time Equivalent · AI = Artificial Intelligence · PDLC = Product Development Lifecycle · Copilot = GitHub Copilot AI coding assistant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36576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PDLC System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19456"/>
            <a:ext cx="6400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BBE6"/>
                </a:solidFill>
              </a:rPr>
              <a:t>Personas  ·  PDLC Activities  ·  AI Systems  ·  Target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887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PDLC System Landscape  |  Generated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5760"/>
            <a:ext cx="12188952" cy="237744"/>
          </a:xfrm>
          <a:prstGeom prst="rect">
            <a:avLst/>
          </a:prstGeom>
          <a:solidFill>
            <a:srgbClr val="00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40233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Option A  —  Augmented Human  (AI as Assistants &amp; Co-Pilots)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</a:rPr>
              <a:t>16 AI assistants support each persona  ·  Human remains the primary actor in every phase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603504"/>
            <a:ext cx="111831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" y="603504"/>
            <a:ext cx="749808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67665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2BBE6"/>
                </a:solidFill>
              </a:rPr>
              <a:t>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603504"/>
            <a:ext cx="15883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Ph1  Discovery &amp;
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4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6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Ph2  Architecture
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10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33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Ph3 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97624" y="603504"/>
            <a:ext cx="1588312" cy="292608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9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Ph4  Build &amp;
CI/CD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42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65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Ph5  Test &amp;
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08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3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Ph6  Release &amp;
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7424" y="603504"/>
            <a:ext cx="1588312" cy="292608"/>
          </a:xfrm>
          <a:prstGeom prst="rect">
            <a:avLst/>
          </a:prstGeom>
          <a:solidFill>
            <a:srgbClr val="04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9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Ph7  Operate &amp;
Monitor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" y="896112"/>
            <a:ext cx="11932920" cy="932688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84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910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976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042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08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7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" y="896112"/>
            <a:ext cx="749808" cy="93268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" y="932688"/>
            <a:ext cx="6949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PERSONAS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Requirements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1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Sprint 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8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48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85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Designer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85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UI/UX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48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48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85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85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Sign-off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50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550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916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916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16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616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982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82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82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682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48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Validates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82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682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48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48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Acceptance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74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74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11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1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Deploys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4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74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11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11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Approval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81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81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18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18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Compliance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1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81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18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18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On-Call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" y="1828800"/>
            <a:ext cx="11932920" cy="804672"/>
          </a:xfrm>
          <a:prstGeom prst="rect">
            <a:avLst/>
          </a:prstGeom>
          <a:solidFill>
            <a:srgbClr val="F0F4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84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910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6976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042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9108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17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8016" y="1828800"/>
            <a:ext cx="749808" cy="804672"/>
          </a:xfrm>
          <a:prstGeom prst="rect">
            <a:avLst/>
          </a:prstGeom>
          <a:solidFill>
            <a:srgbClr val="1D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592" y="1865376"/>
            <a:ext cx="694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PDLC
ACTIVITIES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0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3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Definition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3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Backlog Grooming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0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3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Sprint Planning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6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39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6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39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UI/UX Wireframes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6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39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Tech Spikes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733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464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Coding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733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2464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Review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733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464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 Management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9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530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Build Automation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9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530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Unit Testing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799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8530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Quality Scan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865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4596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Integration Testing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3865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596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UAT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865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4596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Regression Testing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3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66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Release Gate Review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93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066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Deployment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93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66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Change Approval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99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672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Monitoring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99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672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Incident Response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99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672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Compliance Review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8016" y="2633472"/>
            <a:ext cx="11932920" cy="182880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484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0910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6976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3042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9108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517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28016" y="2633472"/>
            <a:ext cx="749808" cy="18288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64592" y="2670048"/>
            <a:ext cx="694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
SYSTEMS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18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418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0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8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Backlog Assistant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41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418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60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8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USB Docs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5484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548432" y="2688336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566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85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Figma AI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5484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548432" y="3182112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5667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850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UX Design Coder MCP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1550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1550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1733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916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Code Review Asst.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550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1550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1733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916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Prompt Library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1550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155032" y="3675888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1733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916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DevBridge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616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761632" y="2688336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7799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982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PipelineIQ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3682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3682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3865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048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QA Suite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682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368232" y="3182112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3865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4048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Smart Tester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682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368232" y="3675888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3865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4048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Playwright MCP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9748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974832" y="2688336"/>
            <a:ext cx="1478584" cy="14630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993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PoC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011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ConsoleBot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974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974832" y="3182112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993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011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RenovateBot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5814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581432" y="2688336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599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618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Risk Assistant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8016" y="4462272"/>
            <a:ext cx="11932920" cy="749808"/>
          </a:xfrm>
          <a:prstGeom prst="rect">
            <a:avLst/>
          </a:prstGeom>
          <a:solidFill>
            <a:srgbClr val="F8F8FC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2484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0910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976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3042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9108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517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28016" y="4462272"/>
            <a:ext cx="749808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64592" y="449884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TARGET
SYSTEMS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41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96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Jira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41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96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Confluence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548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603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Figma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548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603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ShieldDocs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1550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2098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GitLab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1550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2098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 UI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7616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8164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PipelineCli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616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8164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DevContainers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3682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4230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PractiTest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3682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4230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BrowserStack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974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029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AppSec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974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029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CloudBees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0581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0636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Archer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581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636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Risk Database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28016" y="5248656"/>
            <a:ext cx="11932920" cy="502920"/>
          </a:xfrm>
          <a:prstGeom prst="rect">
            <a:avLst/>
          </a:prstGeom>
          <a:solidFill>
            <a:srgbClr val="F8F9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01168" y="529437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PLATFORMS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8813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8813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16128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6128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GPT, Claude, Gemini · MCP · Agents · Skills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39165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39165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46480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Azure Open AI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6480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 · Services: Azure AI Search, AI Foundry, LangChain, MCP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28016" y="5797296"/>
            <a:ext cx="11932920" cy="219456"/>
          </a:xfrm>
          <a:prstGeom prst="rect">
            <a:avLst/>
          </a:prstGeom>
          <a:solidFill>
            <a:srgbClr val="F8F9FF"/>
          </a:solidFill>
          <a:ln w="508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1168" y="584301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LEGEND: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77824" y="5843016"/>
            <a:ext cx="365760" cy="12801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29844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GA = Generally Available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3255264" y="5843016"/>
            <a:ext cx="365760" cy="12801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367588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Pilot = Pilot Stage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5632704" y="5843016"/>
            <a:ext cx="365760" cy="128016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05332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PoC = Proof of Concept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82880" y="666597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2BBE6"/>
                </a:solidFill>
              </a:rPr>
              <a:t>© 2026 Cognizant  ·  US Bank PDLC AI Transformation  ·  Confidential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515600" y="6665976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STUMP Platform  ·  Option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36576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PDLC System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19456"/>
            <a:ext cx="6400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BBE6"/>
                </a:solidFill>
              </a:rPr>
              <a:t>Personas  ·  PDLC Activities  ·  AI Systems  ·  Target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887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PDLC System Landscape  |  Generated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5760"/>
            <a:ext cx="12188952" cy="23774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40233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Option B  —  Hybrid  (Selective Autonomous Agents)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</a:rPr>
              <a:t>12 agents independently deliver key phase outputs  ·  Humans focus on design, decisions &amp; exceptions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603504"/>
            <a:ext cx="111831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" y="603504"/>
            <a:ext cx="749808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67665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2BBE6"/>
                </a:solidFill>
              </a:rPr>
              <a:t>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603504"/>
            <a:ext cx="15883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Ph1  Discovery &amp;
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4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6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Ph2  Architecture
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10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33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Ph3 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97624" y="603504"/>
            <a:ext cx="1588312" cy="292608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9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Ph4  Build &amp;
CI/CD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42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65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Ph5  Test &amp;
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08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3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Ph6  Release &amp;
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7424" y="603504"/>
            <a:ext cx="1588312" cy="292608"/>
          </a:xfrm>
          <a:prstGeom prst="rect">
            <a:avLst/>
          </a:prstGeom>
          <a:solidFill>
            <a:srgbClr val="04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9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Ph7  Operate &amp;
Monitor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" y="896112"/>
            <a:ext cx="11932920" cy="932688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84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910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976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042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08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7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" y="896112"/>
            <a:ext cx="749808" cy="93268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" y="932688"/>
            <a:ext cx="6949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PERSONAS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Requirements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1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Sprint 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8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48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85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Designer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85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UI/UX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48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48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85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85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Sign-off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50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550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916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916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16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616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982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82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82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682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48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Validates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82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682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48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48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Acceptance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74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74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11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1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Deploys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4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74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11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11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Approval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81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81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18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18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Compliance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1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81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18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18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On-Call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" y="1828800"/>
            <a:ext cx="11932920" cy="804672"/>
          </a:xfrm>
          <a:prstGeom prst="rect">
            <a:avLst/>
          </a:prstGeom>
          <a:solidFill>
            <a:srgbClr val="F0F4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84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910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6976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042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9108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17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8016" y="1828800"/>
            <a:ext cx="749808" cy="804672"/>
          </a:xfrm>
          <a:prstGeom prst="rect">
            <a:avLst/>
          </a:prstGeom>
          <a:solidFill>
            <a:srgbClr val="1D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592" y="1865376"/>
            <a:ext cx="694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PDLC
ACTIVITIES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0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3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Definition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3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Backlog Grooming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0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3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Sprint Planning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6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39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6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39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UI/UX Wireframes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6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39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Tech Spikes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733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464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Coding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733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2464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Review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733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464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 Management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9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530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Build Automation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9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530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Unit Testing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799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8530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Quality Scan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865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4596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Integration Testing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3865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596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UAT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865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4596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Regression Testing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3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66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Release Gate Review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93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066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Deployment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93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66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Change Approval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99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672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Monitoring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99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672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Incident Response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99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672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Compliance Review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8016" y="2633472"/>
            <a:ext cx="11932920" cy="1828800"/>
          </a:xfrm>
          <a:prstGeom prst="rect">
            <a:avLst/>
          </a:prstGeom>
          <a:solidFill>
            <a:srgbClr val="ECFDF3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484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0910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6976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3042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9108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517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28016" y="2633472"/>
            <a:ext cx="749808" cy="1828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64592" y="2670048"/>
            <a:ext cx="694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
SYSTEMS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18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418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0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8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Smart Backlog Agent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41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41832" y="3182112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60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8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USB Docs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5484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5484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566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85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UX Design Agent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548432" y="3182112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5484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5667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850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Design Review Agent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1550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1550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1733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916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CodeGen Agent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55032" y="3182112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1550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1733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916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Code Review Agent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1550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155032" y="3675888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1733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916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Prompt Library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616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7616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7799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982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Pipeline Agent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3682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3682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3865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048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QA Orchestrator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68232" y="3182112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3682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3865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4048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Playwright Agent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682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368232" y="3675888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3865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4048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Smart Tester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9748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9748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993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011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Release Manager Agent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974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974832" y="3182112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993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011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RenovateBot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5814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5814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599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618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Risk &amp; Compliance Agt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8016" y="4462272"/>
            <a:ext cx="11932920" cy="749808"/>
          </a:xfrm>
          <a:prstGeom prst="rect">
            <a:avLst/>
          </a:prstGeom>
          <a:solidFill>
            <a:srgbClr val="F8F8FC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2484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0910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976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3042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9108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517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28016" y="4462272"/>
            <a:ext cx="749808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64592" y="449884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TARGET
SYSTEMS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41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96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Jira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41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96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Confluence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548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603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Figma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548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603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ShieldDocs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1550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2098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GitLab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1550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2098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 UI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7616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8164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PipelineCli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616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8164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DevContainers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3682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4230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PractiTest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3682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4230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BrowserStack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974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029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AppSec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974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029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CloudBees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0581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0636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Archer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581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636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Risk Database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28016" y="5248656"/>
            <a:ext cx="11932920" cy="502920"/>
          </a:xfrm>
          <a:prstGeom prst="rect">
            <a:avLst/>
          </a:prstGeom>
          <a:solidFill>
            <a:srgbClr val="F8F9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01168" y="529437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PLATFORMS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8813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8813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16128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6128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GPT, Claude, Gemini · MCP · Agents · Skills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39165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39165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46480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Azure Open AI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6480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 · Services: Azure AI Search, AI Foundry, LangChain, MCP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28016" y="5797296"/>
            <a:ext cx="11932920" cy="219456"/>
          </a:xfrm>
          <a:prstGeom prst="rect">
            <a:avLst/>
          </a:prstGeom>
          <a:solidFill>
            <a:srgbClr val="F8F9FF"/>
          </a:solidFill>
          <a:ln w="508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1168" y="584301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LEGEND: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77824" y="5843016"/>
            <a:ext cx="365760" cy="12801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29844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AUTO = Autonomous Agent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3255264" y="5843016"/>
            <a:ext cx="365760" cy="12801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367588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ASSIST = Co-Pilot / Assist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82880" y="666597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2BBE6"/>
                </a:solidFill>
              </a:rPr>
              <a:t>© 2026 Cognizant  ·  US Bank PDLC AI Transformation  ·  Confidential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515600" y="6665976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STUMP Platform  ·  Option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36576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PDLC System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19456"/>
            <a:ext cx="6400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BBE6"/>
                </a:solidFill>
              </a:rPr>
              <a:t>Personas  ·  PDLC Activities  ·  AI Systems  ·  Target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887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PDLC System Landscape  |  Generated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5760"/>
            <a:ext cx="12188952" cy="237744"/>
          </a:xfrm>
          <a:prstGeom prst="rect">
            <a:avLst/>
          </a:prstGeom>
          <a:solidFill>
            <a:srgbClr val="035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40233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Option C  —  AI-First  (Orchestrated Agent Pipeline)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</a:rPr>
              <a:t>22 agents orchestrate full PDLC end-to-end  ·  Humans oversee, review and approve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603504"/>
            <a:ext cx="111831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" y="603504"/>
            <a:ext cx="749808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67665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2BBE6"/>
                </a:solidFill>
              </a:rPr>
              <a:t>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603504"/>
            <a:ext cx="15883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Ph1  Discovery &amp;
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4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6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Ph2  Architecture
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10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33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Ph3 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97624" y="603504"/>
            <a:ext cx="1588312" cy="292608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9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Ph4  Build &amp;
CI/CD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42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65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Ph5  Test &amp;
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08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3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Ph6  Release &amp;
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7424" y="603504"/>
            <a:ext cx="1588312" cy="292608"/>
          </a:xfrm>
          <a:prstGeom prst="rect">
            <a:avLst/>
          </a:prstGeom>
          <a:solidFill>
            <a:srgbClr val="04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9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Ph7  Operate &amp;
Monitor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" y="896112"/>
            <a:ext cx="11932920" cy="932688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84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910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976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042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08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7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" y="896112"/>
            <a:ext cx="749808" cy="93268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" y="932688"/>
            <a:ext cx="6949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PERSONAS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Requirements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1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Sprint 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8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48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85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Designer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85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UI/UX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48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48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85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85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Sign-off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50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550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916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916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16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616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982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82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82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682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48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Validates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82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682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48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48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Acceptance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74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74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11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1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Deploys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4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74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11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11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Approval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81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81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18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18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Compliance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1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81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18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18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On-Call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" y="1828800"/>
            <a:ext cx="11932920" cy="804672"/>
          </a:xfrm>
          <a:prstGeom prst="rect">
            <a:avLst/>
          </a:prstGeom>
          <a:solidFill>
            <a:srgbClr val="F0F4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84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910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6976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042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9108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17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8016" y="1828800"/>
            <a:ext cx="749808" cy="804672"/>
          </a:xfrm>
          <a:prstGeom prst="rect">
            <a:avLst/>
          </a:prstGeom>
          <a:solidFill>
            <a:srgbClr val="1D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592" y="1865376"/>
            <a:ext cx="694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PDLC
ACTIVITIES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0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3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Definition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3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Backlog Grooming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0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3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Sprint Planning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6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39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6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39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UI/UX Wireframes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6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39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Tech Spikes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733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464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Coding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733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2464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Review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733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464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 Management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9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530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Build Automation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9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530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Unit Testing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799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8530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Quality Scan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865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4596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Integration Testing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3865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596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UAT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865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4596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Regression Testing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3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66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Release Gate Review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93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066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Deployment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93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66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Change Approval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99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672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Monitoring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99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672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Incident Response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99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672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Compliance Review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8016" y="2633472"/>
            <a:ext cx="11932920" cy="1828800"/>
          </a:xfrm>
          <a:prstGeom prst="rect">
            <a:avLst/>
          </a:prstGeom>
          <a:solidFill>
            <a:srgbClr val="F3F0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484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0910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6976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3042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9108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517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28016" y="2633472"/>
            <a:ext cx="749808" cy="18288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64592" y="2670048"/>
            <a:ext cx="694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
SYSTEMS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77824" y="2633472"/>
            <a:ext cx="11183112" cy="201168"/>
          </a:xfrm>
          <a:prstGeom prst="rect">
            <a:avLst/>
          </a:prstGeom>
          <a:solidFill>
            <a:srgbClr val="F9F0FF"/>
          </a:solidFill>
          <a:ln w="6350">
            <a:solidFill>
              <a:srgbClr val="2E3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9264" y="2670048"/>
            <a:ext cx="11036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E308E"/>
                </a:solidFill>
              </a:rPr>
              <a:t>👤  Human Role:  OVERSEE  ·  REVIEW  ·  APPROVE  only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418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418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601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84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Discovery Agent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418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418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01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84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Backlog Agent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418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418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601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784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Sprint Agent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5484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5484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5667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5850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Architecture Agent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5484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5484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5667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5850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UI/UX Agent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5484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5484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5667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5850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Design Review Agent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1550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1550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1733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1916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Code Generator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1550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1550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1733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1916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Code Reviewer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1550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1550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1733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1916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Tech Debt Agent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7616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7616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7799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7982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Build Agent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7616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7616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57799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7982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Test Runner Agent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7616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7616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7799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7982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Quality Gate Agent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3682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3682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3865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4048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QA Orchestrator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3682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3682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3865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4048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UAT Agent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3682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3682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3865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4048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Security Scanner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9748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9748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9931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0114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Release Gate Agent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9748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9748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9931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0114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Deploy Agent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9748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9748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9931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0114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Rollback Agent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5814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5814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5997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6180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Monitor Agent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5814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5814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05997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6180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Incident Triage Agt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5814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5814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5997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6180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Compliance Agent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4478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4478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0544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0544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6610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6610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2676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72676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88742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8742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4808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4808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28016" y="4462272"/>
            <a:ext cx="11932920" cy="749808"/>
          </a:xfrm>
          <a:prstGeom prst="rect">
            <a:avLst/>
          </a:prstGeom>
          <a:solidFill>
            <a:srgbClr val="F8F8FC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484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0910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6976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3042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9108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517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28016" y="4462272"/>
            <a:ext cx="749808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64592" y="449884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TARGET
SYSTEMS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41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96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Jira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41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96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Confluence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548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603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Figma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548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603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ShieldDocs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41550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42098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GitLab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41550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42098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 UI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7616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8164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PipelineCli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57616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8164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DevContainers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3682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74230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PractiTest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73682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74230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BrowserStack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8974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9029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AppSec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974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029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CloudBees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0581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0636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Archer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0581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0636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Risk Database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28016" y="5248656"/>
            <a:ext cx="11932920" cy="502920"/>
          </a:xfrm>
          <a:prstGeom prst="rect">
            <a:avLst/>
          </a:prstGeom>
          <a:solidFill>
            <a:srgbClr val="F8F9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201168" y="529437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PLATFORMS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08813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8813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16128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6128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GPT, Claude, Gemini · MCP · Agents · Skills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639165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639165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46480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Azure Open AI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46480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 · Services: Azure AI Search, AI Foundry, LangChain, MCP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28016" y="5797296"/>
            <a:ext cx="11932920" cy="219456"/>
          </a:xfrm>
          <a:prstGeom prst="rect">
            <a:avLst/>
          </a:prstGeom>
          <a:solidFill>
            <a:srgbClr val="F8F9FF"/>
          </a:solidFill>
          <a:ln w="508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201168" y="584301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LEGEND: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77824" y="5843016"/>
            <a:ext cx="365760" cy="12801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29844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AGENT = Autonomous — Orchestrated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255264" y="5843016"/>
            <a:ext cx="365760" cy="12801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367588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→ = Inter-agent handoff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82880" y="666597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2BBE6"/>
                </a:solidFill>
              </a:rPr>
              <a:t>© 2026 Cognizant  ·  US Bank PDLC AI Transformation  ·  Confidential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515600" y="6665976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STUMP Platform  ·  Option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Metrics &amp; Measurement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Two perspectives — AI Adoption + PDLC Performance — tracked from Option A through Option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005840"/>
            <a:ext cx="5870448" cy="5376672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005840"/>
            <a:ext cx="5870448" cy="34747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Perspective 1 — AI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How deeply and effectively are AI assistants/agents being used?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1609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Measures whether humans are actually using and trusting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188366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" y="1883664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4767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Agent Utilisation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226771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" y="2267712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3172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AI Acceptance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65176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2651760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7157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Human Override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035808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" y="3035808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09981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Time Saved per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3419856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3419856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48386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Phase Coverage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380390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" y="3803904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8679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Agent Throughput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418795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" y="4187952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2519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AI-Assisted PR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457200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4572000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63600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ROI per Agent Deployed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005840"/>
            <a:ext cx="5870448" cy="5376672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005840"/>
            <a:ext cx="5870448" cy="34747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Perspective 2 — PDLC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Is AI improving delivery speed, quality and flow?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1609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Measures whether AI is actually moving the needle on engineering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7648" y="188366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7648" y="1883664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194767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Lead Time (idea → production)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226771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27648" y="2267712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233172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Cycle Time (start → deploy)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265176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27648" y="2651760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27157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Flow Efficiency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3035808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27648" y="3035808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309981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Work in Progress (WIP)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3419856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27648" y="3419856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48386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Deployment Frequency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27648" y="380390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7648" y="3803904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38679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Change Failure Rate (CFR)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7648" y="418795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27648" y="4187952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42519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Mean Time to Recovery (MTTR)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27648" y="457200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7648" y="4572000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463600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Throughput (items/sprint)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6400800"/>
            <a:ext cx="11823192" cy="20116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" y="641908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Cadence: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" y="641908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Daily automated collection  ·  Weekly aggregation  ·  Sprint review  ·  Monthly executive report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14416" y="641908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Tools: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641908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Jira  ·  GitHub  ·  CI/CD pipeline  ·  Agent telemetry  ·  STUMP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Agent Utilisation Rate  ·  AI Acceptance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Utilisation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PDLC activities where an AI agent/assistant was actively involved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(Activities with AI involvement ÷ Total PDLC activities)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Work item count per phase from ALM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 agent execution logs per activity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Phase-activity mapping 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Sprint/release boundary timestamps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Instrument agent service to log each invocation with phase_id + activity_id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Pull total work-item count from Jira/ADO per sprint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in STUMP AnalysisRun.agents_run JSON per execution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Aggregate weekly via APScheduler pipeline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SUM(ai_invocations per phase) / SUM(total_activities)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bar — AI-handled vs manual per phase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&lt; 30 % in any active phase triggers low-adoption warning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Review: Sprint retrospective scorecard widget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30–50 %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60–75 %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85–95 %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Agent Logs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Acceptance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AI-generated outputs accepted or merged by humans without major revision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(AI outputs accepted as-is or minor edits ÷ Total AI outputs generated) × 100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 merge status and review comments from GitHub/GitLab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 suggestion logs from Copilot / LLM APIs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Code review tool delta metrics (lines changed post-AI)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Acceptance event from agent feedback endpoint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webhook on PR merge — tag PRs with ai_assisted label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Compare diff size before/after AI suggestion acceptance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service records accept/reject events in ActivityMetric table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Weekly rollup via STUMP /api/v1/accuracy endpoint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COUNT(accepted_PRs with ai_label) / COUNT(all ai_PRs) × 100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Trend line per agent over rolling 4 sprints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Acceptance rate &lt; 60 % triggers quality review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Per-agent scorecard on AI Agents page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55–70 %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70–85 %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88–95 %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GitHub/GitLab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16468" y="6217920"/>
            <a:ext cx="1193292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53044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Copilot API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573768" y="6217920"/>
            <a:ext cx="1042415" cy="17373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10344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LLM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Human Override Rate  ·  Time Saved per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Human Override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AI decisions / suggestions that humans reversed or rejected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(Human overrides of AI output ÷ Total AI decisions made)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Override / rejection events from code review tooling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Playbook action items marked 'overridden' by team leads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output revision history from STUMP analysis runs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Manual correction logs from VSM Editor overrides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 every override event in AssessmentActionItem.status = 'Overridden'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Track VSMSnapshot.overrides JSON for manual corrections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label ai_overridden applied by reviewers in PR comments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/api/v1/accuracy feedback form captures override reason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COUNT(override_events) / COUNT(ai_decisions)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Heatmap by phase — which phases have highest override rates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Override rate &gt; 30 % in any phase → retrain / recalibrate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Accuracy &amp; RAG page override breakdown 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&lt; 35 %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&lt; 20 %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&lt; 10 %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941832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886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5409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9067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Editor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Time Saved per Agent (hours/sprint)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Actual engineering hours saved per AI agent per sprint vs. manual baseline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(Manual effort baseline hrs − Actual effort with AI hrs) per sprint, per agent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Story point / time estimates before AI from Jira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Actual time-logged data (Jira worklogs or time-tracking tool)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Per-phase manual benchmark (from initial VSM baseline run)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 velocity data — story points completed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Establish manual baseline in Sprint 1 before any AI agent is live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 Jira worklog hours per story each sprint post-AI deployment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Compare: estimate_hrs × normalisation_factor vs actual_logged_hrs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delta in ActivityMetric.process_time per phase per sprint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SUM(baseline_PT − actual_PT) across agent's activities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Bar chart — hours saved per agent, sprint-over-sprint trend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KPI card: Total hrs saved this sprint on Dashboard page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Saved hours declining 2+ sprints triggers agent health review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2–8 hrs/agent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8–20 hrs/agent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20–40 hrs/agent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Worklogs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16468" y="6217920"/>
            <a:ext cx="1243584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53044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Baseline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24060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60636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Phase Coverage  ·  Agent ROI Multiple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Phase Coverage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the 7 PDLC phases that have at least one active AI agent/assistant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(PDLC phases with ≥ 1 active AI agent ÷ 7 total phases)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Active agent list per phase from STUMP agent registry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Phase-agent mapping from LangGraph orchestrator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status (GA / Pilot / PoC) per phase from platform settings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 release plan showing when each agent goes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/api/v1/agents returns agent-phase mapping — query per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Tag each AnalysisRun with phases_covered list in result 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APScheduler weekly run computes coverage and stores in PlatformSettings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Manual update when new agent phases are activated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COUNT(DISTINCT phase_id in active_agents) / 7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Radar/spider chart — 7-axis with fill showing coverage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4/7 phases covered by Option A; 7/7 by Option 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page phase coverage ring chart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4 / 7 phases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6 / 7 phases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7 / 7 phases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595628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5407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Agent Service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1468" y="6217920"/>
            <a:ext cx="1444752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38044" y="6236208"/>
            <a:ext cx="13898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LangGraph Config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ROI Multiple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Return on investment per deployed agent — value delivered vs. cost of running 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(Annual value delivered by agent £ ÷ Annual cost of agent deployment £)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Engineering salary cost per hour for manual equivalent tasks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Time saved per agent per sprint (from Time Saved metric above)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operational cost: LLM API cost + infra + maintenance hours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Defects prevented count and estimated cost per defect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Pull LLM API usage from Azure OpenAI billing dashboard monthly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Calculate value: time_saved_hrs × avg_eng_rate × 52 sprints/year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Track defects prevented via Quality Assurance report delta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ROI calculation results in STUMP business_cases result JSON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(time_saved_value + defect_saving) / (llm_cost + eng_cost)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ROI waterfall chart per agent on Business Case page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KPI: ROI multiple displayed on AI Agents monitor page per agent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ROI &lt; 1.5× triggers cost-benefit review for that agent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1.5 – 3×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 – 4.5×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4.5 – 6×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6217920"/>
            <a:ext cx="1495044" cy="17373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95160" y="6236208"/>
            <a:ext cx="14401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Azure OAI Billing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17636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54212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HR Cost Data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25228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61804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Lead Time (Idea → Production)  ·  Cycle Time (Dev Start → Deploy)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Lead Time (Idea → Production)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Total elapsed time from a feature request being raised to it being live in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Deploy_timestamp − Feature_request_created_timestamp  (calendar days)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Work item creation date from Jira/ADO (feature request timestamp)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deployment timestamp from CI/CD pipeline 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Release/tag event from GitHub/GitLab release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Feature-to-deployment traceability link in ALM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webhook on issue_created → store created_at in STUMP VSMSnapshot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webhook on deployment_success → store deploy_at per feature 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Link Jira issue ID to GitHub PR and deployment tag via branch naming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ALM Connector agent computes LT per phase on each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AVG(deploy_date − created_date) across all features in sprint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Box-plot showing LT distribution; p50 / p90 trend 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band: Elite &lt; 1 day; High &lt; 1 week; Medium &lt; 1 month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Current VSM page — per-phase LT heat strip + total LT KPI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21 – 28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10 – 14 days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3 – 7 days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Logs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193292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Tags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Cycle Time (Dev Start → Deploy)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Time from a developer picking up a task to the code reaching production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Deploy_timestamp − In-Progress_status_timestamp  (working hours)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In-Progress status transition timestamp from Jira/ADO history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deploy event timestamp from CI/CD pipeline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 open and merge timestamps from GitHub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Code review start / approval timestamps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issue changelog API — filter status change to 'In Progress'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PR events API — pr.created_at and pr.merged_at per feature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deployment event webhook → log to STUMP AnalysisRun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VSM Analyzer computes per-phase cycle time on each pipeline run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AVG(deploy_at − in_progress_at) per sprint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Scatter plot — individual items plotted; percentile lines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Reduce p85 cycle time sprint-over-sprint by ≥ 10 %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Bottlenecks page — per-phase wait-time breakdown bar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7 – 14 days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 – 7 days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&lt; 2 days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History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66176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02752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PRs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73184" y="6217920"/>
            <a:ext cx="891540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6236208"/>
            <a:ext cx="836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Flow Efficiency %  ·  Work in Progress (WIP)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Flow Efficiency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Proportion of total lead time spent on value-adding work vs. waiting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(Total Process Time ÷ Total Lead Time) × 100   [PT / (PT + WT) × 100]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Process time (active work time) per phase from ALM worklogs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Wait time (queue / blocked time) per phase from status timestamps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 boundary definitions aligned to VSM Editor 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calibration overrides (code review wait, build wait)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VSM Analyzer computes PT and WT per phase from ALM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time-in-status report for WT; worklog for PT per phase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Assessment page captures code_review_wait and build_duration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per-phase PT/WT in VSMSnapshot.vsm_data JSON each sprint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SUM(PT across 7 phases) / SUM(PT + WT across 7 phases)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bar — PT (blue) vs WT (grey) per phase; FE% overlay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Lean target: FE &gt; 40 % = Efficient; &lt; 15 % = Critical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Current State VSM page — phase-by-phase FE% heat strip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18 – 28 %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32 – 45 %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50 – 65 %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Worklogs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99716" y="6217920"/>
            <a:ext cx="1243584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36292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Analyzer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07308" y="6217920"/>
            <a:ext cx="1444752" cy="17373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43884" y="6236208"/>
            <a:ext cx="13898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DORA Calibration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Work in Progress (WIP)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Number of work items simultaneously in an active (not done, not backlog) state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COUNT(items where status ∈ {In Progress, In Review, Blocked, In Test})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Real-time work item statuses from Jira/ADO board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Team size and WIP limit policy from Settings page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 of each in-progress item (days since In-Progress transition)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Blocked item count and blocker category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Jira/ADO Board API — poll active status counts daily via APScheduler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daily WIP snapshot in ActivityMetric table per phase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Flag items aged &gt; sprint_length as Aged WIP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Operations Intelligence page displays real-time WIP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COUNT(active_status_items) per team per day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WIP trend line + WIP limit rule line per sprint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Little's Law: Throughput = WIP ÷ Cycle Time (validate consistency)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WIP &gt; team_wip_limit triggers bottleneck notification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WIP ≤ 2× team size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WIP ≤ 1.5×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WIP ≤ 1×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344168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 Board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66760" y="6217920"/>
            <a:ext cx="139446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03336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Scheduler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Deployment Frequency  ·  Change Failure Rate &amp; MTTR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Deployment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How often code is successfully deployed to production per time period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COUNT(successful production deployments) ÷ Time period (week / day)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Successful production deployment events from CI/CD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Environment tags (prod vs staging) from deployment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Rollback events (to exclude from successful count)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Release cadence config from platform Settings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webhook → POST to STUMP /api/v1/alm on each prod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Release API — count tags published to main/prod branch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deployment event in AnalysisRun with trigger='deployment'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DORA Assessment page captures and calibrates this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COUNT(prod_deployments) / days_in_period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bands: Elite = multiple/day; High = daily; Medium = weekly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Deployment frequency bar per week; DORA band colour overlay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KPI card + DORA Assessment page trend chart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Weekly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Daily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Multiple / 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344168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0008" y="6217920"/>
            <a:ext cx="1394460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86584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Releases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8476" y="6217920"/>
            <a:ext cx="139446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5052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DORA Assessment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Change Failure Rate (CFR) &amp; MTTR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CFR: % of deployments causing incidents.  MTTR: avg time to restore service after failure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CFR = (Failed deploys ÷ Total deploys) × 100  |  MTTR = AVG(restore_time − incident_time)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Deployment success/failure status from CI/CD pipeline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Incident creation and resolution timestamps from ServiceNow/PagerDuty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Deployment-to-incident correlation (deployment_id → incident_id)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Rollback event count and duration from release tooling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post-deploy health check — classify deploy as success/failure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ServiceNow/PagerDuty webhook → POST incident events to STUMP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Correlate by: incident created within 24h of deployment_id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Risk Assistant agent flags deployment-correlated incidents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CFR Calc: COUNT(failed_deploys) / COUNT(total_deploys) × 100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MTTR Calc: AVG(resolved_at − created_at) for deployment incidents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bands — CFR: Elite &lt; 5 %; High &lt; 10 %. MTTR: Elite &lt; 1h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DORA KPI panel; Governance page risk heatmap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CFR &lt; 15 % / MTTR &lt; 4h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CFR &lt; 8 % / MTTR &lt; 2h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CFR &lt; 5 % / MTTR &lt; 1h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344168" cy="17373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66760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03336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ServiceNow/PD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724644" y="6217920"/>
            <a:ext cx="1344168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76122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Risk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Data Collection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How metrics data flows from source systems through STUMP to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3877056" cy="27432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1389888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Jira / Azure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Work items, status history, worklogs, sprint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185416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GitHub / GitLab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PR events, merge times, deployment tags, commit frequency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980944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CI/CD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Build results, deploy events, rollback flags, durations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776472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ServiceNow / PagerDuty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Incident timestamps, severity, resolution events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572000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Azure OpenAI Billing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LLM API call counts, token usage, cost per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367528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STUMP Agent Telemetry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Agent invocations, accept/reject events, phase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1005840"/>
            <a:ext cx="3877056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STUMP PROCESSING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7408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07408" y="1389888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35424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ALM Connector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Fetches &amp; normalises work item data per PDLC phase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07408" y="2185416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5424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VSM Analyzer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4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Computes PT, WT, LT, FE % with DORA calibration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07408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07408" y="2980944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35424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APScheduler Pipeline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35424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Automated nightly/weekly metric collection runs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7408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07408" y="3776472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5424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ActivityMetric Table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5424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Persists per-phase, per-sprint metric snapshots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7408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07408" y="4572000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35424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AnalysisRun Store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424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Full pipeline results with agent-level metadata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07408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07408" y="5367528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35424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Accuracy Feedback Loop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5424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User-calibrated override capture via /api/v1/accuracy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94776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94776" y="1005840"/>
            <a:ext cx="3877056" cy="27432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04504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OUTPUTS &amp; MONITORING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86216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86216" y="1389888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14232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STUMP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14232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KPI cards: Lead Time, FE %, Deployment Freq, WIP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86216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86216" y="2185416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14232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Current State VSM Page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14232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Phase heat-strip: PT, WT, FE % per phase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86216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86216" y="2980944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14232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AI Agents Monitor Page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14232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Per-agent: utilisation, acceptance rate, ROI, savings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86216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86216" y="3776472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14232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DORA Assessment Page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14232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DORA band classification: Elite / High / Medium / Low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86216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586216" y="4572000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14232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Governance Page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14232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Risk heatmap, CFR trend, MTTR trend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86216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86216" y="5367528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14232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Excel / PDF Export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14232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Downloadable sprint metrics report for stakeholders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32504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8C4"/>
                </a:solidFill>
              </a:rPr>
              <a:t>→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05072" y="391363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Webhooks
API Polling
Agent Events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11312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308E"/>
                </a:solidFill>
              </a:rPr>
              <a:t>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83879" y="391363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REST API
Postgres
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Option A → B → C Progression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How each metric should evolve as AI adoption deepens across the PDLC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2286000" cy="4023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0515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005840"/>
            <a:ext cx="822960" cy="4023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10515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Perspective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005840"/>
            <a:ext cx="2103120" cy="402336"/>
          </a:xfrm>
          <a:prstGeom prst="rect">
            <a:avLst/>
          </a:prstGeom>
          <a:solidFill>
            <a:srgbClr val="00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A
(Augmented Human)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005840"/>
            <a:ext cx="2103120" cy="4023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B
(Hybrid Agents)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005840"/>
            <a:ext cx="2103120" cy="402336"/>
          </a:xfrm>
          <a:prstGeom prst="rect">
            <a:avLst/>
          </a:prstGeom>
          <a:solidFill>
            <a:srgbClr val="035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C
(AI-First)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005840"/>
            <a:ext cx="2103120" cy="4023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Measurement
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408176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149961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Agent Utilisation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1408176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149961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140817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30–50 %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140817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60–75 %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140817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85–95 %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408176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Agent Logs / STUMP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1787652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" y="187909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AI Acceptance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1787652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6312" y="187909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178765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927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55–70 %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178765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2239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70–85 %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178765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2551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88–95 %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1787652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863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GitHub / LLM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" y="2167128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312" y="2258568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Human Override 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2167128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96312" y="2258568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2167128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35 %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2167128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2239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2167128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2551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10 %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2167128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2863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STUMP / GitHub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2546604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0312" y="2638044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Time Saved / Agent / Sprint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23160" y="2546604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96312" y="2638044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2546604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1927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2–8 hrs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2546604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2239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8–20 hrs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52360" y="2546604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2551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20–40 hrs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55480" y="2546604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2863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Worklogs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2926080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0312" y="3017520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Agent ROI Multiple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3160" y="2926080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96312" y="3017520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46120" y="2926080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1927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1.5–3×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49240" y="2926080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2239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3–4.5×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52360" y="2926080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2551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4.5–6×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55480" y="2926080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2863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Billing + HR Cost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3305556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0312" y="339699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Lead Time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23160" y="3305556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496312" y="339699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46120" y="330555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31927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21–28 days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49240" y="330555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2239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10–14 days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52360" y="330555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2551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3–7 days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55480" y="3305556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2863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+ CI/CD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7160" y="3685032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0312" y="377647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Cycle Time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23160" y="3685032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96312" y="377647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46120" y="368503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1927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7–14 days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349240" y="368503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2239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3–7 days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52360" y="368503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2551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 days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55480" y="3685032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2863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GitHub PRs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7160" y="4064508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10312" y="4155948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Flow Efficiency 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423160" y="4064508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496312" y="4155948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46120" y="4064508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1927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18–28 %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49240" y="4064508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2239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32–45 %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452360" y="4064508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2551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50–65 %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555480" y="4064508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2863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VSM Analyzer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4443984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0312" y="4535424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WIP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423160" y="4443984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496312" y="4535424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246120" y="4443984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31927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2× team size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349240" y="4443984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2239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1.5× team size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52360" y="4443984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2551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1× team size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555480" y="4443984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2863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Board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7160" y="4823460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10312" y="4914900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Deployment Frequency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423160" y="4823460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496312" y="4914900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46120" y="4823460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31927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Weekly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349240" y="4823460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42239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Daily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452360" y="4823460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52551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Multiple / day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555480" y="4823460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2863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CI/CD Pipeline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37160" y="5202936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10312" y="529437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Change Failure Rate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423160" y="5202936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496312" y="529437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246120" y="520293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1927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15 %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349240" y="520293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42239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8 %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452360" y="520293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52551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5 %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555480" y="5202936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62863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CI/CD + Incidents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5582412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10312" y="567385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MTTR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423160" y="5582412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496312" y="567385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46120" y="558241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31927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4 hours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49240" y="558241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2239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 hours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452360" y="558241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52551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 hour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555480" y="5582412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62863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ServiceNow / PD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Monitoring Dashboard  —  Illustrative Views &amp; Inference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AI Adoption perspective  ·  PDLC Performance perspective  ·  Key inference &amp; action points per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" y="987552"/>
            <a:ext cx="5897880" cy="5504688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" y="987552"/>
            <a:ext cx="5897880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" y="1051560"/>
            <a:ext cx="5769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 Adoption Dashboard  —  Illustrative  (Option A baseline)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987552"/>
            <a:ext cx="5897880" cy="5504688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987552"/>
            <a:ext cx="5897880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051560"/>
            <a:ext cx="5769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PDLC Performance Dashboard  —  Illustrative  (Option A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" y="1316736"/>
            <a:ext cx="1383030" cy="10972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Agent
Utilisation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48"/>
                </a:solidFill>
              </a:rPr>
              <a:t>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9878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+12pt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7350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57350" y="1316736"/>
            <a:ext cx="1383030" cy="1097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3926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AI Acceptance
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3926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9484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+8pt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6956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76956" y="1316736"/>
            <a:ext cx="1383030" cy="1097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3532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Override
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3532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5"/>
                </a:solidFill>
              </a:rPr>
              <a:t>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49090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−7pt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6562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96562" y="1316736"/>
            <a:ext cx="1383030" cy="109728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3138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Time Saved
/Sprint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138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CC"/>
                </a:solidFill>
              </a:rPr>
              <a:t>94 hrs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8696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+22h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2784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72784" y="1316736"/>
            <a:ext cx="1383030" cy="10972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Lead
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48"/>
                </a:solidFill>
              </a:rPr>
              <a:t>18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4917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↓ 32%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2390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92390" y="1316736"/>
            <a:ext cx="1383030" cy="109728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8965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Flow
Eff.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8965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CC"/>
                </a:solidFill>
              </a:rPr>
              <a:t>24%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4524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↑ 6pt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11996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11996" y="1316736"/>
            <a:ext cx="1383030" cy="1097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8572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Deploy
Freq.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8572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2×/wk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84130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↑ vs 1×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31602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31602" y="1316736"/>
            <a:ext cx="1383030" cy="1097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68178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WIP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8178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5"/>
                </a:solidFill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03736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↓ 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" y="2157984"/>
            <a:ext cx="5678424" cy="1572768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7744" y="2157984"/>
            <a:ext cx="5678424" cy="20116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" y="2194560"/>
            <a:ext cx="5568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Agent Utilisation Rate by PDLC Phase  (% activities AI-assisted)  |  Target: 40%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3129076"/>
            <a:ext cx="675349" cy="382219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" y="2973628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38%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Ph1
Disc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9125" y="3229660"/>
            <a:ext cx="675349" cy="281635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9125" y="3074212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28%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4261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Ph2
Arch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54203" y="2988259"/>
            <a:ext cx="675349" cy="5230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54203" y="2832811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99339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Ph3
Dev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39281" y="3048609"/>
            <a:ext cx="675349" cy="46268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39281" y="2893161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46%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84417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Ph4
Bld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4358" y="3088843"/>
            <a:ext cx="675349" cy="42245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4358" y="2933395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42%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69494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Ph5
Test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09436" y="3290011"/>
            <a:ext cx="675349" cy="221284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09436" y="3134563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22%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4572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Ph6
Dep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94514" y="3330244"/>
            <a:ext cx="675349" cy="181051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94514" y="3174796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18%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39650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Ph7
Ops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9184" y="3108960"/>
            <a:ext cx="5495544" cy="12801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74920" y="2971800"/>
            <a:ext cx="804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B45A09"/>
                </a:solidFill>
              </a:rPr>
              <a:t>← 40% target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7744" y="3785616"/>
            <a:ext cx="5678424" cy="731520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37744" y="3785616"/>
            <a:ext cx="5678424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" y="3813048"/>
            <a:ext cx="5586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 Acceptance Rate — 6-sprint trend  ·  Target: 85% by Option 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2336" y="4196730"/>
            <a:ext cx="769620" cy="174101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9184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S1  56%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18260" y="4181185"/>
            <a:ext cx="769620" cy="189646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45108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S2  61%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34184" y="4168749"/>
            <a:ext cx="769620" cy="202082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61032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S3  65%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50108" y="4159422"/>
            <a:ext cx="769620" cy="211409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76956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S4  68%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66032" y="4150095"/>
            <a:ext cx="769620" cy="220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92880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S5  71%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81956" y="4146986"/>
            <a:ext cx="769620" cy="223845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08804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S6  72%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7744" y="4572000"/>
            <a:ext cx="5678424" cy="21945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9184" y="4617720"/>
            <a:ext cx="5623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Inference &amp; Action Points  —  AI Adoption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7744" y="4846320"/>
            <a:ext cx="45720" cy="31089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9184" y="4864607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Ph3 Development leads at 52% — CodeGen &amp; Review agents well adopted. Prioritise Ph6 Deploy (22%) as next activation sprint; target 40%+ for Opt B.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7744" y="5230368"/>
            <a:ext cx="45720" cy="31089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9184" y="5248655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Acceptance rate growing +4.2 pts/sprint (56%→72%) — on track to reach 85% (Option B target) in ~3 sprints. Consistent quality improvement trend.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7744" y="5614416"/>
            <a:ext cx="45720" cy="31089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9184" y="5632703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Override rate 18% in QA exceeds &lt;10% target. Prompt recalibration needed using last 3-sprint rejection reason logs from STUMP Accuracy page.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7744" y="5998464"/>
            <a:ext cx="45720" cy="31089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9184" y="6016751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Ph7 Ops utilisation 18% — Risk &amp; Monitor agents not yet activated. Enablement sprint needed before Option B transition is declared.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72784" y="2157984"/>
            <a:ext cx="5678424" cy="1572768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72784" y="2157984"/>
            <a:ext cx="5678424" cy="20116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45936" y="2194560"/>
            <a:ext cx="5568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Flow Efficiency by Phase  —  Process Time (blue) vs Wait Time (grey)  (days)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19088" y="2840736"/>
            <a:ext cx="675349" cy="44704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19088" y="3287776"/>
            <a:ext cx="675349" cy="223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64224" y="267614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33%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64224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Ph1
Disc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04165" y="2561336"/>
            <a:ext cx="675349" cy="55880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204165" y="3120136"/>
            <a:ext cx="675349" cy="3911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149301" y="2414016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41%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49301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Ph2
Arch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89243" y="2505456"/>
            <a:ext cx="675349" cy="44704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989243" y="2952496"/>
            <a:ext cx="675349" cy="5588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934379" y="2414016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56%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34379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Ph3
Dev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774321" y="3064256"/>
            <a:ext cx="675349" cy="27940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774321" y="3343656"/>
            <a:ext cx="675349" cy="167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719457" y="289966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38%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719457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Ph4
Bld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559398" y="2617216"/>
            <a:ext cx="675349" cy="61468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559398" y="3231896"/>
            <a:ext cx="675349" cy="279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504534" y="245262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31%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04534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Ph5
Test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344476" y="3287776"/>
            <a:ext cx="675349" cy="134112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44476" y="3421888"/>
            <a:ext cx="675349" cy="894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89612" y="31231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40%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289612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Ph6
Dep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129554" y="3120136"/>
            <a:ext cx="675349" cy="257047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129554" y="3377184"/>
            <a:ext cx="675349" cy="13411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074690" y="295554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34%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74690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Ph7
Ops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2784" y="3785616"/>
            <a:ext cx="5678424" cy="731520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272784" y="3785616"/>
            <a:ext cx="5678424" cy="18288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45936" y="3813048"/>
            <a:ext cx="5586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DORA Band Positioning  —  Current state vs Option B &amp; C targets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345936" y="3986784"/>
            <a:ext cx="1346454" cy="3657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38251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8251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LT&gt;6m  Monthly deploys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728966" y="3986784"/>
            <a:ext cx="1346454" cy="3657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76554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6554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 1w–6m  Weekly deploys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72896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◀ Now (Opt A)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111996" y="3986784"/>
            <a:ext cx="1346454" cy="3657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4857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857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 1d–1wk  Daily deploys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1199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F78C4"/>
                </a:solidFill>
              </a:rPr>
              <a:t>▲ Opt B target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495026" y="3986784"/>
            <a:ext cx="1346454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31601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Elite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531601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LT&lt;1d  Multiple/day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49502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★ Opt C target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72784" y="4572000"/>
            <a:ext cx="5678424" cy="21945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64224" y="4617720"/>
            <a:ext cx="5623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Inference &amp; Action Points  —  PDLC Performance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272784" y="4846320"/>
            <a:ext cx="45720" cy="31089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64224" y="4864607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Lead time reduced 32% (26→18 days) since AI in Dev &amp; Build. Ph3 cycle time 9→5 days. Ph2 Architecture wait (5 days) is the next improvement target.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272784" y="5230368"/>
            <a:ext cx="45720" cy="31089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364224" y="5248655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Flow efficiency 24% overall; Ph5 Test wait is highest at 5.5 days. QA Orchestrator agent (Option B) directly cuts this — FE projected to 38%+.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272784" y="5614416"/>
            <a:ext cx="45720" cy="31089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364224" y="5632703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Deploy freq 2×/week approaching DORA 'High' band. Release Gate &amp; Deploy agents (Option B) projected to reach daily cadence by sprint 6.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72784" y="5998464"/>
            <a:ext cx="45720" cy="31089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64224" y="6016751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CFR at 12% (DORA Medium). As CodeGen matures, target &lt;8% (Option B) via automated pre-merge AI review and automated quality gate enforcement.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Productivity — Measurement, Formula &amp; Automated 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Story Points → Effort → Cost  ·  Zero-touch data capture via STUMP ALM Connector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987552"/>
            <a:ext cx="11914632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1060704"/>
            <a:ext cx="9875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0048"/>
                </a:solidFill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042416"/>
            <a:ext cx="2801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Productivity  =  Value Delivered  ÷  Capacity Consumed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9560" y="1042416"/>
            <a:ext cx="1371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8432" y="1060704"/>
            <a:ext cx="9875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F78C4"/>
                </a:solidFill>
              </a:rPr>
              <a:t>PRIMARY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2560" y="1042416"/>
            <a:ext cx="2801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Story Points Delivered per Person-Sprint  (calibrated per team)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1104" y="1042416"/>
            <a:ext cx="1371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9975" y="1060704"/>
            <a:ext cx="9875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308E"/>
                </a:solidFill>
              </a:rPr>
              <a:t>QUALITY ADJ.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4104" y="1042416"/>
            <a:ext cx="2801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Multiply × (1 − Change Failure Rate)  to exclude rework waste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1444752"/>
            <a:ext cx="3794760" cy="4544568"/>
          </a:xfrm>
          <a:prstGeom prst="rect">
            <a:avLst/>
          </a:prstGeom>
          <a:solidFill>
            <a:srgbClr val="F9FB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" y="1444752"/>
            <a:ext cx="379476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490472"/>
            <a:ext cx="3666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FORMULAS &amp; KEY DIMENSIONS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1444752"/>
            <a:ext cx="3794760" cy="4544568"/>
          </a:xfrm>
          <a:prstGeom prst="rect">
            <a:avLst/>
          </a:prstGeom>
          <a:solidFill>
            <a:srgbClr val="F9FB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1444752"/>
            <a:ext cx="3794760" cy="2560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1490472"/>
            <a:ext cx="3666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STORY POINTS  →  EFFORT  → 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1444752"/>
            <a:ext cx="4059936" cy="4544568"/>
          </a:xfrm>
          <a:prstGeom prst="rect">
            <a:avLst/>
          </a:prstGeom>
          <a:solidFill>
            <a:srgbClr val="F9FB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1444752"/>
            <a:ext cx="4059936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14904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WORKED EXAMPLE  —  6-Person 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" y="1755648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Primary Productivity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1" y="1929384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1" y="196596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Productivity  =  SP Delivered  ÷  Capacity (person-days)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" y="2276856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Normalised Velocity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1" y="2450592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1" y="2487168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Team Velocity  =  SP / Sprint   [rolling 3-sprint average]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" y="2798064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Quality-Adjusted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1" y="2971800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1" y="300837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Adj. Productivity  =  SP × (1 – CFR)  ÷  Capacity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" y="3319272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Productivity Index  (vs Baseline)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1" y="3493008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1" y="352958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Prod. Index  =  (Current SP/day  ÷  Baseline SP/day) ×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" y="3950208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KEY DIMENSIONS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21538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151376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Numerator  →  SP with status 'Done' / 'Accepted' at sprint close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411980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347972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Denominator  →  team_size × sprint_days × utilisation % (default 0.8)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608576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544568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CFR  →  prod bugs ÷ items deployed  (trailing 30-day window)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80517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741164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Baseline  →  12-sprint rolling avg captured before AI enablement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500176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937760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Outlier filter  →  stories &gt; 3× team median SP auto-excluded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96512" y="17556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06C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96512" y="1755648"/>
            <a:ext cx="3648456" cy="21945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87952" y="17922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1  —  CALIBRATE  SP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51376" y="20116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SP Rate (days/SP)  =  avg Effort Logged ÷ SP Accepted
Computed from 6-sprint rolling window via Jira time logs.
Typical range: 0.3 – 0.8 days/SP;  recalibrates quarterly.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6732" y="2587751"/>
            <a:ext cx="128016" cy="822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96512" y="26700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96512" y="2670048"/>
            <a:ext cx="3648456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87952" y="27066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2  —  SP  →  EFFORT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51376" y="29260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Effort (person-days)  =  SP Delivered × SP Rate
Example:  72 SP  ×  0.5 days/SP  =  36 person-days
Represents productive capacity actually consumed.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6732" y="3502151"/>
            <a:ext cx="128016" cy="822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96512" y="35844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2E3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96512" y="3584448"/>
            <a:ext cx="3648456" cy="21945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87952" y="36210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3  —  EFFORT  → 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51376" y="38404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Cost ($)  =  Effort (days)  ×  Blended Daily Rate
Example:  36 days  ×  $800/day  =  $28,800
Blended rate from Finance/HR feed or manual config.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6732" y="4416552"/>
            <a:ext cx="128016" cy="822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96512" y="44988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000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96512" y="4498848"/>
            <a:ext cx="3648456" cy="21945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87952" y="45354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4  —  UNIT ECONOMICS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51376" y="47548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Cost per SP  =  Total Cost  ÷  SP Delivered
Example:  $28,800  ÷  72 SP  =  $400 / Story Point
Track sprint-over-sprint to quantify AI efficiency gain.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96512" y="5449824"/>
            <a:ext cx="3648456" cy="347472"/>
          </a:xfrm>
          <a:prstGeom prst="rect">
            <a:avLst/>
          </a:prstGeom>
          <a:solidFill>
            <a:srgbClr val="FFF8E8"/>
          </a:solidFill>
          <a:ln w="762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51376" y="551383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5A09"/>
                </a:solidFill>
              </a:rPr>
              <a:t>All inputs (SP, effort logs, sprint dates) are pulled automatically from Jira / ADO by the STUMP ALM Connector — no manual data entry at any step.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19288" y="1755648"/>
            <a:ext cx="3895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INPUTS  (Sprint 8  ·  Team Alpha)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82712" y="1956816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37576" y="1984248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Team size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01784" y="1984248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6 engineers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82712" y="2176272"/>
            <a:ext cx="391363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37576" y="2203703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Sprint length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01784" y="2203703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10 working days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82712" y="2395728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37576" y="2423160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Utilisation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01784" y="2423160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80%  (focus factor)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82712" y="2615184"/>
            <a:ext cx="391363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37576" y="2642616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Capacity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01784" y="2642616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6 × 10 × 0.8  =  48 person-days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82712" y="2834640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6" y="2862072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SP Rate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01784" y="2862072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0.5 days/SP  (6-sprint calibration)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82712" y="3054096"/>
            <a:ext cx="391363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37576" y="3081527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Blended rate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01784" y="3081527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$800 / person-day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82712" y="3273552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37576" y="3300984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SP Delivered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01784" y="3300984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72 SP  (Done + Accepted at close)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19288" y="3602736"/>
            <a:ext cx="3895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7A55"/>
                </a:solidFill>
              </a:rPr>
              <a:t>CALCULATED RESULTS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82712" y="3803904"/>
            <a:ext cx="36576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5864" y="3831336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F78C4"/>
                </a:solidFill>
              </a:rPr>
              <a:t>Productivity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5480" y="3831336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72 ÷ 48  =  1.5 SP / person-day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2712" y="4050791"/>
            <a:ext cx="36576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55864" y="4078224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F78C4"/>
                </a:solidFill>
              </a:rPr>
              <a:t>Effort used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5480" y="4078224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72 × 0.5  =  36 person-days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82712" y="4297680"/>
            <a:ext cx="36576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55864" y="4325112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F78C4"/>
                </a:solidFill>
              </a:rPr>
              <a:t>Sprint cost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5480" y="4325112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36 × $800  =  $28,800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982712" y="4544568"/>
            <a:ext cx="36576" cy="18288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055864" y="457200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308E"/>
                </a:solidFill>
              </a:rPr>
              <a:t>Cost / SP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55480" y="4572000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$28,800 ÷ 72  =  $400 / Story Point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82712" y="4791456"/>
            <a:ext cx="36576" cy="1828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55864" y="4818888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7A55"/>
                </a:solidFill>
              </a:rPr>
              <a:t>vs Baseline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55480" y="4818888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2937"/>
                </a:solidFill>
              </a:rPr>
              <a:t>+20% gain  (prev. 60 SP  @  $500/SP)  ↑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7160" y="6044183"/>
            <a:ext cx="11914632" cy="548640"/>
          </a:xfrm>
          <a:prstGeom prst="rect">
            <a:avLst/>
          </a:prstGeom>
          <a:solidFill>
            <a:srgbClr val="F0F5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8600" y="6089903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AUTOMATED DATA COLLECTION PIPELINE  —  Zero Manual Entry  ·  Outlier Detection  ·  Full Audit Trail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9184" y="6281927"/>
            <a:ext cx="2181758" cy="237743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9184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Jira / ADO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9184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Sprint close
trigger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510942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57246" y="6281927"/>
            <a:ext cx="2181758" cy="237743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57246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ALM Connector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657246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Webhook +
batch pull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839004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985308" y="6281927"/>
            <a:ext cx="2181758" cy="237743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985308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VSM Analyser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85308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Cycle time &amp;
lead time calc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167067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313371" y="6281927"/>
            <a:ext cx="2181758" cy="237743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313371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Metrics Engine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313371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Prod., cost &amp;
trend compute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495129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641433" y="6281927"/>
            <a:ext cx="2181758" cy="237743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41433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41433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Live charts,
alerts &amp; export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Delivery Velocity &amp; Story-Level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Feature Cycle Time  ·  Story Throughput per Sprint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Cycle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End-to-end time from a feature being started to it reaching production — tracked at feature granularity, not story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AVG(feature_prod_deploy_date − feature_start_date)  per sprint  (calendar days)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Feature start date (In Progress transition) from Jira/ADO status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deployment date per feature from ALM Data pipeline 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Feature epic / parent grouping in Jira/ADO to aggregate child stories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 boundary timestamps for period normalisation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changelog API — filter status = In Progress per feature epic; record first occurrence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ALM Data webhook on prod deploy → tag deployment with Jira feature epic 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ALM Connector groups stories by feature → computes feature cycle time per sprint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AVG / p50 / p90 per sprint in AnalysisRun.metrics 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AVG(prod_deploy_date − start_date) across all features completed in sprint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Box-plot of feature cycle time distribution; sprint-over-sprint trend 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Reduce p85 feature cycle time by ≥ 15% sprint-over-sprint per option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Current VSM page — feature cycle time heatmap per phase + p50/p90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14 – 21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 7 – 10 days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 2 – 4 days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Epic Groups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193292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Sprint Data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Story Throughput per Sprint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Number of stories and features delivered to production per sprint — tracks delivery consistency and module-level output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COUNT(stories_deployed_to_prod) ÷ sprint  +  COUNT(features_completed) ÷ sprint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Stories moved to Done / Deployed per sprint from Jira/ADO sprint report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Feature parent link to identify feature-level completion per sprint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Module / component label on stories for drill-down by product area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Velocity cap and sprint capacity from team configuration settings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sprint report API — count issues with status Done per sprint per team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ALM Connector groups stories by feature epic and component label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APScheduler weekly run computes throughput; stores in AnalysisRun.metrics JSON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Tag stories with AI-assisted flag from Copilot PR labels for AI vs manual split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SUM(stories_done) / sprint;  Feature rate: SUM(features_deployed) / sprint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bar — AI-assisted vs manual stories per sprint + feature count overlay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≥ 15% throughput lift by Option B; ≥ 30% lift by Option C vs Opt A baseline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Improvements page — throughput trend + AI vs manual delivery split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Establish baseline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+15 – 20% lift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+30 – 40% lift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Sprints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66176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02752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Epic Links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73184" y="6217920"/>
            <a:ext cx="891540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6236208"/>
            <a:ext cx="836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ALM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Code Contribution &amp; Vulnerability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AI-Assisted Code Rate  ·  Vulnerability Density Trend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AI-Assisted Code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Share of production-merged code generated or significantly assisted by AI — tracks AI contribution depth vs surface suggestion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(AI-assisted lines merged to prod ÷ Total merged lines) × 100  |  Reach %: AI merged ÷ AI suggested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Copilot / GitLab Duo acceptance logs per developer per sprint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 diff data — lines added via AI suggestion vs manual coding (GitHub API)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merge event (PR merged to main/prod) from GitHub/GitLab Events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 tool usage telemetry from Copilot Business or GitLab Duo monthly reports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Copilot telemetry API — accepted suggestions + accepted lines per repo per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Tag AI-assisted PRs using label ai_assisted applied via pre-commit hook or IDE plugin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ALM / Logs webhook on prod merge → log AI-label flag from PR into STUMP AnalysisRun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Accuracy &amp; RAG page surfaces per-team AI code contribution share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SUM(ai_accepted_lines) / SUM(total_merged_lines) × 100 per sprint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area — AI-assisted vs manual code merged per sprint (sprint trend)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Reach-to-Prod %: AI code merged ÷ AI code suggested × 100 (quality signal)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STUMP Accuracy &amp; RAG page — AI code contribution rate by repo / team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20 – 35% AI code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45 – 60% AI code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70 – 85% AI code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Copilot API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193292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GitLab Duo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Vulnerability Density Trend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Security vulnerabilities (SAST/DAST findings) per KLOC over time — trend-based analysis of AI impact on security posture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Vuln Density = Findings ÷ KLOC  |  Reduction % = (Baseline_vulns − Current_vulns) ÷ Baseline_vulns × 100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SAST scan results per sprint from SonarQube, Checkmarx, or Snyk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Total lines of code per repo per sprint from GitHub / GitLab code stats API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Severity classification (Critical / High / Medium / Low) per finding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AI-assisted vs manual code flag on scanned PRs for split analysis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SAST tool webhook → POST scan results to STUMP /api/v1/alm per sprint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code frequency API for total LOC per sprint; map to AI-tagged PRs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maps findings to PDLC phase of introduction using PR-to-commit tracing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Track AI-tagged PRs separately to compute AI-assisted vs manual vulnerability rate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(Critical + High findings) ÷ KLOC per sprint; 3-sprint rolling average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Line chart — vuln density trend over sprints; AI vs manual code split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≥ 20% reduction in High/Critical density sprint-over-sprint by Option B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STUMP Governance page — security posture trend + finding heatmap by phase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Baseline established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≥ 20% reduction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≥ 40% reduction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SAST Tools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66176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02752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LOC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73184" y="6217920"/>
            <a:ext cx="891540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6236208"/>
            <a:ext cx="836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ALM / Logs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144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Expanded Metrics Clusters &amp; Progressive Maturity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" y="5486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2BBE6"/>
                </a:solidFill>
              </a:rPr>
              <a:t>Speed · AI Adoption · Quality · Governance — mapped to Option A / B / C maturity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3854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63854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005840"/>
            <a:ext cx="3291840" cy="214884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033272"/>
            <a:ext cx="3218688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005840"/>
            <a:ext cx="1371600" cy="214884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033272"/>
            <a:ext cx="1298448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005840"/>
            <a:ext cx="1371600" cy="214884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1033272"/>
            <a:ext cx="1298448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005840"/>
            <a:ext cx="1554480" cy="214884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033272"/>
            <a:ext cx="1481328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Option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220724"/>
            <a:ext cx="7772400" cy="2057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" y="1248156"/>
            <a:ext cx="76626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5F"/>
                </a:solidFill>
              </a:rPr>
              <a:t>🚀 SPEED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1426464"/>
            <a:ext cx="329184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" y="1444752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Feature Cycle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1426464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1444752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14–21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1426464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7176" y="1444752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7–10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426464"/>
            <a:ext cx="155448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1444752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2–4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1604772"/>
            <a:ext cx="329184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1623060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Story Throughput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1604772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1623060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604772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37176" y="1623060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+15–20%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604772"/>
            <a:ext cx="155448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8776" y="1623060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+30–40%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783080"/>
            <a:ext cx="329184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" y="1801368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Lead Time (Idea→Prod)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1783080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5576" y="1801368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21–28 days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1783080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37176" y="1801368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10–14 days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1783080"/>
            <a:ext cx="155448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08776" y="1801368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3–7 days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" y="1961388"/>
            <a:ext cx="329184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736" y="1979676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Cycle Time (Dev→Deploy)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1961388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5576" y="1979676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7–14 days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1961388"/>
            <a:ext cx="137160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37176" y="1979676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3–7 days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1961388"/>
            <a:ext cx="1554480" cy="17830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08776" y="1979676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&lt; 2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" y="2139696"/>
            <a:ext cx="7772400" cy="2057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024" y="2167127"/>
            <a:ext cx="76626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2D12"/>
                </a:solidFill>
              </a:rPr>
              <a:t>🤖 AI ADOPTION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2345436"/>
            <a:ext cx="329184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3736" y="2363724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AI-Assisted Code 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29000" y="2345436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65576" y="2363724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20–35%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00600" y="2345436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7176" y="2363724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45–60%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2345436"/>
            <a:ext cx="155448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8776" y="2363724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70–85%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" y="2523744"/>
            <a:ext cx="329184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3736" y="2542032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AI Acceptance 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29000" y="2523744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65576" y="2542032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55–70%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00600" y="2523744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37176" y="2542032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70–85%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2523744"/>
            <a:ext cx="155448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08776" y="2542032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85–95%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702051"/>
            <a:ext cx="329184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3736" y="2720339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Agent Utilisation Rate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29000" y="2702051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65576" y="2720339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30–50%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00600" y="2702051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37176" y="2720339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60–75%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2702051"/>
            <a:ext cx="155448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08776" y="2720339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85–95%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" y="2880359"/>
            <a:ext cx="329184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3736" y="2898647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AI Code → Production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29000" y="2880359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65576" y="2898647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60–75%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00600" y="2880359"/>
            <a:ext cx="137160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37176" y="2898647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75–85%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2880359"/>
            <a:ext cx="1554480" cy="178308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08776" y="2898647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85–95%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" y="3058667"/>
            <a:ext cx="7772400" cy="2057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2024" y="3086099"/>
            <a:ext cx="76626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532D"/>
                </a:solidFill>
              </a:rPr>
              <a:t>✅ QUALITY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" y="3264407"/>
            <a:ext cx="329184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3736" y="3282695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Vulnerability Density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29000" y="3264407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65576" y="3282695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Baseline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00600" y="3264407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37176" y="3282695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−20%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3264407"/>
            <a:ext cx="155448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08776" y="3282695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−40%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" y="3442715"/>
            <a:ext cx="329184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73736" y="3461003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Change Failure Rate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29000" y="3442715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65576" y="3461003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&lt; 10%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00600" y="3442715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37176" y="3461003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&lt; 8%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72200" y="3442715"/>
            <a:ext cx="155448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08776" y="3461003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&lt; 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3621023"/>
            <a:ext cx="329184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73736" y="3639311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Flow Efficiency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29000" y="3621023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65576" y="3639311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18–28%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800600" y="3621023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37176" y="3639311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32–45%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3621023"/>
            <a:ext cx="155448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08776" y="3639311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50–65%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37160" y="3799331"/>
            <a:ext cx="329184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3736" y="3817619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Override / Rework Rate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29000" y="3799331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65576" y="3817619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&lt; 25%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800600" y="3799331"/>
            <a:ext cx="137160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837176" y="3817619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&lt; 15%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72200" y="3799331"/>
            <a:ext cx="1554480" cy="178308"/>
          </a:xfrm>
          <a:prstGeom prst="rect">
            <a:avLst/>
          </a:prstGeom>
          <a:solidFill>
            <a:srgbClr val="F7F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08776" y="3817619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&lt; 8%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37160" y="3977639"/>
            <a:ext cx="7772400" cy="2057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92024" y="4005072"/>
            <a:ext cx="7662672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0764"/>
                </a:solidFill>
              </a:rPr>
              <a:t>🏛 GOVERNANCE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37160" y="4183379"/>
            <a:ext cx="329184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73736" y="4201667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Human Override Rate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29000" y="4183379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65576" y="4201667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20–30%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800600" y="4183379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837176" y="4201667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10–18%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172200" y="4183379"/>
            <a:ext cx="155448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208776" y="4201667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5–10%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37160" y="4361688"/>
            <a:ext cx="329184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73736" y="4379975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Phase Coverage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429000" y="4361688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65576" y="4379975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43–57%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800600" y="4361688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837176" y="4379975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71–86%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172200" y="4361688"/>
            <a:ext cx="155448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208776" y="4379975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100%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4539996"/>
            <a:ext cx="329184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73736" y="4558283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Agent ROI Multiple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429000" y="4539996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65576" y="4558283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1.5–2×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800600" y="4539996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837176" y="4558283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2.5–3.5×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72200" y="4539996"/>
            <a:ext cx="155448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208776" y="4558283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4–6×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7160" y="4718304"/>
            <a:ext cx="329184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73736" y="4736592"/>
            <a:ext cx="321868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Metrics Governance Score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429000" y="4718304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465576" y="4736592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Foundation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800600" y="4718304"/>
            <a:ext cx="137160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837176" y="4736592"/>
            <a:ext cx="129844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Defined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72200" y="4718304"/>
            <a:ext cx="1554480" cy="178308"/>
          </a:xfrm>
          <a:prstGeom prst="rect">
            <a:avLst/>
          </a:prstGeom>
          <a:solidFill>
            <a:srgbClr val="FA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208776" y="4736592"/>
            <a:ext cx="1481328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74151"/>
                </a:solidFill>
              </a:rPr>
              <a:t>Optimised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092440" y="10058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48"/>
                </a:solidFill>
              </a:rPr>
              <a:t>Progressive Maturity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092440" y="12618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Start small · Establish clear vision · Evolve as tooling matures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046720" y="1536192"/>
            <a:ext cx="402336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046720" y="1536192"/>
            <a:ext cx="4023360" cy="2560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01584" y="1572768"/>
            <a:ext cx="3913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PHASE 1 — START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19872" y="1847088"/>
            <a:ext cx="3877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374151"/>
                </a:solidFill>
              </a:rPr>
              <a:t>Months 1–3 · Option A baseline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119872" y="2066544"/>
            <a:ext cx="3877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11827"/>
                </a:solidFill>
              </a:rPr>
              <a:t>Metrics: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19872" y="2249424"/>
            <a:ext cx="38770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Lead Time · Deployment Frequency · AI Utilisation Rate · Agent Acceptance Rate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119872" y="2752344"/>
            <a:ext cx="3877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11827"/>
                </a:solidFill>
              </a:rPr>
              <a:t>Goal: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19872" y="2926080"/>
            <a:ext cx="3877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Establish measurement baseline. Capture data from ALM + AI tool logs. Prove ROI of first agents.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046720" y="3255264"/>
            <a:ext cx="402336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046720" y="3255264"/>
            <a:ext cx="4023360" cy="25603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101584" y="3291840"/>
            <a:ext cx="3913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PHASE 2 — EVOLVE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119872" y="3566160"/>
            <a:ext cx="3877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374151"/>
                </a:solidFill>
              </a:rPr>
              <a:t>Months 4–9 · Option B transition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119872" y="3785616"/>
            <a:ext cx="3877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11827"/>
                </a:solidFill>
              </a:rPr>
              <a:t>Metrics: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19872" y="3968496"/>
            <a:ext cx="38770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+ Feature Cycle Time · Story Throughput · AI Code Rate · Vulnerability Density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119872" y="4471416"/>
            <a:ext cx="3877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11827"/>
                </a:solidFill>
              </a:rPr>
              <a:t>Goal: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119872" y="4645152"/>
            <a:ext cx="3877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Add feature-level and code-quality signals. Automate collection via STUMP pipelines.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046720" y="4974336"/>
            <a:ext cx="402336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046720" y="4974336"/>
            <a:ext cx="4023360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101584" y="5010912"/>
            <a:ext cx="3913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PHASE 3 — MATURE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19872" y="5285232"/>
            <a:ext cx="3877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374151"/>
                </a:solidFill>
              </a:rPr>
              <a:t>Months 10–18 · Option C target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119872" y="5504688"/>
            <a:ext cx="3877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11827"/>
                </a:solidFill>
              </a:rPr>
              <a:t>Metrics: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119872" y="5687568"/>
            <a:ext cx="38770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+ Vuln Reduction Trend · AI Assurance Score · Governance Coverage · ROI per Agent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119872" y="6190488"/>
            <a:ext cx="3877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11827"/>
                </a:solidFill>
              </a:rPr>
              <a:t>Goal: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119872" y="6364224"/>
            <a:ext cx="38770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4151"/>
                </a:solidFill>
              </a:rPr>
              <a:t>Full STUMP dashboard. Continuous improvement loop. AI self-reporting on all metrics.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046720" y="672998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</a:rPr>
              <a:t>Metrics framework input: Seetha Srinivasan · US Bank AI Transformation team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