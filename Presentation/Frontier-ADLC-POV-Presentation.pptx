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6" r:id="rId36"/>
    <p:sldId id="281" r:id="rId27"/>
    <p:sldId id="287" r:id="rId37"/>
    <p:sldId id="282" r:id="rId28"/>
    <p:sldId id="283" r:id="rId29"/>
    <p:sldId id="284" r:id="rId30"/>
    <p:sldId id="288" r:id="rId38"/>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68"/>
  </p:normalViewPr>
  <p:slideViewPr>
    <p:cSldViewPr snapToGrid="0" snapToObjects="1">
      <p:cViewPr varScale="1">
        <p:scale>
          <a:sx n="119" d="100"/>
          <a:sy n="119" d="100"/>
        </p:scale>
        <p:origin x="5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3.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6.xml"/><Relationship Id="rId37" Type="http://schemas.openxmlformats.org/officeDocument/2006/relationships/slide" Target="slides/slide28.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ounded Rectangle 1"/>
          <p:cNvSpPr/>
          <p:nvPr/>
        </p:nvSpPr>
        <p:spPr>
          <a:xfrm>
            <a:off x="731520" y="914400"/>
            <a:ext cx="1828800" cy="320040"/>
          </a:xfrm>
          <a:prstGeom prst="round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1828800" cy="320040"/>
          </a:xfrm>
          <a:prstGeom prst="rect">
            <a:avLst/>
          </a:prstGeom>
          <a:noFill/>
        </p:spPr>
        <p:txBody>
          <a:bodyPr wrap="square" anchor="ctr"/>
          <a:lstStyle/>
          <a:p>
            <a:pPr algn="ctr">
              <a:defRPr sz="1000" b="1">
                <a:solidFill>
                  <a:srgbClr val="BFDBFE"/>
                </a:solidFill>
                <a:latin typeface="Calibri"/>
              </a:defRPr>
            </a:pPr>
            <a:r>
              <a:t>POINT OF VIEW</a:t>
            </a:r>
          </a:p>
        </p:txBody>
      </p:sp>
      <p:sp>
        <p:nvSpPr>
          <p:cNvPr id="4" name="TextBox 3"/>
          <p:cNvSpPr txBox="1"/>
          <p:nvPr/>
        </p:nvSpPr>
        <p:spPr>
          <a:xfrm>
            <a:off x="731520" y="1554480"/>
            <a:ext cx="9144000" cy="1371600"/>
          </a:xfrm>
          <a:prstGeom prst="rect">
            <a:avLst/>
          </a:prstGeom>
          <a:noFill/>
        </p:spPr>
        <p:txBody>
          <a:bodyPr wrap="square" anchor="t"/>
          <a:lstStyle/>
          <a:p>
            <a:pPr algn="l">
              <a:defRPr sz="4000" b="1">
                <a:solidFill>
                  <a:srgbClr val="FFFFFF"/>
                </a:solidFill>
                <a:latin typeface="Calibri"/>
              </a:defRPr>
            </a:pPr>
            <a:r>
              <a:t>The Future State of</a:t>
            </a:r>
            <a:br/>
            <a:r>
              <a:t>IT Service Partners</a:t>
            </a:r>
          </a:p>
        </p:txBody>
      </p:sp>
      <p:sp>
        <p:nvSpPr>
          <p:cNvPr id="5" name="Rectangle 4"/>
          <p:cNvSpPr/>
          <p:nvPr/>
        </p:nvSpPr>
        <p:spPr>
          <a:xfrm>
            <a:off x="731520" y="3108960"/>
            <a:ext cx="1097280"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383280"/>
            <a:ext cx="8229600" cy="1097280"/>
          </a:xfrm>
          <a:prstGeom prst="rect">
            <a:avLst/>
          </a:prstGeom>
          <a:noFill/>
        </p:spPr>
        <p:txBody>
          <a:bodyPr wrap="square"/>
          <a:lstStyle/>
          <a:p>
            <a:pPr algn="l">
              <a:spcBef>
                <a:spcPts val="0"/>
              </a:spcBef>
              <a:spcAft>
                <a:spcPts val="200"/>
              </a:spcAft>
              <a:defRPr sz="1600" b="0" i="0">
                <a:solidFill>
                  <a:srgbClr val="BFDBFE"/>
                </a:solidFill>
                <a:latin typeface="Calibri"/>
              </a:defRPr>
            </a:pPr>
            <a:r>
              <a:t>When every professional becomes a Frontier Engineer — small pods of 1–3 people,</a:t>
            </a:r>
          </a:p>
          <a:p>
            <a:pPr algn="l">
              <a:spcBef>
                <a:spcPts val="0"/>
              </a:spcBef>
              <a:spcAft>
                <a:spcPts val="400"/>
              </a:spcAft>
              <a:defRPr sz="1600" b="0" i="0">
                <a:solidFill>
                  <a:srgbClr val="BFDBFE"/>
                </a:solidFill>
                <a:latin typeface="Calibri"/>
              </a:defRPr>
            </a:pPr>
            <a:r>
              <a:t>amplified by tireless digital agents, delivering what once took a hundred.</a:t>
            </a:r>
          </a:p>
        </p:txBody>
      </p:sp>
      <p:sp>
        <p:nvSpPr>
          <p:cNvPr id="7" name="TextBox 6"/>
          <p:cNvSpPr txBox="1"/>
          <p:nvPr/>
        </p:nvSpPr>
        <p:spPr>
          <a:xfrm>
            <a:off x="731520" y="4846320"/>
            <a:ext cx="7315200" cy="365760"/>
          </a:xfrm>
          <a:prstGeom prst="rect">
            <a:avLst/>
          </a:prstGeom>
          <a:noFill/>
        </p:spPr>
        <p:txBody>
          <a:bodyPr wrap="square" anchor="t"/>
          <a:lstStyle/>
          <a:p>
            <a:pPr algn="l">
              <a:defRPr sz="1200" b="0">
                <a:solidFill>
                  <a:srgbClr val="93C5FD"/>
                </a:solidFill>
                <a:latin typeface="Calibri"/>
              </a:defRPr>
            </a:pPr>
            <a:r>
              <a:t>Porkkovan Elangovan  &amp;  Khirthika V   ·   July 2026   ·   Confidential</a:t>
            </a:r>
          </a:p>
        </p:txBody>
      </p:sp>
      <p:sp>
        <p:nvSpPr>
          <p:cNvPr id="8" name="Oval 7"/>
          <p:cNvSpPr/>
          <p:nvPr/>
        </p:nvSpPr>
        <p:spPr>
          <a:xfrm>
            <a:off x="9601200" y="1371600"/>
            <a:ext cx="1828800" cy="1828800"/>
          </a:xfrm>
          <a:prstGeom prst="ellipse">
            <a:avLst/>
          </a:prstGeom>
          <a:no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1645920"/>
            <a:ext cx="1280160" cy="1280160"/>
          </a:xfrm>
          <a:prstGeom prst="ellipse">
            <a:avLst/>
          </a:prstGeom>
          <a:no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Imagine This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VISION</a:t>
            </a:r>
          </a:p>
        </p:txBody>
      </p:sp>
      <p:sp>
        <p:nvSpPr>
          <p:cNvPr id="5" name="TextBox 4"/>
          <p:cNvSpPr txBox="1"/>
          <p:nvPr/>
        </p:nvSpPr>
        <p:spPr>
          <a:xfrm>
            <a:off x="1371600" y="1371600"/>
            <a:ext cx="9144000" cy="1371600"/>
          </a:xfrm>
          <a:prstGeom prst="rect">
            <a:avLst/>
          </a:prstGeom>
          <a:noFill/>
        </p:spPr>
        <p:txBody>
          <a:bodyPr wrap="square"/>
          <a:lstStyle/>
          <a:p>
            <a:pPr algn="l">
              <a:spcBef>
                <a:spcPts val="0"/>
              </a:spcBef>
              <a:spcAft>
                <a:spcPts val="400"/>
              </a:spcAft>
              <a:defRPr sz="2000" b="0" i="0">
                <a:solidFill>
                  <a:srgbClr val="1E3A5F"/>
                </a:solidFill>
                <a:latin typeface="Calibri"/>
              </a:defRPr>
            </a:pPr>
            <a:r>
              <a:t>Imagine describing the outcome you want — and a small pod of two or three people,</a:t>
            </a:r>
          </a:p>
          <a:p>
            <a:pPr algn="l">
              <a:spcBef>
                <a:spcPts val="0"/>
              </a:spcBef>
              <a:spcAft>
                <a:spcPts val="400"/>
              </a:spcAft>
              <a:defRPr sz="2000" b="1" i="0">
                <a:solidFill>
                  <a:srgbClr val="1E3A5F"/>
                </a:solidFill>
                <a:latin typeface="Calibri"/>
              </a:defRPr>
            </a:pPr>
            <a:r>
              <a:t>amplified by tireless digital agents, turning it into a working product and running it for you.</a:t>
            </a:r>
          </a:p>
        </p:txBody>
      </p:sp>
      <p:sp>
        <p:nvSpPr>
          <p:cNvPr id="6" name="TextBox 5"/>
          <p:cNvSpPr txBox="1"/>
          <p:nvPr/>
        </p:nvSpPr>
        <p:spPr>
          <a:xfrm>
            <a:off x="1371600" y="2926080"/>
            <a:ext cx="9144000" cy="731520"/>
          </a:xfrm>
          <a:prstGeom prst="rect">
            <a:avLst/>
          </a:prstGeom>
          <a:noFill/>
        </p:spPr>
        <p:txBody>
          <a:bodyPr wrap="square"/>
          <a:lstStyle/>
          <a:p>
            <a:pPr algn="l">
              <a:spcBef>
                <a:spcPts val="0"/>
              </a:spcBef>
              <a:spcAft>
                <a:spcPts val="400"/>
              </a:spcAft>
              <a:defRPr sz="2000" b="0" i="0">
                <a:solidFill>
                  <a:srgbClr val="1E3A5F"/>
                </a:solidFill>
                <a:latin typeface="Calibri"/>
              </a:defRPr>
            </a:pPr>
            <a:r>
              <a:rPr sz="2000" b="0" i="0">
                <a:solidFill>
                  <a:srgbClr val="1E3A5F"/>
                </a:solidFill>
                <a:latin typeface="Calibri"/>
              </a:rPr>
              <a:t>Not in six months. </a:t>
            </a:r>
            <a:r>
              <a:rPr sz="2800" b="1" i="0">
                <a:solidFill>
                  <a:srgbClr val="1A56DB"/>
                </a:solidFill>
                <a:latin typeface="Calibri"/>
              </a:rPr>
              <a:t>In days.</a:t>
            </a:r>
          </a:p>
        </p:txBody>
      </p:sp>
      <p:sp>
        <p:nvSpPr>
          <p:cNvPr id="7" name="Rounded Rectangle 6"/>
          <p:cNvSpPr/>
          <p:nvPr/>
        </p:nvSpPr>
        <p:spPr>
          <a:xfrm>
            <a:off x="1828800" y="3931920"/>
            <a:ext cx="8229600" cy="914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03120" y="4023360"/>
            <a:ext cx="7772400" cy="822960"/>
          </a:xfrm>
          <a:prstGeom prst="rect">
            <a:avLst/>
          </a:prstGeom>
          <a:noFill/>
        </p:spPr>
        <p:txBody>
          <a:bodyPr wrap="square"/>
          <a:lstStyle/>
          <a:p>
            <a:pPr algn="l">
              <a:spcBef>
                <a:spcPts val="0"/>
              </a:spcBef>
              <a:spcAft>
                <a:spcPts val="200"/>
              </a:spcAft>
              <a:defRPr sz="1600" b="0" i="0">
                <a:solidFill>
                  <a:srgbClr val="1A4A7A"/>
                </a:solidFill>
                <a:latin typeface="Calibri"/>
              </a:defRPr>
            </a:pPr>
            <a:r>
              <a:t>You are not replaced by the machine.</a:t>
            </a:r>
          </a:p>
          <a:p>
            <a:pPr algn="l">
              <a:spcBef>
                <a:spcPts val="0"/>
              </a:spcBef>
              <a:spcAft>
                <a:spcPts val="400"/>
              </a:spcAft>
              <a:defRPr sz="1800" b="1" i="0">
                <a:solidFill>
                  <a:srgbClr val="1A4A7A"/>
                </a:solidFill>
                <a:latin typeface="Calibri"/>
              </a:defRPr>
            </a:pPr>
            <a:r>
              <a:t>You are promoted above it.</a:t>
            </a:r>
          </a:p>
        </p:txBody>
      </p:sp>
      <p:sp>
        <p:nvSpPr>
          <p:cNvPr id="9" name="TextBox 8"/>
          <p:cNvSpPr txBox="1"/>
          <p:nvPr/>
        </p:nvSpPr>
        <p:spPr>
          <a:xfrm>
            <a:off x="1371600" y="5303520"/>
            <a:ext cx="9144000" cy="548640"/>
          </a:xfrm>
          <a:prstGeom prst="rect">
            <a:avLst/>
          </a:prstGeom>
          <a:noFill/>
        </p:spPr>
        <p:txBody>
          <a:bodyPr wrap="square" anchor="t"/>
          <a:lstStyle/>
          <a:p>
            <a:pPr algn="ctr">
              <a:defRPr sz="1400" b="0">
                <a:solidFill>
                  <a:srgbClr val="6B7280"/>
                </a:solidFill>
                <a:latin typeface="Calibri"/>
              </a:defRPr>
            </a:pPr>
            <a:r>
              <a:t>This is what the technology services industry looks like when the AI-Driven Lifecycle (ADLC) is fully achieved.</a:t>
            </a:r>
          </a:p>
        </p:txBody>
      </p:sp>
      <p:sp>
        <p:nvSpPr>
          <p:cNvPr id="10" name="Rectangle 9"/>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12" name="TextBox 11"/>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The World We Know</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CURRENT STATE</a:t>
            </a:r>
          </a:p>
        </p:txBody>
      </p:sp>
      <p:sp>
        <p:nvSpPr>
          <p:cNvPr id="5" name="TextBox 4"/>
          <p:cNvSpPr txBox="1"/>
          <p:nvPr/>
        </p:nvSpPr>
        <p:spPr>
          <a:xfrm>
            <a:off x="548640" y="822960"/>
            <a:ext cx="10972800" cy="457200"/>
          </a:xfrm>
          <a:prstGeom prst="rect">
            <a:avLst/>
          </a:prstGeom>
          <a:noFill/>
        </p:spPr>
        <p:txBody>
          <a:bodyPr wrap="square" anchor="t"/>
          <a:lstStyle/>
          <a:p>
            <a:pPr algn="l">
              <a:defRPr sz="1400" b="0">
                <a:solidFill>
                  <a:srgbClr val="374151"/>
                </a:solidFill>
                <a:latin typeface="Calibri"/>
              </a:defRPr>
            </a:pPr>
            <a:r>
              <a:t>Delivering a new capability today — a loan pre-approval, a claims update — follows a familiar pattern:</a:t>
            </a:r>
          </a:p>
        </p:txBody>
      </p:sp>
      <p:sp>
        <p:nvSpPr>
          <p:cNvPr id="6" name="Rounded Rectangle 5"/>
          <p:cNvSpPr/>
          <p:nvPr/>
        </p:nvSpPr>
        <p:spPr>
          <a:xfrm>
            <a:off x="548640" y="1463040"/>
            <a:ext cx="146304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63040"/>
            <a:ext cx="1463040" cy="594360"/>
          </a:xfrm>
          <a:prstGeom prst="rect">
            <a:avLst/>
          </a:prstGeom>
          <a:noFill/>
        </p:spPr>
        <p:txBody>
          <a:bodyPr wrap="square" anchor="ctr"/>
          <a:lstStyle/>
          <a:p>
            <a:pPr algn="ctr">
              <a:defRPr sz="1100" b="1">
                <a:solidFill>
                  <a:srgbClr val="1A4A7A"/>
                </a:solidFill>
                <a:latin typeface="Calibri"/>
              </a:defRPr>
            </a:pPr>
            <a:r>
              <a:t>BA</a:t>
            </a:r>
            <a:br/>
            <a:r>
              <a:t>Requirements</a:t>
            </a:r>
          </a:p>
        </p:txBody>
      </p:sp>
      <p:sp>
        <p:nvSpPr>
          <p:cNvPr id="8" name="TextBox 7"/>
          <p:cNvSpPr txBox="1"/>
          <p:nvPr/>
        </p:nvSpPr>
        <p:spPr>
          <a:xfrm>
            <a:off x="2011680" y="1463040"/>
            <a:ext cx="320040" cy="594360"/>
          </a:xfrm>
          <a:prstGeom prst="rect">
            <a:avLst/>
          </a:prstGeom>
          <a:noFill/>
        </p:spPr>
        <p:txBody>
          <a:bodyPr wrap="square" anchor="ctr"/>
          <a:lstStyle/>
          <a:p>
            <a:pPr algn="ctr">
              <a:defRPr sz="1800" b="0">
                <a:solidFill>
                  <a:srgbClr val="60A5FA"/>
                </a:solidFill>
                <a:latin typeface="Calibri"/>
              </a:defRPr>
            </a:pPr>
            <a:r>
              <a:t>→</a:t>
            </a:r>
          </a:p>
        </p:txBody>
      </p:sp>
      <p:sp>
        <p:nvSpPr>
          <p:cNvPr id="9" name="Rounded Rectangle 8"/>
          <p:cNvSpPr/>
          <p:nvPr/>
        </p:nvSpPr>
        <p:spPr>
          <a:xfrm>
            <a:off x="2331720" y="1463040"/>
            <a:ext cx="146304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31720" y="1463040"/>
            <a:ext cx="1463040" cy="594360"/>
          </a:xfrm>
          <a:prstGeom prst="rect">
            <a:avLst/>
          </a:prstGeom>
          <a:noFill/>
        </p:spPr>
        <p:txBody>
          <a:bodyPr wrap="square" anchor="ctr"/>
          <a:lstStyle/>
          <a:p>
            <a:pPr algn="ctr">
              <a:defRPr sz="1100" b="1">
                <a:solidFill>
                  <a:srgbClr val="1A4A7A"/>
                </a:solidFill>
                <a:latin typeface="Calibri"/>
              </a:defRPr>
            </a:pPr>
            <a:r>
              <a:t>Architect</a:t>
            </a:r>
            <a:br/>
            <a:r>
              <a:t>Design</a:t>
            </a:r>
          </a:p>
        </p:txBody>
      </p:sp>
      <p:sp>
        <p:nvSpPr>
          <p:cNvPr id="11" name="TextBox 10"/>
          <p:cNvSpPr txBox="1"/>
          <p:nvPr/>
        </p:nvSpPr>
        <p:spPr>
          <a:xfrm>
            <a:off x="3794760" y="1463040"/>
            <a:ext cx="320040" cy="594360"/>
          </a:xfrm>
          <a:prstGeom prst="rect">
            <a:avLst/>
          </a:prstGeom>
          <a:noFill/>
        </p:spPr>
        <p:txBody>
          <a:bodyPr wrap="square" anchor="ctr"/>
          <a:lstStyle/>
          <a:p>
            <a:pPr algn="ctr">
              <a:defRPr sz="1800" b="0">
                <a:solidFill>
                  <a:srgbClr val="60A5FA"/>
                </a:solidFill>
                <a:latin typeface="Calibri"/>
              </a:defRPr>
            </a:pPr>
            <a:r>
              <a:t>→</a:t>
            </a:r>
          </a:p>
        </p:txBody>
      </p:sp>
      <p:sp>
        <p:nvSpPr>
          <p:cNvPr id="12" name="Rounded Rectangle 11"/>
          <p:cNvSpPr/>
          <p:nvPr/>
        </p:nvSpPr>
        <p:spPr>
          <a:xfrm>
            <a:off x="4114800" y="1463040"/>
            <a:ext cx="146304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0" y="1463040"/>
            <a:ext cx="1463040" cy="594360"/>
          </a:xfrm>
          <a:prstGeom prst="rect">
            <a:avLst/>
          </a:prstGeom>
          <a:noFill/>
        </p:spPr>
        <p:txBody>
          <a:bodyPr wrap="square" anchor="ctr"/>
          <a:lstStyle/>
          <a:p>
            <a:pPr algn="ctr">
              <a:defRPr sz="1100" b="1">
                <a:solidFill>
                  <a:srgbClr val="1A4A7A"/>
                </a:solidFill>
                <a:latin typeface="Calibri"/>
              </a:defRPr>
            </a:pPr>
            <a:r>
              <a:t>Dev Team</a:t>
            </a:r>
            <a:br/>
            <a:r>
              <a:t>Build</a:t>
            </a:r>
          </a:p>
        </p:txBody>
      </p:sp>
      <p:sp>
        <p:nvSpPr>
          <p:cNvPr id="14" name="TextBox 13"/>
          <p:cNvSpPr txBox="1"/>
          <p:nvPr/>
        </p:nvSpPr>
        <p:spPr>
          <a:xfrm>
            <a:off x="5577840" y="1463040"/>
            <a:ext cx="320040" cy="594360"/>
          </a:xfrm>
          <a:prstGeom prst="rect">
            <a:avLst/>
          </a:prstGeom>
          <a:noFill/>
        </p:spPr>
        <p:txBody>
          <a:bodyPr wrap="square" anchor="ctr"/>
          <a:lstStyle/>
          <a:p>
            <a:pPr algn="ctr">
              <a:defRPr sz="1800" b="0">
                <a:solidFill>
                  <a:srgbClr val="60A5FA"/>
                </a:solidFill>
                <a:latin typeface="Calibri"/>
              </a:defRPr>
            </a:pPr>
            <a:r>
              <a:t>→</a:t>
            </a:r>
          </a:p>
        </p:txBody>
      </p:sp>
      <p:sp>
        <p:nvSpPr>
          <p:cNvPr id="15" name="Rounded Rectangle 14"/>
          <p:cNvSpPr/>
          <p:nvPr/>
        </p:nvSpPr>
        <p:spPr>
          <a:xfrm>
            <a:off x="5897880" y="1463040"/>
            <a:ext cx="146304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97880" y="1463040"/>
            <a:ext cx="1463040" cy="594360"/>
          </a:xfrm>
          <a:prstGeom prst="rect">
            <a:avLst/>
          </a:prstGeom>
          <a:noFill/>
        </p:spPr>
        <p:txBody>
          <a:bodyPr wrap="square" anchor="ctr"/>
          <a:lstStyle/>
          <a:p>
            <a:pPr algn="ctr">
              <a:defRPr sz="1100" b="1">
                <a:solidFill>
                  <a:srgbClr val="1A4A7A"/>
                </a:solidFill>
                <a:latin typeface="Calibri"/>
              </a:defRPr>
            </a:pPr>
            <a:r>
              <a:t>QA Team</a:t>
            </a:r>
            <a:br/>
            <a:r>
              <a:t>Test</a:t>
            </a:r>
          </a:p>
        </p:txBody>
      </p:sp>
      <p:sp>
        <p:nvSpPr>
          <p:cNvPr id="17" name="TextBox 16"/>
          <p:cNvSpPr txBox="1"/>
          <p:nvPr/>
        </p:nvSpPr>
        <p:spPr>
          <a:xfrm>
            <a:off x="7360920" y="1463040"/>
            <a:ext cx="320040" cy="594360"/>
          </a:xfrm>
          <a:prstGeom prst="rect">
            <a:avLst/>
          </a:prstGeom>
          <a:noFill/>
        </p:spPr>
        <p:txBody>
          <a:bodyPr wrap="square" anchor="ctr"/>
          <a:lstStyle/>
          <a:p>
            <a:pPr algn="ctr">
              <a:defRPr sz="1800" b="0">
                <a:solidFill>
                  <a:srgbClr val="60A5FA"/>
                </a:solidFill>
                <a:latin typeface="Calibri"/>
              </a:defRPr>
            </a:pPr>
            <a:r>
              <a:t>→</a:t>
            </a:r>
          </a:p>
        </p:txBody>
      </p:sp>
      <p:sp>
        <p:nvSpPr>
          <p:cNvPr id="18" name="Rounded Rectangle 17"/>
          <p:cNvSpPr/>
          <p:nvPr/>
        </p:nvSpPr>
        <p:spPr>
          <a:xfrm>
            <a:off x="7680960" y="1463040"/>
            <a:ext cx="146304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0" y="1463040"/>
            <a:ext cx="1463040" cy="594360"/>
          </a:xfrm>
          <a:prstGeom prst="rect">
            <a:avLst/>
          </a:prstGeom>
          <a:noFill/>
        </p:spPr>
        <p:txBody>
          <a:bodyPr wrap="square" anchor="ctr"/>
          <a:lstStyle/>
          <a:p>
            <a:pPr algn="ctr">
              <a:defRPr sz="1100" b="1">
                <a:solidFill>
                  <a:srgbClr val="1A4A7A"/>
                </a:solidFill>
                <a:latin typeface="Calibri"/>
              </a:defRPr>
            </a:pPr>
            <a:r>
              <a:t>Ops</a:t>
            </a:r>
            <a:br/>
            <a:r>
              <a:t>Deploy</a:t>
            </a:r>
          </a:p>
        </p:txBody>
      </p:sp>
      <p:sp>
        <p:nvSpPr>
          <p:cNvPr id="20" name="TextBox 19"/>
          <p:cNvSpPr txBox="1"/>
          <p:nvPr/>
        </p:nvSpPr>
        <p:spPr>
          <a:xfrm>
            <a:off x="9144000" y="1463040"/>
            <a:ext cx="320040" cy="594360"/>
          </a:xfrm>
          <a:prstGeom prst="rect">
            <a:avLst/>
          </a:prstGeom>
          <a:noFill/>
        </p:spPr>
        <p:txBody>
          <a:bodyPr wrap="square" anchor="ctr"/>
          <a:lstStyle/>
          <a:p>
            <a:pPr algn="ctr">
              <a:defRPr sz="1800" b="0">
                <a:solidFill>
                  <a:srgbClr val="60A5FA"/>
                </a:solidFill>
                <a:latin typeface="Calibri"/>
              </a:defRPr>
            </a:pPr>
            <a:r>
              <a:t>→</a:t>
            </a:r>
          </a:p>
        </p:txBody>
      </p:sp>
      <p:sp>
        <p:nvSpPr>
          <p:cNvPr id="21" name="Rounded Rectangle 20"/>
          <p:cNvSpPr/>
          <p:nvPr/>
        </p:nvSpPr>
        <p:spPr>
          <a:xfrm>
            <a:off x="9464040" y="1463040"/>
            <a:ext cx="146304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64040" y="1463040"/>
            <a:ext cx="1463040" cy="594360"/>
          </a:xfrm>
          <a:prstGeom prst="rect">
            <a:avLst/>
          </a:prstGeom>
          <a:noFill/>
        </p:spPr>
        <p:txBody>
          <a:bodyPr wrap="square" anchor="ctr"/>
          <a:lstStyle/>
          <a:p>
            <a:pPr algn="ctr">
              <a:defRPr sz="1100" b="1">
                <a:solidFill>
                  <a:srgbClr val="1A4A7A"/>
                </a:solidFill>
                <a:latin typeface="Calibri"/>
              </a:defRPr>
            </a:pPr>
            <a:r>
              <a:t>Support</a:t>
            </a:r>
            <a:br/>
            <a:r>
              <a:t>Monitor</a:t>
            </a:r>
          </a:p>
        </p:txBody>
      </p:sp>
      <p:sp>
        <p:nvSpPr>
          <p:cNvPr id="23" name="Rounded Rectangle 22"/>
          <p:cNvSpPr/>
          <p:nvPr/>
        </p:nvSpPr>
        <p:spPr>
          <a:xfrm>
            <a:off x="548640" y="2468880"/>
            <a:ext cx="2468880" cy="82296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2514600"/>
            <a:ext cx="2468880" cy="457200"/>
          </a:xfrm>
          <a:prstGeom prst="rect">
            <a:avLst/>
          </a:prstGeom>
          <a:noFill/>
        </p:spPr>
        <p:txBody>
          <a:bodyPr wrap="square" anchor="t"/>
          <a:lstStyle/>
          <a:p>
            <a:pPr algn="ctr">
              <a:defRPr sz="2800" b="1">
                <a:solidFill>
                  <a:srgbClr val="1A56DB"/>
                </a:solidFill>
                <a:latin typeface="Calibri"/>
              </a:defRPr>
            </a:pPr>
            <a:r>
              <a:t>50–150</a:t>
            </a:r>
          </a:p>
        </p:txBody>
      </p:sp>
      <p:sp>
        <p:nvSpPr>
          <p:cNvPr id="25" name="TextBox 24"/>
          <p:cNvSpPr txBox="1"/>
          <p:nvPr/>
        </p:nvSpPr>
        <p:spPr>
          <a:xfrm>
            <a:off x="548640" y="2971800"/>
            <a:ext cx="2468880" cy="274320"/>
          </a:xfrm>
          <a:prstGeom prst="rect">
            <a:avLst/>
          </a:prstGeom>
          <a:noFill/>
        </p:spPr>
        <p:txBody>
          <a:bodyPr wrap="square" anchor="t"/>
          <a:lstStyle/>
          <a:p>
            <a:pPr algn="ctr">
              <a:defRPr sz="1000" b="0">
                <a:solidFill>
                  <a:srgbClr val="6B7280"/>
                </a:solidFill>
                <a:latin typeface="Calibri"/>
              </a:defRPr>
            </a:pPr>
            <a:r>
              <a:t>People per engagement</a:t>
            </a:r>
          </a:p>
        </p:txBody>
      </p:sp>
      <p:sp>
        <p:nvSpPr>
          <p:cNvPr id="26" name="Rounded Rectangle 25"/>
          <p:cNvSpPr/>
          <p:nvPr/>
        </p:nvSpPr>
        <p:spPr>
          <a:xfrm>
            <a:off x="3200400" y="2468880"/>
            <a:ext cx="2468880" cy="82296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0" y="2514600"/>
            <a:ext cx="2468880" cy="457200"/>
          </a:xfrm>
          <a:prstGeom prst="rect">
            <a:avLst/>
          </a:prstGeom>
          <a:noFill/>
        </p:spPr>
        <p:txBody>
          <a:bodyPr wrap="square" anchor="t"/>
          <a:lstStyle/>
          <a:p>
            <a:pPr algn="ctr">
              <a:defRPr sz="2800" b="1">
                <a:solidFill>
                  <a:srgbClr val="1A56DB"/>
                </a:solidFill>
                <a:latin typeface="Calibri"/>
              </a:defRPr>
            </a:pPr>
            <a:r>
              <a:t>3–6 mo</a:t>
            </a:r>
          </a:p>
        </p:txBody>
      </p:sp>
      <p:sp>
        <p:nvSpPr>
          <p:cNvPr id="28" name="TextBox 27"/>
          <p:cNvSpPr txBox="1"/>
          <p:nvPr/>
        </p:nvSpPr>
        <p:spPr>
          <a:xfrm>
            <a:off x="3200400" y="2971800"/>
            <a:ext cx="2468880" cy="274320"/>
          </a:xfrm>
          <a:prstGeom prst="rect">
            <a:avLst/>
          </a:prstGeom>
          <a:noFill/>
        </p:spPr>
        <p:txBody>
          <a:bodyPr wrap="square" anchor="t"/>
          <a:lstStyle/>
          <a:p>
            <a:pPr algn="ctr">
              <a:defRPr sz="1000" b="0">
                <a:solidFill>
                  <a:srgbClr val="6B7280"/>
                </a:solidFill>
                <a:latin typeface="Calibri"/>
              </a:defRPr>
            </a:pPr>
            <a:r>
              <a:t>Time to delivery</a:t>
            </a:r>
          </a:p>
        </p:txBody>
      </p:sp>
      <p:sp>
        <p:nvSpPr>
          <p:cNvPr id="29" name="Rounded Rectangle 28"/>
          <p:cNvSpPr/>
          <p:nvPr/>
        </p:nvSpPr>
        <p:spPr>
          <a:xfrm>
            <a:off x="5852160" y="2468880"/>
            <a:ext cx="2468880" cy="82296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852160" y="2514600"/>
            <a:ext cx="2468880" cy="457200"/>
          </a:xfrm>
          <a:prstGeom prst="rect">
            <a:avLst/>
          </a:prstGeom>
          <a:noFill/>
        </p:spPr>
        <p:txBody>
          <a:bodyPr wrap="square" anchor="t"/>
          <a:lstStyle/>
          <a:p>
            <a:pPr algn="ctr">
              <a:defRPr sz="2800" b="1">
                <a:solidFill>
                  <a:srgbClr val="1A56DB"/>
                </a:solidFill>
                <a:latin typeface="Calibri"/>
              </a:defRPr>
            </a:pPr>
            <a:r>
              <a:t>5–12%</a:t>
            </a:r>
          </a:p>
        </p:txBody>
      </p:sp>
      <p:sp>
        <p:nvSpPr>
          <p:cNvPr id="31" name="TextBox 30"/>
          <p:cNvSpPr txBox="1"/>
          <p:nvPr/>
        </p:nvSpPr>
        <p:spPr>
          <a:xfrm>
            <a:off x="5852160" y="2971800"/>
            <a:ext cx="2468880" cy="274320"/>
          </a:xfrm>
          <a:prstGeom prst="rect">
            <a:avLst/>
          </a:prstGeom>
          <a:noFill/>
        </p:spPr>
        <p:txBody>
          <a:bodyPr wrap="square" anchor="t"/>
          <a:lstStyle/>
          <a:p>
            <a:pPr algn="ctr">
              <a:defRPr sz="1000" b="0">
                <a:solidFill>
                  <a:srgbClr val="6B7280"/>
                </a:solidFill>
                <a:latin typeface="Calibri"/>
              </a:defRPr>
            </a:pPr>
            <a:r>
              <a:t>Productive time</a:t>
            </a:r>
          </a:p>
        </p:txBody>
      </p:sp>
      <p:sp>
        <p:nvSpPr>
          <p:cNvPr id="32" name="Rounded Rectangle 31"/>
          <p:cNvSpPr/>
          <p:nvPr/>
        </p:nvSpPr>
        <p:spPr>
          <a:xfrm>
            <a:off x="8503920" y="2468880"/>
            <a:ext cx="2468880" cy="82296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03920" y="2514600"/>
            <a:ext cx="2468880" cy="457200"/>
          </a:xfrm>
          <a:prstGeom prst="rect">
            <a:avLst/>
          </a:prstGeom>
          <a:noFill/>
        </p:spPr>
        <p:txBody>
          <a:bodyPr wrap="square" anchor="t"/>
          <a:lstStyle/>
          <a:p>
            <a:pPr algn="ctr">
              <a:defRPr sz="2800" b="1">
                <a:solidFill>
                  <a:srgbClr val="1A56DB"/>
                </a:solidFill>
                <a:latin typeface="Calibri"/>
              </a:defRPr>
            </a:pPr>
            <a:r>
              <a:t>$2.5–4K</a:t>
            </a:r>
          </a:p>
        </p:txBody>
      </p:sp>
      <p:sp>
        <p:nvSpPr>
          <p:cNvPr id="34" name="TextBox 33"/>
          <p:cNvSpPr txBox="1"/>
          <p:nvPr/>
        </p:nvSpPr>
        <p:spPr>
          <a:xfrm>
            <a:off x="8503920" y="2971800"/>
            <a:ext cx="2468880" cy="274320"/>
          </a:xfrm>
          <a:prstGeom prst="rect">
            <a:avLst/>
          </a:prstGeom>
          <a:noFill/>
        </p:spPr>
        <p:txBody>
          <a:bodyPr wrap="square" anchor="t"/>
          <a:lstStyle/>
          <a:p>
            <a:pPr algn="ctr">
              <a:defRPr sz="1000" b="0">
                <a:solidFill>
                  <a:srgbClr val="6B7280"/>
                </a:solidFill>
                <a:latin typeface="Calibri"/>
              </a:defRPr>
            </a:pPr>
            <a:r>
              <a:t>Cost per unit of work</a:t>
            </a:r>
          </a:p>
        </p:txBody>
      </p:sp>
      <p:sp>
        <p:nvSpPr>
          <p:cNvPr id="35" name="Rectangle 34"/>
          <p:cNvSpPr/>
          <p:nvPr/>
        </p:nvSpPr>
        <p:spPr>
          <a:xfrm>
            <a:off x="548640" y="3749039"/>
            <a:ext cx="50800" cy="8229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548640" y="3749039"/>
            <a:ext cx="10972800" cy="82296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48640" y="3749039"/>
            <a:ext cx="50800" cy="8229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3840480"/>
            <a:ext cx="10058400" cy="640080"/>
          </a:xfrm>
          <a:prstGeom prst="rect">
            <a:avLst/>
          </a:prstGeom>
          <a:noFill/>
        </p:spPr>
        <p:txBody>
          <a:bodyPr wrap="square"/>
          <a:lstStyle/>
          <a:p>
            <a:pPr algn="l">
              <a:spcBef>
                <a:spcPts val="0"/>
              </a:spcBef>
              <a:spcAft>
                <a:spcPts val="400"/>
              </a:spcAft>
              <a:defRPr sz="1300" b="0" i="1">
                <a:solidFill>
                  <a:srgbClr val="1A4A7A"/>
                </a:solidFill>
                <a:latin typeface="Calibri"/>
              </a:defRPr>
            </a:pPr>
            <a:r>
              <a:t>"The client pays for time, not outcomes. And every time you get more efficient, your revenue goes down — because you are selling hours, not results."</a:t>
            </a:r>
          </a:p>
        </p:txBody>
      </p:sp>
      <p:sp>
        <p:nvSpPr>
          <p:cNvPr id="39" name="Rounded Rectangle 38"/>
          <p:cNvSpPr/>
          <p:nvPr/>
        </p:nvSpPr>
        <p:spPr>
          <a:xfrm>
            <a:off x="548640" y="4846320"/>
            <a:ext cx="10972800" cy="10972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14400" y="4937760"/>
            <a:ext cx="10058400" cy="914400"/>
          </a:xfrm>
          <a:prstGeom prst="rect">
            <a:avLst/>
          </a:prstGeom>
          <a:noFill/>
        </p:spPr>
        <p:txBody>
          <a:bodyPr wrap="square"/>
          <a:lstStyle/>
          <a:p>
            <a:pPr algn="l">
              <a:spcBef>
                <a:spcPts val="0"/>
              </a:spcBef>
              <a:spcAft>
                <a:spcPts val="200"/>
              </a:spcAft>
              <a:defRPr sz="1200" b="0" i="1">
                <a:solidFill>
                  <a:srgbClr val="4B5563"/>
                </a:solidFill>
                <a:latin typeface="Calibri"/>
              </a:defRPr>
            </a:pPr>
            <a:r>
              <a:t>"For five hundred years, every century has brought an evolution — and each time, the organisations that adapted survived, while those that didn't became history."</a:t>
            </a:r>
          </a:p>
          <a:p>
            <a:pPr algn="l">
              <a:spcBef>
                <a:spcPts val="0"/>
              </a:spcBef>
              <a:spcAft>
                <a:spcPts val="400"/>
              </a:spcAft>
              <a:defRPr sz="1000" b="0" i="0">
                <a:solidFill>
                  <a:srgbClr val="9CA3AF"/>
                </a:solidFill>
                <a:latin typeface="Calibri"/>
              </a:defRPr>
            </a:pPr>
            <a:r>
              <a:t>— From "Becoming a Frontier Professional"</a:t>
            </a:r>
          </a:p>
        </p:txBody>
      </p:sp>
      <p:sp>
        <p:nvSpPr>
          <p:cNvPr id="41" name="Rectangle 40"/>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43" name="TextBox 42"/>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The World That Is Coming</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FUTURE STATE</a:t>
            </a:r>
          </a:p>
        </p:txBody>
      </p:sp>
      <p:sp>
        <p:nvSpPr>
          <p:cNvPr id="5" name="TextBox 4"/>
          <p:cNvSpPr txBox="1"/>
          <p:nvPr/>
        </p:nvSpPr>
        <p:spPr>
          <a:xfrm>
            <a:off x="548640" y="822960"/>
            <a:ext cx="10972800" cy="457200"/>
          </a:xfrm>
          <a:prstGeom prst="rect">
            <a:avLst/>
          </a:prstGeom>
          <a:noFill/>
        </p:spPr>
        <p:txBody>
          <a:bodyPr wrap="square" anchor="t"/>
          <a:lstStyle/>
          <a:p>
            <a:pPr algn="l">
              <a:defRPr sz="1500" b="1">
                <a:solidFill>
                  <a:srgbClr val="374151"/>
                </a:solidFill>
                <a:latin typeface="Calibri"/>
              </a:defRPr>
            </a:pPr>
            <a:r>
              <a:t>The same loan pre-approval — delivered by a pod of 2 people and 21 digital agents.</a:t>
            </a:r>
          </a:p>
        </p:txBody>
      </p:sp>
      <p:sp>
        <p:nvSpPr>
          <p:cNvPr id="6" name="Rectangle 5"/>
          <p:cNvSpPr/>
          <p:nvPr/>
        </p:nvSpPr>
        <p:spPr>
          <a:xfrm>
            <a:off x="548640" y="1463040"/>
            <a:ext cx="50800"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63040"/>
            <a:ext cx="566928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50800"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5303520" cy="228600"/>
          </a:xfrm>
          <a:prstGeom prst="rect">
            <a:avLst/>
          </a:prstGeom>
          <a:noFill/>
        </p:spPr>
        <p:txBody>
          <a:bodyPr wrap="square" anchor="t"/>
          <a:lstStyle/>
          <a:p>
            <a:pPr algn="l">
              <a:defRPr sz="1200" b="1">
                <a:solidFill>
                  <a:srgbClr val="1A4A7A"/>
                </a:solidFill>
                <a:latin typeface="Calibri"/>
              </a:defRPr>
            </a:pPr>
            <a:r>
              <a:t>Priya — Product Definer</a:t>
            </a:r>
          </a:p>
        </p:txBody>
      </p:sp>
      <p:sp>
        <p:nvSpPr>
          <p:cNvPr id="10" name="TextBox 9"/>
          <p:cNvSpPr txBox="1"/>
          <p:nvPr/>
        </p:nvSpPr>
        <p:spPr>
          <a:xfrm>
            <a:off x="777240" y="1737360"/>
            <a:ext cx="5303520" cy="457200"/>
          </a:xfrm>
          <a:prstGeom prst="rect">
            <a:avLst/>
          </a:prstGeom>
          <a:noFill/>
        </p:spPr>
        <p:txBody>
          <a:bodyPr wrap="square" anchor="t"/>
          <a:lstStyle/>
          <a:p>
            <a:pPr algn="l">
              <a:defRPr sz="1000" b="0">
                <a:solidFill>
                  <a:srgbClr val="4B5563"/>
                </a:solidFill>
                <a:latin typeface="Calibri"/>
              </a:defRPr>
            </a:pPr>
            <a:r>
              <a:t>Understands the business problem deeply. Frames the outcome. Directs agents to draft specs, test scenarios, and user stories. Reviews and refines.</a:t>
            </a:r>
          </a:p>
        </p:txBody>
      </p:sp>
      <p:sp>
        <p:nvSpPr>
          <p:cNvPr id="11" name="Rectangle 10"/>
          <p:cNvSpPr/>
          <p:nvPr/>
        </p:nvSpPr>
        <p:spPr>
          <a:xfrm>
            <a:off x="548640" y="2377440"/>
            <a:ext cx="50800"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48640" y="2377440"/>
            <a:ext cx="566928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377440"/>
            <a:ext cx="50800"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423160"/>
            <a:ext cx="5303520" cy="228600"/>
          </a:xfrm>
          <a:prstGeom prst="rect">
            <a:avLst/>
          </a:prstGeom>
          <a:noFill/>
        </p:spPr>
        <p:txBody>
          <a:bodyPr wrap="square" anchor="t"/>
          <a:lstStyle/>
          <a:p>
            <a:pPr algn="l">
              <a:defRPr sz="1200" b="1">
                <a:solidFill>
                  <a:srgbClr val="1A4A7A"/>
                </a:solidFill>
                <a:latin typeface="Calibri"/>
              </a:defRPr>
            </a:pPr>
            <a:r>
              <a:t>Arjun — Product Builder</a:t>
            </a:r>
          </a:p>
        </p:txBody>
      </p:sp>
      <p:sp>
        <p:nvSpPr>
          <p:cNvPr id="15" name="TextBox 14"/>
          <p:cNvSpPr txBox="1"/>
          <p:nvPr/>
        </p:nvSpPr>
        <p:spPr>
          <a:xfrm>
            <a:off x="777240" y="2651760"/>
            <a:ext cx="5303520" cy="457200"/>
          </a:xfrm>
          <a:prstGeom prst="rect">
            <a:avLst/>
          </a:prstGeom>
          <a:noFill/>
        </p:spPr>
        <p:txBody>
          <a:bodyPr wrap="square" anchor="t"/>
          <a:lstStyle/>
          <a:p>
            <a:pPr algn="l">
              <a:defRPr sz="1000" b="0">
                <a:solidFill>
                  <a:srgbClr val="4B5563"/>
                </a:solidFill>
                <a:latin typeface="Calibri"/>
              </a:defRPr>
            </a:pPr>
            <a:r>
              <a:t>Directs a fleet of agents to design architecture, generate code, write tests, build pipelines, ship to production. Reviews, corrects, makes the calls no machine can.</a:t>
            </a:r>
          </a:p>
        </p:txBody>
      </p:sp>
      <p:sp>
        <p:nvSpPr>
          <p:cNvPr id="16" name="Rectangle 15"/>
          <p:cNvSpPr/>
          <p:nvPr/>
        </p:nvSpPr>
        <p:spPr>
          <a:xfrm>
            <a:off x="548640" y="3291840"/>
            <a:ext cx="50800"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3291840"/>
            <a:ext cx="566928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291840"/>
            <a:ext cx="50800"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337560"/>
            <a:ext cx="5303520" cy="228600"/>
          </a:xfrm>
          <a:prstGeom prst="rect">
            <a:avLst/>
          </a:prstGeom>
          <a:noFill/>
        </p:spPr>
        <p:txBody>
          <a:bodyPr wrap="square" anchor="t"/>
          <a:lstStyle/>
          <a:p>
            <a:pPr algn="l">
              <a:defRPr sz="1200" b="1">
                <a:solidFill>
                  <a:srgbClr val="1A4A7A"/>
                </a:solidFill>
                <a:latin typeface="Calibri"/>
              </a:defRPr>
            </a:pPr>
            <a:r>
              <a:t>Meera — Frontier Principal (shared across 4 pods)</a:t>
            </a:r>
          </a:p>
        </p:txBody>
      </p:sp>
      <p:sp>
        <p:nvSpPr>
          <p:cNvPr id="20" name="TextBox 19"/>
          <p:cNvSpPr txBox="1"/>
          <p:nvPr/>
        </p:nvSpPr>
        <p:spPr>
          <a:xfrm>
            <a:off x="777240" y="3566160"/>
            <a:ext cx="5303520" cy="457200"/>
          </a:xfrm>
          <a:prstGeom prst="rect">
            <a:avLst/>
          </a:prstGeom>
          <a:noFill/>
        </p:spPr>
        <p:txBody>
          <a:bodyPr wrap="square" anchor="t"/>
          <a:lstStyle/>
          <a:p>
            <a:pPr algn="l">
              <a:defRPr sz="1000" b="0">
                <a:solidFill>
                  <a:srgbClr val="4B5563"/>
                </a:solidFill>
                <a:latin typeface="Calibri"/>
              </a:defRPr>
            </a:pPr>
            <a:r>
              <a:t>Sets architecture standards, governs quality, steps in for truly novel problems. Earned, not assigned.</a:t>
            </a:r>
          </a:p>
        </p:txBody>
      </p:sp>
      <p:sp>
        <p:nvSpPr>
          <p:cNvPr id="21" name="Rounded Rectangle 20"/>
          <p:cNvSpPr/>
          <p:nvPr/>
        </p:nvSpPr>
        <p:spPr>
          <a:xfrm>
            <a:off x="6583680" y="1463040"/>
            <a:ext cx="5029200" cy="146304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1600200"/>
            <a:ext cx="5029200" cy="731520"/>
          </a:xfrm>
          <a:prstGeom prst="rect">
            <a:avLst/>
          </a:prstGeom>
          <a:noFill/>
        </p:spPr>
        <p:txBody>
          <a:bodyPr wrap="square" anchor="t"/>
          <a:lstStyle/>
          <a:p>
            <a:pPr algn="ctr">
              <a:defRPr sz="4800" b="1">
                <a:solidFill>
                  <a:srgbClr val="93C5FD"/>
                </a:solidFill>
                <a:latin typeface="Calibri"/>
              </a:defRPr>
            </a:pPr>
            <a:r>
              <a:t>3 days</a:t>
            </a:r>
          </a:p>
        </p:txBody>
      </p:sp>
      <p:sp>
        <p:nvSpPr>
          <p:cNvPr id="23" name="TextBox 22"/>
          <p:cNvSpPr txBox="1"/>
          <p:nvPr/>
        </p:nvSpPr>
        <p:spPr>
          <a:xfrm>
            <a:off x="6583680" y="2331720"/>
            <a:ext cx="5029200" cy="365760"/>
          </a:xfrm>
          <a:prstGeom prst="rect">
            <a:avLst/>
          </a:prstGeom>
          <a:noFill/>
        </p:spPr>
        <p:txBody>
          <a:bodyPr wrap="square" anchor="t"/>
          <a:lstStyle/>
          <a:p>
            <a:pPr algn="ctr">
              <a:defRPr sz="1400" b="0">
                <a:solidFill>
                  <a:srgbClr val="FFFFFF"/>
                </a:solidFill>
                <a:latin typeface="Calibri"/>
              </a:defRPr>
            </a:pPr>
            <a:r>
              <a:t>Not 3 months. Three days.</a:t>
            </a:r>
          </a:p>
        </p:txBody>
      </p:sp>
      <p:sp>
        <p:nvSpPr>
          <p:cNvPr id="24" name="Rounded Rectangle 23"/>
          <p:cNvSpPr/>
          <p:nvPr/>
        </p:nvSpPr>
        <p:spPr>
          <a:xfrm>
            <a:off x="6583680" y="3200400"/>
            <a:ext cx="2423160" cy="640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3246120"/>
            <a:ext cx="2423160" cy="320040"/>
          </a:xfrm>
          <a:prstGeom prst="rect">
            <a:avLst/>
          </a:prstGeom>
          <a:noFill/>
        </p:spPr>
        <p:txBody>
          <a:bodyPr wrap="square" anchor="t"/>
          <a:lstStyle/>
          <a:p>
            <a:pPr algn="ctr">
              <a:defRPr sz="2200" b="1">
                <a:solidFill>
                  <a:srgbClr val="1A56DB"/>
                </a:solidFill>
                <a:latin typeface="Calibri"/>
              </a:defRPr>
            </a:pPr>
            <a:r>
              <a:t>85%</a:t>
            </a:r>
          </a:p>
        </p:txBody>
      </p:sp>
      <p:sp>
        <p:nvSpPr>
          <p:cNvPr id="26" name="TextBox 25"/>
          <p:cNvSpPr txBox="1"/>
          <p:nvPr/>
        </p:nvSpPr>
        <p:spPr>
          <a:xfrm>
            <a:off x="6583680" y="3566160"/>
            <a:ext cx="2423160" cy="228600"/>
          </a:xfrm>
          <a:prstGeom prst="rect">
            <a:avLst/>
          </a:prstGeom>
          <a:noFill/>
        </p:spPr>
        <p:txBody>
          <a:bodyPr wrap="square" anchor="t"/>
          <a:lstStyle/>
          <a:p>
            <a:pPr algn="ctr">
              <a:defRPr sz="900" b="0">
                <a:solidFill>
                  <a:srgbClr val="6B7280"/>
                </a:solidFill>
                <a:latin typeface="Calibri"/>
              </a:defRPr>
            </a:pPr>
            <a:r>
              <a:t>Work done by agents</a:t>
            </a:r>
          </a:p>
        </p:txBody>
      </p:sp>
      <p:sp>
        <p:nvSpPr>
          <p:cNvPr id="27" name="Rounded Rectangle 26"/>
          <p:cNvSpPr/>
          <p:nvPr/>
        </p:nvSpPr>
        <p:spPr>
          <a:xfrm>
            <a:off x="9189720" y="3200400"/>
            <a:ext cx="2423160" cy="640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89720" y="3246120"/>
            <a:ext cx="2423160" cy="320040"/>
          </a:xfrm>
          <a:prstGeom prst="rect">
            <a:avLst/>
          </a:prstGeom>
          <a:noFill/>
        </p:spPr>
        <p:txBody>
          <a:bodyPr wrap="square" anchor="t"/>
          <a:lstStyle/>
          <a:p>
            <a:pPr algn="ctr">
              <a:defRPr sz="2200" b="1">
                <a:solidFill>
                  <a:srgbClr val="1A56DB"/>
                </a:solidFill>
                <a:latin typeface="Calibri"/>
              </a:defRPr>
            </a:pPr>
            <a:r>
              <a:t>15%</a:t>
            </a:r>
          </a:p>
        </p:txBody>
      </p:sp>
      <p:sp>
        <p:nvSpPr>
          <p:cNvPr id="29" name="TextBox 28"/>
          <p:cNvSpPr txBox="1"/>
          <p:nvPr/>
        </p:nvSpPr>
        <p:spPr>
          <a:xfrm>
            <a:off x="9189720" y="3566160"/>
            <a:ext cx="2423160" cy="228600"/>
          </a:xfrm>
          <a:prstGeom prst="rect">
            <a:avLst/>
          </a:prstGeom>
          <a:noFill/>
        </p:spPr>
        <p:txBody>
          <a:bodyPr wrap="square" anchor="t"/>
          <a:lstStyle/>
          <a:p>
            <a:pPr algn="ctr">
              <a:defRPr sz="900" b="0">
                <a:solidFill>
                  <a:srgbClr val="6B7280"/>
                </a:solidFill>
                <a:latin typeface="Calibri"/>
              </a:defRPr>
            </a:pPr>
            <a:r>
              <a:t>Human direction &amp; governance</a:t>
            </a:r>
          </a:p>
        </p:txBody>
      </p:sp>
      <p:sp>
        <p:nvSpPr>
          <p:cNvPr id="30" name="Rectangle 29"/>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32" name="TextBox 31"/>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What Is a Frontier Professional?</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THE ROLE</a:t>
            </a:r>
          </a:p>
        </p:txBody>
      </p:sp>
      <p:sp>
        <p:nvSpPr>
          <p:cNvPr id="5" name="TextBox 4"/>
          <p:cNvSpPr txBox="1"/>
          <p:nvPr/>
        </p:nvSpPr>
        <p:spPr>
          <a:xfrm>
            <a:off x="548640" y="822960"/>
            <a:ext cx="10972800" cy="457200"/>
          </a:xfrm>
          <a:prstGeom prst="rect">
            <a:avLst/>
          </a:prstGeom>
          <a:noFill/>
        </p:spPr>
        <p:txBody>
          <a:bodyPr wrap="square" anchor="t"/>
          <a:lstStyle/>
          <a:p>
            <a:pPr algn="l">
              <a:defRPr sz="1400" b="0">
                <a:solidFill>
                  <a:srgbClr val="374151"/>
                </a:solidFill>
                <a:latin typeface="Calibri"/>
              </a:defRPr>
            </a:pPr>
            <a:r>
              <a:t>Anyone, in any role, can grow into a Frontier Professional. The path is the same — only the domain changes.</a:t>
            </a:r>
          </a:p>
        </p:txBody>
      </p:sp>
      <p:sp>
        <p:nvSpPr>
          <p:cNvPr id="6" name="TextBox 5"/>
          <p:cNvSpPr txBox="1"/>
          <p:nvPr/>
        </p:nvSpPr>
        <p:spPr>
          <a:xfrm>
            <a:off x="548640" y="1371600"/>
            <a:ext cx="5486400" cy="320040"/>
          </a:xfrm>
          <a:prstGeom prst="rect">
            <a:avLst/>
          </a:prstGeom>
          <a:noFill/>
        </p:spPr>
        <p:txBody>
          <a:bodyPr wrap="square" anchor="t"/>
          <a:lstStyle/>
          <a:p>
            <a:pPr algn="l">
              <a:defRPr sz="1800" b="1">
                <a:solidFill>
                  <a:srgbClr val="1E3A5F"/>
                </a:solidFill>
                <a:latin typeface="Calibri"/>
              </a:defRPr>
            </a:pPr>
            <a:r>
              <a:t>The Journey — Four Stages</a:t>
            </a:r>
          </a:p>
        </p:txBody>
      </p:sp>
      <p:sp>
        <p:nvSpPr>
          <p:cNvPr id="7" name="Rectangle 6"/>
          <p:cNvSpPr/>
          <p:nvPr/>
        </p:nvSpPr>
        <p:spPr>
          <a:xfrm>
            <a:off x="548640" y="1828800"/>
            <a:ext cx="2606040" cy="5080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828800"/>
            <a:ext cx="260604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828800"/>
            <a:ext cx="2606040" cy="5080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965960"/>
            <a:ext cx="2331720" cy="228600"/>
          </a:xfrm>
          <a:prstGeom prst="rect">
            <a:avLst/>
          </a:prstGeom>
          <a:noFill/>
        </p:spPr>
        <p:txBody>
          <a:bodyPr wrap="square" anchor="t"/>
          <a:lstStyle/>
          <a:p>
            <a:pPr algn="l">
              <a:defRPr sz="1100" b="1">
                <a:solidFill>
                  <a:srgbClr val="9CA3AF"/>
                </a:solidFill>
                <a:latin typeface="Calibri"/>
              </a:defRPr>
            </a:pPr>
            <a:r>
              <a:t>Stage 0</a:t>
            </a:r>
          </a:p>
        </p:txBody>
      </p:sp>
      <p:sp>
        <p:nvSpPr>
          <p:cNvPr id="11" name="TextBox 10"/>
          <p:cNvSpPr txBox="1"/>
          <p:nvPr/>
        </p:nvSpPr>
        <p:spPr>
          <a:xfrm>
            <a:off x="685800" y="2194560"/>
            <a:ext cx="2331720" cy="320040"/>
          </a:xfrm>
          <a:prstGeom prst="rect">
            <a:avLst/>
          </a:prstGeom>
          <a:noFill/>
        </p:spPr>
        <p:txBody>
          <a:bodyPr wrap="square" anchor="t"/>
          <a:lstStyle/>
          <a:p>
            <a:pPr algn="l">
              <a:defRPr sz="1300" b="1">
                <a:solidFill>
                  <a:srgbClr val="111827"/>
                </a:solidFill>
                <a:latin typeface="Calibri"/>
              </a:defRPr>
            </a:pPr>
            <a:r>
              <a:t>Traditional</a:t>
            </a:r>
          </a:p>
        </p:txBody>
      </p:sp>
      <p:sp>
        <p:nvSpPr>
          <p:cNvPr id="12" name="TextBox 11"/>
          <p:cNvSpPr txBox="1"/>
          <p:nvPr/>
        </p:nvSpPr>
        <p:spPr>
          <a:xfrm>
            <a:off x="685800" y="2560320"/>
            <a:ext cx="2331720" cy="731520"/>
          </a:xfrm>
          <a:prstGeom prst="rect">
            <a:avLst/>
          </a:prstGeom>
          <a:noFill/>
        </p:spPr>
        <p:txBody>
          <a:bodyPr wrap="square" anchor="t"/>
          <a:lstStyle/>
          <a:p>
            <a:pPr algn="l">
              <a:defRPr sz="1000" b="0">
                <a:solidFill>
                  <a:srgbClr val="4B5563"/>
                </a:solidFill>
                <a:latin typeface="Calibri"/>
              </a:defRPr>
            </a:pPr>
            <a:r>
              <a:t>Manual work. No agent interaction. Current state for most roles.</a:t>
            </a:r>
          </a:p>
        </p:txBody>
      </p:sp>
      <p:sp>
        <p:nvSpPr>
          <p:cNvPr id="13" name="Rectangle 12"/>
          <p:cNvSpPr/>
          <p:nvPr/>
        </p:nvSpPr>
        <p:spPr>
          <a:xfrm>
            <a:off x="3337560" y="1828800"/>
            <a:ext cx="2606040" cy="508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337560" y="1828800"/>
            <a:ext cx="260604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37560" y="1828800"/>
            <a:ext cx="2606040" cy="508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1965960"/>
            <a:ext cx="2331720" cy="228600"/>
          </a:xfrm>
          <a:prstGeom prst="rect">
            <a:avLst/>
          </a:prstGeom>
          <a:noFill/>
        </p:spPr>
        <p:txBody>
          <a:bodyPr wrap="square" anchor="t"/>
          <a:lstStyle/>
          <a:p>
            <a:pPr algn="l">
              <a:defRPr sz="1100" b="1">
                <a:solidFill>
                  <a:srgbClr val="60A5FA"/>
                </a:solidFill>
                <a:latin typeface="Calibri"/>
              </a:defRPr>
            </a:pPr>
            <a:r>
              <a:t>Stage 1</a:t>
            </a:r>
          </a:p>
        </p:txBody>
      </p:sp>
      <p:sp>
        <p:nvSpPr>
          <p:cNvPr id="17" name="TextBox 16"/>
          <p:cNvSpPr txBox="1"/>
          <p:nvPr/>
        </p:nvSpPr>
        <p:spPr>
          <a:xfrm>
            <a:off x="3474720" y="2194560"/>
            <a:ext cx="2331720" cy="320040"/>
          </a:xfrm>
          <a:prstGeom prst="rect">
            <a:avLst/>
          </a:prstGeom>
          <a:noFill/>
        </p:spPr>
        <p:txBody>
          <a:bodyPr wrap="square" anchor="t"/>
          <a:lstStyle/>
          <a:p>
            <a:pPr algn="l">
              <a:defRPr sz="1300" b="1">
                <a:solidFill>
                  <a:srgbClr val="111827"/>
                </a:solidFill>
                <a:latin typeface="Calibri"/>
              </a:defRPr>
            </a:pPr>
            <a:r>
              <a:t>Agent-Assisted</a:t>
            </a:r>
          </a:p>
        </p:txBody>
      </p:sp>
      <p:sp>
        <p:nvSpPr>
          <p:cNvPr id="18" name="TextBox 17"/>
          <p:cNvSpPr txBox="1"/>
          <p:nvPr/>
        </p:nvSpPr>
        <p:spPr>
          <a:xfrm>
            <a:off x="3474720" y="2560320"/>
            <a:ext cx="2331720" cy="731520"/>
          </a:xfrm>
          <a:prstGeom prst="rect">
            <a:avLst/>
          </a:prstGeom>
          <a:noFill/>
        </p:spPr>
        <p:txBody>
          <a:bodyPr wrap="square" anchor="t"/>
          <a:lstStyle/>
          <a:p>
            <a:pPr algn="l">
              <a:defRPr sz="1000" b="0">
                <a:solidFill>
                  <a:srgbClr val="4B5563"/>
                </a:solidFill>
                <a:latin typeface="Calibri"/>
              </a:defRPr>
            </a:pPr>
            <a:r>
              <a:t>Agents handle routine tasks. Human reviews and approves. First step on the ladder.</a:t>
            </a:r>
          </a:p>
        </p:txBody>
      </p:sp>
      <p:sp>
        <p:nvSpPr>
          <p:cNvPr id="19" name="Rectangle 18"/>
          <p:cNvSpPr/>
          <p:nvPr/>
        </p:nvSpPr>
        <p:spPr>
          <a:xfrm>
            <a:off x="6126480" y="1828800"/>
            <a:ext cx="260604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26480" y="1828800"/>
            <a:ext cx="260604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26480" y="1828800"/>
            <a:ext cx="260604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1965960"/>
            <a:ext cx="2331720" cy="228600"/>
          </a:xfrm>
          <a:prstGeom prst="rect">
            <a:avLst/>
          </a:prstGeom>
          <a:noFill/>
        </p:spPr>
        <p:txBody>
          <a:bodyPr wrap="square" anchor="t"/>
          <a:lstStyle/>
          <a:p>
            <a:pPr algn="l">
              <a:defRPr sz="1100" b="1">
                <a:solidFill>
                  <a:srgbClr val="2563EB"/>
                </a:solidFill>
                <a:latin typeface="Calibri"/>
              </a:defRPr>
            </a:pPr>
            <a:r>
              <a:t>Stage 2</a:t>
            </a:r>
          </a:p>
        </p:txBody>
      </p:sp>
      <p:sp>
        <p:nvSpPr>
          <p:cNvPr id="23" name="TextBox 22"/>
          <p:cNvSpPr txBox="1"/>
          <p:nvPr/>
        </p:nvSpPr>
        <p:spPr>
          <a:xfrm>
            <a:off x="6263640" y="2194560"/>
            <a:ext cx="2331720" cy="320040"/>
          </a:xfrm>
          <a:prstGeom prst="rect">
            <a:avLst/>
          </a:prstGeom>
          <a:noFill/>
        </p:spPr>
        <p:txBody>
          <a:bodyPr wrap="square" anchor="t"/>
          <a:lstStyle/>
          <a:p>
            <a:pPr algn="l">
              <a:defRPr sz="1300" b="1">
                <a:solidFill>
                  <a:srgbClr val="111827"/>
                </a:solidFill>
                <a:latin typeface="Calibri"/>
              </a:defRPr>
            </a:pPr>
            <a:r>
              <a:t>Frontier Engineer / Operator</a:t>
            </a:r>
          </a:p>
        </p:txBody>
      </p:sp>
      <p:sp>
        <p:nvSpPr>
          <p:cNvPr id="24" name="TextBox 23"/>
          <p:cNvSpPr txBox="1"/>
          <p:nvPr/>
        </p:nvSpPr>
        <p:spPr>
          <a:xfrm>
            <a:off x="6263640" y="2560320"/>
            <a:ext cx="2331720" cy="731520"/>
          </a:xfrm>
          <a:prstGeom prst="rect">
            <a:avLst/>
          </a:prstGeom>
          <a:noFill/>
        </p:spPr>
        <p:txBody>
          <a:bodyPr wrap="square" anchor="t"/>
          <a:lstStyle/>
          <a:p>
            <a:pPr algn="l">
              <a:defRPr sz="1000" b="0">
                <a:solidFill>
                  <a:srgbClr val="4B5563"/>
                </a:solidFill>
                <a:latin typeface="Calibri"/>
              </a:defRPr>
            </a:pPr>
            <a:r>
              <a:t>Directs agent fleets end-to-end. Owns outcomes. Governs by exception.</a:t>
            </a:r>
          </a:p>
        </p:txBody>
      </p:sp>
      <p:sp>
        <p:nvSpPr>
          <p:cNvPr id="25" name="Rectangle 24"/>
          <p:cNvSpPr/>
          <p:nvPr/>
        </p:nvSpPr>
        <p:spPr>
          <a:xfrm>
            <a:off x="8915400" y="1828800"/>
            <a:ext cx="2606040" cy="50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915400" y="1828800"/>
            <a:ext cx="260604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15400" y="1828800"/>
            <a:ext cx="2606040" cy="50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52560" y="1965960"/>
            <a:ext cx="2331720" cy="228600"/>
          </a:xfrm>
          <a:prstGeom prst="rect">
            <a:avLst/>
          </a:prstGeom>
          <a:noFill/>
        </p:spPr>
        <p:txBody>
          <a:bodyPr wrap="square" anchor="t"/>
          <a:lstStyle/>
          <a:p>
            <a:pPr algn="l">
              <a:defRPr sz="1100" b="1">
                <a:solidFill>
                  <a:srgbClr val="1E3A5F"/>
                </a:solidFill>
                <a:latin typeface="Calibri"/>
              </a:defRPr>
            </a:pPr>
            <a:r>
              <a:t>Stage 3</a:t>
            </a:r>
          </a:p>
        </p:txBody>
      </p:sp>
      <p:sp>
        <p:nvSpPr>
          <p:cNvPr id="29" name="TextBox 28"/>
          <p:cNvSpPr txBox="1"/>
          <p:nvPr/>
        </p:nvSpPr>
        <p:spPr>
          <a:xfrm>
            <a:off x="9052560" y="2194560"/>
            <a:ext cx="2331720" cy="320040"/>
          </a:xfrm>
          <a:prstGeom prst="rect">
            <a:avLst/>
          </a:prstGeom>
          <a:noFill/>
        </p:spPr>
        <p:txBody>
          <a:bodyPr wrap="square" anchor="t"/>
          <a:lstStyle/>
          <a:p>
            <a:pPr algn="l">
              <a:defRPr sz="1300" b="1">
                <a:solidFill>
                  <a:srgbClr val="111827"/>
                </a:solidFill>
                <a:latin typeface="Calibri"/>
              </a:defRPr>
            </a:pPr>
            <a:r>
              <a:t>Frontier Principal</a:t>
            </a:r>
          </a:p>
        </p:txBody>
      </p:sp>
      <p:sp>
        <p:nvSpPr>
          <p:cNvPr id="30" name="TextBox 29"/>
          <p:cNvSpPr txBox="1"/>
          <p:nvPr/>
        </p:nvSpPr>
        <p:spPr>
          <a:xfrm>
            <a:off x="9052560" y="2560320"/>
            <a:ext cx="2331720" cy="731520"/>
          </a:xfrm>
          <a:prstGeom prst="rect">
            <a:avLst/>
          </a:prstGeom>
          <a:noFill/>
        </p:spPr>
        <p:txBody>
          <a:bodyPr wrap="square" anchor="t"/>
          <a:lstStyle/>
          <a:p>
            <a:pPr algn="l">
              <a:defRPr sz="1000" b="0">
                <a:solidFill>
                  <a:srgbClr val="4B5563"/>
                </a:solidFill>
                <a:latin typeface="Calibri"/>
              </a:defRPr>
            </a:pPr>
            <a:r>
              <a:t>Mastered both building &amp; operating. Strategic anchor across pods. Earned, not assigned.</a:t>
            </a:r>
          </a:p>
        </p:txBody>
      </p:sp>
      <p:sp>
        <p:nvSpPr>
          <p:cNvPr id="31" name="Rectangle 30"/>
          <p:cNvSpPr/>
          <p:nvPr/>
        </p:nvSpPr>
        <p:spPr>
          <a:xfrm>
            <a:off x="548640" y="3840480"/>
            <a:ext cx="50800"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48640" y="3840480"/>
            <a:ext cx="3566160" cy="5943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8640" y="3840480"/>
            <a:ext cx="50800"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3886200"/>
            <a:ext cx="3200400" cy="228600"/>
          </a:xfrm>
          <a:prstGeom prst="rect">
            <a:avLst/>
          </a:prstGeom>
          <a:noFill/>
        </p:spPr>
        <p:txBody>
          <a:bodyPr wrap="square" anchor="t"/>
          <a:lstStyle/>
          <a:p>
            <a:pPr algn="l">
              <a:defRPr sz="1200" b="1">
                <a:solidFill>
                  <a:srgbClr val="1A56DB"/>
                </a:solidFill>
                <a:latin typeface="Calibri"/>
              </a:defRPr>
            </a:pPr>
            <a:r>
              <a:t>Frontier Engineer</a:t>
            </a:r>
          </a:p>
        </p:txBody>
      </p:sp>
      <p:sp>
        <p:nvSpPr>
          <p:cNvPr id="35" name="TextBox 34"/>
          <p:cNvSpPr txBox="1"/>
          <p:nvPr/>
        </p:nvSpPr>
        <p:spPr>
          <a:xfrm>
            <a:off x="731520" y="4133088"/>
            <a:ext cx="3200400" cy="228600"/>
          </a:xfrm>
          <a:prstGeom prst="rect">
            <a:avLst/>
          </a:prstGeom>
          <a:noFill/>
        </p:spPr>
        <p:txBody>
          <a:bodyPr wrap="square" anchor="t"/>
          <a:lstStyle/>
          <a:p>
            <a:pPr algn="l">
              <a:defRPr sz="1000" b="0">
                <a:solidFill>
                  <a:srgbClr val="4B5563"/>
                </a:solidFill>
                <a:latin typeface="Calibri"/>
              </a:defRPr>
            </a:pPr>
            <a:r>
              <a:t>Builds and deploys AI-native systems</a:t>
            </a:r>
          </a:p>
        </p:txBody>
      </p:sp>
      <p:sp>
        <p:nvSpPr>
          <p:cNvPr id="36" name="Rectangle 35"/>
          <p:cNvSpPr/>
          <p:nvPr/>
        </p:nvSpPr>
        <p:spPr>
          <a:xfrm>
            <a:off x="4297679" y="3840480"/>
            <a:ext cx="50800"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297679" y="3840480"/>
            <a:ext cx="3566160" cy="5943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297679" y="3840480"/>
            <a:ext cx="50800"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80559" y="3886200"/>
            <a:ext cx="3200400" cy="228600"/>
          </a:xfrm>
          <a:prstGeom prst="rect">
            <a:avLst/>
          </a:prstGeom>
          <a:noFill/>
        </p:spPr>
        <p:txBody>
          <a:bodyPr wrap="square" anchor="t"/>
          <a:lstStyle/>
          <a:p>
            <a:pPr algn="l">
              <a:defRPr sz="1200" b="1">
                <a:solidFill>
                  <a:srgbClr val="1A56DB"/>
                </a:solidFill>
                <a:latin typeface="Calibri"/>
              </a:defRPr>
            </a:pPr>
            <a:r>
              <a:t>Frontier Operator</a:t>
            </a:r>
          </a:p>
        </p:txBody>
      </p:sp>
      <p:sp>
        <p:nvSpPr>
          <p:cNvPr id="40" name="TextBox 39"/>
          <p:cNvSpPr txBox="1"/>
          <p:nvPr/>
        </p:nvSpPr>
        <p:spPr>
          <a:xfrm>
            <a:off x="4480559" y="4133088"/>
            <a:ext cx="3200400" cy="228600"/>
          </a:xfrm>
          <a:prstGeom prst="rect">
            <a:avLst/>
          </a:prstGeom>
          <a:noFill/>
        </p:spPr>
        <p:txBody>
          <a:bodyPr wrap="square" anchor="t"/>
          <a:lstStyle/>
          <a:p>
            <a:pPr algn="l">
              <a:defRPr sz="1000" b="0">
                <a:solidFill>
                  <a:srgbClr val="4B5563"/>
                </a:solidFill>
                <a:latin typeface="Calibri"/>
              </a:defRPr>
            </a:pPr>
            <a:r>
              <a:t>Runs and governs AI-enabled operations</a:t>
            </a:r>
          </a:p>
        </p:txBody>
      </p:sp>
      <p:sp>
        <p:nvSpPr>
          <p:cNvPr id="41" name="Rectangle 40"/>
          <p:cNvSpPr/>
          <p:nvPr/>
        </p:nvSpPr>
        <p:spPr>
          <a:xfrm>
            <a:off x="8046718" y="3840480"/>
            <a:ext cx="50800"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046718" y="3840480"/>
            <a:ext cx="3566160" cy="5943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046718" y="3840480"/>
            <a:ext cx="50800" cy="5943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598" y="3886200"/>
            <a:ext cx="3200400" cy="228600"/>
          </a:xfrm>
          <a:prstGeom prst="rect">
            <a:avLst/>
          </a:prstGeom>
          <a:noFill/>
        </p:spPr>
        <p:txBody>
          <a:bodyPr wrap="square" anchor="t"/>
          <a:lstStyle/>
          <a:p>
            <a:pPr algn="l">
              <a:defRPr sz="1200" b="1">
                <a:solidFill>
                  <a:srgbClr val="1A56DB"/>
                </a:solidFill>
                <a:latin typeface="Calibri"/>
              </a:defRPr>
            </a:pPr>
            <a:r>
              <a:t>Frontier Principal</a:t>
            </a:r>
          </a:p>
        </p:txBody>
      </p:sp>
      <p:sp>
        <p:nvSpPr>
          <p:cNvPr id="45" name="TextBox 44"/>
          <p:cNvSpPr txBox="1"/>
          <p:nvPr/>
        </p:nvSpPr>
        <p:spPr>
          <a:xfrm>
            <a:off x="8229598" y="4133088"/>
            <a:ext cx="3200400" cy="228600"/>
          </a:xfrm>
          <a:prstGeom prst="rect">
            <a:avLst/>
          </a:prstGeom>
          <a:noFill/>
        </p:spPr>
        <p:txBody>
          <a:bodyPr wrap="square" anchor="t"/>
          <a:lstStyle/>
          <a:p>
            <a:pPr algn="l">
              <a:defRPr sz="1000" b="0">
                <a:solidFill>
                  <a:srgbClr val="4B5563"/>
                </a:solidFill>
                <a:latin typeface="Calibri"/>
              </a:defRPr>
            </a:pPr>
            <a:r>
              <a:t>Master of both — the rarest, highest-value tier</a:t>
            </a:r>
          </a:p>
        </p:txBody>
      </p:sp>
      <p:sp>
        <p:nvSpPr>
          <p:cNvPr id="46" name="Rectangle 45"/>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48" name="TextBox 47"/>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Six Principles That Anchor the Model</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FOUNDATION</a:t>
            </a:r>
          </a:p>
        </p:txBody>
      </p:sp>
      <p:sp>
        <p:nvSpPr>
          <p:cNvPr id="5" name="Rounded Rectangle 4"/>
          <p:cNvSpPr/>
          <p:nvPr/>
        </p:nvSpPr>
        <p:spPr>
          <a:xfrm>
            <a:off x="548640" y="1005840"/>
            <a:ext cx="347472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097280"/>
            <a:ext cx="914400" cy="365760"/>
          </a:xfrm>
          <a:prstGeom prst="rect">
            <a:avLst/>
          </a:prstGeom>
          <a:noFill/>
        </p:spPr>
        <p:txBody>
          <a:bodyPr wrap="square" anchor="t"/>
          <a:lstStyle/>
          <a:p>
            <a:pPr algn="l">
              <a:defRPr sz="2400" b="1">
                <a:solidFill>
                  <a:srgbClr val="93C5FD"/>
                </a:solidFill>
                <a:latin typeface="Calibri"/>
              </a:defRPr>
            </a:pPr>
            <a:r>
              <a:t>01</a:t>
            </a:r>
          </a:p>
        </p:txBody>
      </p:sp>
      <p:sp>
        <p:nvSpPr>
          <p:cNvPr id="7" name="TextBox 6"/>
          <p:cNvSpPr txBox="1"/>
          <p:nvPr/>
        </p:nvSpPr>
        <p:spPr>
          <a:xfrm>
            <a:off x="685800" y="1463040"/>
            <a:ext cx="3200400" cy="274320"/>
          </a:xfrm>
          <a:prstGeom prst="rect">
            <a:avLst/>
          </a:prstGeom>
          <a:noFill/>
        </p:spPr>
        <p:txBody>
          <a:bodyPr wrap="square" anchor="t"/>
          <a:lstStyle/>
          <a:p>
            <a:pPr algn="l">
              <a:defRPr sz="1300" b="1">
                <a:solidFill>
                  <a:srgbClr val="1A4A7A"/>
                </a:solidFill>
                <a:latin typeface="Calibri"/>
              </a:defRPr>
            </a:pPr>
            <a:r>
              <a:t>Interdisciplinary Capability</a:t>
            </a:r>
          </a:p>
        </p:txBody>
      </p:sp>
      <p:sp>
        <p:nvSpPr>
          <p:cNvPr id="8" name="TextBox 7"/>
          <p:cNvSpPr txBox="1"/>
          <p:nvPr/>
        </p:nvSpPr>
        <p:spPr>
          <a:xfrm>
            <a:off x="685800" y="1783080"/>
            <a:ext cx="3200400" cy="731520"/>
          </a:xfrm>
          <a:prstGeom prst="rect">
            <a:avLst/>
          </a:prstGeom>
          <a:noFill/>
        </p:spPr>
        <p:txBody>
          <a:bodyPr wrap="square" anchor="t"/>
          <a:lstStyle/>
          <a:p>
            <a:pPr algn="l">
              <a:defRPr sz="1100" b="0">
                <a:solidFill>
                  <a:srgbClr val="4B5563"/>
                </a:solidFill>
                <a:latin typeface="Calibri"/>
              </a:defRPr>
            </a:pPr>
            <a:r>
              <a:t>Blend business, design, engineering, and operations in one person. No more "that's not my job."</a:t>
            </a:r>
          </a:p>
        </p:txBody>
      </p:sp>
      <p:sp>
        <p:nvSpPr>
          <p:cNvPr id="9" name="Rounded Rectangle 8"/>
          <p:cNvSpPr/>
          <p:nvPr/>
        </p:nvSpPr>
        <p:spPr>
          <a:xfrm>
            <a:off x="4251960" y="1005840"/>
            <a:ext cx="347472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0" y="1097280"/>
            <a:ext cx="914400" cy="365760"/>
          </a:xfrm>
          <a:prstGeom prst="rect">
            <a:avLst/>
          </a:prstGeom>
          <a:noFill/>
        </p:spPr>
        <p:txBody>
          <a:bodyPr wrap="square" anchor="t"/>
          <a:lstStyle/>
          <a:p>
            <a:pPr algn="l">
              <a:defRPr sz="2400" b="1">
                <a:solidFill>
                  <a:srgbClr val="93C5FD"/>
                </a:solidFill>
                <a:latin typeface="Calibri"/>
              </a:defRPr>
            </a:pPr>
            <a:r>
              <a:t>02</a:t>
            </a:r>
          </a:p>
        </p:txBody>
      </p:sp>
      <p:sp>
        <p:nvSpPr>
          <p:cNvPr id="11" name="TextBox 10"/>
          <p:cNvSpPr txBox="1"/>
          <p:nvPr/>
        </p:nvSpPr>
        <p:spPr>
          <a:xfrm>
            <a:off x="4389120" y="1463040"/>
            <a:ext cx="3200400" cy="274320"/>
          </a:xfrm>
          <a:prstGeom prst="rect">
            <a:avLst/>
          </a:prstGeom>
          <a:noFill/>
        </p:spPr>
        <p:txBody>
          <a:bodyPr wrap="square" anchor="t"/>
          <a:lstStyle/>
          <a:p>
            <a:pPr algn="l">
              <a:defRPr sz="1300" b="1">
                <a:solidFill>
                  <a:srgbClr val="1A4A7A"/>
                </a:solidFill>
                <a:latin typeface="Calibri"/>
              </a:defRPr>
            </a:pPr>
            <a:r>
              <a:t>Direct Linkage to Value</a:t>
            </a:r>
          </a:p>
        </p:txBody>
      </p:sp>
      <p:sp>
        <p:nvSpPr>
          <p:cNvPr id="12" name="TextBox 11"/>
          <p:cNvSpPr txBox="1"/>
          <p:nvPr/>
        </p:nvSpPr>
        <p:spPr>
          <a:xfrm>
            <a:off x="4389120" y="1783080"/>
            <a:ext cx="3200400" cy="731520"/>
          </a:xfrm>
          <a:prstGeom prst="rect">
            <a:avLst/>
          </a:prstGeom>
          <a:noFill/>
        </p:spPr>
        <p:txBody>
          <a:bodyPr wrap="square" anchor="t"/>
          <a:lstStyle/>
          <a:p>
            <a:pPr algn="l">
              <a:defRPr sz="1100" b="0">
                <a:solidFill>
                  <a:srgbClr val="4B5563"/>
                </a:solidFill>
                <a:latin typeface="Calibri"/>
              </a:defRPr>
            </a:pPr>
            <a:r>
              <a:t>Every effort ties to a measurable outcome. If you cannot explain how your work creates value, it shouldn't be done.</a:t>
            </a:r>
          </a:p>
        </p:txBody>
      </p:sp>
      <p:sp>
        <p:nvSpPr>
          <p:cNvPr id="13" name="Rounded Rectangle 12"/>
          <p:cNvSpPr/>
          <p:nvPr/>
        </p:nvSpPr>
        <p:spPr>
          <a:xfrm>
            <a:off x="7955280" y="1005840"/>
            <a:ext cx="347472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1097280"/>
            <a:ext cx="914400" cy="365760"/>
          </a:xfrm>
          <a:prstGeom prst="rect">
            <a:avLst/>
          </a:prstGeom>
          <a:noFill/>
        </p:spPr>
        <p:txBody>
          <a:bodyPr wrap="square" anchor="t"/>
          <a:lstStyle/>
          <a:p>
            <a:pPr algn="l">
              <a:defRPr sz="2400" b="1">
                <a:solidFill>
                  <a:srgbClr val="93C5FD"/>
                </a:solidFill>
                <a:latin typeface="Calibri"/>
              </a:defRPr>
            </a:pPr>
            <a:r>
              <a:t>03</a:t>
            </a:r>
          </a:p>
        </p:txBody>
      </p:sp>
      <p:sp>
        <p:nvSpPr>
          <p:cNvPr id="15" name="TextBox 14"/>
          <p:cNvSpPr txBox="1"/>
          <p:nvPr/>
        </p:nvSpPr>
        <p:spPr>
          <a:xfrm>
            <a:off x="8092440" y="1463040"/>
            <a:ext cx="3200400" cy="274320"/>
          </a:xfrm>
          <a:prstGeom prst="rect">
            <a:avLst/>
          </a:prstGeom>
          <a:noFill/>
        </p:spPr>
        <p:txBody>
          <a:bodyPr wrap="square" anchor="t"/>
          <a:lstStyle/>
          <a:p>
            <a:pPr algn="l">
              <a:defRPr sz="1300" b="1">
                <a:solidFill>
                  <a:srgbClr val="1A4A7A"/>
                </a:solidFill>
                <a:latin typeface="Calibri"/>
              </a:defRPr>
            </a:pPr>
            <a:r>
              <a:t>Agents as Routine</a:t>
            </a:r>
          </a:p>
        </p:txBody>
      </p:sp>
      <p:sp>
        <p:nvSpPr>
          <p:cNvPr id="16" name="TextBox 15"/>
          <p:cNvSpPr txBox="1"/>
          <p:nvPr/>
        </p:nvSpPr>
        <p:spPr>
          <a:xfrm>
            <a:off x="8092440" y="1783080"/>
            <a:ext cx="3200400" cy="731520"/>
          </a:xfrm>
          <a:prstGeom prst="rect">
            <a:avLst/>
          </a:prstGeom>
          <a:noFill/>
        </p:spPr>
        <p:txBody>
          <a:bodyPr wrap="square" anchor="t"/>
          <a:lstStyle/>
          <a:p>
            <a:pPr algn="l">
              <a:defRPr sz="1100" b="0">
                <a:solidFill>
                  <a:srgbClr val="4B5563"/>
                </a:solidFill>
                <a:latin typeface="Calibri"/>
              </a:defRPr>
            </a:pPr>
            <a:r>
              <a:t>Working alongside agents is as routine as using email. Not an innovation project — how work gets done.</a:t>
            </a:r>
          </a:p>
        </p:txBody>
      </p:sp>
      <p:sp>
        <p:nvSpPr>
          <p:cNvPr id="17" name="Rounded Rectangle 16"/>
          <p:cNvSpPr/>
          <p:nvPr/>
        </p:nvSpPr>
        <p:spPr>
          <a:xfrm>
            <a:off x="548640" y="2834640"/>
            <a:ext cx="347472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2926080"/>
            <a:ext cx="914400" cy="365760"/>
          </a:xfrm>
          <a:prstGeom prst="rect">
            <a:avLst/>
          </a:prstGeom>
          <a:noFill/>
        </p:spPr>
        <p:txBody>
          <a:bodyPr wrap="square" anchor="t"/>
          <a:lstStyle/>
          <a:p>
            <a:pPr algn="l">
              <a:defRPr sz="2400" b="1">
                <a:solidFill>
                  <a:srgbClr val="93C5FD"/>
                </a:solidFill>
                <a:latin typeface="Calibri"/>
              </a:defRPr>
            </a:pPr>
            <a:r>
              <a:t>04</a:t>
            </a:r>
          </a:p>
        </p:txBody>
      </p:sp>
      <p:sp>
        <p:nvSpPr>
          <p:cNvPr id="19" name="TextBox 18"/>
          <p:cNvSpPr txBox="1"/>
          <p:nvPr/>
        </p:nvSpPr>
        <p:spPr>
          <a:xfrm>
            <a:off x="685800" y="3291840"/>
            <a:ext cx="3200400" cy="274320"/>
          </a:xfrm>
          <a:prstGeom prst="rect">
            <a:avLst/>
          </a:prstGeom>
          <a:noFill/>
        </p:spPr>
        <p:txBody>
          <a:bodyPr wrap="square" anchor="t"/>
          <a:lstStyle/>
          <a:p>
            <a:pPr algn="l">
              <a:defRPr sz="1300" b="1">
                <a:solidFill>
                  <a:srgbClr val="1A4A7A"/>
                </a:solidFill>
                <a:latin typeface="Calibri"/>
              </a:defRPr>
            </a:pPr>
            <a:r>
              <a:t>End-to-End Accountability</a:t>
            </a:r>
          </a:p>
        </p:txBody>
      </p:sp>
      <p:sp>
        <p:nvSpPr>
          <p:cNvPr id="20" name="TextBox 19"/>
          <p:cNvSpPr txBox="1"/>
          <p:nvPr/>
        </p:nvSpPr>
        <p:spPr>
          <a:xfrm>
            <a:off x="685800" y="3611880"/>
            <a:ext cx="3200400" cy="731520"/>
          </a:xfrm>
          <a:prstGeom prst="rect">
            <a:avLst/>
          </a:prstGeom>
          <a:noFill/>
        </p:spPr>
        <p:txBody>
          <a:bodyPr wrap="square" anchor="t"/>
          <a:lstStyle/>
          <a:p>
            <a:pPr algn="l">
              <a:defRPr sz="1100" b="0">
                <a:solidFill>
                  <a:srgbClr val="4B5563"/>
                </a:solidFill>
                <a:latin typeface="Calibri"/>
              </a:defRPr>
            </a:pPr>
            <a:r>
              <a:t>You own the outcome from problem to running solution. Not your piece of it — all of it.</a:t>
            </a:r>
          </a:p>
        </p:txBody>
      </p:sp>
      <p:sp>
        <p:nvSpPr>
          <p:cNvPr id="21" name="Rounded Rectangle 20"/>
          <p:cNvSpPr/>
          <p:nvPr/>
        </p:nvSpPr>
        <p:spPr>
          <a:xfrm>
            <a:off x="4251960" y="2834640"/>
            <a:ext cx="347472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2926080"/>
            <a:ext cx="914400" cy="365760"/>
          </a:xfrm>
          <a:prstGeom prst="rect">
            <a:avLst/>
          </a:prstGeom>
          <a:noFill/>
        </p:spPr>
        <p:txBody>
          <a:bodyPr wrap="square" anchor="t"/>
          <a:lstStyle/>
          <a:p>
            <a:pPr algn="l">
              <a:defRPr sz="2400" b="1">
                <a:solidFill>
                  <a:srgbClr val="93C5FD"/>
                </a:solidFill>
                <a:latin typeface="Calibri"/>
              </a:defRPr>
            </a:pPr>
            <a:r>
              <a:t>05</a:t>
            </a:r>
          </a:p>
        </p:txBody>
      </p:sp>
      <p:sp>
        <p:nvSpPr>
          <p:cNvPr id="23" name="TextBox 22"/>
          <p:cNvSpPr txBox="1"/>
          <p:nvPr/>
        </p:nvSpPr>
        <p:spPr>
          <a:xfrm>
            <a:off x="4389120" y="3291840"/>
            <a:ext cx="3200400" cy="274320"/>
          </a:xfrm>
          <a:prstGeom prst="rect">
            <a:avLst/>
          </a:prstGeom>
          <a:noFill/>
        </p:spPr>
        <p:txBody>
          <a:bodyPr wrap="square" anchor="t"/>
          <a:lstStyle/>
          <a:p>
            <a:pPr algn="l">
              <a:defRPr sz="1300" b="1">
                <a:solidFill>
                  <a:srgbClr val="1A4A7A"/>
                </a:solidFill>
                <a:latin typeface="Calibri"/>
              </a:defRPr>
            </a:pPr>
            <a:r>
              <a:t>The Pod Is the Unit</a:t>
            </a:r>
          </a:p>
        </p:txBody>
      </p:sp>
      <p:sp>
        <p:nvSpPr>
          <p:cNvPr id="24" name="TextBox 23"/>
          <p:cNvSpPr txBox="1"/>
          <p:nvPr/>
        </p:nvSpPr>
        <p:spPr>
          <a:xfrm>
            <a:off x="4389120" y="3611880"/>
            <a:ext cx="3200400" cy="731520"/>
          </a:xfrm>
          <a:prstGeom prst="rect">
            <a:avLst/>
          </a:prstGeom>
          <a:noFill/>
        </p:spPr>
        <p:txBody>
          <a:bodyPr wrap="square" anchor="t"/>
          <a:lstStyle/>
          <a:p>
            <a:pPr algn="l">
              <a:defRPr sz="1100" b="0">
                <a:solidFill>
                  <a:srgbClr val="4B5563"/>
                </a:solidFill>
                <a:latin typeface="Calibri"/>
              </a:defRPr>
            </a:pPr>
            <a:r>
              <a:t>Small 1–3 person pods, not large handoff chains. The pod is you, multiplied, with agents doing the execution.</a:t>
            </a:r>
          </a:p>
        </p:txBody>
      </p:sp>
      <p:sp>
        <p:nvSpPr>
          <p:cNvPr id="25" name="Rounded Rectangle 24"/>
          <p:cNvSpPr/>
          <p:nvPr/>
        </p:nvSpPr>
        <p:spPr>
          <a:xfrm>
            <a:off x="7955280" y="2834640"/>
            <a:ext cx="347472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92440" y="2926080"/>
            <a:ext cx="914400" cy="365760"/>
          </a:xfrm>
          <a:prstGeom prst="rect">
            <a:avLst/>
          </a:prstGeom>
          <a:noFill/>
        </p:spPr>
        <p:txBody>
          <a:bodyPr wrap="square" anchor="t"/>
          <a:lstStyle/>
          <a:p>
            <a:pPr algn="l">
              <a:defRPr sz="2400" b="1">
                <a:solidFill>
                  <a:srgbClr val="93C5FD"/>
                </a:solidFill>
                <a:latin typeface="Calibri"/>
              </a:defRPr>
            </a:pPr>
            <a:r>
              <a:t>06</a:t>
            </a:r>
          </a:p>
        </p:txBody>
      </p:sp>
      <p:sp>
        <p:nvSpPr>
          <p:cNvPr id="27" name="TextBox 26"/>
          <p:cNvSpPr txBox="1"/>
          <p:nvPr/>
        </p:nvSpPr>
        <p:spPr>
          <a:xfrm>
            <a:off x="8092440" y="3291840"/>
            <a:ext cx="3200400" cy="274320"/>
          </a:xfrm>
          <a:prstGeom prst="rect">
            <a:avLst/>
          </a:prstGeom>
          <a:noFill/>
        </p:spPr>
        <p:txBody>
          <a:bodyPr wrap="square" anchor="t"/>
          <a:lstStyle/>
          <a:p>
            <a:pPr algn="l">
              <a:defRPr sz="1300" b="1">
                <a:solidFill>
                  <a:srgbClr val="1A4A7A"/>
                </a:solidFill>
                <a:latin typeface="Calibri"/>
              </a:defRPr>
            </a:pPr>
            <a:r>
              <a:t>One Unified Experience</a:t>
            </a:r>
          </a:p>
        </p:txBody>
      </p:sp>
      <p:sp>
        <p:nvSpPr>
          <p:cNvPr id="28" name="TextBox 27"/>
          <p:cNvSpPr txBox="1"/>
          <p:nvPr/>
        </p:nvSpPr>
        <p:spPr>
          <a:xfrm>
            <a:off x="8092440" y="3611880"/>
            <a:ext cx="3200400" cy="731520"/>
          </a:xfrm>
          <a:prstGeom prst="rect">
            <a:avLst/>
          </a:prstGeom>
          <a:noFill/>
        </p:spPr>
        <p:txBody>
          <a:bodyPr wrap="square" anchor="t"/>
          <a:lstStyle/>
          <a:p>
            <a:pPr algn="l">
              <a:defRPr sz="1100" b="0">
                <a:solidFill>
                  <a:srgbClr val="4B5563"/>
                </a:solidFill>
                <a:latin typeface="Calibri"/>
              </a:defRPr>
            </a:pPr>
            <a:r>
              <a:t>The client sees one team, one front door. Not a matrix of roles and escalation paths.</a:t>
            </a:r>
          </a:p>
        </p:txBody>
      </p:sp>
      <p:sp>
        <p:nvSpPr>
          <p:cNvPr id="29" name="Rectangle 28"/>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31" name="TextBox 30"/>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The New Literacy</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SKILLS</a:t>
            </a:r>
          </a:p>
        </p:txBody>
      </p:sp>
      <p:sp>
        <p:nvSpPr>
          <p:cNvPr id="5" name="TextBox 4"/>
          <p:cNvSpPr txBox="1"/>
          <p:nvPr/>
        </p:nvSpPr>
        <p:spPr>
          <a:xfrm>
            <a:off x="548640" y="822960"/>
            <a:ext cx="10972800" cy="365760"/>
          </a:xfrm>
          <a:prstGeom prst="rect">
            <a:avLst/>
          </a:prstGeom>
          <a:noFill/>
        </p:spPr>
        <p:txBody>
          <a:bodyPr wrap="square" anchor="t"/>
          <a:lstStyle/>
          <a:p>
            <a:pPr algn="l">
              <a:defRPr sz="1400" b="0">
                <a:solidFill>
                  <a:srgbClr val="374151"/>
                </a:solidFill>
                <a:latin typeface="Calibri"/>
              </a:defRPr>
            </a:pPr>
            <a:r>
              <a:t>Unlike every previous technology shift, there is no programming language to learn. The new literacy is more human.</a:t>
            </a:r>
          </a:p>
        </p:txBody>
      </p:sp>
      <p:sp>
        <p:nvSpPr>
          <p:cNvPr id="6" name="Rounded Rectangle 5"/>
          <p:cNvSpPr/>
          <p:nvPr/>
        </p:nvSpPr>
        <p:spPr>
          <a:xfrm>
            <a:off x="548640" y="1371600"/>
            <a:ext cx="3474720" cy="3474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463040"/>
            <a:ext cx="914400" cy="457200"/>
          </a:xfrm>
          <a:prstGeom prst="rect">
            <a:avLst/>
          </a:prstGeom>
          <a:noFill/>
        </p:spPr>
        <p:txBody>
          <a:bodyPr wrap="square" anchor="t"/>
          <a:lstStyle/>
          <a:p>
            <a:pPr algn="l">
              <a:defRPr sz="3600" b="1">
                <a:solidFill>
                  <a:srgbClr val="93C5FD"/>
                </a:solidFill>
                <a:latin typeface="Calibri"/>
              </a:defRPr>
            </a:pPr>
            <a:r>
              <a:t>1</a:t>
            </a:r>
          </a:p>
        </p:txBody>
      </p:sp>
      <p:sp>
        <p:nvSpPr>
          <p:cNvPr id="8" name="TextBox 7"/>
          <p:cNvSpPr txBox="1"/>
          <p:nvPr/>
        </p:nvSpPr>
        <p:spPr>
          <a:xfrm>
            <a:off x="685800" y="1920240"/>
            <a:ext cx="3200400" cy="320040"/>
          </a:xfrm>
          <a:prstGeom prst="rect">
            <a:avLst/>
          </a:prstGeom>
          <a:noFill/>
        </p:spPr>
        <p:txBody>
          <a:bodyPr wrap="square" anchor="t"/>
          <a:lstStyle/>
          <a:p>
            <a:pPr algn="l">
              <a:defRPr sz="1500" b="1">
                <a:solidFill>
                  <a:srgbClr val="1A4A7A"/>
                </a:solidFill>
                <a:latin typeface="Calibri"/>
              </a:defRPr>
            </a:pPr>
            <a:r>
              <a:t>Understand the Problem</a:t>
            </a:r>
          </a:p>
        </p:txBody>
      </p:sp>
      <p:sp>
        <p:nvSpPr>
          <p:cNvPr id="9" name="TextBox 8"/>
          <p:cNvSpPr txBox="1"/>
          <p:nvPr/>
        </p:nvSpPr>
        <p:spPr>
          <a:xfrm>
            <a:off x="685800" y="2286000"/>
            <a:ext cx="3200400" cy="1371600"/>
          </a:xfrm>
          <a:prstGeom prst="rect">
            <a:avLst/>
          </a:prstGeom>
          <a:noFill/>
        </p:spPr>
        <p:txBody>
          <a:bodyPr wrap="square" anchor="t"/>
          <a:lstStyle/>
          <a:p>
            <a:pPr algn="l">
              <a:defRPr sz="1100" b="0">
                <a:solidFill>
                  <a:srgbClr val="4B5563"/>
                </a:solidFill>
                <a:latin typeface="Calibri"/>
              </a:defRPr>
            </a:pPr>
            <a:r>
              <a:t>The AI models are not the hard part. What's hard is building the bridge from a model to real enterprise value: the workflows, controls, guardrails, trust, context, and institutional knowledge.</a:t>
            </a:r>
          </a:p>
        </p:txBody>
      </p:sp>
      <p:sp>
        <p:nvSpPr>
          <p:cNvPr id="10" name="Rounded Rectangle 9"/>
          <p:cNvSpPr/>
          <p:nvPr/>
        </p:nvSpPr>
        <p:spPr>
          <a:xfrm>
            <a:off x="640080" y="3931920"/>
            <a:ext cx="3291840" cy="73152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977640"/>
            <a:ext cx="3108960" cy="640080"/>
          </a:xfrm>
          <a:prstGeom prst="rect">
            <a:avLst/>
          </a:prstGeom>
          <a:noFill/>
        </p:spPr>
        <p:txBody>
          <a:bodyPr wrap="square" anchor="t"/>
          <a:lstStyle/>
          <a:p>
            <a:pPr algn="l">
              <a:defRPr sz="1000" b="1">
                <a:solidFill>
                  <a:srgbClr val="1A56DB"/>
                </a:solidFill>
                <a:latin typeface="Calibri"/>
              </a:defRPr>
            </a:pPr>
            <a:r>
              <a:t>A Frontier Engineer who understands lending will outperform one who doesn't — no matter how good the agents are.</a:t>
            </a:r>
          </a:p>
        </p:txBody>
      </p:sp>
      <p:sp>
        <p:nvSpPr>
          <p:cNvPr id="12" name="Rounded Rectangle 11"/>
          <p:cNvSpPr/>
          <p:nvPr/>
        </p:nvSpPr>
        <p:spPr>
          <a:xfrm>
            <a:off x="4251960" y="1371600"/>
            <a:ext cx="3474720" cy="3474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463040"/>
            <a:ext cx="914400" cy="457200"/>
          </a:xfrm>
          <a:prstGeom prst="rect">
            <a:avLst/>
          </a:prstGeom>
          <a:noFill/>
        </p:spPr>
        <p:txBody>
          <a:bodyPr wrap="square" anchor="t"/>
          <a:lstStyle/>
          <a:p>
            <a:pPr algn="l">
              <a:defRPr sz="3600" b="1">
                <a:solidFill>
                  <a:srgbClr val="93C5FD"/>
                </a:solidFill>
                <a:latin typeface="Calibri"/>
              </a:defRPr>
            </a:pPr>
            <a:r>
              <a:t>2</a:t>
            </a:r>
          </a:p>
        </p:txBody>
      </p:sp>
      <p:sp>
        <p:nvSpPr>
          <p:cNvPr id="14" name="TextBox 13"/>
          <p:cNvSpPr txBox="1"/>
          <p:nvPr/>
        </p:nvSpPr>
        <p:spPr>
          <a:xfrm>
            <a:off x="4389120" y="1920240"/>
            <a:ext cx="3200400" cy="320040"/>
          </a:xfrm>
          <a:prstGeom prst="rect">
            <a:avLst/>
          </a:prstGeom>
          <a:noFill/>
        </p:spPr>
        <p:txBody>
          <a:bodyPr wrap="square" anchor="t"/>
          <a:lstStyle/>
          <a:p>
            <a:pPr algn="l">
              <a:defRPr sz="1500" b="1">
                <a:solidFill>
                  <a:srgbClr val="1A4A7A"/>
                </a:solidFill>
                <a:latin typeface="Calibri"/>
              </a:defRPr>
            </a:pPr>
            <a:r>
              <a:t>Direct the Agents</a:t>
            </a:r>
          </a:p>
        </p:txBody>
      </p:sp>
      <p:sp>
        <p:nvSpPr>
          <p:cNvPr id="15" name="TextBox 14"/>
          <p:cNvSpPr txBox="1"/>
          <p:nvPr/>
        </p:nvSpPr>
        <p:spPr>
          <a:xfrm>
            <a:off x="4389120" y="2286000"/>
            <a:ext cx="3200400" cy="1371600"/>
          </a:xfrm>
          <a:prstGeom prst="rect">
            <a:avLst/>
          </a:prstGeom>
          <a:noFill/>
        </p:spPr>
        <p:txBody>
          <a:bodyPr wrap="square" anchor="t"/>
          <a:lstStyle/>
          <a:p>
            <a:pPr algn="l">
              <a:defRPr sz="1100" b="0">
                <a:solidFill>
                  <a:srgbClr val="4B5563"/>
                </a:solidFill>
                <a:latin typeface="Calibri"/>
              </a:defRPr>
            </a:pPr>
            <a:r>
              <a:t>Prompting is the new management. Just as a good manager gives clear direction, provides context, and sets expectations — a good Frontier Professional does the same with agents.</a:t>
            </a:r>
          </a:p>
        </p:txBody>
      </p:sp>
      <p:sp>
        <p:nvSpPr>
          <p:cNvPr id="16" name="Rounded Rectangle 15"/>
          <p:cNvSpPr/>
          <p:nvPr/>
        </p:nvSpPr>
        <p:spPr>
          <a:xfrm>
            <a:off x="4343400" y="3931920"/>
            <a:ext cx="3291840" cy="73152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34840" y="3977640"/>
            <a:ext cx="3108960" cy="640080"/>
          </a:xfrm>
          <a:prstGeom prst="rect">
            <a:avLst/>
          </a:prstGeom>
          <a:noFill/>
        </p:spPr>
        <p:txBody>
          <a:bodyPr wrap="square" anchor="t"/>
          <a:lstStyle/>
          <a:p>
            <a:pPr algn="l">
              <a:defRPr sz="1000" b="1">
                <a:solidFill>
                  <a:srgbClr val="1A56DB"/>
                </a:solidFill>
                <a:latin typeface="Calibri"/>
              </a:defRPr>
            </a:pPr>
            <a:r>
              <a:t>The quality of what agents produce is directly proportional to the quality of direction you give them.</a:t>
            </a:r>
          </a:p>
        </p:txBody>
      </p:sp>
      <p:sp>
        <p:nvSpPr>
          <p:cNvPr id="18" name="Rounded Rectangle 17"/>
          <p:cNvSpPr/>
          <p:nvPr/>
        </p:nvSpPr>
        <p:spPr>
          <a:xfrm>
            <a:off x="7955280" y="1371600"/>
            <a:ext cx="3474720" cy="3474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92440" y="1463040"/>
            <a:ext cx="914400" cy="457200"/>
          </a:xfrm>
          <a:prstGeom prst="rect">
            <a:avLst/>
          </a:prstGeom>
          <a:noFill/>
        </p:spPr>
        <p:txBody>
          <a:bodyPr wrap="square" anchor="t"/>
          <a:lstStyle/>
          <a:p>
            <a:pPr algn="l">
              <a:defRPr sz="3600" b="1">
                <a:solidFill>
                  <a:srgbClr val="93C5FD"/>
                </a:solidFill>
                <a:latin typeface="Calibri"/>
              </a:defRPr>
            </a:pPr>
            <a:r>
              <a:t>3</a:t>
            </a:r>
          </a:p>
        </p:txBody>
      </p:sp>
      <p:sp>
        <p:nvSpPr>
          <p:cNvPr id="20" name="TextBox 19"/>
          <p:cNvSpPr txBox="1"/>
          <p:nvPr/>
        </p:nvSpPr>
        <p:spPr>
          <a:xfrm>
            <a:off x="8092440" y="1920240"/>
            <a:ext cx="3200400" cy="320040"/>
          </a:xfrm>
          <a:prstGeom prst="rect">
            <a:avLst/>
          </a:prstGeom>
          <a:noFill/>
        </p:spPr>
        <p:txBody>
          <a:bodyPr wrap="square" anchor="t"/>
          <a:lstStyle/>
          <a:p>
            <a:pPr algn="l">
              <a:defRPr sz="1500" b="1">
                <a:solidFill>
                  <a:srgbClr val="1A4A7A"/>
                </a:solidFill>
                <a:latin typeface="Calibri"/>
              </a:defRPr>
            </a:pPr>
            <a:r>
              <a:t>Bring Your Judgement</a:t>
            </a:r>
          </a:p>
        </p:txBody>
      </p:sp>
      <p:sp>
        <p:nvSpPr>
          <p:cNvPr id="21" name="TextBox 20"/>
          <p:cNvSpPr txBox="1"/>
          <p:nvPr/>
        </p:nvSpPr>
        <p:spPr>
          <a:xfrm>
            <a:off x="8092440" y="2286000"/>
            <a:ext cx="3200400" cy="1371600"/>
          </a:xfrm>
          <a:prstGeom prst="rect">
            <a:avLst/>
          </a:prstGeom>
          <a:noFill/>
        </p:spPr>
        <p:txBody>
          <a:bodyPr wrap="square" anchor="t"/>
          <a:lstStyle/>
          <a:p>
            <a:pPr algn="l">
              <a:defRPr sz="1100" b="0">
                <a:solidFill>
                  <a:srgbClr val="4B5563"/>
                </a:solidFill>
                <a:latin typeface="Calibri"/>
              </a:defRPr>
            </a:pPr>
            <a:r>
              <a:t>The agents do the heavy lifting. What you bring is the judgement to know what "good" looks like, the instinct to spot when the machine is confidently wrong, and the governance to own the outcome.</a:t>
            </a:r>
          </a:p>
        </p:txBody>
      </p:sp>
      <p:sp>
        <p:nvSpPr>
          <p:cNvPr id="22" name="Rounded Rectangle 21"/>
          <p:cNvSpPr/>
          <p:nvPr/>
        </p:nvSpPr>
        <p:spPr>
          <a:xfrm>
            <a:off x="8046720" y="3931920"/>
            <a:ext cx="3291840" cy="73152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38160" y="3977640"/>
            <a:ext cx="3108960" cy="640080"/>
          </a:xfrm>
          <a:prstGeom prst="rect">
            <a:avLst/>
          </a:prstGeom>
          <a:noFill/>
        </p:spPr>
        <p:txBody>
          <a:bodyPr wrap="square" anchor="t"/>
          <a:lstStyle/>
          <a:p>
            <a:pPr algn="l">
              <a:defRPr sz="1000" b="1">
                <a:solidFill>
                  <a:srgbClr val="1A56DB"/>
                </a:solidFill>
                <a:latin typeface="Calibri"/>
              </a:defRPr>
            </a:pPr>
            <a:r>
              <a:t>That is the real craft.</a:t>
            </a:r>
          </a:p>
        </p:txBody>
      </p:sp>
      <p:sp>
        <p:nvSpPr>
          <p:cNvPr id="24" name="Rounded Rectangle 23"/>
          <p:cNvSpPr/>
          <p:nvPr/>
        </p:nvSpPr>
        <p:spPr>
          <a:xfrm>
            <a:off x="548640" y="5120640"/>
            <a:ext cx="10972800" cy="640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166360"/>
            <a:ext cx="10058400" cy="548640"/>
          </a:xfrm>
          <a:prstGeom prst="rect">
            <a:avLst/>
          </a:prstGeom>
          <a:noFill/>
        </p:spPr>
        <p:txBody>
          <a:bodyPr wrap="square"/>
          <a:lstStyle/>
          <a:p>
            <a:pPr algn="l">
              <a:spcBef>
                <a:spcPts val="0"/>
              </a:spcBef>
              <a:spcAft>
                <a:spcPts val="200"/>
              </a:spcAft>
              <a:defRPr sz="1200" b="0" i="1">
                <a:solidFill>
                  <a:srgbClr val="1A4A7A"/>
                </a:solidFill>
                <a:latin typeface="Calibri"/>
              </a:defRPr>
            </a:pPr>
            <a:r>
              <a:t>"Being an AI builder is not something we add on top of how we are organised — it is how we are organised."</a:t>
            </a:r>
          </a:p>
          <a:p>
            <a:pPr algn="l">
              <a:spcBef>
                <a:spcPts val="0"/>
              </a:spcBef>
              <a:spcAft>
                <a:spcPts val="400"/>
              </a:spcAft>
              <a:defRPr sz="900" b="0" i="0">
                <a:solidFill>
                  <a:srgbClr val="9CA3AF"/>
                </a:solidFill>
                <a:latin typeface="Calibri"/>
              </a:defRPr>
            </a:pPr>
            <a:r>
              <a:t>— Ravi Kumar S, CEO, Cognizant</a:t>
            </a:r>
          </a:p>
        </p:txBody>
      </p:sp>
      <p:sp>
        <p:nvSpPr>
          <p:cNvPr id="26" name="Rectangle 25"/>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28" name="TextBox 27"/>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Inside the Pod — How It Works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POD STRUCTURE</a:t>
            </a:r>
          </a:p>
        </p:txBody>
      </p:sp>
      <p:sp>
        <p:nvSpPr>
          <p:cNvPr id="5" name="TextBox 4"/>
          <p:cNvSpPr txBox="1"/>
          <p:nvPr/>
        </p:nvSpPr>
        <p:spPr>
          <a:xfrm>
            <a:off x="548640" y="822960"/>
            <a:ext cx="2743200" cy="320040"/>
          </a:xfrm>
          <a:prstGeom prst="rect">
            <a:avLst/>
          </a:prstGeom>
          <a:noFill/>
        </p:spPr>
        <p:txBody>
          <a:bodyPr wrap="square" anchor="t"/>
          <a:lstStyle/>
          <a:p>
            <a:pPr algn="l">
              <a:defRPr sz="1600" b="1">
                <a:solidFill>
                  <a:srgbClr val="1E3A5F"/>
                </a:solidFill>
                <a:latin typeface="Calibri"/>
              </a:defRPr>
            </a:pPr>
            <a:r>
              <a:t>The People</a:t>
            </a:r>
          </a:p>
        </p:txBody>
      </p:sp>
      <p:sp>
        <p:nvSpPr>
          <p:cNvPr id="6" name="Rounded Rectangle 5"/>
          <p:cNvSpPr/>
          <p:nvPr/>
        </p:nvSpPr>
        <p:spPr>
          <a:xfrm>
            <a:off x="3017520" y="868680"/>
            <a:ext cx="1371600" cy="228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17520" y="868680"/>
            <a:ext cx="1371600" cy="228600"/>
          </a:xfrm>
          <a:prstGeom prst="rect">
            <a:avLst/>
          </a:prstGeom>
          <a:noFill/>
        </p:spPr>
        <p:txBody>
          <a:bodyPr wrap="square" anchor="ctr"/>
          <a:lstStyle/>
          <a:p>
            <a:pPr algn="ctr">
              <a:defRPr sz="900" b="1">
                <a:solidFill>
                  <a:srgbClr val="1A56DB"/>
                </a:solidFill>
                <a:latin typeface="Calibri"/>
              </a:defRPr>
            </a:pPr>
            <a:r>
              <a:t>~15% of workforce</a:t>
            </a:r>
          </a:p>
        </p:txBody>
      </p:sp>
      <p:sp>
        <p:nvSpPr>
          <p:cNvPr id="8" name="Rectangle 7"/>
          <p:cNvSpPr/>
          <p:nvPr/>
        </p:nvSpPr>
        <p:spPr>
          <a:xfrm>
            <a:off x="548640" y="1280160"/>
            <a:ext cx="38100" cy="8686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280160"/>
            <a:ext cx="5120640" cy="868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1280160"/>
            <a:ext cx="38100" cy="8686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307592"/>
            <a:ext cx="4754880" cy="201168"/>
          </a:xfrm>
          <a:prstGeom prst="rect">
            <a:avLst/>
          </a:prstGeom>
          <a:noFill/>
        </p:spPr>
        <p:txBody>
          <a:bodyPr wrap="square" anchor="t"/>
          <a:lstStyle/>
          <a:p>
            <a:pPr algn="l">
              <a:defRPr sz="1100" b="1">
                <a:solidFill>
                  <a:srgbClr val="1A4A7A"/>
                </a:solidFill>
                <a:latin typeface="Calibri"/>
              </a:defRPr>
            </a:pPr>
            <a:r>
              <a:t>Product Definer (1 person)</a:t>
            </a:r>
          </a:p>
        </p:txBody>
      </p:sp>
      <p:sp>
        <p:nvSpPr>
          <p:cNvPr id="12" name="TextBox 11"/>
          <p:cNvSpPr txBox="1"/>
          <p:nvPr/>
        </p:nvSpPr>
        <p:spPr>
          <a:xfrm>
            <a:off x="777240" y="1508760"/>
            <a:ext cx="4754880" cy="548640"/>
          </a:xfrm>
          <a:prstGeom prst="rect">
            <a:avLst/>
          </a:prstGeom>
          <a:noFill/>
        </p:spPr>
        <p:txBody>
          <a:bodyPr wrap="square"/>
          <a:lstStyle/>
          <a:p>
            <a:endParaRPr/>
          </a:p>
          <a:p>
            <a:pPr>
              <a:spcAft>
                <a:spcPts val="100"/>
              </a:spcAft>
              <a:defRPr sz="900" b="0">
                <a:solidFill>
                  <a:srgbClr val="4B5563"/>
                </a:solidFill>
                <a:latin typeface="Calibri"/>
              </a:defRPr>
            </a:pPr>
            <a:r>
              <a:t>Understands the business problem</a:t>
            </a:r>
          </a:p>
          <a:p>
            <a:pPr>
              <a:spcAft>
                <a:spcPts val="100"/>
              </a:spcAft>
              <a:defRPr sz="900" b="0">
                <a:solidFill>
                  <a:srgbClr val="4B5563"/>
                </a:solidFill>
                <a:latin typeface="Calibri"/>
              </a:defRPr>
            </a:pPr>
            <a:r>
              <a:t>Sets the "what" and "why"</a:t>
            </a:r>
          </a:p>
          <a:p>
            <a:pPr>
              <a:spcAft>
                <a:spcPts val="100"/>
              </a:spcAft>
              <a:defRPr sz="900" b="0">
                <a:solidFill>
                  <a:srgbClr val="4B5563"/>
                </a:solidFill>
                <a:latin typeface="Calibri"/>
              </a:defRPr>
            </a:pPr>
            <a:r>
              <a:t>Directs agents to draft specs</a:t>
            </a:r>
          </a:p>
          <a:p>
            <a:pPr>
              <a:spcAft>
                <a:spcPts val="100"/>
              </a:spcAft>
              <a:defRPr sz="900" b="0">
                <a:solidFill>
                  <a:srgbClr val="4B5563"/>
                </a:solidFill>
                <a:latin typeface="Calibri"/>
              </a:defRPr>
            </a:pPr>
            <a:r>
              <a:t>Owns the customer outcome</a:t>
            </a:r>
          </a:p>
        </p:txBody>
      </p:sp>
      <p:sp>
        <p:nvSpPr>
          <p:cNvPr id="13" name="Rectangle 12"/>
          <p:cNvSpPr/>
          <p:nvPr/>
        </p:nvSpPr>
        <p:spPr>
          <a:xfrm>
            <a:off x="548640" y="2267712"/>
            <a:ext cx="38100"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2267712"/>
            <a:ext cx="5120640" cy="74980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2267712"/>
            <a:ext cx="38100"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2295144"/>
            <a:ext cx="4754880" cy="201168"/>
          </a:xfrm>
          <a:prstGeom prst="rect">
            <a:avLst/>
          </a:prstGeom>
          <a:noFill/>
        </p:spPr>
        <p:txBody>
          <a:bodyPr wrap="square" anchor="t"/>
          <a:lstStyle/>
          <a:p>
            <a:pPr algn="l">
              <a:defRPr sz="1100" b="1">
                <a:solidFill>
                  <a:srgbClr val="1A4A7A"/>
                </a:solidFill>
                <a:latin typeface="Calibri"/>
              </a:defRPr>
            </a:pPr>
            <a:r>
              <a:t>Product Builder (1 person)</a:t>
            </a:r>
          </a:p>
        </p:txBody>
      </p:sp>
      <p:sp>
        <p:nvSpPr>
          <p:cNvPr id="17" name="TextBox 16"/>
          <p:cNvSpPr txBox="1"/>
          <p:nvPr/>
        </p:nvSpPr>
        <p:spPr>
          <a:xfrm>
            <a:off x="777240" y="2496312"/>
            <a:ext cx="4754880" cy="548640"/>
          </a:xfrm>
          <a:prstGeom prst="rect">
            <a:avLst/>
          </a:prstGeom>
          <a:noFill/>
        </p:spPr>
        <p:txBody>
          <a:bodyPr wrap="square"/>
          <a:lstStyle/>
          <a:p>
            <a:endParaRPr/>
          </a:p>
          <a:p>
            <a:pPr>
              <a:spcAft>
                <a:spcPts val="100"/>
              </a:spcAft>
              <a:defRPr sz="900" b="0">
                <a:solidFill>
                  <a:srgbClr val="4B5563"/>
                </a:solidFill>
                <a:latin typeface="Calibri"/>
              </a:defRPr>
            </a:pPr>
            <a:r>
              <a:t>Directs building, testing &amp; deployment agents</a:t>
            </a:r>
          </a:p>
          <a:p>
            <a:pPr>
              <a:spcAft>
                <a:spcPts val="100"/>
              </a:spcAft>
              <a:defRPr sz="900" b="0">
                <a:solidFill>
                  <a:srgbClr val="4B5563"/>
                </a:solidFill>
                <a:latin typeface="Calibri"/>
              </a:defRPr>
            </a:pPr>
            <a:r>
              <a:t>Reviews output, clears exceptions</a:t>
            </a:r>
          </a:p>
          <a:p>
            <a:pPr>
              <a:spcAft>
                <a:spcPts val="100"/>
              </a:spcAft>
              <a:defRPr sz="900" b="0">
                <a:solidFill>
                  <a:srgbClr val="4B5563"/>
                </a:solidFill>
                <a:latin typeface="Calibri"/>
              </a:defRPr>
            </a:pPr>
            <a:r>
              <a:t>Owns quality and operations</a:t>
            </a:r>
          </a:p>
        </p:txBody>
      </p:sp>
      <p:sp>
        <p:nvSpPr>
          <p:cNvPr id="18" name="Rectangle 17"/>
          <p:cNvSpPr/>
          <p:nvPr/>
        </p:nvSpPr>
        <p:spPr>
          <a:xfrm>
            <a:off x="548640" y="3136392"/>
            <a:ext cx="38100"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48640" y="3136392"/>
            <a:ext cx="5120640" cy="74980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3136392"/>
            <a:ext cx="38100"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163824"/>
            <a:ext cx="4754880" cy="201168"/>
          </a:xfrm>
          <a:prstGeom prst="rect">
            <a:avLst/>
          </a:prstGeom>
          <a:noFill/>
        </p:spPr>
        <p:txBody>
          <a:bodyPr wrap="square" anchor="t"/>
          <a:lstStyle/>
          <a:p>
            <a:pPr algn="l">
              <a:defRPr sz="1100" b="1">
                <a:solidFill>
                  <a:srgbClr val="1A4A7A"/>
                </a:solidFill>
                <a:latin typeface="Calibri"/>
              </a:defRPr>
            </a:pPr>
            <a:r>
              <a:t>Frontier Principal (0.2–0.3 per pod)</a:t>
            </a:r>
          </a:p>
        </p:txBody>
      </p:sp>
      <p:sp>
        <p:nvSpPr>
          <p:cNvPr id="22" name="TextBox 21"/>
          <p:cNvSpPr txBox="1"/>
          <p:nvPr/>
        </p:nvSpPr>
        <p:spPr>
          <a:xfrm>
            <a:off x="777240" y="3364992"/>
            <a:ext cx="4754880" cy="548640"/>
          </a:xfrm>
          <a:prstGeom prst="rect">
            <a:avLst/>
          </a:prstGeom>
          <a:noFill/>
        </p:spPr>
        <p:txBody>
          <a:bodyPr wrap="square"/>
          <a:lstStyle/>
          <a:p>
            <a:endParaRPr/>
          </a:p>
          <a:p>
            <a:pPr>
              <a:spcAft>
                <a:spcPts val="100"/>
              </a:spcAft>
              <a:defRPr sz="900" b="0">
                <a:solidFill>
                  <a:srgbClr val="4B5563"/>
                </a:solidFill>
                <a:latin typeface="Calibri"/>
              </a:defRPr>
            </a:pPr>
            <a:r>
              <a:t>Shared across 3–5 pods</a:t>
            </a:r>
          </a:p>
          <a:p>
            <a:pPr>
              <a:spcAft>
                <a:spcPts val="100"/>
              </a:spcAft>
              <a:defRPr sz="900" b="0">
                <a:solidFill>
                  <a:srgbClr val="4B5563"/>
                </a:solidFill>
                <a:latin typeface="Calibri"/>
              </a:defRPr>
            </a:pPr>
            <a:r>
              <a:t>Sets standards, governs quality</a:t>
            </a:r>
          </a:p>
          <a:p>
            <a:pPr>
              <a:spcAft>
                <a:spcPts val="100"/>
              </a:spcAft>
              <a:defRPr sz="900" b="0">
                <a:solidFill>
                  <a:srgbClr val="4B5563"/>
                </a:solidFill>
                <a:latin typeface="Calibri"/>
              </a:defRPr>
            </a:pPr>
            <a:r>
              <a:t>Steps in for novel problems</a:t>
            </a:r>
          </a:p>
        </p:txBody>
      </p:sp>
      <p:sp>
        <p:nvSpPr>
          <p:cNvPr id="23" name="TextBox 22"/>
          <p:cNvSpPr txBox="1"/>
          <p:nvPr/>
        </p:nvSpPr>
        <p:spPr>
          <a:xfrm>
            <a:off x="6217920" y="822960"/>
            <a:ext cx="2743200" cy="320040"/>
          </a:xfrm>
          <a:prstGeom prst="rect">
            <a:avLst/>
          </a:prstGeom>
          <a:noFill/>
        </p:spPr>
        <p:txBody>
          <a:bodyPr wrap="square" anchor="t"/>
          <a:lstStyle/>
          <a:p>
            <a:pPr algn="l">
              <a:defRPr sz="1600" b="1">
                <a:solidFill>
                  <a:srgbClr val="1E3A5F"/>
                </a:solidFill>
                <a:latin typeface="Calibri"/>
              </a:defRPr>
            </a:pPr>
            <a:r>
              <a:t>The Agents</a:t>
            </a:r>
          </a:p>
        </p:txBody>
      </p:sp>
      <p:sp>
        <p:nvSpPr>
          <p:cNvPr id="24" name="Rounded Rectangle 23"/>
          <p:cNvSpPr/>
          <p:nvPr/>
        </p:nvSpPr>
        <p:spPr>
          <a:xfrm>
            <a:off x="8686800" y="868680"/>
            <a:ext cx="1371600" cy="228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0" y="868680"/>
            <a:ext cx="1371600" cy="228600"/>
          </a:xfrm>
          <a:prstGeom prst="rect">
            <a:avLst/>
          </a:prstGeom>
          <a:noFill/>
        </p:spPr>
        <p:txBody>
          <a:bodyPr wrap="square" anchor="ctr"/>
          <a:lstStyle/>
          <a:p>
            <a:pPr algn="ctr">
              <a:defRPr sz="900" b="1">
                <a:solidFill>
                  <a:srgbClr val="1A56DB"/>
                </a:solidFill>
                <a:latin typeface="Calibri"/>
              </a:defRPr>
            </a:pPr>
            <a:r>
              <a:t>~85% of workforce</a:t>
            </a:r>
          </a:p>
        </p:txBody>
      </p:sp>
      <p:sp>
        <p:nvSpPr>
          <p:cNvPr id="26" name="TextBox 25"/>
          <p:cNvSpPr txBox="1"/>
          <p:nvPr/>
        </p:nvSpPr>
        <p:spPr>
          <a:xfrm>
            <a:off x="6217920" y="1234440"/>
            <a:ext cx="5486400" cy="274320"/>
          </a:xfrm>
          <a:prstGeom prst="rect">
            <a:avLst/>
          </a:prstGeom>
          <a:noFill/>
        </p:spPr>
        <p:txBody>
          <a:bodyPr wrap="square" anchor="t"/>
          <a:lstStyle/>
          <a:p>
            <a:pPr algn="l">
              <a:defRPr sz="1100" b="0">
                <a:solidFill>
                  <a:srgbClr val="4B5563"/>
                </a:solidFill>
                <a:latin typeface="Calibri"/>
              </a:defRPr>
            </a:pPr>
            <a:r>
              <a:t>15–21 specialised agents per pod, covering the entire lifecycle:</a:t>
            </a:r>
          </a:p>
        </p:txBody>
      </p:sp>
      <p:sp>
        <p:nvSpPr>
          <p:cNvPr id="27" name="Rounded Rectangle 26"/>
          <p:cNvSpPr/>
          <p:nvPr/>
        </p:nvSpPr>
        <p:spPr>
          <a:xfrm>
            <a:off x="6217920" y="160020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0" y="1627632"/>
            <a:ext cx="2468880" cy="201168"/>
          </a:xfrm>
          <a:prstGeom prst="rect">
            <a:avLst/>
          </a:prstGeom>
          <a:noFill/>
        </p:spPr>
        <p:txBody>
          <a:bodyPr wrap="square" anchor="t"/>
          <a:lstStyle/>
          <a:p>
            <a:pPr algn="l">
              <a:defRPr sz="1000" b="1">
                <a:solidFill>
                  <a:srgbClr val="1A4A7A"/>
                </a:solidFill>
                <a:latin typeface="Calibri"/>
              </a:defRPr>
            </a:pPr>
            <a:r>
              <a:t>Define</a:t>
            </a:r>
          </a:p>
        </p:txBody>
      </p:sp>
      <p:sp>
        <p:nvSpPr>
          <p:cNvPr id="29" name="TextBox 28"/>
          <p:cNvSpPr txBox="1"/>
          <p:nvPr/>
        </p:nvSpPr>
        <p:spPr>
          <a:xfrm>
            <a:off x="6309360" y="1847088"/>
            <a:ext cx="2468880" cy="201168"/>
          </a:xfrm>
          <a:prstGeom prst="rect">
            <a:avLst/>
          </a:prstGeom>
          <a:noFill/>
        </p:spPr>
        <p:txBody>
          <a:bodyPr wrap="square" anchor="t"/>
          <a:lstStyle/>
          <a:p>
            <a:pPr algn="l">
              <a:defRPr sz="900" b="0">
                <a:solidFill>
                  <a:srgbClr val="6B7280"/>
                </a:solidFill>
                <a:latin typeface="Calibri"/>
              </a:defRPr>
            </a:pPr>
            <a:r>
              <a:t>Spec Writer, Story Gen</a:t>
            </a:r>
          </a:p>
        </p:txBody>
      </p:sp>
      <p:sp>
        <p:nvSpPr>
          <p:cNvPr id="30" name="Rounded Rectangle 29"/>
          <p:cNvSpPr/>
          <p:nvPr/>
        </p:nvSpPr>
        <p:spPr>
          <a:xfrm>
            <a:off x="9006840" y="160020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98280" y="1627632"/>
            <a:ext cx="2468880" cy="201168"/>
          </a:xfrm>
          <a:prstGeom prst="rect">
            <a:avLst/>
          </a:prstGeom>
          <a:noFill/>
        </p:spPr>
        <p:txBody>
          <a:bodyPr wrap="square" anchor="t"/>
          <a:lstStyle/>
          <a:p>
            <a:pPr algn="l">
              <a:defRPr sz="1000" b="1">
                <a:solidFill>
                  <a:srgbClr val="1A4A7A"/>
                </a:solidFill>
                <a:latin typeface="Calibri"/>
              </a:defRPr>
            </a:pPr>
            <a:r>
              <a:t>Architect</a:t>
            </a:r>
          </a:p>
        </p:txBody>
      </p:sp>
      <p:sp>
        <p:nvSpPr>
          <p:cNvPr id="32" name="TextBox 31"/>
          <p:cNvSpPr txBox="1"/>
          <p:nvPr/>
        </p:nvSpPr>
        <p:spPr>
          <a:xfrm>
            <a:off x="9098280" y="1847088"/>
            <a:ext cx="2468880" cy="201168"/>
          </a:xfrm>
          <a:prstGeom prst="rect">
            <a:avLst/>
          </a:prstGeom>
          <a:noFill/>
        </p:spPr>
        <p:txBody>
          <a:bodyPr wrap="square" anchor="t"/>
          <a:lstStyle/>
          <a:p>
            <a:pPr algn="l">
              <a:defRPr sz="900" b="0">
                <a:solidFill>
                  <a:srgbClr val="6B7280"/>
                </a:solidFill>
                <a:latin typeface="Calibri"/>
              </a:defRPr>
            </a:pPr>
            <a:r>
              <a:t>Design, Pattern Select</a:t>
            </a:r>
          </a:p>
        </p:txBody>
      </p:sp>
      <p:sp>
        <p:nvSpPr>
          <p:cNvPr id="33" name="Rounded Rectangle 32"/>
          <p:cNvSpPr/>
          <p:nvPr/>
        </p:nvSpPr>
        <p:spPr>
          <a:xfrm>
            <a:off x="6217920" y="219456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9360" y="2221992"/>
            <a:ext cx="2468880" cy="201168"/>
          </a:xfrm>
          <a:prstGeom prst="rect">
            <a:avLst/>
          </a:prstGeom>
          <a:noFill/>
        </p:spPr>
        <p:txBody>
          <a:bodyPr wrap="square" anchor="t"/>
          <a:lstStyle/>
          <a:p>
            <a:pPr algn="l">
              <a:defRPr sz="1000" b="1">
                <a:solidFill>
                  <a:srgbClr val="1A4A7A"/>
                </a:solidFill>
                <a:latin typeface="Calibri"/>
              </a:defRPr>
            </a:pPr>
            <a:r>
              <a:t>Build</a:t>
            </a:r>
          </a:p>
        </p:txBody>
      </p:sp>
      <p:sp>
        <p:nvSpPr>
          <p:cNvPr id="35" name="TextBox 34"/>
          <p:cNvSpPr txBox="1"/>
          <p:nvPr/>
        </p:nvSpPr>
        <p:spPr>
          <a:xfrm>
            <a:off x="6309360" y="2441448"/>
            <a:ext cx="2468880" cy="201168"/>
          </a:xfrm>
          <a:prstGeom prst="rect">
            <a:avLst/>
          </a:prstGeom>
          <a:noFill/>
        </p:spPr>
        <p:txBody>
          <a:bodyPr wrap="square" anchor="t"/>
          <a:lstStyle/>
          <a:p>
            <a:pPr algn="l">
              <a:defRPr sz="900" b="0">
                <a:solidFill>
                  <a:srgbClr val="6B7280"/>
                </a:solidFill>
                <a:latin typeface="Calibri"/>
              </a:defRPr>
            </a:pPr>
            <a:r>
              <a:t>CodeGen, Refactor</a:t>
            </a:r>
          </a:p>
        </p:txBody>
      </p:sp>
      <p:sp>
        <p:nvSpPr>
          <p:cNvPr id="36" name="Rounded Rectangle 35"/>
          <p:cNvSpPr/>
          <p:nvPr/>
        </p:nvSpPr>
        <p:spPr>
          <a:xfrm>
            <a:off x="9006840" y="219456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8280" y="2221992"/>
            <a:ext cx="2468880" cy="201168"/>
          </a:xfrm>
          <a:prstGeom prst="rect">
            <a:avLst/>
          </a:prstGeom>
          <a:noFill/>
        </p:spPr>
        <p:txBody>
          <a:bodyPr wrap="square" anchor="t"/>
          <a:lstStyle/>
          <a:p>
            <a:pPr algn="l">
              <a:defRPr sz="1000" b="1">
                <a:solidFill>
                  <a:srgbClr val="1A4A7A"/>
                </a:solidFill>
                <a:latin typeface="Calibri"/>
              </a:defRPr>
            </a:pPr>
            <a:r>
              <a:t>Test</a:t>
            </a:r>
          </a:p>
        </p:txBody>
      </p:sp>
      <p:sp>
        <p:nvSpPr>
          <p:cNvPr id="38" name="TextBox 37"/>
          <p:cNvSpPr txBox="1"/>
          <p:nvPr/>
        </p:nvSpPr>
        <p:spPr>
          <a:xfrm>
            <a:off x="9098280" y="2441448"/>
            <a:ext cx="2468880" cy="201168"/>
          </a:xfrm>
          <a:prstGeom prst="rect">
            <a:avLst/>
          </a:prstGeom>
          <a:noFill/>
        </p:spPr>
        <p:txBody>
          <a:bodyPr wrap="square" anchor="t"/>
          <a:lstStyle/>
          <a:p>
            <a:pPr algn="l">
              <a:defRPr sz="900" b="0">
                <a:solidFill>
                  <a:srgbClr val="6B7280"/>
                </a:solidFill>
                <a:latin typeface="Calibri"/>
              </a:defRPr>
            </a:pPr>
            <a:r>
              <a:t>TestGen, QA Orchestrator</a:t>
            </a:r>
          </a:p>
        </p:txBody>
      </p:sp>
      <p:sp>
        <p:nvSpPr>
          <p:cNvPr id="39" name="Rounded Rectangle 38"/>
          <p:cNvSpPr/>
          <p:nvPr/>
        </p:nvSpPr>
        <p:spPr>
          <a:xfrm>
            <a:off x="6217920" y="278892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09360" y="2816352"/>
            <a:ext cx="2468880" cy="201168"/>
          </a:xfrm>
          <a:prstGeom prst="rect">
            <a:avLst/>
          </a:prstGeom>
          <a:noFill/>
        </p:spPr>
        <p:txBody>
          <a:bodyPr wrap="square" anchor="t"/>
          <a:lstStyle/>
          <a:p>
            <a:pPr algn="l">
              <a:defRPr sz="1000" b="1">
                <a:solidFill>
                  <a:srgbClr val="1A4A7A"/>
                </a:solidFill>
                <a:latin typeface="Calibri"/>
              </a:defRPr>
            </a:pPr>
            <a:r>
              <a:t>Security</a:t>
            </a:r>
          </a:p>
        </p:txBody>
      </p:sp>
      <p:sp>
        <p:nvSpPr>
          <p:cNvPr id="41" name="TextBox 40"/>
          <p:cNvSpPr txBox="1"/>
          <p:nvPr/>
        </p:nvSpPr>
        <p:spPr>
          <a:xfrm>
            <a:off x="6309360" y="3035808"/>
            <a:ext cx="2468880" cy="201168"/>
          </a:xfrm>
          <a:prstGeom prst="rect">
            <a:avLst/>
          </a:prstGeom>
          <a:noFill/>
        </p:spPr>
        <p:txBody>
          <a:bodyPr wrap="square" anchor="t"/>
          <a:lstStyle/>
          <a:p>
            <a:pPr algn="l">
              <a:defRPr sz="900" b="0">
                <a:solidFill>
                  <a:srgbClr val="6B7280"/>
                </a:solidFill>
                <a:latin typeface="Calibri"/>
              </a:defRPr>
            </a:pPr>
            <a:r>
              <a:t>Scan, Compliance</a:t>
            </a:r>
          </a:p>
        </p:txBody>
      </p:sp>
      <p:sp>
        <p:nvSpPr>
          <p:cNvPr id="42" name="Rounded Rectangle 41"/>
          <p:cNvSpPr/>
          <p:nvPr/>
        </p:nvSpPr>
        <p:spPr>
          <a:xfrm>
            <a:off x="9006840" y="278892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98280" y="2816352"/>
            <a:ext cx="2468880" cy="201168"/>
          </a:xfrm>
          <a:prstGeom prst="rect">
            <a:avLst/>
          </a:prstGeom>
          <a:noFill/>
        </p:spPr>
        <p:txBody>
          <a:bodyPr wrap="square" anchor="t"/>
          <a:lstStyle/>
          <a:p>
            <a:pPr algn="l">
              <a:defRPr sz="1000" b="1">
                <a:solidFill>
                  <a:srgbClr val="1A4A7A"/>
                </a:solidFill>
                <a:latin typeface="Calibri"/>
              </a:defRPr>
            </a:pPr>
            <a:r>
              <a:t>Deploy</a:t>
            </a:r>
          </a:p>
        </p:txBody>
      </p:sp>
      <p:sp>
        <p:nvSpPr>
          <p:cNvPr id="44" name="TextBox 43"/>
          <p:cNvSpPr txBox="1"/>
          <p:nvPr/>
        </p:nvSpPr>
        <p:spPr>
          <a:xfrm>
            <a:off x="9098280" y="3035808"/>
            <a:ext cx="2468880" cy="201168"/>
          </a:xfrm>
          <a:prstGeom prst="rect">
            <a:avLst/>
          </a:prstGeom>
          <a:noFill/>
        </p:spPr>
        <p:txBody>
          <a:bodyPr wrap="square" anchor="t"/>
          <a:lstStyle/>
          <a:p>
            <a:pPr algn="l">
              <a:defRPr sz="900" b="0">
                <a:solidFill>
                  <a:srgbClr val="6B7280"/>
                </a:solidFill>
                <a:latin typeface="Calibri"/>
              </a:defRPr>
            </a:pPr>
            <a:r>
              <a:t>CI/CD, Release Notes</a:t>
            </a:r>
          </a:p>
        </p:txBody>
      </p:sp>
      <p:sp>
        <p:nvSpPr>
          <p:cNvPr id="45" name="Rounded Rectangle 44"/>
          <p:cNvSpPr/>
          <p:nvPr/>
        </p:nvSpPr>
        <p:spPr>
          <a:xfrm>
            <a:off x="6217920" y="338328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09360" y="3410712"/>
            <a:ext cx="2468880" cy="201168"/>
          </a:xfrm>
          <a:prstGeom prst="rect">
            <a:avLst/>
          </a:prstGeom>
          <a:noFill/>
        </p:spPr>
        <p:txBody>
          <a:bodyPr wrap="square" anchor="t"/>
          <a:lstStyle/>
          <a:p>
            <a:pPr algn="l">
              <a:defRPr sz="1000" b="1">
                <a:solidFill>
                  <a:srgbClr val="1A4A7A"/>
                </a:solidFill>
                <a:latin typeface="Calibri"/>
              </a:defRPr>
            </a:pPr>
            <a:r>
              <a:t>Monitor</a:t>
            </a:r>
          </a:p>
        </p:txBody>
      </p:sp>
      <p:sp>
        <p:nvSpPr>
          <p:cNvPr id="47" name="TextBox 46"/>
          <p:cNvSpPr txBox="1"/>
          <p:nvPr/>
        </p:nvSpPr>
        <p:spPr>
          <a:xfrm>
            <a:off x="6309360" y="3630168"/>
            <a:ext cx="2468880" cy="201168"/>
          </a:xfrm>
          <a:prstGeom prst="rect">
            <a:avLst/>
          </a:prstGeom>
          <a:noFill/>
        </p:spPr>
        <p:txBody>
          <a:bodyPr wrap="square" anchor="t"/>
          <a:lstStyle/>
          <a:p>
            <a:pPr algn="l">
              <a:defRPr sz="900" b="0">
                <a:solidFill>
                  <a:srgbClr val="6B7280"/>
                </a:solidFill>
                <a:latin typeface="Calibri"/>
              </a:defRPr>
            </a:pPr>
            <a:r>
              <a:t>APM, Feedback</a:t>
            </a:r>
          </a:p>
        </p:txBody>
      </p:sp>
      <p:sp>
        <p:nvSpPr>
          <p:cNvPr id="48" name="Rounded Rectangle 47"/>
          <p:cNvSpPr/>
          <p:nvPr/>
        </p:nvSpPr>
        <p:spPr>
          <a:xfrm>
            <a:off x="9006840" y="3383280"/>
            <a:ext cx="2651760" cy="50292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098280" y="3410712"/>
            <a:ext cx="2468880" cy="201168"/>
          </a:xfrm>
          <a:prstGeom prst="rect">
            <a:avLst/>
          </a:prstGeom>
          <a:noFill/>
        </p:spPr>
        <p:txBody>
          <a:bodyPr wrap="square" anchor="t"/>
          <a:lstStyle/>
          <a:p>
            <a:pPr algn="l">
              <a:defRPr sz="1000" b="1">
                <a:solidFill>
                  <a:srgbClr val="1A4A7A"/>
                </a:solidFill>
                <a:latin typeface="Calibri"/>
              </a:defRPr>
            </a:pPr>
            <a:r>
              <a:t>Govern</a:t>
            </a:r>
          </a:p>
        </p:txBody>
      </p:sp>
      <p:sp>
        <p:nvSpPr>
          <p:cNvPr id="50" name="TextBox 49"/>
          <p:cNvSpPr txBox="1"/>
          <p:nvPr/>
        </p:nvSpPr>
        <p:spPr>
          <a:xfrm>
            <a:off x="9098280" y="3630168"/>
            <a:ext cx="2468880" cy="201168"/>
          </a:xfrm>
          <a:prstGeom prst="rect">
            <a:avLst/>
          </a:prstGeom>
          <a:noFill/>
        </p:spPr>
        <p:txBody>
          <a:bodyPr wrap="square" anchor="t"/>
          <a:lstStyle/>
          <a:p>
            <a:pPr algn="l">
              <a:defRPr sz="900" b="0">
                <a:solidFill>
                  <a:srgbClr val="6B7280"/>
                </a:solidFill>
                <a:latin typeface="Calibri"/>
              </a:defRPr>
            </a:pPr>
            <a:r>
              <a:t>Risk, Compliance, Audit</a:t>
            </a:r>
          </a:p>
        </p:txBody>
      </p:sp>
      <p:sp>
        <p:nvSpPr>
          <p:cNvPr id="51" name="Rectangle 50"/>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53" name="TextBox 52"/>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Story: Instant Loan Pre-Approval (Banking)</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CASE STUDY</a:t>
            </a:r>
          </a:p>
        </p:txBody>
      </p:sp>
      <p:sp>
        <p:nvSpPr>
          <p:cNvPr id="5" name="TextBox 4"/>
          <p:cNvSpPr txBox="1"/>
          <p:nvPr/>
        </p:nvSpPr>
        <p:spPr>
          <a:xfrm>
            <a:off x="548640" y="822960"/>
            <a:ext cx="3657600" cy="320040"/>
          </a:xfrm>
          <a:prstGeom prst="rect">
            <a:avLst/>
          </a:prstGeom>
          <a:noFill/>
        </p:spPr>
        <p:txBody>
          <a:bodyPr wrap="square" anchor="t"/>
          <a:lstStyle/>
          <a:p>
            <a:pPr algn="l">
              <a:defRPr sz="1600" b="1">
                <a:solidFill>
                  <a:srgbClr val="1E3A5F"/>
                </a:solidFill>
                <a:latin typeface="Calibri"/>
              </a:defRPr>
            </a:pPr>
            <a:r>
              <a:t>Timeline — 3 Days</a:t>
            </a:r>
          </a:p>
        </p:txBody>
      </p:sp>
      <p:sp>
        <p:nvSpPr>
          <p:cNvPr id="6" name="Rectangle 5"/>
          <p:cNvSpPr/>
          <p:nvPr/>
        </p:nvSpPr>
        <p:spPr>
          <a:xfrm>
            <a:off x="777240" y="1371600"/>
            <a:ext cx="38100" cy="3200400"/>
          </a:xfrm>
          <a:prstGeom prst="rect">
            <a:avLst/>
          </a:prstGeom>
          <a:solidFill>
            <a:srgbClr val="BFD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85800" y="1371600"/>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353312"/>
            <a:ext cx="5029200" cy="182880"/>
          </a:xfrm>
          <a:prstGeom prst="rect">
            <a:avLst/>
          </a:prstGeom>
          <a:noFill/>
        </p:spPr>
        <p:txBody>
          <a:bodyPr wrap="square" anchor="t"/>
          <a:lstStyle/>
          <a:p>
            <a:pPr algn="l">
              <a:defRPr sz="1100" b="1">
                <a:solidFill>
                  <a:srgbClr val="1A4A7A"/>
                </a:solidFill>
                <a:latin typeface="Calibri"/>
              </a:defRPr>
            </a:pPr>
            <a:r>
              <a:t>Day 1 AM</a:t>
            </a:r>
          </a:p>
        </p:txBody>
      </p:sp>
      <p:sp>
        <p:nvSpPr>
          <p:cNvPr id="9" name="TextBox 8"/>
          <p:cNvSpPr txBox="1"/>
          <p:nvPr/>
        </p:nvSpPr>
        <p:spPr>
          <a:xfrm>
            <a:off x="1005840" y="1536192"/>
            <a:ext cx="5029200" cy="411480"/>
          </a:xfrm>
          <a:prstGeom prst="rect">
            <a:avLst/>
          </a:prstGeom>
          <a:noFill/>
        </p:spPr>
        <p:txBody>
          <a:bodyPr wrap="square" anchor="t"/>
          <a:lstStyle/>
          <a:p>
            <a:pPr algn="l">
              <a:defRPr sz="1000" b="0">
                <a:solidFill>
                  <a:srgbClr val="4B5563"/>
                </a:solidFill>
                <a:latin typeface="Calibri"/>
              </a:defRPr>
            </a:pPr>
            <a:r>
              <a:t>Priya frames outcome. Define Agent drafts spec, test scenarios, 12 user stories in &lt;1 hour.</a:t>
            </a:r>
          </a:p>
        </p:txBody>
      </p:sp>
      <p:sp>
        <p:nvSpPr>
          <p:cNvPr id="10" name="Oval 9"/>
          <p:cNvSpPr/>
          <p:nvPr/>
        </p:nvSpPr>
        <p:spPr>
          <a:xfrm>
            <a:off x="685800" y="2011680"/>
            <a:ext cx="182880" cy="1828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993392"/>
            <a:ext cx="5029200" cy="182880"/>
          </a:xfrm>
          <a:prstGeom prst="rect">
            <a:avLst/>
          </a:prstGeom>
          <a:noFill/>
        </p:spPr>
        <p:txBody>
          <a:bodyPr wrap="square" anchor="t"/>
          <a:lstStyle/>
          <a:p>
            <a:pPr algn="l">
              <a:defRPr sz="1100" b="1">
                <a:solidFill>
                  <a:srgbClr val="1A4A7A"/>
                </a:solidFill>
                <a:latin typeface="Calibri"/>
              </a:defRPr>
            </a:pPr>
            <a:r>
              <a:t>Day 1 Noon</a:t>
            </a:r>
          </a:p>
        </p:txBody>
      </p:sp>
      <p:sp>
        <p:nvSpPr>
          <p:cNvPr id="12" name="TextBox 11"/>
          <p:cNvSpPr txBox="1"/>
          <p:nvPr/>
        </p:nvSpPr>
        <p:spPr>
          <a:xfrm>
            <a:off x="1005840" y="2176272"/>
            <a:ext cx="5029200" cy="411480"/>
          </a:xfrm>
          <a:prstGeom prst="rect">
            <a:avLst/>
          </a:prstGeom>
          <a:noFill/>
        </p:spPr>
        <p:txBody>
          <a:bodyPr wrap="square" anchor="t"/>
          <a:lstStyle/>
          <a:p>
            <a:pPr algn="l">
              <a:defRPr sz="1000" b="0">
                <a:solidFill>
                  <a:srgbClr val="4B5563"/>
                </a:solidFill>
                <a:latin typeface="Calibri"/>
              </a:defRPr>
            </a:pPr>
            <a:r>
              <a:t>Architecture + CodeGen Agents produce design &amp; code. Arjun reviews, 3 corrections.</a:t>
            </a:r>
          </a:p>
        </p:txBody>
      </p:sp>
      <p:sp>
        <p:nvSpPr>
          <p:cNvPr id="13" name="Oval 12"/>
          <p:cNvSpPr/>
          <p:nvPr/>
        </p:nvSpPr>
        <p:spPr>
          <a:xfrm>
            <a:off x="685800" y="2651760"/>
            <a:ext cx="182880" cy="18288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633472"/>
            <a:ext cx="5029200" cy="182880"/>
          </a:xfrm>
          <a:prstGeom prst="rect">
            <a:avLst/>
          </a:prstGeom>
          <a:noFill/>
        </p:spPr>
        <p:txBody>
          <a:bodyPr wrap="square" anchor="t"/>
          <a:lstStyle/>
          <a:p>
            <a:pPr algn="l">
              <a:defRPr sz="1100" b="1">
                <a:solidFill>
                  <a:srgbClr val="1A4A7A"/>
                </a:solidFill>
                <a:latin typeface="Calibri"/>
              </a:defRPr>
            </a:pPr>
            <a:r>
              <a:t>Day 1 PM</a:t>
            </a:r>
          </a:p>
        </p:txBody>
      </p:sp>
      <p:sp>
        <p:nvSpPr>
          <p:cNvPr id="15" name="TextBox 14"/>
          <p:cNvSpPr txBox="1"/>
          <p:nvPr/>
        </p:nvSpPr>
        <p:spPr>
          <a:xfrm>
            <a:off x="1005840" y="2816352"/>
            <a:ext cx="5029200" cy="411480"/>
          </a:xfrm>
          <a:prstGeom prst="rect">
            <a:avLst/>
          </a:prstGeom>
          <a:noFill/>
        </p:spPr>
        <p:txBody>
          <a:bodyPr wrap="square" anchor="t"/>
          <a:lstStyle/>
          <a:p>
            <a:pPr algn="l">
              <a:defRPr sz="1000" b="0">
                <a:solidFill>
                  <a:srgbClr val="4B5563"/>
                </a:solidFill>
                <a:latin typeface="Calibri"/>
              </a:defRPr>
            </a:pPr>
            <a:r>
              <a:t>TestGen + QA + Performance (10K users) + Security. All automated. 2 edge cases fixed.</a:t>
            </a:r>
          </a:p>
        </p:txBody>
      </p:sp>
      <p:sp>
        <p:nvSpPr>
          <p:cNvPr id="16" name="Oval 15"/>
          <p:cNvSpPr/>
          <p:nvPr/>
        </p:nvSpPr>
        <p:spPr>
          <a:xfrm>
            <a:off x="685800" y="3291840"/>
            <a:ext cx="182880" cy="182880"/>
          </a:xfrm>
          <a:prstGeom prst="ellipse">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273552"/>
            <a:ext cx="5029200" cy="182880"/>
          </a:xfrm>
          <a:prstGeom prst="rect">
            <a:avLst/>
          </a:prstGeom>
          <a:noFill/>
        </p:spPr>
        <p:txBody>
          <a:bodyPr wrap="square" anchor="t"/>
          <a:lstStyle/>
          <a:p>
            <a:pPr algn="l">
              <a:defRPr sz="1100" b="1">
                <a:solidFill>
                  <a:srgbClr val="1A4A7A"/>
                </a:solidFill>
                <a:latin typeface="Calibri"/>
              </a:defRPr>
            </a:pPr>
            <a:r>
              <a:t>Day 2</a:t>
            </a:r>
          </a:p>
        </p:txBody>
      </p:sp>
      <p:sp>
        <p:nvSpPr>
          <p:cNvPr id="18" name="TextBox 17"/>
          <p:cNvSpPr txBox="1"/>
          <p:nvPr/>
        </p:nvSpPr>
        <p:spPr>
          <a:xfrm>
            <a:off x="1005840" y="3456432"/>
            <a:ext cx="5029200" cy="411480"/>
          </a:xfrm>
          <a:prstGeom prst="rect">
            <a:avLst/>
          </a:prstGeom>
          <a:noFill/>
        </p:spPr>
        <p:txBody>
          <a:bodyPr wrap="square" anchor="t"/>
          <a:lstStyle/>
          <a:p>
            <a:pPr algn="l">
              <a:defRPr sz="1000" b="0">
                <a:solidFill>
                  <a:srgbClr val="4B5563"/>
                </a:solidFill>
                <a:latin typeface="Calibri"/>
              </a:defRPr>
            </a:pPr>
            <a:r>
              <a:t>Deploy Agent ships to production. Release notes auto-generated. APM monitors. Green.</a:t>
            </a:r>
          </a:p>
        </p:txBody>
      </p:sp>
      <p:sp>
        <p:nvSpPr>
          <p:cNvPr id="19" name="Oval 18"/>
          <p:cNvSpPr/>
          <p:nvPr/>
        </p:nvSpPr>
        <p:spPr>
          <a:xfrm>
            <a:off x="685800" y="3931920"/>
            <a:ext cx="182880" cy="182880"/>
          </a:xfrm>
          <a:prstGeom prst="ellipse">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3913632"/>
            <a:ext cx="5029200" cy="182880"/>
          </a:xfrm>
          <a:prstGeom prst="rect">
            <a:avLst/>
          </a:prstGeom>
          <a:noFill/>
        </p:spPr>
        <p:txBody>
          <a:bodyPr wrap="square" anchor="t"/>
          <a:lstStyle/>
          <a:p>
            <a:pPr algn="l">
              <a:defRPr sz="1100" b="1">
                <a:solidFill>
                  <a:srgbClr val="1A4A7A"/>
                </a:solidFill>
                <a:latin typeface="Calibri"/>
              </a:defRPr>
            </a:pPr>
            <a:r>
              <a:t>Day 3</a:t>
            </a:r>
          </a:p>
        </p:txBody>
      </p:sp>
      <p:sp>
        <p:nvSpPr>
          <p:cNvPr id="21" name="TextBox 20"/>
          <p:cNvSpPr txBox="1"/>
          <p:nvPr/>
        </p:nvSpPr>
        <p:spPr>
          <a:xfrm>
            <a:off x="1005840" y="4096512"/>
            <a:ext cx="5029200" cy="411480"/>
          </a:xfrm>
          <a:prstGeom prst="rect">
            <a:avLst/>
          </a:prstGeom>
          <a:noFill/>
        </p:spPr>
        <p:txBody>
          <a:bodyPr wrap="square" anchor="t"/>
          <a:lstStyle/>
          <a:p>
            <a:pPr algn="l">
              <a:defRPr sz="1000" b="0">
                <a:solidFill>
                  <a:srgbClr val="4B5563"/>
                </a:solidFill>
                <a:latin typeface="Calibri"/>
              </a:defRPr>
            </a:pPr>
            <a:r>
              <a:t>Customers using feature. Feedback Agent synthesises usage. Rates on target. Done.</a:t>
            </a:r>
          </a:p>
        </p:txBody>
      </p:sp>
      <p:sp>
        <p:nvSpPr>
          <p:cNvPr id="22" name="TextBox 21"/>
          <p:cNvSpPr txBox="1"/>
          <p:nvPr/>
        </p:nvSpPr>
        <p:spPr>
          <a:xfrm>
            <a:off x="6400800" y="822960"/>
            <a:ext cx="3657600" cy="320040"/>
          </a:xfrm>
          <a:prstGeom prst="rect">
            <a:avLst/>
          </a:prstGeom>
          <a:noFill/>
        </p:spPr>
        <p:txBody>
          <a:bodyPr wrap="square" anchor="t"/>
          <a:lstStyle/>
          <a:p>
            <a:pPr algn="l">
              <a:defRPr sz="1600" b="1">
                <a:solidFill>
                  <a:srgbClr val="1E3A5F"/>
                </a:solidFill>
                <a:latin typeface="Calibri"/>
              </a:defRPr>
            </a:pPr>
            <a:r>
              <a:t>The Numbers</a:t>
            </a:r>
          </a:p>
        </p:txBody>
      </p:sp>
      <p:graphicFrame>
        <p:nvGraphicFramePr>
          <p:cNvPr id="23" name="Table 22"/>
          <p:cNvGraphicFramePr>
            <a:graphicFrameLocks noGrp="1"/>
          </p:cNvGraphicFramePr>
          <p:nvPr/>
        </p:nvGraphicFramePr>
        <p:xfrm>
          <a:off x="6400800" y="1280160"/>
          <a:ext cx="5303520" cy="20116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35280">
                <a:tc>
                  <a:txBody>
                    <a:bodyPr/>
                    <a:lstStyle/>
                    <a:p>
                      <a:pPr algn="l">
                        <a:defRPr sz="1000" b="1">
                          <a:solidFill>
                            <a:srgbClr val="FFFFFF"/>
                          </a:solidFill>
                          <a:latin typeface="Calibri"/>
                        </a:defRPr>
                      </a:pPr>
                      <a:r>
                        <a:t>Metric</a:t>
                      </a:r>
                    </a:p>
                  </a:txBody>
                  <a:tcPr>
                    <a:solidFill>
                      <a:srgbClr val="1A56DB"/>
                    </a:solidFill>
                  </a:tcPr>
                </a:tc>
                <a:tc>
                  <a:txBody>
                    <a:bodyPr/>
                    <a:lstStyle/>
                    <a:p>
                      <a:pPr algn="l">
                        <a:defRPr sz="1000" b="1">
                          <a:solidFill>
                            <a:srgbClr val="FFFFFF"/>
                          </a:solidFill>
                          <a:latin typeface="Calibri"/>
                        </a:defRPr>
                      </a:pPr>
                      <a:r>
                        <a:t>Traditional</a:t>
                      </a:r>
                    </a:p>
                  </a:txBody>
                  <a:tcPr>
                    <a:solidFill>
                      <a:srgbClr val="1A56DB"/>
                    </a:solidFill>
                  </a:tcPr>
                </a:tc>
                <a:tc>
                  <a:txBody>
                    <a:bodyPr/>
                    <a:lstStyle/>
                    <a:p>
                      <a:pPr algn="l">
                        <a:defRPr sz="1000" b="1">
                          <a:solidFill>
                            <a:srgbClr val="FFFFFF"/>
                          </a:solidFill>
                          <a:latin typeface="Calibri"/>
                        </a:defRPr>
                      </a:pPr>
                      <a:r>
                        <a:t>Frontier Pod</a:t>
                      </a:r>
                    </a:p>
                  </a:txBody>
                  <a:tcPr>
                    <a:solidFill>
                      <a:srgbClr val="1A56DB"/>
                    </a:solidFill>
                  </a:tcPr>
                </a:tc>
                <a:extLst>
                  <a:ext uri="{0D108BD9-81ED-4DB2-BD59-A6C34878D82A}">
                    <a16:rowId xmlns:a16="http://schemas.microsoft.com/office/drawing/2014/main" val="10000"/>
                  </a:ext>
                </a:extLst>
              </a:tr>
              <a:tr h="335280">
                <a:tc>
                  <a:txBody>
                    <a:bodyPr/>
                    <a:lstStyle/>
                    <a:p>
                      <a:pPr algn="l">
                        <a:defRPr sz="1100" b="1">
                          <a:solidFill>
                            <a:srgbClr val="374151"/>
                          </a:solidFill>
                          <a:latin typeface="Calibri"/>
                        </a:defRPr>
                      </a:pPr>
                      <a:r>
                        <a:t>People</a:t>
                      </a:r>
                    </a:p>
                  </a:txBody>
                  <a:tcPr>
                    <a:solidFill>
                      <a:srgbClr val="FFFFFF"/>
                    </a:solidFill>
                  </a:tcPr>
                </a:tc>
                <a:tc>
                  <a:txBody>
                    <a:bodyPr/>
                    <a:lstStyle/>
                    <a:p>
                      <a:pPr algn="l">
                        <a:defRPr sz="1100" b="0">
                          <a:solidFill>
                            <a:srgbClr val="374151"/>
                          </a:solidFill>
                          <a:latin typeface="Calibri"/>
                        </a:defRPr>
                      </a:pPr>
                      <a:r>
                        <a:t>30</a:t>
                      </a:r>
                    </a:p>
                  </a:txBody>
                  <a:tcPr>
                    <a:solidFill>
                      <a:srgbClr val="FFFFFF"/>
                    </a:solidFill>
                  </a:tcPr>
                </a:tc>
                <a:tc>
                  <a:txBody>
                    <a:bodyPr/>
                    <a:lstStyle/>
                    <a:p>
                      <a:pPr algn="l">
                        <a:defRPr sz="1100" b="1">
                          <a:solidFill>
                            <a:srgbClr val="1A56DB"/>
                          </a:solidFill>
                          <a:latin typeface="Calibri"/>
                        </a:defRPr>
                      </a:pPr>
                      <a:r>
                        <a:t>2</a:t>
                      </a:r>
                    </a:p>
                  </a:txBody>
                  <a:tcPr>
                    <a:solidFill>
                      <a:srgbClr val="FFFFFF"/>
                    </a:solidFill>
                  </a:tcPr>
                </a:tc>
                <a:extLst>
                  <a:ext uri="{0D108BD9-81ED-4DB2-BD59-A6C34878D82A}">
                    <a16:rowId xmlns:a16="http://schemas.microsoft.com/office/drawing/2014/main" val="10001"/>
                  </a:ext>
                </a:extLst>
              </a:tr>
              <a:tr h="335280">
                <a:tc>
                  <a:txBody>
                    <a:bodyPr/>
                    <a:lstStyle/>
                    <a:p>
                      <a:pPr algn="l">
                        <a:defRPr sz="1100" b="1">
                          <a:solidFill>
                            <a:srgbClr val="374151"/>
                          </a:solidFill>
                          <a:latin typeface="Calibri"/>
                        </a:defRPr>
                      </a:pPr>
                      <a:r>
                        <a:t>Duration</a:t>
                      </a:r>
                    </a:p>
                  </a:txBody>
                  <a:tcPr>
                    <a:solidFill>
                      <a:srgbClr val="EFF6FF"/>
                    </a:solidFill>
                  </a:tcPr>
                </a:tc>
                <a:tc>
                  <a:txBody>
                    <a:bodyPr/>
                    <a:lstStyle/>
                    <a:p>
                      <a:pPr algn="l">
                        <a:defRPr sz="1100" b="0">
                          <a:solidFill>
                            <a:srgbClr val="374151"/>
                          </a:solidFill>
                          <a:latin typeface="Calibri"/>
                        </a:defRPr>
                      </a:pPr>
                      <a:r>
                        <a:t>10 weeks</a:t>
                      </a:r>
                    </a:p>
                  </a:txBody>
                  <a:tcPr>
                    <a:solidFill>
                      <a:srgbClr val="EFF6FF"/>
                    </a:solidFill>
                  </a:tcPr>
                </a:tc>
                <a:tc>
                  <a:txBody>
                    <a:bodyPr/>
                    <a:lstStyle/>
                    <a:p>
                      <a:pPr algn="l">
                        <a:defRPr sz="1100" b="1">
                          <a:solidFill>
                            <a:srgbClr val="1A56DB"/>
                          </a:solidFill>
                          <a:latin typeface="Calibri"/>
                        </a:defRPr>
                      </a:pPr>
                      <a:r>
                        <a:t>3 days</a:t>
                      </a:r>
                    </a:p>
                  </a:txBody>
                  <a:tcPr>
                    <a:solidFill>
                      <a:srgbClr val="EFF6FF"/>
                    </a:solidFill>
                  </a:tcPr>
                </a:tc>
                <a:extLst>
                  <a:ext uri="{0D108BD9-81ED-4DB2-BD59-A6C34878D82A}">
                    <a16:rowId xmlns:a16="http://schemas.microsoft.com/office/drawing/2014/main" val="10002"/>
                  </a:ext>
                </a:extLst>
              </a:tr>
              <a:tr h="335280">
                <a:tc>
                  <a:txBody>
                    <a:bodyPr/>
                    <a:lstStyle/>
                    <a:p>
                      <a:pPr algn="l">
                        <a:defRPr sz="1100" b="1">
                          <a:solidFill>
                            <a:srgbClr val="374151"/>
                          </a:solidFill>
                          <a:latin typeface="Calibri"/>
                        </a:defRPr>
                      </a:pPr>
                      <a:r>
                        <a:t>Cost</a:t>
                      </a:r>
                    </a:p>
                  </a:txBody>
                  <a:tcPr>
                    <a:solidFill>
                      <a:srgbClr val="FFFFFF"/>
                    </a:solidFill>
                  </a:tcPr>
                </a:tc>
                <a:tc>
                  <a:txBody>
                    <a:bodyPr/>
                    <a:lstStyle/>
                    <a:p>
                      <a:pPr algn="l">
                        <a:defRPr sz="1100" b="0">
                          <a:solidFill>
                            <a:srgbClr val="374151"/>
                          </a:solidFill>
                          <a:latin typeface="Calibri"/>
                        </a:defRPr>
                      </a:pPr>
                      <a:r>
                        <a:t>$400,000</a:t>
                      </a:r>
                    </a:p>
                  </a:txBody>
                  <a:tcPr>
                    <a:solidFill>
                      <a:srgbClr val="FFFFFF"/>
                    </a:solidFill>
                  </a:tcPr>
                </a:tc>
                <a:tc>
                  <a:txBody>
                    <a:bodyPr/>
                    <a:lstStyle/>
                    <a:p>
                      <a:pPr algn="l">
                        <a:defRPr sz="1100" b="1">
                          <a:solidFill>
                            <a:srgbClr val="1A56DB"/>
                          </a:solidFill>
                          <a:latin typeface="Calibri"/>
                        </a:defRPr>
                      </a:pPr>
                      <a:r>
                        <a:t>$6,000</a:t>
                      </a:r>
                    </a:p>
                  </a:txBody>
                  <a:tcPr>
                    <a:solidFill>
                      <a:srgbClr val="FFFFFF"/>
                    </a:solidFill>
                  </a:tcPr>
                </a:tc>
                <a:extLst>
                  <a:ext uri="{0D108BD9-81ED-4DB2-BD59-A6C34878D82A}">
                    <a16:rowId xmlns:a16="http://schemas.microsoft.com/office/drawing/2014/main" val="10003"/>
                  </a:ext>
                </a:extLst>
              </a:tr>
              <a:tr h="335280">
                <a:tc>
                  <a:txBody>
                    <a:bodyPr/>
                    <a:lstStyle/>
                    <a:p>
                      <a:pPr algn="l">
                        <a:defRPr sz="1100" b="1">
                          <a:solidFill>
                            <a:srgbClr val="374151"/>
                          </a:solidFill>
                          <a:latin typeface="Calibri"/>
                        </a:defRPr>
                      </a:pPr>
                      <a:r>
                        <a:t>Test Coverage</a:t>
                      </a:r>
                    </a:p>
                  </a:txBody>
                  <a:tcPr>
                    <a:solidFill>
                      <a:srgbClr val="EFF6FF"/>
                    </a:solidFill>
                  </a:tcPr>
                </a:tc>
                <a:tc>
                  <a:txBody>
                    <a:bodyPr/>
                    <a:lstStyle/>
                    <a:p>
                      <a:pPr algn="l">
                        <a:defRPr sz="1100" b="0">
                          <a:solidFill>
                            <a:srgbClr val="374151"/>
                          </a:solidFill>
                          <a:latin typeface="Calibri"/>
                        </a:defRPr>
                      </a:pPr>
                      <a:r>
                        <a:t>45%</a:t>
                      </a:r>
                    </a:p>
                  </a:txBody>
                  <a:tcPr>
                    <a:solidFill>
                      <a:srgbClr val="EFF6FF"/>
                    </a:solidFill>
                  </a:tcPr>
                </a:tc>
                <a:tc>
                  <a:txBody>
                    <a:bodyPr/>
                    <a:lstStyle/>
                    <a:p>
                      <a:pPr algn="l">
                        <a:defRPr sz="1100" b="1">
                          <a:solidFill>
                            <a:srgbClr val="1A56DB"/>
                          </a:solidFill>
                          <a:latin typeface="Calibri"/>
                        </a:defRPr>
                      </a:pPr>
                      <a:r>
                        <a:t>95%</a:t>
                      </a:r>
                    </a:p>
                  </a:txBody>
                  <a:tcPr>
                    <a:solidFill>
                      <a:srgbClr val="EFF6FF"/>
                    </a:solidFill>
                  </a:tcPr>
                </a:tc>
                <a:extLst>
                  <a:ext uri="{0D108BD9-81ED-4DB2-BD59-A6C34878D82A}">
                    <a16:rowId xmlns:a16="http://schemas.microsoft.com/office/drawing/2014/main" val="10004"/>
                  </a:ext>
                </a:extLst>
              </a:tr>
              <a:tr h="335280">
                <a:tc>
                  <a:txBody>
                    <a:bodyPr/>
                    <a:lstStyle/>
                    <a:p>
                      <a:pPr algn="l">
                        <a:defRPr sz="1100" b="1">
                          <a:solidFill>
                            <a:srgbClr val="374151"/>
                          </a:solidFill>
                          <a:latin typeface="Calibri"/>
                        </a:defRPr>
                      </a:pPr>
                      <a:r>
                        <a:t>Security Vulns</a:t>
                      </a:r>
                    </a:p>
                  </a:txBody>
                  <a:tcPr>
                    <a:solidFill>
                      <a:srgbClr val="FFFFFF"/>
                    </a:solidFill>
                  </a:tcPr>
                </a:tc>
                <a:tc>
                  <a:txBody>
                    <a:bodyPr/>
                    <a:lstStyle/>
                    <a:p>
                      <a:pPr algn="l">
                        <a:defRPr sz="1100" b="0">
                          <a:solidFill>
                            <a:srgbClr val="374151"/>
                          </a:solidFill>
                          <a:latin typeface="Calibri"/>
                        </a:defRPr>
                      </a:pPr>
                      <a:r>
                        <a:t>"Next sprint"</a:t>
                      </a:r>
                    </a:p>
                  </a:txBody>
                  <a:tcPr>
                    <a:solidFill>
                      <a:srgbClr val="FFFFFF"/>
                    </a:solidFill>
                  </a:tcPr>
                </a:tc>
                <a:tc>
                  <a:txBody>
                    <a:bodyPr/>
                    <a:lstStyle/>
                    <a:p>
                      <a:pPr algn="l">
                        <a:defRPr sz="1100" b="1">
                          <a:solidFill>
                            <a:srgbClr val="1A56DB"/>
                          </a:solidFill>
                          <a:latin typeface="Calibri"/>
                        </a:defRPr>
                      </a:pPr>
                      <a:r>
                        <a:t>Zero</a:t>
                      </a:r>
                    </a:p>
                  </a:txBody>
                  <a:tcPr>
                    <a:solidFill>
                      <a:srgbClr val="FFFFFF"/>
                    </a:solidFill>
                  </a:tcPr>
                </a:tc>
                <a:extLst>
                  <a:ext uri="{0D108BD9-81ED-4DB2-BD59-A6C34878D82A}">
                    <a16:rowId xmlns:a16="http://schemas.microsoft.com/office/drawing/2014/main" val="10005"/>
                  </a:ext>
                </a:extLst>
              </a:tr>
            </a:tbl>
          </a:graphicData>
        </a:graphic>
      </p:graphicFrame>
      <p:sp>
        <p:nvSpPr>
          <p:cNvPr id="24" name="Rounded Rectangle 23"/>
          <p:cNvSpPr/>
          <p:nvPr/>
        </p:nvSpPr>
        <p:spPr>
          <a:xfrm>
            <a:off x="6858000" y="3566160"/>
            <a:ext cx="4389120" cy="109728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0" y="3611880"/>
            <a:ext cx="4389120" cy="640080"/>
          </a:xfrm>
          <a:prstGeom prst="rect">
            <a:avLst/>
          </a:prstGeom>
          <a:noFill/>
        </p:spPr>
        <p:txBody>
          <a:bodyPr wrap="square" anchor="t"/>
          <a:lstStyle/>
          <a:p>
            <a:pPr algn="ctr">
              <a:defRPr sz="4200" b="1">
                <a:solidFill>
                  <a:srgbClr val="93C5FD"/>
                </a:solidFill>
                <a:latin typeface="Calibri"/>
              </a:defRPr>
            </a:pPr>
            <a:r>
              <a:t>67×</a:t>
            </a:r>
          </a:p>
        </p:txBody>
      </p:sp>
      <p:sp>
        <p:nvSpPr>
          <p:cNvPr id="26" name="TextBox 25"/>
          <p:cNvSpPr txBox="1"/>
          <p:nvPr/>
        </p:nvSpPr>
        <p:spPr>
          <a:xfrm>
            <a:off x="6858000" y="4206240"/>
            <a:ext cx="4389120" cy="274320"/>
          </a:xfrm>
          <a:prstGeom prst="rect">
            <a:avLst/>
          </a:prstGeom>
          <a:noFill/>
        </p:spPr>
        <p:txBody>
          <a:bodyPr wrap="square" anchor="t"/>
          <a:lstStyle/>
          <a:p>
            <a:pPr algn="ctr">
              <a:defRPr sz="1300" b="0">
                <a:solidFill>
                  <a:srgbClr val="FFFFFF"/>
                </a:solidFill>
                <a:latin typeface="Calibri"/>
              </a:defRPr>
            </a:pPr>
            <a:r>
              <a:t>Cost reduction</a:t>
            </a:r>
          </a:p>
        </p:txBody>
      </p:sp>
      <p:sp>
        <p:nvSpPr>
          <p:cNvPr id="27" name="Rectangle 26"/>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29" name="TextBox 28"/>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More Stories: Finance &amp; Insurance</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CASE STUDIES</a:t>
            </a:r>
          </a:p>
        </p:txBody>
      </p:sp>
      <p:sp>
        <p:nvSpPr>
          <p:cNvPr id="5" name="Rounded Rectangle 4"/>
          <p:cNvSpPr/>
          <p:nvPr/>
        </p:nvSpPr>
        <p:spPr>
          <a:xfrm>
            <a:off x="548640" y="822960"/>
            <a:ext cx="5394960" cy="5303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914400"/>
            <a:ext cx="1097280" cy="228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914400"/>
            <a:ext cx="1097280" cy="228600"/>
          </a:xfrm>
          <a:prstGeom prst="rect">
            <a:avLst/>
          </a:prstGeom>
          <a:noFill/>
        </p:spPr>
        <p:txBody>
          <a:bodyPr wrap="square" anchor="ctr"/>
          <a:lstStyle/>
          <a:p>
            <a:pPr algn="ctr">
              <a:defRPr sz="900" b="1">
                <a:solidFill>
                  <a:srgbClr val="1A56DB"/>
                </a:solidFill>
                <a:latin typeface="Calibri"/>
              </a:defRPr>
            </a:pPr>
            <a:r>
              <a:t>FINANCE</a:t>
            </a:r>
          </a:p>
        </p:txBody>
      </p:sp>
      <p:sp>
        <p:nvSpPr>
          <p:cNvPr id="8" name="TextBox 7"/>
          <p:cNvSpPr txBox="1"/>
          <p:nvPr/>
        </p:nvSpPr>
        <p:spPr>
          <a:xfrm>
            <a:off x="731520" y="1280160"/>
            <a:ext cx="5029200" cy="320040"/>
          </a:xfrm>
          <a:prstGeom prst="rect">
            <a:avLst/>
          </a:prstGeom>
          <a:noFill/>
        </p:spPr>
        <p:txBody>
          <a:bodyPr wrap="square" anchor="t"/>
          <a:lstStyle/>
          <a:p>
            <a:pPr algn="l">
              <a:defRPr sz="1500" b="1">
                <a:solidFill>
                  <a:srgbClr val="1E3A5F"/>
                </a:solidFill>
                <a:latin typeface="Calibri"/>
              </a:defRPr>
            </a:pPr>
            <a:r>
              <a:t>Kavitha — Autonomous Month-End Close</a:t>
            </a:r>
          </a:p>
        </p:txBody>
      </p:sp>
      <p:sp>
        <p:nvSpPr>
          <p:cNvPr id="9" name="TextBox 8"/>
          <p:cNvSpPr txBox="1"/>
          <p:nvPr/>
        </p:nvSpPr>
        <p:spPr>
          <a:xfrm>
            <a:off x="731520" y="1645920"/>
            <a:ext cx="5029200" cy="274320"/>
          </a:xfrm>
          <a:prstGeom prst="rect">
            <a:avLst/>
          </a:prstGeom>
          <a:noFill/>
        </p:spPr>
        <p:txBody>
          <a:bodyPr wrap="square" anchor="t"/>
          <a:lstStyle/>
          <a:p>
            <a:pPr algn="l">
              <a:defRPr sz="1200" b="0">
                <a:solidFill>
                  <a:srgbClr val="4B5563"/>
                </a:solidFill>
                <a:latin typeface="Calibri"/>
              </a:defRPr>
            </a:pPr>
            <a:r>
              <a:t>Finance analyst, no coding background. Journey through stages:</a:t>
            </a:r>
          </a:p>
        </p:txBody>
      </p:sp>
      <p:sp>
        <p:nvSpPr>
          <p:cNvPr id="10" name="Rounded Rectangle 9"/>
          <p:cNvSpPr/>
          <p:nvPr/>
        </p:nvSpPr>
        <p:spPr>
          <a:xfrm>
            <a:off x="822960" y="2103120"/>
            <a:ext cx="457200" cy="228600"/>
          </a:xfrm>
          <a:prstGeom prst="round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03120"/>
            <a:ext cx="457200" cy="228600"/>
          </a:xfrm>
          <a:prstGeom prst="rect">
            <a:avLst/>
          </a:prstGeom>
          <a:noFill/>
        </p:spPr>
        <p:txBody>
          <a:bodyPr wrap="square" anchor="ctr"/>
          <a:lstStyle/>
          <a:p>
            <a:pPr algn="ctr">
              <a:defRPr sz="900" b="1">
                <a:solidFill>
                  <a:srgbClr val="FFFFFF"/>
                </a:solidFill>
                <a:latin typeface="Calibri"/>
              </a:defRPr>
            </a:pPr>
            <a:r>
              <a:t>S0</a:t>
            </a:r>
          </a:p>
        </p:txBody>
      </p:sp>
      <p:sp>
        <p:nvSpPr>
          <p:cNvPr id="12" name="TextBox 11"/>
          <p:cNvSpPr txBox="1"/>
          <p:nvPr/>
        </p:nvSpPr>
        <p:spPr>
          <a:xfrm>
            <a:off x="1417320" y="2103120"/>
            <a:ext cx="4389120" cy="228600"/>
          </a:xfrm>
          <a:prstGeom prst="rect">
            <a:avLst/>
          </a:prstGeom>
          <a:noFill/>
        </p:spPr>
        <p:txBody>
          <a:bodyPr wrap="square" anchor="t"/>
          <a:lstStyle/>
          <a:p>
            <a:pPr algn="l">
              <a:defRPr sz="1000" b="0">
                <a:solidFill>
                  <a:srgbClr val="4B5563"/>
                </a:solidFill>
                <a:latin typeface="Calibri"/>
              </a:defRPr>
            </a:pPr>
            <a:r>
              <a:t>Manual: spreadsheets, line-by-line reconciliation, emails</a:t>
            </a:r>
          </a:p>
        </p:txBody>
      </p:sp>
      <p:sp>
        <p:nvSpPr>
          <p:cNvPr id="13" name="Rounded Rectangle 12"/>
          <p:cNvSpPr/>
          <p:nvPr/>
        </p:nvSpPr>
        <p:spPr>
          <a:xfrm>
            <a:off x="822960" y="2423160"/>
            <a:ext cx="457200" cy="228600"/>
          </a:xfrm>
          <a:prstGeom prst="round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2423160"/>
            <a:ext cx="457200" cy="228600"/>
          </a:xfrm>
          <a:prstGeom prst="rect">
            <a:avLst/>
          </a:prstGeom>
          <a:noFill/>
        </p:spPr>
        <p:txBody>
          <a:bodyPr wrap="square" anchor="ctr"/>
          <a:lstStyle/>
          <a:p>
            <a:pPr algn="ctr">
              <a:defRPr sz="900" b="1">
                <a:solidFill>
                  <a:srgbClr val="FFFFFF"/>
                </a:solidFill>
                <a:latin typeface="Calibri"/>
              </a:defRPr>
            </a:pPr>
            <a:r>
              <a:t>S1</a:t>
            </a:r>
          </a:p>
        </p:txBody>
      </p:sp>
      <p:sp>
        <p:nvSpPr>
          <p:cNvPr id="15" name="TextBox 14"/>
          <p:cNvSpPr txBox="1"/>
          <p:nvPr/>
        </p:nvSpPr>
        <p:spPr>
          <a:xfrm>
            <a:off x="1417320" y="2423160"/>
            <a:ext cx="4389120" cy="228600"/>
          </a:xfrm>
          <a:prstGeom prst="rect">
            <a:avLst/>
          </a:prstGeom>
          <a:noFill/>
        </p:spPr>
        <p:txBody>
          <a:bodyPr wrap="square" anchor="t"/>
          <a:lstStyle/>
          <a:p>
            <a:pPr algn="l">
              <a:defRPr sz="1000" b="0">
                <a:solidFill>
                  <a:srgbClr val="4B5563"/>
                </a:solidFill>
                <a:latin typeface="Calibri"/>
              </a:defRPr>
            </a:pPr>
            <a:r>
              <a:t>Agents pull, normalise, auto-reconcile &amp; draft commentary</a:t>
            </a:r>
          </a:p>
        </p:txBody>
      </p:sp>
      <p:sp>
        <p:nvSpPr>
          <p:cNvPr id="16" name="Rounded Rectangle 15"/>
          <p:cNvSpPr/>
          <p:nvPr/>
        </p:nvSpPr>
        <p:spPr>
          <a:xfrm>
            <a:off x="822960" y="2743200"/>
            <a:ext cx="45720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743200"/>
            <a:ext cx="457200" cy="228600"/>
          </a:xfrm>
          <a:prstGeom prst="rect">
            <a:avLst/>
          </a:prstGeom>
          <a:noFill/>
        </p:spPr>
        <p:txBody>
          <a:bodyPr wrap="square" anchor="ctr"/>
          <a:lstStyle/>
          <a:p>
            <a:pPr algn="ctr">
              <a:defRPr sz="900" b="1">
                <a:solidFill>
                  <a:srgbClr val="FFFFFF"/>
                </a:solidFill>
                <a:latin typeface="Calibri"/>
              </a:defRPr>
            </a:pPr>
            <a:r>
              <a:t>S2</a:t>
            </a:r>
          </a:p>
        </p:txBody>
      </p:sp>
      <p:sp>
        <p:nvSpPr>
          <p:cNvPr id="18" name="TextBox 17"/>
          <p:cNvSpPr txBox="1"/>
          <p:nvPr/>
        </p:nvSpPr>
        <p:spPr>
          <a:xfrm>
            <a:off x="1417320" y="2743200"/>
            <a:ext cx="4389120" cy="228600"/>
          </a:xfrm>
          <a:prstGeom prst="rect">
            <a:avLst/>
          </a:prstGeom>
          <a:noFill/>
        </p:spPr>
        <p:txBody>
          <a:bodyPr wrap="square" anchor="t"/>
          <a:lstStyle/>
          <a:p>
            <a:pPr algn="l">
              <a:defRPr sz="1000" b="0">
                <a:solidFill>
                  <a:srgbClr val="4B5563"/>
                </a:solidFill>
                <a:latin typeface="Calibri"/>
              </a:defRPr>
            </a:pPr>
            <a:r>
              <a:t>Autonomous close. Kavitha governs by exception only.</a:t>
            </a:r>
          </a:p>
        </p:txBody>
      </p:sp>
      <p:sp>
        <p:nvSpPr>
          <p:cNvPr id="19" name="Rounded Rectangle 18"/>
          <p:cNvSpPr/>
          <p:nvPr/>
        </p:nvSpPr>
        <p:spPr>
          <a:xfrm>
            <a:off x="731520" y="3291840"/>
            <a:ext cx="5029200" cy="73152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337560"/>
            <a:ext cx="4663440" cy="640080"/>
          </a:xfrm>
          <a:prstGeom prst="rect">
            <a:avLst/>
          </a:prstGeom>
          <a:noFill/>
        </p:spPr>
        <p:txBody>
          <a:bodyPr wrap="square"/>
          <a:lstStyle/>
          <a:p>
            <a:pPr algn="l">
              <a:spcBef>
                <a:spcPts val="0"/>
              </a:spcBef>
              <a:spcAft>
                <a:spcPts val="400"/>
              </a:spcAft>
              <a:defRPr sz="1100" b="1" i="0">
                <a:solidFill>
                  <a:srgbClr val="374151"/>
                </a:solidFill>
                <a:latin typeface="Calibri"/>
              </a:defRPr>
            </a:pPr>
            <a:r>
              <a:t>6 days → &lt;1 day. Kavitha is not a technologist — she learned to direct agents. The ladder is open to everyone.</a:t>
            </a:r>
          </a:p>
        </p:txBody>
      </p:sp>
      <p:sp>
        <p:nvSpPr>
          <p:cNvPr id="21" name="Rounded Rectangle 20"/>
          <p:cNvSpPr/>
          <p:nvPr/>
        </p:nvSpPr>
        <p:spPr>
          <a:xfrm>
            <a:off x="6217920" y="822960"/>
            <a:ext cx="5394960" cy="5303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00800" y="914400"/>
            <a:ext cx="1371600" cy="228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914400"/>
            <a:ext cx="1371600" cy="228600"/>
          </a:xfrm>
          <a:prstGeom prst="rect">
            <a:avLst/>
          </a:prstGeom>
          <a:noFill/>
        </p:spPr>
        <p:txBody>
          <a:bodyPr wrap="square" anchor="ctr"/>
          <a:lstStyle/>
          <a:p>
            <a:pPr algn="ctr">
              <a:defRPr sz="900" b="1">
                <a:solidFill>
                  <a:srgbClr val="1A56DB"/>
                </a:solidFill>
                <a:latin typeface="Calibri"/>
              </a:defRPr>
            </a:pPr>
            <a:r>
              <a:t>INSURANCE</a:t>
            </a:r>
          </a:p>
        </p:txBody>
      </p:sp>
      <p:sp>
        <p:nvSpPr>
          <p:cNvPr id="24" name="TextBox 23"/>
          <p:cNvSpPr txBox="1"/>
          <p:nvPr/>
        </p:nvSpPr>
        <p:spPr>
          <a:xfrm>
            <a:off x="6400800" y="1280160"/>
            <a:ext cx="5029200" cy="320040"/>
          </a:xfrm>
          <a:prstGeom prst="rect">
            <a:avLst/>
          </a:prstGeom>
          <a:noFill/>
        </p:spPr>
        <p:txBody>
          <a:bodyPr wrap="square" anchor="t"/>
          <a:lstStyle/>
          <a:p>
            <a:pPr algn="l">
              <a:defRPr sz="1500" b="1">
                <a:solidFill>
                  <a:srgbClr val="1E3A5F"/>
                </a:solidFill>
                <a:latin typeface="Calibri"/>
              </a:defRPr>
            </a:pPr>
            <a:r>
              <a:t>Rajan — Self-Service Policy Endorsements</a:t>
            </a:r>
          </a:p>
        </p:txBody>
      </p:sp>
      <p:graphicFrame>
        <p:nvGraphicFramePr>
          <p:cNvPr id="25" name="Table 24"/>
          <p:cNvGraphicFramePr>
            <a:graphicFrameLocks noGrp="1"/>
          </p:cNvGraphicFramePr>
          <p:nvPr/>
        </p:nvGraphicFramePr>
        <p:xfrm>
          <a:off x="6400800" y="1737360"/>
          <a:ext cx="4846320" cy="16459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29184">
                <a:tc>
                  <a:txBody>
                    <a:bodyPr/>
                    <a:lstStyle/>
                    <a:p>
                      <a:pPr algn="l">
                        <a:defRPr sz="1000" b="1">
                          <a:solidFill>
                            <a:srgbClr val="FFFFFF"/>
                          </a:solidFill>
                          <a:latin typeface="Calibri"/>
                        </a:defRPr>
                      </a:pPr>
                      <a:r>
                        <a:t>Metric</a:t>
                      </a:r>
                    </a:p>
                  </a:txBody>
                  <a:tcPr>
                    <a:solidFill>
                      <a:srgbClr val="1A56DB"/>
                    </a:solidFill>
                  </a:tcPr>
                </a:tc>
                <a:tc>
                  <a:txBody>
                    <a:bodyPr/>
                    <a:lstStyle/>
                    <a:p>
                      <a:pPr algn="l">
                        <a:defRPr sz="1000" b="1">
                          <a:solidFill>
                            <a:srgbClr val="FFFFFF"/>
                          </a:solidFill>
                          <a:latin typeface="Calibri"/>
                        </a:defRPr>
                      </a:pPr>
                      <a:r>
                        <a:t>Traditional</a:t>
                      </a:r>
                    </a:p>
                  </a:txBody>
                  <a:tcPr>
                    <a:solidFill>
                      <a:srgbClr val="1A56DB"/>
                    </a:solidFill>
                  </a:tcPr>
                </a:tc>
                <a:tc>
                  <a:txBody>
                    <a:bodyPr/>
                    <a:lstStyle/>
                    <a:p>
                      <a:pPr algn="l">
                        <a:defRPr sz="1000" b="1">
                          <a:solidFill>
                            <a:srgbClr val="FFFFFF"/>
                          </a:solidFill>
                          <a:latin typeface="Calibri"/>
                        </a:defRPr>
                      </a:pPr>
                      <a:r>
                        <a:t>Pod</a:t>
                      </a:r>
                    </a:p>
                  </a:txBody>
                  <a:tcPr>
                    <a:solidFill>
                      <a:srgbClr val="1A56DB"/>
                    </a:solidFill>
                  </a:tcPr>
                </a:tc>
                <a:extLst>
                  <a:ext uri="{0D108BD9-81ED-4DB2-BD59-A6C34878D82A}">
                    <a16:rowId xmlns:a16="http://schemas.microsoft.com/office/drawing/2014/main" val="10000"/>
                  </a:ext>
                </a:extLst>
              </a:tr>
              <a:tr h="329184">
                <a:tc>
                  <a:txBody>
                    <a:bodyPr/>
                    <a:lstStyle/>
                    <a:p>
                      <a:pPr algn="l">
                        <a:defRPr sz="1100" b="1">
                          <a:solidFill>
                            <a:srgbClr val="374151"/>
                          </a:solidFill>
                          <a:latin typeface="Calibri"/>
                        </a:defRPr>
                      </a:pPr>
                      <a:r>
                        <a:t>People</a:t>
                      </a:r>
                    </a:p>
                  </a:txBody>
                  <a:tcPr>
                    <a:solidFill>
                      <a:srgbClr val="FFFFFF"/>
                    </a:solidFill>
                  </a:tcPr>
                </a:tc>
                <a:tc>
                  <a:txBody>
                    <a:bodyPr/>
                    <a:lstStyle/>
                    <a:p>
                      <a:pPr algn="l">
                        <a:defRPr sz="1100" b="0">
                          <a:solidFill>
                            <a:srgbClr val="374151"/>
                          </a:solidFill>
                          <a:latin typeface="Calibri"/>
                        </a:defRPr>
                      </a:pPr>
                      <a:r>
                        <a:t>20</a:t>
                      </a:r>
                    </a:p>
                  </a:txBody>
                  <a:tcPr>
                    <a:solidFill>
                      <a:srgbClr val="FFFFFF"/>
                    </a:solidFill>
                  </a:tcPr>
                </a:tc>
                <a:tc>
                  <a:txBody>
                    <a:bodyPr/>
                    <a:lstStyle/>
                    <a:p>
                      <a:pPr algn="l">
                        <a:defRPr sz="1100" b="1">
                          <a:solidFill>
                            <a:srgbClr val="1A56DB"/>
                          </a:solidFill>
                          <a:latin typeface="Calibri"/>
                        </a:defRPr>
                      </a:pPr>
                      <a:r>
                        <a:t>2–3</a:t>
                      </a:r>
                    </a:p>
                  </a:txBody>
                  <a:tcPr>
                    <a:solidFill>
                      <a:srgbClr val="FFFFFF"/>
                    </a:solidFill>
                  </a:tcPr>
                </a:tc>
                <a:extLst>
                  <a:ext uri="{0D108BD9-81ED-4DB2-BD59-A6C34878D82A}">
                    <a16:rowId xmlns:a16="http://schemas.microsoft.com/office/drawing/2014/main" val="10001"/>
                  </a:ext>
                </a:extLst>
              </a:tr>
              <a:tr h="329184">
                <a:tc>
                  <a:txBody>
                    <a:bodyPr/>
                    <a:lstStyle/>
                    <a:p>
                      <a:pPr algn="l">
                        <a:defRPr sz="1100" b="1">
                          <a:solidFill>
                            <a:srgbClr val="374151"/>
                          </a:solidFill>
                          <a:latin typeface="Calibri"/>
                        </a:defRPr>
                      </a:pPr>
                      <a:r>
                        <a:t>Duration</a:t>
                      </a:r>
                    </a:p>
                  </a:txBody>
                  <a:tcPr>
                    <a:solidFill>
                      <a:srgbClr val="EFF6FF"/>
                    </a:solidFill>
                  </a:tcPr>
                </a:tc>
                <a:tc>
                  <a:txBody>
                    <a:bodyPr/>
                    <a:lstStyle/>
                    <a:p>
                      <a:pPr algn="l">
                        <a:defRPr sz="1100" b="0">
                          <a:solidFill>
                            <a:srgbClr val="374151"/>
                          </a:solidFill>
                          <a:latin typeface="Calibri"/>
                        </a:defRPr>
                      </a:pPr>
                      <a:r>
                        <a:t>8 weeks</a:t>
                      </a:r>
                    </a:p>
                  </a:txBody>
                  <a:tcPr>
                    <a:solidFill>
                      <a:srgbClr val="EFF6FF"/>
                    </a:solidFill>
                  </a:tcPr>
                </a:tc>
                <a:tc>
                  <a:txBody>
                    <a:bodyPr/>
                    <a:lstStyle/>
                    <a:p>
                      <a:pPr algn="l">
                        <a:defRPr sz="1100" b="1">
                          <a:solidFill>
                            <a:srgbClr val="1A56DB"/>
                          </a:solidFill>
                          <a:latin typeface="Calibri"/>
                        </a:defRPr>
                      </a:pPr>
                      <a:r>
                        <a:t>5 days</a:t>
                      </a:r>
                    </a:p>
                  </a:txBody>
                  <a:tcPr>
                    <a:solidFill>
                      <a:srgbClr val="EFF6FF"/>
                    </a:solidFill>
                  </a:tcPr>
                </a:tc>
                <a:extLst>
                  <a:ext uri="{0D108BD9-81ED-4DB2-BD59-A6C34878D82A}">
                    <a16:rowId xmlns:a16="http://schemas.microsoft.com/office/drawing/2014/main" val="10002"/>
                  </a:ext>
                </a:extLst>
              </a:tr>
              <a:tr h="329184">
                <a:tc>
                  <a:txBody>
                    <a:bodyPr/>
                    <a:lstStyle/>
                    <a:p>
                      <a:pPr algn="l">
                        <a:defRPr sz="1100" b="1">
                          <a:solidFill>
                            <a:srgbClr val="374151"/>
                          </a:solidFill>
                          <a:latin typeface="Calibri"/>
                        </a:defRPr>
                      </a:pPr>
                      <a:r>
                        <a:t>Test Coverage</a:t>
                      </a:r>
                    </a:p>
                  </a:txBody>
                  <a:tcPr>
                    <a:solidFill>
                      <a:srgbClr val="FFFFFF"/>
                    </a:solidFill>
                  </a:tcPr>
                </a:tc>
                <a:tc>
                  <a:txBody>
                    <a:bodyPr/>
                    <a:lstStyle/>
                    <a:p>
                      <a:pPr algn="l">
                        <a:defRPr sz="1100" b="0">
                          <a:solidFill>
                            <a:srgbClr val="374151"/>
                          </a:solidFill>
                          <a:latin typeface="Calibri"/>
                        </a:defRPr>
                      </a:pPr>
                      <a:r>
                        <a:t>~50%</a:t>
                      </a:r>
                    </a:p>
                  </a:txBody>
                  <a:tcPr>
                    <a:solidFill>
                      <a:srgbClr val="FFFFFF"/>
                    </a:solidFill>
                  </a:tcPr>
                </a:tc>
                <a:tc>
                  <a:txBody>
                    <a:bodyPr/>
                    <a:lstStyle/>
                    <a:p>
                      <a:pPr algn="l">
                        <a:defRPr sz="1100" b="1">
                          <a:solidFill>
                            <a:srgbClr val="1A56DB"/>
                          </a:solidFill>
                          <a:latin typeface="Calibri"/>
                        </a:defRPr>
                      </a:pPr>
                      <a:r>
                        <a:t>92%</a:t>
                      </a:r>
                    </a:p>
                  </a:txBody>
                  <a:tcPr>
                    <a:solidFill>
                      <a:srgbClr val="FFFFFF"/>
                    </a:solidFill>
                  </a:tcPr>
                </a:tc>
                <a:extLst>
                  <a:ext uri="{0D108BD9-81ED-4DB2-BD59-A6C34878D82A}">
                    <a16:rowId xmlns:a16="http://schemas.microsoft.com/office/drawing/2014/main" val="10003"/>
                  </a:ext>
                </a:extLst>
              </a:tr>
              <a:tr h="329184">
                <a:tc>
                  <a:txBody>
                    <a:bodyPr/>
                    <a:lstStyle/>
                    <a:p>
                      <a:pPr algn="l">
                        <a:defRPr sz="1100" b="1">
                          <a:solidFill>
                            <a:srgbClr val="374151"/>
                          </a:solidFill>
                          <a:latin typeface="Calibri"/>
                        </a:defRPr>
                      </a:pPr>
                      <a:r>
                        <a:t>Change Failure</a:t>
                      </a:r>
                    </a:p>
                  </a:txBody>
                  <a:tcPr>
                    <a:solidFill>
                      <a:srgbClr val="EFF6FF"/>
                    </a:solidFill>
                  </a:tcPr>
                </a:tc>
                <a:tc>
                  <a:txBody>
                    <a:bodyPr/>
                    <a:lstStyle/>
                    <a:p>
                      <a:pPr algn="l">
                        <a:defRPr sz="1100" b="0">
                          <a:solidFill>
                            <a:srgbClr val="374151"/>
                          </a:solidFill>
                          <a:latin typeface="Calibri"/>
                        </a:defRPr>
                      </a:pPr>
                      <a:r>
                        <a:t>15–30%</a:t>
                      </a:r>
                    </a:p>
                  </a:txBody>
                  <a:tcPr>
                    <a:solidFill>
                      <a:srgbClr val="EFF6FF"/>
                    </a:solidFill>
                  </a:tcPr>
                </a:tc>
                <a:tc>
                  <a:txBody>
                    <a:bodyPr/>
                    <a:lstStyle/>
                    <a:p>
                      <a:pPr algn="l">
                        <a:defRPr sz="1100" b="1">
                          <a:solidFill>
                            <a:srgbClr val="1A56DB"/>
                          </a:solidFill>
                          <a:latin typeface="Calibri"/>
                        </a:defRPr>
                      </a:pPr>
                      <a:r>
                        <a:t>&lt;5%</a:t>
                      </a:r>
                    </a:p>
                  </a:txBody>
                  <a:tcPr>
                    <a:solidFill>
                      <a:srgbClr val="EFF6FF"/>
                    </a:solidFill>
                  </a:tcPr>
                </a:tc>
                <a:extLst>
                  <a:ext uri="{0D108BD9-81ED-4DB2-BD59-A6C34878D82A}">
                    <a16:rowId xmlns:a16="http://schemas.microsoft.com/office/drawing/2014/main" val="10004"/>
                  </a:ext>
                </a:extLst>
              </a:tr>
            </a:tbl>
          </a:graphicData>
        </a:graphic>
      </p:graphicFrame>
      <p:sp>
        <p:nvSpPr>
          <p:cNvPr id="26" name="Rounded Rectangle 25"/>
          <p:cNvSpPr/>
          <p:nvPr/>
        </p:nvSpPr>
        <p:spPr>
          <a:xfrm>
            <a:off x="6400800" y="3566160"/>
            <a:ext cx="4846320" cy="73152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3611880"/>
            <a:ext cx="4480560" cy="640080"/>
          </a:xfrm>
          <a:prstGeom prst="rect">
            <a:avLst/>
          </a:prstGeom>
          <a:noFill/>
        </p:spPr>
        <p:txBody>
          <a:bodyPr wrap="square"/>
          <a:lstStyle/>
          <a:p>
            <a:pPr algn="l">
              <a:spcBef>
                <a:spcPts val="0"/>
              </a:spcBef>
              <a:spcAft>
                <a:spcPts val="400"/>
              </a:spcAft>
              <a:defRPr sz="1100" b="1" i="0">
                <a:solidFill>
                  <a:srgbClr val="374151"/>
                </a:solidFill>
                <a:latin typeface="Calibri"/>
              </a:defRPr>
            </a:pPr>
            <a:r>
              <a:t>The client paid for the capability, not for 20 people's time. Cost was a fraction. Quality was higher. The pod has already moved on.</a:t>
            </a:r>
          </a:p>
        </p:txBody>
      </p:sp>
      <p:sp>
        <p:nvSpPr>
          <p:cNvPr id="28" name="Rectangle 27"/>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30" name="TextBox 29"/>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The Before-and-After — In Numbers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IMPACT</a:t>
            </a:r>
          </a:p>
        </p:txBody>
      </p:sp>
      <p:graphicFrame>
        <p:nvGraphicFramePr>
          <p:cNvPr id="5" name="Table 4"/>
          <p:cNvGraphicFramePr>
            <a:graphicFrameLocks noGrp="1"/>
          </p:cNvGraphicFramePr>
          <p:nvPr/>
        </p:nvGraphicFramePr>
        <p:xfrm>
          <a:off x="548640" y="914400"/>
          <a:ext cx="10972800"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57200">
                <a:tc>
                  <a:txBody>
                    <a:bodyPr/>
                    <a:lstStyle/>
                    <a:p>
                      <a:pPr algn="l">
                        <a:defRPr sz="1000" b="1">
                          <a:solidFill>
                            <a:srgbClr val="FFFFFF"/>
                          </a:solidFill>
                          <a:latin typeface="Calibri"/>
                        </a:defRPr>
                      </a:pPr>
                      <a:r>
                        <a:t>Metric</a:t>
                      </a:r>
                    </a:p>
                  </a:txBody>
                  <a:tcPr>
                    <a:solidFill>
                      <a:srgbClr val="1A56DB"/>
                    </a:solidFill>
                  </a:tcPr>
                </a:tc>
                <a:tc>
                  <a:txBody>
                    <a:bodyPr/>
                    <a:lstStyle/>
                    <a:p>
                      <a:pPr algn="l">
                        <a:defRPr sz="1000" b="1">
                          <a:solidFill>
                            <a:srgbClr val="FFFFFF"/>
                          </a:solidFill>
                          <a:latin typeface="Calibri"/>
                        </a:defRPr>
                      </a:pPr>
                      <a:r>
                        <a:t>Traditional SDLC</a:t>
                      </a:r>
                    </a:p>
                  </a:txBody>
                  <a:tcPr>
                    <a:solidFill>
                      <a:srgbClr val="1A56DB"/>
                    </a:solidFill>
                  </a:tcPr>
                </a:tc>
                <a:tc>
                  <a:txBody>
                    <a:bodyPr/>
                    <a:lstStyle/>
                    <a:p>
                      <a:pPr algn="l">
                        <a:defRPr sz="1000" b="1">
                          <a:solidFill>
                            <a:srgbClr val="FFFFFF"/>
                          </a:solidFill>
                          <a:latin typeface="Calibri"/>
                        </a:defRPr>
                      </a:pPr>
                      <a:r>
                        <a:t>ADLC Frontier Pod</a:t>
                      </a:r>
                    </a:p>
                  </a:txBody>
                  <a:tcPr>
                    <a:solidFill>
                      <a:srgbClr val="1A56DB"/>
                    </a:solidFill>
                  </a:tcPr>
                </a:tc>
                <a:tc>
                  <a:txBody>
                    <a:bodyPr/>
                    <a:lstStyle/>
                    <a:p>
                      <a:pPr algn="l">
                        <a:defRPr sz="1000" b="1">
                          <a:solidFill>
                            <a:srgbClr val="FFFFFF"/>
                          </a:solidFill>
                          <a:latin typeface="Calibri"/>
                        </a:defRPr>
                      </a:pPr>
                      <a:r>
                        <a:t>Change</a:t>
                      </a:r>
                    </a:p>
                  </a:txBody>
                  <a:tcPr>
                    <a:solidFill>
                      <a:srgbClr val="1A56DB"/>
                    </a:solidFill>
                  </a:tcPr>
                </a:tc>
                <a:extLst>
                  <a:ext uri="{0D108BD9-81ED-4DB2-BD59-A6C34878D82A}">
                    <a16:rowId xmlns:a16="http://schemas.microsoft.com/office/drawing/2014/main" val="10000"/>
                  </a:ext>
                </a:extLst>
              </a:tr>
              <a:tr h="457200">
                <a:tc>
                  <a:txBody>
                    <a:bodyPr/>
                    <a:lstStyle/>
                    <a:p>
                      <a:pPr algn="l">
                        <a:defRPr sz="1100" b="1">
                          <a:solidFill>
                            <a:srgbClr val="374151"/>
                          </a:solidFill>
                          <a:latin typeface="Calibri"/>
                        </a:defRPr>
                      </a:pPr>
                      <a:r>
                        <a:t>Team Size</a:t>
                      </a:r>
                    </a:p>
                  </a:txBody>
                  <a:tcPr>
                    <a:solidFill>
                      <a:srgbClr val="FFFFFF"/>
                    </a:solidFill>
                  </a:tcPr>
                </a:tc>
                <a:tc>
                  <a:txBody>
                    <a:bodyPr/>
                    <a:lstStyle/>
                    <a:p>
                      <a:pPr algn="l">
                        <a:defRPr sz="1100" b="0">
                          <a:solidFill>
                            <a:srgbClr val="374151"/>
                          </a:solidFill>
                          <a:latin typeface="Calibri"/>
                        </a:defRPr>
                      </a:pPr>
                      <a:r>
                        <a:t>50–150 people</a:t>
                      </a:r>
                    </a:p>
                  </a:txBody>
                  <a:tcPr>
                    <a:solidFill>
                      <a:srgbClr val="FFFFFF"/>
                    </a:solidFill>
                  </a:tcPr>
                </a:tc>
                <a:tc>
                  <a:txBody>
                    <a:bodyPr/>
                    <a:lstStyle/>
                    <a:p>
                      <a:pPr algn="l">
                        <a:defRPr sz="1100" b="0">
                          <a:solidFill>
                            <a:srgbClr val="374151"/>
                          </a:solidFill>
                          <a:latin typeface="Calibri"/>
                        </a:defRPr>
                      </a:pPr>
                      <a:r>
                        <a:t>2–3 people + 21 agents</a:t>
                      </a:r>
                    </a:p>
                  </a:txBody>
                  <a:tcPr>
                    <a:solidFill>
                      <a:srgbClr val="FFFFFF"/>
                    </a:solidFill>
                  </a:tcPr>
                </a:tc>
                <a:tc>
                  <a:txBody>
                    <a:bodyPr/>
                    <a:lstStyle/>
                    <a:p>
                      <a:pPr algn="l">
                        <a:defRPr sz="1100" b="1">
                          <a:solidFill>
                            <a:srgbClr val="1A56DB"/>
                          </a:solidFill>
                          <a:latin typeface="Calibri"/>
                        </a:defRPr>
                      </a:pPr>
                      <a:r>
                        <a:t>30–50× leverage</a:t>
                      </a:r>
                    </a:p>
                  </a:txBody>
                  <a:tcPr>
                    <a:solidFill>
                      <a:srgbClr val="FFFFFF"/>
                    </a:solidFill>
                  </a:tcPr>
                </a:tc>
                <a:extLst>
                  <a:ext uri="{0D108BD9-81ED-4DB2-BD59-A6C34878D82A}">
                    <a16:rowId xmlns:a16="http://schemas.microsoft.com/office/drawing/2014/main" val="10001"/>
                  </a:ext>
                </a:extLst>
              </a:tr>
              <a:tr h="457200">
                <a:tc>
                  <a:txBody>
                    <a:bodyPr/>
                    <a:lstStyle/>
                    <a:p>
                      <a:pPr algn="l">
                        <a:defRPr sz="1100" b="1">
                          <a:solidFill>
                            <a:srgbClr val="374151"/>
                          </a:solidFill>
                          <a:latin typeface="Calibri"/>
                        </a:defRPr>
                      </a:pPr>
                      <a:r>
                        <a:t>Delivery Time</a:t>
                      </a:r>
                    </a:p>
                  </a:txBody>
                  <a:tcPr>
                    <a:solidFill>
                      <a:srgbClr val="EFF6FF"/>
                    </a:solidFill>
                  </a:tcPr>
                </a:tc>
                <a:tc>
                  <a:txBody>
                    <a:bodyPr/>
                    <a:lstStyle/>
                    <a:p>
                      <a:pPr algn="l">
                        <a:defRPr sz="1100" b="0">
                          <a:solidFill>
                            <a:srgbClr val="374151"/>
                          </a:solidFill>
                          <a:latin typeface="Calibri"/>
                        </a:defRPr>
                      </a:pPr>
                      <a:r>
                        <a:t>3–6 months</a:t>
                      </a:r>
                    </a:p>
                  </a:txBody>
                  <a:tcPr>
                    <a:solidFill>
                      <a:srgbClr val="EFF6FF"/>
                    </a:solidFill>
                  </a:tcPr>
                </a:tc>
                <a:tc>
                  <a:txBody>
                    <a:bodyPr/>
                    <a:lstStyle/>
                    <a:p>
                      <a:pPr algn="l">
                        <a:defRPr sz="1100" b="0">
                          <a:solidFill>
                            <a:srgbClr val="374151"/>
                          </a:solidFill>
                          <a:latin typeface="Calibri"/>
                        </a:defRPr>
                      </a:pPr>
                      <a:r>
                        <a:t>3–5 days</a:t>
                      </a:r>
                    </a:p>
                  </a:txBody>
                  <a:tcPr>
                    <a:solidFill>
                      <a:srgbClr val="EFF6FF"/>
                    </a:solidFill>
                  </a:tcPr>
                </a:tc>
                <a:tc>
                  <a:txBody>
                    <a:bodyPr/>
                    <a:lstStyle/>
                    <a:p>
                      <a:pPr algn="l">
                        <a:defRPr sz="1100" b="1">
                          <a:solidFill>
                            <a:srgbClr val="1A56DB"/>
                          </a:solidFill>
                          <a:latin typeface="Calibri"/>
                        </a:defRPr>
                      </a:pPr>
                      <a:r>
                        <a:t>20–40× faster</a:t>
                      </a:r>
                    </a:p>
                  </a:txBody>
                  <a:tcPr>
                    <a:solidFill>
                      <a:srgbClr val="EFF6FF"/>
                    </a:solidFill>
                  </a:tcPr>
                </a:tc>
                <a:extLst>
                  <a:ext uri="{0D108BD9-81ED-4DB2-BD59-A6C34878D82A}">
                    <a16:rowId xmlns:a16="http://schemas.microsoft.com/office/drawing/2014/main" val="10002"/>
                  </a:ext>
                </a:extLst>
              </a:tr>
              <a:tr h="457200">
                <a:tc>
                  <a:txBody>
                    <a:bodyPr/>
                    <a:lstStyle/>
                    <a:p>
                      <a:pPr algn="l">
                        <a:defRPr sz="1100" b="1">
                          <a:solidFill>
                            <a:srgbClr val="374151"/>
                          </a:solidFill>
                          <a:latin typeface="Calibri"/>
                        </a:defRPr>
                      </a:pPr>
                      <a:r>
                        <a:t>Cost per Capability</a:t>
                      </a:r>
                    </a:p>
                  </a:txBody>
                  <a:tcPr>
                    <a:solidFill>
                      <a:srgbClr val="FFFFFF"/>
                    </a:solidFill>
                  </a:tcPr>
                </a:tc>
                <a:tc>
                  <a:txBody>
                    <a:bodyPr/>
                    <a:lstStyle/>
                    <a:p>
                      <a:pPr algn="l">
                        <a:defRPr sz="1100" b="0">
                          <a:solidFill>
                            <a:srgbClr val="374151"/>
                          </a:solidFill>
                          <a:latin typeface="Calibri"/>
                        </a:defRPr>
                      </a:pPr>
                      <a:r>
                        <a:t>$300K–$600K</a:t>
                      </a:r>
                    </a:p>
                  </a:txBody>
                  <a:tcPr>
                    <a:solidFill>
                      <a:srgbClr val="FFFFFF"/>
                    </a:solidFill>
                  </a:tcPr>
                </a:tc>
                <a:tc>
                  <a:txBody>
                    <a:bodyPr/>
                    <a:lstStyle/>
                    <a:p>
                      <a:pPr algn="l">
                        <a:defRPr sz="1100" b="0">
                          <a:solidFill>
                            <a:srgbClr val="374151"/>
                          </a:solidFill>
                          <a:latin typeface="Calibri"/>
                        </a:defRPr>
                      </a:pPr>
                      <a:r>
                        <a:t>$5K–$15K</a:t>
                      </a:r>
                    </a:p>
                  </a:txBody>
                  <a:tcPr>
                    <a:solidFill>
                      <a:srgbClr val="FFFFFF"/>
                    </a:solidFill>
                  </a:tcPr>
                </a:tc>
                <a:tc>
                  <a:txBody>
                    <a:bodyPr/>
                    <a:lstStyle/>
                    <a:p>
                      <a:pPr algn="l">
                        <a:defRPr sz="1100" b="1">
                          <a:solidFill>
                            <a:srgbClr val="1A56DB"/>
                          </a:solidFill>
                          <a:latin typeface="Calibri"/>
                        </a:defRPr>
                      </a:pPr>
                      <a:r>
                        <a:t>60–70% reduction</a:t>
                      </a:r>
                    </a:p>
                  </a:txBody>
                  <a:tcPr>
                    <a:solidFill>
                      <a:srgbClr val="FFFFFF"/>
                    </a:solidFill>
                  </a:tcPr>
                </a:tc>
                <a:extLst>
                  <a:ext uri="{0D108BD9-81ED-4DB2-BD59-A6C34878D82A}">
                    <a16:rowId xmlns:a16="http://schemas.microsoft.com/office/drawing/2014/main" val="10003"/>
                  </a:ext>
                </a:extLst>
              </a:tr>
              <a:tr h="457200">
                <a:tc>
                  <a:txBody>
                    <a:bodyPr/>
                    <a:lstStyle/>
                    <a:p>
                      <a:pPr algn="l">
                        <a:defRPr sz="1100" b="1">
                          <a:solidFill>
                            <a:srgbClr val="374151"/>
                          </a:solidFill>
                          <a:latin typeface="Calibri"/>
                        </a:defRPr>
                      </a:pPr>
                      <a:r>
                        <a:t>Test Coverage</a:t>
                      </a:r>
                    </a:p>
                  </a:txBody>
                  <a:tcPr>
                    <a:solidFill>
                      <a:srgbClr val="EFF6FF"/>
                    </a:solidFill>
                  </a:tcPr>
                </a:tc>
                <a:tc>
                  <a:txBody>
                    <a:bodyPr/>
                    <a:lstStyle/>
                    <a:p>
                      <a:pPr algn="l">
                        <a:defRPr sz="1100" b="0">
                          <a:solidFill>
                            <a:srgbClr val="374151"/>
                          </a:solidFill>
                          <a:latin typeface="Calibri"/>
                        </a:defRPr>
                      </a:pPr>
                      <a:r>
                        <a:t>40–55%</a:t>
                      </a:r>
                    </a:p>
                  </a:txBody>
                  <a:tcPr>
                    <a:solidFill>
                      <a:srgbClr val="EFF6FF"/>
                    </a:solidFill>
                  </a:tcPr>
                </a:tc>
                <a:tc>
                  <a:txBody>
                    <a:bodyPr/>
                    <a:lstStyle/>
                    <a:p>
                      <a:pPr algn="l">
                        <a:defRPr sz="1100" b="0">
                          <a:solidFill>
                            <a:srgbClr val="374151"/>
                          </a:solidFill>
                          <a:latin typeface="Calibri"/>
                        </a:defRPr>
                      </a:pPr>
                      <a:r>
                        <a:t>90–95%+</a:t>
                      </a:r>
                    </a:p>
                  </a:txBody>
                  <a:tcPr>
                    <a:solidFill>
                      <a:srgbClr val="EFF6FF"/>
                    </a:solidFill>
                  </a:tcPr>
                </a:tc>
                <a:tc>
                  <a:txBody>
                    <a:bodyPr/>
                    <a:lstStyle/>
                    <a:p>
                      <a:pPr algn="l">
                        <a:defRPr sz="1100" b="1">
                          <a:solidFill>
                            <a:srgbClr val="1A56DB"/>
                          </a:solidFill>
                          <a:latin typeface="Calibri"/>
                        </a:defRPr>
                      </a:pPr>
                      <a:r>
                        <a:t>2× improvement</a:t>
                      </a:r>
                    </a:p>
                  </a:txBody>
                  <a:tcPr>
                    <a:solidFill>
                      <a:srgbClr val="EFF6FF"/>
                    </a:solidFill>
                  </a:tcPr>
                </a:tc>
                <a:extLst>
                  <a:ext uri="{0D108BD9-81ED-4DB2-BD59-A6C34878D82A}">
                    <a16:rowId xmlns:a16="http://schemas.microsoft.com/office/drawing/2014/main" val="10004"/>
                  </a:ext>
                </a:extLst>
              </a:tr>
              <a:tr h="457200">
                <a:tc>
                  <a:txBody>
                    <a:bodyPr/>
                    <a:lstStyle/>
                    <a:p>
                      <a:pPr algn="l">
                        <a:defRPr sz="1100" b="1">
                          <a:solidFill>
                            <a:srgbClr val="374151"/>
                          </a:solidFill>
                          <a:latin typeface="Calibri"/>
                        </a:defRPr>
                      </a:pPr>
                      <a:r>
                        <a:t>Change Failure Rate</a:t>
                      </a:r>
                    </a:p>
                  </a:txBody>
                  <a:tcPr>
                    <a:solidFill>
                      <a:srgbClr val="FFFFFF"/>
                    </a:solidFill>
                  </a:tcPr>
                </a:tc>
                <a:tc>
                  <a:txBody>
                    <a:bodyPr/>
                    <a:lstStyle/>
                    <a:p>
                      <a:pPr algn="l">
                        <a:defRPr sz="1100" b="0">
                          <a:solidFill>
                            <a:srgbClr val="374151"/>
                          </a:solidFill>
                          <a:latin typeface="Calibri"/>
                        </a:defRPr>
                      </a:pPr>
                      <a:r>
                        <a:t>15–30%</a:t>
                      </a:r>
                    </a:p>
                  </a:txBody>
                  <a:tcPr>
                    <a:solidFill>
                      <a:srgbClr val="FFFFFF"/>
                    </a:solidFill>
                  </a:tcPr>
                </a:tc>
                <a:tc>
                  <a:txBody>
                    <a:bodyPr/>
                    <a:lstStyle/>
                    <a:p>
                      <a:pPr algn="l">
                        <a:defRPr sz="1100" b="0">
                          <a:solidFill>
                            <a:srgbClr val="374151"/>
                          </a:solidFill>
                          <a:latin typeface="Calibri"/>
                        </a:defRPr>
                      </a:pPr>
                      <a:r>
                        <a:t>&lt;5%</a:t>
                      </a:r>
                    </a:p>
                  </a:txBody>
                  <a:tcPr>
                    <a:solidFill>
                      <a:srgbClr val="FFFFFF"/>
                    </a:solidFill>
                  </a:tcPr>
                </a:tc>
                <a:tc>
                  <a:txBody>
                    <a:bodyPr/>
                    <a:lstStyle/>
                    <a:p>
                      <a:pPr algn="l">
                        <a:defRPr sz="1100" b="1">
                          <a:solidFill>
                            <a:srgbClr val="1A56DB"/>
                          </a:solidFill>
                          <a:latin typeface="Calibri"/>
                        </a:defRPr>
                      </a:pPr>
                      <a:r>
                        <a:t>3–6× better</a:t>
                      </a:r>
                    </a:p>
                  </a:txBody>
                  <a:tcPr>
                    <a:solidFill>
                      <a:srgbClr val="FFFFFF"/>
                    </a:solidFill>
                  </a:tcPr>
                </a:tc>
                <a:extLst>
                  <a:ext uri="{0D108BD9-81ED-4DB2-BD59-A6C34878D82A}">
                    <a16:rowId xmlns:a16="http://schemas.microsoft.com/office/drawing/2014/main" val="10005"/>
                  </a:ext>
                </a:extLst>
              </a:tr>
              <a:tr h="457200">
                <a:tc>
                  <a:txBody>
                    <a:bodyPr/>
                    <a:lstStyle/>
                    <a:p>
                      <a:pPr algn="l">
                        <a:defRPr sz="1100" b="1">
                          <a:solidFill>
                            <a:srgbClr val="374151"/>
                          </a:solidFill>
                          <a:latin typeface="Calibri"/>
                        </a:defRPr>
                      </a:pPr>
                      <a:r>
                        <a:t>Productive Time</a:t>
                      </a:r>
                    </a:p>
                  </a:txBody>
                  <a:tcPr>
                    <a:solidFill>
                      <a:srgbClr val="EFF6FF"/>
                    </a:solidFill>
                  </a:tcPr>
                </a:tc>
                <a:tc>
                  <a:txBody>
                    <a:bodyPr/>
                    <a:lstStyle/>
                    <a:p>
                      <a:pPr algn="l">
                        <a:defRPr sz="1100" b="0">
                          <a:solidFill>
                            <a:srgbClr val="374151"/>
                          </a:solidFill>
                          <a:latin typeface="Calibri"/>
                        </a:defRPr>
                      </a:pPr>
                      <a:r>
                        <a:t>5–12%</a:t>
                      </a:r>
                    </a:p>
                  </a:txBody>
                  <a:tcPr>
                    <a:solidFill>
                      <a:srgbClr val="EFF6FF"/>
                    </a:solidFill>
                  </a:tcPr>
                </a:tc>
                <a:tc>
                  <a:txBody>
                    <a:bodyPr/>
                    <a:lstStyle/>
                    <a:p>
                      <a:pPr algn="l">
                        <a:defRPr sz="1100" b="0">
                          <a:solidFill>
                            <a:srgbClr val="374151"/>
                          </a:solidFill>
                          <a:latin typeface="Calibri"/>
                        </a:defRPr>
                      </a:pPr>
                      <a:r>
                        <a:t>60–80%</a:t>
                      </a:r>
                    </a:p>
                  </a:txBody>
                  <a:tcPr>
                    <a:solidFill>
                      <a:srgbClr val="EFF6FF"/>
                    </a:solidFill>
                  </a:tcPr>
                </a:tc>
                <a:tc>
                  <a:txBody>
                    <a:bodyPr/>
                    <a:lstStyle/>
                    <a:p>
                      <a:pPr algn="l">
                        <a:defRPr sz="1100" b="1">
                          <a:solidFill>
                            <a:srgbClr val="1A56DB"/>
                          </a:solidFill>
                          <a:latin typeface="Calibri"/>
                        </a:defRPr>
                      </a:pPr>
                      <a:r>
                        <a:t>6–15× improvement</a:t>
                      </a:r>
                    </a:p>
                  </a:txBody>
                  <a:tcPr>
                    <a:solidFill>
                      <a:srgbClr val="EFF6FF"/>
                    </a:solidFill>
                  </a:tcPr>
                </a:tc>
                <a:extLst>
                  <a:ext uri="{0D108BD9-81ED-4DB2-BD59-A6C34878D82A}">
                    <a16:rowId xmlns:a16="http://schemas.microsoft.com/office/drawing/2014/main" val="10006"/>
                  </a:ext>
                </a:extLst>
              </a:tr>
              <a:tr h="457200">
                <a:tc>
                  <a:txBody>
                    <a:bodyPr/>
                    <a:lstStyle/>
                    <a:p>
                      <a:pPr algn="l">
                        <a:defRPr sz="1100" b="1">
                          <a:solidFill>
                            <a:srgbClr val="374151"/>
                          </a:solidFill>
                          <a:latin typeface="Calibri"/>
                        </a:defRPr>
                      </a:pPr>
                      <a:r>
                        <a:t>Revenue per Person</a:t>
                      </a:r>
                    </a:p>
                  </a:txBody>
                  <a:tcPr>
                    <a:solidFill>
                      <a:srgbClr val="FFFFFF"/>
                    </a:solidFill>
                  </a:tcPr>
                </a:tc>
                <a:tc>
                  <a:txBody>
                    <a:bodyPr/>
                    <a:lstStyle/>
                    <a:p>
                      <a:pPr algn="l">
                        <a:defRPr sz="1100" b="0">
                          <a:solidFill>
                            <a:srgbClr val="374151"/>
                          </a:solidFill>
                          <a:latin typeface="Calibri"/>
                        </a:defRPr>
                      </a:pPr>
                      <a:r>
                        <a:t>$16K/month</a:t>
                      </a:r>
                    </a:p>
                  </a:txBody>
                  <a:tcPr>
                    <a:solidFill>
                      <a:srgbClr val="FFFFFF"/>
                    </a:solidFill>
                  </a:tcPr>
                </a:tc>
                <a:tc>
                  <a:txBody>
                    <a:bodyPr/>
                    <a:lstStyle/>
                    <a:p>
                      <a:pPr algn="l">
                        <a:defRPr sz="1100" b="0">
                          <a:solidFill>
                            <a:srgbClr val="374151"/>
                          </a:solidFill>
                          <a:latin typeface="Calibri"/>
                        </a:defRPr>
                      </a:pPr>
                      <a:r>
                        <a:t>$70K/month</a:t>
                      </a:r>
                    </a:p>
                  </a:txBody>
                  <a:tcPr>
                    <a:solidFill>
                      <a:srgbClr val="FFFFFF"/>
                    </a:solidFill>
                  </a:tcPr>
                </a:tc>
                <a:tc>
                  <a:txBody>
                    <a:bodyPr/>
                    <a:lstStyle/>
                    <a:p>
                      <a:pPr algn="l">
                        <a:defRPr sz="1100" b="1">
                          <a:solidFill>
                            <a:srgbClr val="1A56DB"/>
                          </a:solidFill>
                          <a:latin typeface="Calibri"/>
                        </a:defRPr>
                      </a:pPr>
                      <a:r>
                        <a:t>4.4× increase</a:t>
                      </a:r>
                    </a:p>
                  </a:txBody>
                  <a:tcPr>
                    <a:solidFill>
                      <a:srgbClr val="FFFFFF"/>
                    </a:solidFill>
                  </a:tcPr>
                </a:tc>
                <a:extLst>
                  <a:ext uri="{0D108BD9-81ED-4DB2-BD59-A6C34878D82A}">
                    <a16:rowId xmlns:a16="http://schemas.microsoft.com/office/drawing/2014/main" val="10007"/>
                  </a:ext>
                </a:extLst>
              </a:tr>
              <a:tr h="457200">
                <a:tc>
                  <a:txBody>
                    <a:bodyPr/>
                    <a:lstStyle/>
                    <a:p>
                      <a:pPr algn="l">
                        <a:defRPr sz="1100" b="1">
                          <a:solidFill>
                            <a:srgbClr val="374151"/>
                          </a:solidFill>
                          <a:latin typeface="Calibri"/>
                        </a:defRPr>
                      </a:pPr>
                      <a:r>
                        <a:t>Security at Release</a:t>
                      </a:r>
                    </a:p>
                  </a:txBody>
                  <a:tcPr>
                    <a:solidFill>
                      <a:srgbClr val="EFF6FF"/>
                    </a:solidFill>
                  </a:tcPr>
                </a:tc>
                <a:tc>
                  <a:txBody>
                    <a:bodyPr/>
                    <a:lstStyle/>
                    <a:p>
                      <a:pPr algn="l">
                        <a:defRPr sz="1100" b="0">
                          <a:solidFill>
                            <a:srgbClr val="374151"/>
                          </a:solidFill>
                          <a:latin typeface="Calibri"/>
                        </a:defRPr>
                      </a:pPr>
                      <a:r>
                        <a:t>Critical findings common</a:t>
                      </a:r>
                    </a:p>
                  </a:txBody>
                  <a:tcPr>
                    <a:solidFill>
                      <a:srgbClr val="EFF6FF"/>
                    </a:solidFill>
                  </a:tcPr>
                </a:tc>
                <a:tc>
                  <a:txBody>
                    <a:bodyPr/>
                    <a:lstStyle/>
                    <a:p>
                      <a:pPr algn="l">
                        <a:defRPr sz="1100" b="0">
                          <a:solidFill>
                            <a:srgbClr val="374151"/>
                          </a:solidFill>
                          <a:latin typeface="Calibri"/>
                        </a:defRPr>
                      </a:pPr>
                      <a:r>
                        <a:t>Zero critical findings</a:t>
                      </a:r>
                    </a:p>
                  </a:txBody>
                  <a:tcPr>
                    <a:solidFill>
                      <a:srgbClr val="EFF6FF"/>
                    </a:solidFill>
                  </a:tcPr>
                </a:tc>
                <a:tc>
                  <a:txBody>
                    <a:bodyPr/>
                    <a:lstStyle/>
                    <a:p>
                      <a:pPr algn="l">
                        <a:defRPr sz="1100" b="1">
                          <a:solidFill>
                            <a:srgbClr val="1A56DB"/>
                          </a:solidFill>
                          <a:latin typeface="Calibri"/>
                        </a:defRPr>
                      </a:pPr>
                      <a:r>
                        <a:t>Clean release</a:t>
                      </a:r>
                    </a:p>
                  </a:txBody>
                  <a:tcPr>
                    <a:solidFill>
                      <a:srgbClr val="EFF6FF"/>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548640" y="5212080"/>
            <a:ext cx="10972800" cy="5486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5257800"/>
            <a:ext cx="10058400" cy="457200"/>
          </a:xfrm>
          <a:prstGeom prst="rect">
            <a:avLst/>
          </a:prstGeom>
          <a:noFill/>
        </p:spPr>
        <p:txBody>
          <a:bodyPr wrap="square" anchor="t"/>
          <a:lstStyle/>
          <a:p>
            <a:pPr algn="l">
              <a:defRPr sz="1200" b="0">
                <a:solidFill>
                  <a:srgbClr val="1A4A7A"/>
                </a:solidFill>
                <a:latin typeface="Calibri"/>
              </a:defRPr>
            </a:pPr>
            <a:r>
              <a:t>"The shift from vendor to partner — a word that has been overused but, in the Frontier model, finally earns its meaning."</a:t>
            </a:r>
          </a:p>
        </p:txBody>
      </p:sp>
      <p:sp>
        <p:nvSpPr>
          <p:cNvPr id="8" name="Rectangle 7"/>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10" name="TextBox 9"/>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What This Means for Service Partners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BUSINESS MODEL</a:t>
            </a:r>
          </a:p>
        </p:txBody>
      </p:sp>
      <p:sp>
        <p:nvSpPr>
          <p:cNvPr id="5" name="Rounded Rectangle 4"/>
          <p:cNvSpPr/>
          <p:nvPr/>
        </p:nvSpPr>
        <p:spPr>
          <a:xfrm>
            <a:off x="548640" y="914400"/>
            <a:ext cx="3474720" cy="50292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051560"/>
            <a:ext cx="3108960" cy="320040"/>
          </a:xfrm>
          <a:prstGeom prst="rect">
            <a:avLst/>
          </a:prstGeom>
          <a:noFill/>
        </p:spPr>
        <p:txBody>
          <a:bodyPr wrap="square" anchor="t"/>
          <a:lstStyle/>
          <a:p>
            <a:pPr algn="l">
              <a:defRPr sz="1500" b="1">
                <a:solidFill>
                  <a:srgbClr val="1E3A5F"/>
                </a:solidFill>
                <a:latin typeface="Calibri"/>
              </a:defRPr>
            </a:pPr>
            <a:r>
              <a:t>Business Model Shifts</a:t>
            </a:r>
          </a:p>
        </p:txBody>
      </p:sp>
      <p:sp>
        <p:nvSpPr>
          <p:cNvPr id="7" name="TextBox 6"/>
          <p:cNvSpPr txBox="1"/>
          <p:nvPr/>
        </p:nvSpPr>
        <p:spPr>
          <a:xfrm>
            <a:off x="731520" y="1417320"/>
            <a:ext cx="3108960" cy="320040"/>
          </a:xfrm>
          <a:prstGeom prst="rect">
            <a:avLst/>
          </a:prstGeom>
          <a:noFill/>
        </p:spPr>
        <p:txBody>
          <a:bodyPr wrap="square" anchor="t"/>
          <a:lstStyle/>
          <a:p>
            <a:pPr algn="l">
              <a:defRPr sz="1200" b="0">
                <a:solidFill>
                  <a:srgbClr val="4B5563"/>
                </a:solidFill>
                <a:latin typeface="Calibri"/>
              </a:defRPr>
            </a:pPr>
            <a:r>
              <a:t>From selling time to selling outcomes.</a:t>
            </a:r>
          </a:p>
        </p:txBody>
      </p:sp>
      <p:sp>
        <p:nvSpPr>
          <p:cNvPr id="8" name="TextBox 7"/>
          <p:cNvSpPr txBox="1"/>
          <p:nvPr/>
        </p:nvSpPr>
        <p:spPr>
          <a:xfrm>
            <a:off x="731520" y="1920240"/>
            <a:ext cx="3108960" cy="3840480"/>
          </a:xfrm>
          <a:prstGeom prst="rect">
            <a:avLst/>
          </a:prstGeom>
          <a:noFill/>
        </p:spPr>
        <p:txBody>
          <a:bodyPr wrap="square" anchor="t"/>
          <a:lstStyle/>
          <a:p>
            <a:pPr algn="l">
              <a:defRPr sz="1100" b="0">
                <a:solidFill>
                  <a:srgbClr val="374151"/>
                </a:solidFill>
                <a:latin typeface="Calibri"/>
              </a:defRPr>
            </a:pPr>
            <a:r>
              <a:t>Traditional: $16K per person/month</a:t>
            </a:r>
            <a:br/>
            <a:r>
              <a:t>→ Frontier: $70K per person/month</a:t>
            </a:r>
            <a:br/>
            <a:br/>
            <a:r>
              <a:t>Efficiency improvements increase margin instead of reducing revenue.</a:t>
            </a:r>
          </a:p>
        </p:txBody>
      </p:sp>
      <p:sp>
        <p:nvSpPr>
          <p:cNvPr id="9" name="Rounded Rectangle 8"/>
          <p:cNvSpPr/>
          <p:nvPr/>
        </p:nvSpPr>
        <p:spPr>
          <a:xfrm>
            <a:off x="4251960" y="914400"/>
            <a:ext cx="3474720" cy="50292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34840" y="1051560"/>
            <a:ext cx="3108960" cy="320040"/>
          </a:xfrm>
          <a:prstGeom prst="rect">
            <a:avLst/>
          </a:prstGeom>
          <a:noFill/>
        </p:spPr>
        <p:txBody>
          <a:bodyPr wrap="square" anchor="t"/>
          <a:lstStyle/>
          <a:p>
            <a:pPr algn="l">
              <a:defRPr sz="1500" b="1">
                <a:solidFill>
                  <a:srgbClr val="1E3A5F"/>
                </a:solidFill>
                <a:latin typeface="Calibri"/>
              </a:defRPr>
            </a:pPr>
            <a:r>
              <a:t>Talent Model Shifts</a:t>
            </a:r>
          </a:p>
        </p:txBody>
      </p:sp>
      <p:sp>
        <p:nvSpPr>
          <p:cNvPr id="11" name="TextBox 10"/>
          <p:cNvSpPr txBox="1"/>
          <p:nvPr/>
        </p:nvSpPr>
        <p:spPr>
          <a:xfrm>
            <a:off x="4434840" y="1417320"/>
            <a:ext cx="3108960" cy="320040"/>
          </a:xfrm>
          <a:prstGeom prst="rect">
            <a:avLst/>
          </a:prstGeom>
          <a:noFill/>
        </p:spPr>
        <p:txBody>
          <a:bodyPr wrap="square" anchor="t"/>
          <a:lstStyle/>
          <a:p>
            <a:pPr algn="l">
              <a:defRPr sz="1200" b="0">
                <a:solidFill>
                  <a:srgbClr val="4B5563"/>
                </a:solidFill>
                <a:latin typeface="Calibri"/>
              </a:defRPr>
            </a:pPr>
            <a:r>
              <a:t>From pyramid (many juniors) to diamond (all Frontier).</a:t>
            </a:r>
          </a:p>
        </p:txBody>
      </p:sp>
      <p:sp>
        <p:nvSpPr>
          <p:cNvPr id="12" name="TextBox 11"/>
          <p:cNvSpPr txBox="1"/>
          <p:nvPr/>
        </p:nvSpPr>
        <p:spPr>
          <a:xfrm>
            <a:off x="4434840" y="1920240"/>
            <a:ext cx="3108960" cy="3840480"/>
          </a:xfrm>
          <a:prstGeom prst="rect">
            <a:avLst/>
          </a:prstGeom>
          <a:noFill/>
        </p:spPr>
        <p:txBody>
          <a:bodyPr wrap="square" anchor="t"/>
          <a:lstStyle/>
          <a:p>
            <a:pPr algn="l">
              <a:defRPr sz="1100" b="0">
                <a:solidFill>
                  <a:srgbClr val="374151"/>
                </a:solidFill>
                <a:latin typeface="Calibri"/>
              </a:defRPr>
            </a:pPr>
            <a:r>
              <a:t>Volume work done by agents, not juniors.</a:t>
            </a:r>
            <a:br/>
            <a:r>
              <a:t>Humans provide direction, judgement &amp; governance.</a:t>
            </a:r>
            <a:br/>
            <a:br/>
            <a:r>
              <a:t>Fewer people, each far more valuable.</a:t>
            </a:r>
            <a:br/>
            <a:r>
              <a:t>Revenue per person: 4.4× increase.</a:t>
            </a:r>
          </a:p>
        </p:txBody>
      </p:sp>
      <p:sp>
        <p:nvSpPr>
          <p:cNvPr id="13" name="Rounded Rectangle 12"/>
          <p:cNvSpPr/>
          <p:nvPr/>
        </p:nvSpPr>
        <p:spPr>
          <a:xfrm>
            <a:off x="7955280" y="914400"/>
            <a:ext cx="3474720" cy="50292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1051560"/>
            <a:ext cx="3108960" cy="320040"/>
          </a:xfrm>
          <a:prstGeom prst="rect">
            <a:avLst/>
          </a:prstGeom>
          <a:noFill/>
        </p:spPr>
        <p:txBody>
          <a:bodyPr wrap="square" anchor="t"/>
          <a:lstStyle/>
          <a:p>
            <a:pPr algn="l">
              <a:defRPr sz="1500" b="1">
                <a:solidFill>
                  <a:srgbClr val="1E3A5F"/>
                </a:solidFill>
                <a:latin typeface="Calibri"/>
              </a:defRPr>
            </a:pPr>
            <a:r>
              <a:t>Client Relationship Shifts</a:t>
            </a:r>
          </a:p>
        </p:txBody>
      </p:sp>
      <p:sp>
        <p:nvSpPr>
          <p:cNvPr id="15" name="TextBox 14"/>
          <p:cNvSpPr txBox="1"/>
          <p:nvPr/>
        </p:nvSpPr>
        <p:spPr>
          <a:xfrm>
            <a:off x="8138160" y="1417320"/>
            <a:ext cx="3108960" cy="320040"/>
          </a:xfrm>
          <a:prstGeom prst="rect">
            <a:avLst/>
          </a:prstGeom>
          <a:noFill/>
        </p:spPr>
        <p:txBody>
          <a:bodyPr wrap="square" anchor="t"/>
          <a:lstStyle/>
          <a:p>
            <a:pPr algn="l">
              <a:defRPr sz="1200" b="0">
                <a:solidFill>
                  <a:srgbClr val="4B5563"/>
                </a:solidFill>
                <a:latin typeface="Calibri"/>
              </a:defRPr>
            </a:pPr>
            <a:r>
              <a:t>From headcount vendor to outcome partner.</a:t>
            </a:r>
          </a:p>
        </p:txBody>
      </p:sp>
      <p:sp>
        <p:nvSpPr>
          <p:cNvPr id="16" name="TextBox 15"/>
          <p:cNvSpPr txBox="1"/>
          <p:nvPr/>
        </p:nvSpPr>
        <p:spPr>
          <a:xfrm>
            <a:off x="8138160" y="1920240"/>
            <a:ext cx="3108960" cy="3840480"/>
          </a:xfrm>
          <a:prstGeom prst="rect">
            <a:avLst/>
          </a:prstGeom>
          <a:noFill/>
        </p:spPr>
        <p:txBody>
          <a:bodyPr wrap="square" anchor="t"/>
          <a:lstStyle/>
          <a:p>
            <a:pPr algn="l">
              <a:defRPr sz="1100" b="0">
                <a:solidFill>
                  <a:srgbClr val="374151"/>
                </a:solidFill>
                <a:latin typeface="Calibri"/>
              </a:defRPr>
            </a:pPr>
            <a:r>
              <a:t>Before: Extended headcount provider. Transactional.</a:t>
            </a:r>
            <a:br/>
            <a:br/>
            <a:r>
              <a:t>After: One pod, one front door. Accountable for outcomes. Pay for what you get.</a:t>
            </a:r>
            <a:br/>
            <a:br/>
            <a:r>
              <a:t>Client costs drop 60–70% while quality increases.</a:t>
            </a:r>
          </a:p>
        </p:txBody>
      </p:sp>
      <p:sp>
        <p:nvSpPr>
          <p:cNvPr id="17" name="Rectangle 16"/>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19" name="TextBox 18"/>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At Scale — 100 Pods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ECONOMICS</a:t>
            </a:r>
          </a:p>
        </p:txBody>
      </p:sp>
      <p:sp>
        <p:nvSpPr>
          <p:cNvPr id="5" name="Rounded Rectangle 4"/>
          <p:cNvSpPr/>
          <p:nvPr/>
        </p:nvSpPr>
        <p:spPr>
          <a:xfrm>
            <a:off x="548640" y="868680"/>
            <a:ext cx="2651760" cy="86868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914400"/>
            <a:ext cx="2651760" cy="457200"/>
          </a:xfrm>
          <a:prstGeom prst="rect">
            <a:avLst/>
          </a:prstGeom>
          <a:noFill/>
        </p:spPr>
        <p:txBody>
          <a:bodyPr wrap="square" anchor="t"/>
          <a:lstStyle/>
          <a:p>
            <a:pPr algn="ctr">
              <a:defRPr sz="2800" b="1">
                <a:solidFill>
                  <a:srgbClr val="1A56DB"/>
                </a:solidFill>
                <a:latin typeface="Calibri"/>
              </a:defRPr>
            </a:pPr>
            <a:r>
              <a:t>250</a:t>
            </a:r>
          </a:p>
        </p:txBody>
      </p:sp>
      <p:sp>
        <p:nvSpPr>
          <p:cNvPr id="7" name="TextBox 6"/>
          <p:cNvSpPr txBox="1"/>
          <p:nvPr/>
        </p:nvSpPr>
        <p:spPr>
          <a:xfrm>
            <a:off x="548640" y="1371600"/>
            <a:ext cx="2651760" cy="274320"/>
          </a:xfrm>
          <a:prstGeom prst="rect">
            <a:avLst/>
          </a:prstGeom>
          <a:noFill/>
        </p:spPr>
        <p:txBody>
          <a:bodyPr wrap="square" anchor="t"/>
          <a:lstStyle/>
          <a:p>
            <a:pPr algn="ctr">
              <a:defRPr sz="1000" b="0">
                <a:solidFill>
                  <a:srgbClr val="6B7280"/>
                </a:solidFill>
                <a:latin typeface="Calibri"/>
              </a:defRPr>
            </a:pPr>
            <a:r>
              <a:t>Frontier Engineers</a:t>
            </a:r>
          </a:p>
        </p:txBody>
      </p:sp>
      <p:sp>
        <p:nvSpPr>
          <p:cNvPr id="8" name="Rounded Rectangle 7"/>
          <p:cNvSpPr/>
          <p:nvPr/>
        </p:nvSpPr>
        <p:spPr>
          <a:xfrm>
            <a:off x="3383280" y="868680"/>
            <a:ext cx="2651760" cy="86868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80" y="914400"/>
            <a:ext cx="2651760" cy="457200"/>
          </a:xfrm>
          <a:prstGeom prst="rect">
            <a:avLst/>
          </a:prstGeom>
          <a:noFill/>
        </p:spPr>
        <p:txBody>
          <a:bodyPr wrap="square" anchor="t"/>
          <a:lstStyle/>
          <a:p>
            <a:pPr algn="ctr">
              <a:defRPr sz="2800" b="1">
                <a:solidFill>
                  <a:srgbClr val="1A56DB"/>
                </a:solidFill>
                <a:latin typeface="Calibri"/>
              </a:defRPr>
            </a:pPr>
            <a:r>
              <a:t>2,100</a:t>
            </a:r>
          </a:p>
        </p:txBody>
      </p:sp>
      <p:sp>
        <p:nvSpPr>
          <p:cNvPr id="10" name="TextBox 9"/>
          <p:cNvSpPr txBox="1"/>
          <p:nvPr/>
        </p:nvSpPr>
        <p:spPr>
          <a:xfrm>
            <a:off x="3383280" y="1371600"/>
            <a:ext cx="2651760" cy="274320"/>
          </a:xfrm>
          <a:prstGeom prst="rect">
            <a:avLst/>
          </a:prstGeom>
          <a:noFill/>
        </p:spPr>
        <p:txBody>
          <a:bodyPr wrap="square" anchor="t"/>
          <a:lstStyle/>
          <a:p>
            <a:pPr algn="ctr">
              <a:defRPr sz="1000" b="0">
                <a:solidFill>
                  <a:srgbClr val="6B7280"/>
                </a:solidFill>
                <a:latin typeface="Calibri"/>
              </a:defRPr>
            </a:pPr>
            <a:r>
              <a:t>Agents</a:t>
            </a:r>
          </a:p>
        </p:txBody>
      </p:sp>
      <p:sp>
        <p:nvSpPr>
          <p:cNvPr id="11" name="Rounded Rectangle 10"/>
          <p:cNvSpPr/>
          <p:nvPr/>
        </p:nvSpPr>
        <p:spPr>
          <a:xfrm>
            <a:off x="6217920" y="868680"/>
            <a:ext cx="2651760" cy="86868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914400"/>
            <a:ext cx="2651760" cy="457200"/>
          </a:xfrm>
          <a:prstGeom prst="rect">
            <a:avLst/>
          </a:prstGeom>
          <a:noFill/>
        </p:spPr>
        <p:txBody>
          <a:bodyPr wrap="square" anchor="t"/>
          <a:lstStyle/>
          <a:p>
            <a:pPr algn="ctr">
              <a:defRPr sz="2800" b="1">
                <a:solidFill>
                  <a:srgbClr val="1A56DB"/>
                </a:solidFill>
                <a:latin typeface="Calibri"/>
              </a:defRPr>
            </a:pPr>
            <a:r>
              <a:t>$17.5M</a:t>
            </a:r>
          </a:p>
        </p:txBody>
      </p:sp>
      <p:sp>
        <p:nvSpPr>
          <p:cNvPr id="13" name="TextBox 12"/>
          <p:cNvSpPr txBox="1"/>
          <p:nvPr/>
        </p:nvSpPr>
        <p:spPr>
          <a:xfrm>
            <a:off x="6217920" y="1371600"/>
            <a:ext cx="2651760" cy="274320"/>
          </a:xfrm>
          <a:prstGeom prst="rect">
            <a:avLst/>
          </a:prstGeom>
          <a:noFill/>
        </p:spPr>
        <p:txBody>
          <a:bodyPr wrap="square" anchor="t"/>
          <a:lstStyle/>
          <a:p>
            <a:pPr algn="ctr">
              <a:defRPr sz="1000" b="0">
                <a:solidFill>
                  <a:srgbClr val="6B7280"/>
                </a:solidFill>
                <a:latin typeface="Calibri"/>
              </a:defRPr>
            </a:pPr>
            <a:r>
              <a:t>Monthly Revenue</a:t>
            </a:r>
          </a:p>
        </p:txBody>
      </p:sp>
      <p:sp>
        <p:nvSpPr>
          <p:cNvPr id="14" name="Rounded Rectangle 13"/>
          <p:cNvSpPr/>
          <p:nvPr/>
        </p:nvSpPr>
        <p:spPr>
          <a:xfrm>
            <a:off x="9052560" y="868680"/>
            <a:ext cx="2651760" cy="868680"/>
          </a:xfrm>
          <a:prstGeom prst="round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0" y="914400"/>
            <a:ext cx="2651760" cy="457200"/>
          </a:xfrm>
          <a:prstGeom prst="rect">
            <a:avLst/>
          </a:prstGeom>
          <a:noFill/>
        </p:spPr>
        <p:txBody>
          <a:bodyPr wrap="square" anchor="t"/>
          <a:lstStyle/>
          <a:p>
            <a:pPr algn="ctr">
              <a:defRPr sz="2800" b="1">
                <a:solidFill>
                  <a:srgbClr val="1A56DB"/>
                </a:solidFill>
                <a:latin typeface="Calibri"/>
              </a:defRPr>
            </a:pPr>
            <a:r>
              <a:t>$210M</a:t>
            </a:r>
          </a:p>
        </p:txBody>
      </p:sp>
      <p:sp>
        <p:nvSpPr>
          <p:cNvPr id="16" name="TextBox 15"/>
          <p:cNvSpPr txBox="1"/>
          <p:nvPr/>
        </p:nvSpPr>
        <p:spPr>
          <a:xfrm>
            <a:off x="9052560" y="1371600"/>
            <a:ext cx="2651760" cy="274320"/>
          </a:xfrm>
          <a:prstGeom prst="rect">
            <a:avLst/>
          </a:prstGeom>
          <a:noFill/>
        </p:spPr>
        <p:txBody>
          <a:bodyPr wrap="square" anchor="t"/>
          <a:lstStyle/>
          <a:p>
            <a:pPr algn="ctr">
              <a:defRPr sz="1000" b="0">
                <a:solidFill>
                  <a:srgbClr val="6B7280"/>
                </a:solidFill>
                <a:latin typeface="Calibri"/>
              </a:defRPr>
            </a:pPr>
            <a:r>
              <a:t>Annual Revenue</a:t>
            </a:r>
          </a:p>
        </p:txBody>
      </p:sp>
      <p:sp>
        <p:nvSpPr>
          <p:cNvPr id="17" name="TextBox 16"/>
          <p:cNvSpPr txBox="1"/>
          <p:nvPr/>
        </p:nvSpPr>
        <p:spPr>
          <a:xfrm>
            <a:off x="548640" y="2011680"/>
            <a:ext cx="5486400" cy="320040"/>
          </a:xfrm>
          <a:prstGeom prst="rect">
            <a:avLst/>
          </a:prstGeom>
          <a:noFill/>
        </p:spPr>
        <p:txBody>
          <a:bodyPr wrap="square" anchor="t"/>
          <a:lstStyle/>
          <a:p>
            <a:pPr algn="l">
              <a:defRPr sz="1400" b="1">
                <a:solidFill>
                  <a:srgbClr val="1E3A5F"/>
                </a:solidFill>
                <a:latin typeface="Calibri"/>
              </a:defRPr>
            </a:pPr>
            <a:r>
              <a:t>Headcount Comparison</a:t>
            </a:r>
          </a:p>
        </p:txBody>
      </p:sp>
      <p:sp>
        <p:nvSpPr>
          <p:cNvPr id="18" name="TextBox 17"/>
          <p:cNvSpPr txBox="1"/>
          <p:nvPr/>
        </p:nvSpPr>
        <p:spPr>
          <a:xfrm>
            <a:off x="548640" y="2377440"/>
            <a:ext cx="1371600" cy="274320"/>
          </a:xfrm>
          <a:prstGeom prst="rect">
            <a:avLst/>
          </a:prstGeom>
          <a:noFill/>
        </p:spPr>
        <p:txBody>
          <a:bodyPr wrap="square" anchor="t"/>
          <a:lstStyle/>
          <a:p>
            <a:pPr algn="l">
              <a:defRPr sz="1100" b="1">
                <a:solidFill>
                  <a:srgbClr val="4B5563"/>
                </a:solidFill>
                <a:latin typeface="Calibri"/>
              </a:defRPr>
            </a:pPr>
            <a:r>
              <a:t>Traditional</a:t>
            </a:r>
          </a:p>
        </p:txBody>
      </p:sp>
      <p:sp>
        <p:nvSpPr>
          <p:cNvPr id="19" name="Rounded Rectangle 18"/>
          <p:cNvSpPr/>
          <p:nvPr/>
        </p:nvSpPr>
        <p:spPr>
          <a:xfrm>
            <a:off x="2011680" y="2377440"/>
            <a:ext cx="9144000" cy="274320"/>
          </a:xfrm>
          <a:prstGeom prst="round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11680" y="2377440"/>
            <a:ext cx="9144000" cy="274320"/>
          </a:xfrm>
          <a:prstGeom prst="rect">
            <a:avLst/>
          </a:prstGeom>
          <a:noFill/>
        </p:spPr>
        <p:txBody>
          <a:bodyPr wrap="square" anchor="ctr"/>
          <a:lstStyle/>
          <a:p>
            <a:pPr algn="r">
              <a:defRPr sz="1000" b="1">
                <a:solidFill>
                  <a:srgbClr val="FFFFFF"/>
                </a:solidFill>
                <a:latin typeface="Calibri"/>
              </a:defRPr>
            </a:pPr>
            <a:r>
              <a:t>8,000–13,000 people</a:t>
            </a:r>
          </a:p>
        </p:txBody>
      </p:sp>
      <p:sp>
        <p:nvSpPr>
          <p:cNvPr id="21" name="TextBox 20"/>
          <p:cNvSpPr txBox="1"/>
          <p:nvPr/>
        </p:nvSpPr>
        <p:spPr>
          <a:xfrm>
            <a:off x="548640" y="2743200"/>
            <a:ext cx="1371600" cy="274320"/>
          </a:xfrm>
          <a:prstGeom prst="rect">
            <a:avLst/>
          </a:prstGeom>
          <a:noFill/>
        </p:spPr>
        <p:txBody>
          <a:bodyPr wrap="square" anchor="t"/>
          <a:lstStyle/>
          <a:p>
            <a:pPr algn="l">
              <a:defRPr sz="1100" b="1">
                <a:solidFill>
                  <a:srgbClr val="4B5563"/>
                </a:solidFill>
                <a:latin typeface="Calibri"/>
              </a:defRPr>
            </a:pPr>
            <a:r>
              <a:t>Frontier</a:t>
            </a:r>
          </a:p>
        </p:txBody>
      </p:sp>
      <p:sp>
        <p:nvSpPr>
          <p:cNvPr id="22" name="Rounded Rectangle 21"/>
          <p:cNvSpPr/>
          <p:nvPr/>
        </p:nvSpPr>
        <p:spPr>
          <a:xfrm>
            <a:off x="2011680" y="2743200"/>
            <a:ext cx="274320" cy="2743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77440" y="2743200"/>
            <a:ext cx="914400" cy="274320"/>
          </a:xfrm>
          <a:prstGeom prst="rect">
            <a:avLst/>
          </a:prstGeom>
          <a:noFill/>
        </p:spPr>
        <p:txBody>
          <a:bodyPr wrap="square" anchor="ctr"/>
          <a:lstStyle/>
          <a:p>
            <a:pPr algn="l">
              <a:defRPr sz="1000" b="1">
                <a:solidFill>
                  <a:srgbClr val="1A56DB"/>
                </a:solidFill>
                <a:latin typeface="Calibri"/>
              </a:defRPr>
            </a:pPr>
            <a:r>
              <a:t>250</a:t>
            </a:r>
          </a:p>
        </p:txBody>
      </p:sp>
      <p:sp>
        <p:nvSpPr>
          <p:cNvPr id="24" name="TextBox 23"/>
          <p:cNvSpPr txBox="1"/>
          <p:nvPr/>
        </p:nvSpPr>
        <p:spPr>
          <a:xfrm>
            <a:off x="548640" y="3200400"/>
            <a:ext cx="5486400" cy="274320"/>
          </a:xfrm>
          <a:prstGeom prst="rect">
            <a:avLst/>
          </a:prstGeom>
          <a:noFill/>
        </p:spPr>
        <p:txBody>
          <a:bodyPr wrap="square" anchor="t"/>
          <a:lstStyle/>
          <a:p>
            <a:pPr algn="l">
              <a:defRPr sz="1300" b="1">
                <a:solidFill>
                  <a:srgbClr val="374151"/>
                </a:solidFill>
                <a:latin typeface="Calibri"/>
              </a:defRPr>
            </a:pPr>
            <a:r>
              <a:t>Same output, 30–50× leverage ratio.</a:t>
            </a:r>
          </a:p>
        </p:txBody>
      </p:sp>
      <p:sp>
        <p:nvSpPr>
          <p:cNvPr id="25" name="TextBox 24"/>
          <p:cNvSpPr txBox="1"/>
          <p:nvPr/>
        </p:nvSpPr>
        <p:spPr>
          <a:xfrm>
            <a:off x="548640" y="3749039"/>
            <a:ext cx="5486400" cy="320040"/>
          </a:xfrm>
          <a:prstGeom prst="rect">
            <a:avLst/>
          </a:prstGeom>
          <a:noFill/>
        </p:spPr>
        <p:txBody>
          <a:bodyPr wrap="square" anchor="t"/>
          <a:lstStyle/>
          <a:p>
            <a:pPr algn="l">
              <a:defRPr sz="1400" b="1">
                <a:solidFill>
                  <a:srgbClr val="1E3A5F"/>
                </a:solidFill>
                <a:latin typeface="Calibri"/>
              </a:defRPr>
            </a:pPr>
            <a:r>
              <a:t>Revenue per Person</a:t>
            </a:r>
          </a:p>
        </p:txBody>
      </p:sp>
      <p:sp>
        <p:nvSpPr>
          <p:cNvPr id="26" name="TextBox 25"/>
          <p:cNvSpPr txBox="1"/>
          <p:nvPr/>
        </p:nvSpPr>
        <p:spPr>
          <a:xfrm>
            <a:off x="548640" y="4114800"/>
            <a:ext cx="1371600" cy="274320"/>
          </a:xfrm>
          <a:prstGeom prst="rect">
            <a:avLst/>
          </a:prstGeom>
          <a:noFill/>
        </p:spPr>
        <p:txBody>
          <a:bodyPr wrap="square" anchor="t"/>
          <a:lstStyle/>
          <a:p>
            <a:pPr algn="l">
              <a:defRPr sz="1100" b="1">
                <a:solidFill>
                  <a:srgbClr val="4B5563"/>
                </a:solidFill>
                <a:latin typeface="Calibri"/>
              </a:defRPr>
            </a:pPr>
            <a:r>
              <a:t>Traditional</a:t>
            </a:r>
          </a:p>
        </p:txBody>
      </p:sp>
      <p:sp>
        <p:nvSpPr>
          <p:cNvPr id="27" name="Rounded Rectangle 26"/>
          <p:cNvSpPr/>
          <p:nvPr/>
        </p:nvSpPr>
        <p:spPr>
          <a:xfrm>
            <a:off x="2011680" y="4114800"/>
            <a:ext cx="2103120" cy="274320"/>
          </a:xfrm>
          <a:prstGeom prst="round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011680" y="4114800"/>
            <a:ext cx="2103120" cy="274320"/>
          </a:xfrm>
          <a:prstGeom prst="rect">
            <a:avLst/>
          </a:prstGeom>
          <a:noFill/>
        </p:spPr>
        <p:txBody>
          <a:bodyPr wrap="square" anchor="ctr"/>
          <a:lstStyle/>
          <a:p>
            <a:pPr algn="ctr">
              <a:defRPr sz="1000" b="1">
                <a:solidFill>
                  <a:srgbClr val="FFFFFF"/>
                </a:solidFill>
                <a:latin typeface="Calibri"/>
              </a:defRPr>
            </a:pPr>
            <a:r>
              <a:t>$192K/yr</a:t>
            </a:r>
          </a:p>
        </p:txBody>
      </p:sp>
      <p:sp>
        <p:nvSpPr>
          <p:cNvPr id="29" name="TextBox 28"/>
          <p:cNvSpPr txBox="1"/>
          <p:nvPr/>
        </p:nvSpPr>
        <p:spPr>
          <a:xfrm>
            <a:off x="548640" y="4480560"/>
            <a:ext cx="1371600" cy="274320"/>
          </a:xfrm>
          <a:prstGeom prst="rect">
            <a:avLst/>
          </a:prstGeom>
          <a:noFill/>
        </p:spPr>
        <p:txBody>
          <a:bodyPr wrap="square" anchor="t"/>
          <a:lstStyle/>
          <a:p>
            <a:pPr algn="l">
              <a:defRPr sz="1100" b="1">
                <a:solidFill>
                  <a:srgbClr val="4B5563"/>
                </a:solidFill>
                <a:latin typeface="Calibri"/>
              </a:defRPr>
            </a:pPr>
            <a:r>
              <a:t>Frontier</a:t>
            </a:r>
          </a:p>
        </p:txBody>
      </p:sp>
      <p:sp>
        <p:nvSpPr>
          <p:cNvPr id="30" name="Rounded Rectangle 29"/>
          <p:cNvSpPr/>
          <p:nvPr/>
        </p:nvSpPr>
        <p:spPr>
          <a:xfrm>
            <a:off x="2011680" y="4480560"/>
            <a:ext cx="9144000" cy="2743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11680" y="4480560"/>
            <a:ext cx="9144000" cy="274320"/>
          </a:xfrm>
          <a:prstGeom prst="rect">
            <a:avLst/>
          </a:prstGeom>
          <a:noFill/>
        </p:spPr>
        <p:txBody>
          <a:bodyPr wrap="square" anchor="ctr"/>
          <a:lstStyle/>
          <a:p>
            <a:pPr algn="ctr">
              <a:defRPr sz="1000" b="1">
                <a:solidFill>
                  <a:srgbClr val="FFFFFF"/>
                </a:solidFill>
                <a:latin typeface="Calibri"/>
              </a:defRPr>
            </a:pPr>
            <a:r>
              <a:t>$840K/yr</a:t>
            </a:r>
          </a:p>
        </p:txBody>
      </p:sp>
      <p:sp>
        <p:nvSpPr>
          <p:cNvPr id="32" name="TextBox 31"/>
          <p:cNvSpPr txBox="1"/>
          <p:nvPr/>
        </p:nvSpPr>
        <p:spPr>
          <a:xfrm>
            <a:off x="548640" y="4937760"/>
            <a:ext cx="5486400" cy="274320"/>
          </a:xfrm>
          <a:prstGeom prst="rect">
            <a:avLst/>
          </a:prstGeom>
          <a:noFill/>
        </p:spPr>
        <p:txBody>
          <a:bodyPr wrap="square" anchor="t"/>
          <a:lstStyle/>
          <a:p>
            <a:pPr algn="l">
              <a:defRPr sz="1300" b="1">
                <a:solidFill>
                  <a:srgbClr val="374151"/>
                </a:solidFill>
                <a:latin typeface="Calibri"/>
              </a:defRPr>
            </a:pPr>
            <a:r>
              <a:t>4.4× improvement in the most important services metric.</a:t>
            </a:r>
          </a:p>
        </p:txBody>
      </p:sp>
      <p:sp>
        <p:nvSpPr>
          <p:cNvPr id="33" name="Rounded Rectangle 32"/>
          <p:cNvSpPr/>
          <p:nvPr/>
        </p:nvSpPr>
        <p:spPr>
          <a:xfrm>
            <a:off x="548640" y="5394960"/>
            <a:ext cx="10972800" cy="640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5440680"/>
            <a:ext cx="10058400" cy="548640"/>
          </a:xfrm>
          <a:prstGeom prst="rect">
            <a:avLst/>
          </a:prstGeom>
          <a:noFill/>
        </p:spPr>
        <p:txBody>
          <a:bodyPr wrap="square"/>
          <a:lstStyle/>
          <a:p>
            <a:pPr algn="l">
              <a:spcBef>
                <a:spcPts val="0"/>
              </a:spcBef>
              <a:spcAft>
                <a:spcPts val="400"/>
              </a:spcAft>
              <a:defRPr sz="1200" b="0" i="0">
                <a:solidFill>
                  <a:srgbClr val="374151"/>
                </a:solidFill>
                <a:latin typeface="Calibri"/>
              </a:defRPr>
            </a:pPr>
            <a:r>
              <a:rPr sz="1200" b="1" i="0">
                <a:solidFill>
                  <a:srgbClr val="1A4A7A"/>
                </a:solidFill>
                <a:latin typeface="Calibri"/>
              </a:rPr>
              <a:t>The Flywheel: </a:t>
            </a:r>
            <a:r>
              <a:rPr sz="1200" b="0" i="0">
                <a:solidFill>
                  <a:srgbClr val="374151"/>
                </a:solidFill>
                <a:latin typeface="Calibri"/>
              </a:rPr>
              <a:t>Every pod run generates data → improves agents → less human intervention → more pods per person → more data. The cycle compounds.</a:t>
            </a:r>
          </a:p>
        </p:txBody>
      </p:sp>
      <p:sp>
        <p:nvSpPr>
          <p:cNvPr id="35" name="Rectangle 34"/>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37" name="TextBox 36"/>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What Changes for Everyone</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IMPACT</a:t>
            </a:r>
          </a:p>
        </p:txBody>
      </p:sp>
      <p:sp>
        <p:nvSpPr>
          <p:cNvPr id="5" name="Rounded Rectangle 4"/>
          <p:cNvSpPr/>
          <p:nvPr/>
        </p:nvSpPr>
        <p:spPr>
          <a:xfrm>
            <a:off x="548640" y="914400"/>
            <a:ext cx="3474720" cy="274320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051560"/>
            <a:ext cx="3108960" cy="320040"/>
          </a:xfrm>
          <a:prstGeom prst="rect">
            <a:avLst/>
          </a:prstGeom>
          <a:noFill/>
        </p:spPr>
        <p:txBody>
          <a:bodyPr wrap="square" anchor="t"/>
          <a:lstStyle/>
          <a:p>
            <a:pPr algn="l">
              <a:defRPr sz="1500" b="1">
                <a:solidFill>
                  <a:srgbClr val="BFDBFE"/>
                </a:solidFill>
                <a:latin typeface="Calibri"/>
              </a:defRPr>
            </a:pPr>
            <a:r>
              <a:t>For the Professional</a:t>
            </a:r>
          </a:p>
        </p:txBody>
      </p:sp>
      <p:sp>
        <p:nvSpPr>
          <p:cNvPr id="7" name="TextBox 6"/>
          <p:cNvSpPr txBox="1"/>
          <p:nvPr/>
        </p:nvSpPr>
        <p:spPr>
          <a:xfrm>
            <a:off x="731520" y="1463040"/>
            <a:ext cx="3108960" cy="2011680"/>
          </a:xfrm>
          <a:prstGeom prst="rect">
            <a:avLst/>
          </a:prstGeom>
          <a:noFill/>
        </p:spPr>
        <p:txBody>
          <a:bodyPr wrap="square"/>
          <a:lstStyle/>
          <a:p>
            <a:endParaRPr/>
          </a:p>
          <a:p>
            <a:pPr>
              <a:spcAft>
                <a:spcPts val="600"/>
              </a:spcAft>
              <a:defRPr sz="1200" b="0">
                <a:solidFill>
                  <a:srgbClr val="FFFFFF"/>
                </a:solidFill>
                <a:latin typeface="Calibri"/>
              </a:defRPr>
            </a:pPr>
            <a:r>
              <a:t>Influence no longer capped by your own hours</a:t>
            </a:r>
          </a:p>
          <a:p>
            <a:pPr>
              <a:spcAft>
                <a:spcPts val="600"/>
              </a:spcAft>
              <a:defRPr sz="1200" b="0">
                <a:solidFill>
                  <a:srgbClr val="FFFFFF"/>
                </a:solidFill>
                <a:latin typeface="Calibri"/>
              </a:defRPr>
            </a:pPr>
            <a:r>
              <a:t>Multiplied by how well you direct agents and a pod</a:t>
            </a:r>
          </a:p>
          <a:p>
            <a:pPr>
              <a:spcAft>
                <a:spcPts val="600"/>
              </a:spcAft>
              <a:defRPr sz="1200" b="0">
                <a:solidFill>
                  <a:srgbClr val="FFFFFF"/>
                </a:solidFill>
                <a:latin typeface="Calibri"/>
              </a:defRPr>
            </a:pPr>
            <a:r>
              <a:t>Step-change in leverage</a:t>
            </a:r>
          </a:p>
          <a:p>
            <a:pPr>
              <a:spcAft>
                <a:spcPts val="600"/>
              </a:spcAft>
              <a:defRPr sz="1200" b="0">
                <a:solidFill>
                  <a:srgbClr val="FFFFFF"/>
                </a:solidFill>
                <a:latin typeface="Calibri"/>
              </a:defRPr>
            </a:pPr>
            <a:r>
              <a:t>Richer, more durable career</a:t>
            </a:r>
          </a:p>
        </p:txBody>
      </p:sp>
      <p:sp>
        <p:nvSpPr>
          <p:cNvPr id="8" name="Rounded Rectangle 7"/>
          <p:cNvSpPr/>
          <p:nvPr/>
        </p:nvSpPr>
        <p:spPr>
          <a:xfrm>
            <a:off x="4251960" y="914400"/>
            <a:ext cx="3474720" cy="2743200"/>
          </a:xfrm>
          <a:prstGeom prst="round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1051560"/>
            <a:ext cx="3108960" cy="320040"/>
          </a:xfrm>
          <a:prstGeom prst="rect">
            <a:avLst/>
          </a:prstGeom>
          <a:noFill/>
        </p:spPr>
        <p:txBody>
          <a:bodyPr wrap="square" anchor="t"/>
          <a:lstStyle/>
          <a:p>
            <a:pPr algn="l">
              <a:defRPr sz="1500" b="1">
                <a:solidFill>
                  <a:srgbClr val="BFDBFE"/>
                </a:solidFill>
                <a:latin typeface="Calibri"/>
              </a:defRPr>
            </a:pPr>
            <a:r>
              <a:t>For the Organisation</a:t>
            </a:r>
          </a:p>
        </p:txBody>
      </p:sp>
      <p:sp>
        <p:nvSpPr>
          <p:cNvPr id="10" name="TextBox 9"/>
          <p:cNvSpPr txBox="1"/>
          <p:nvPr/>
        </p:nvSpPr>
        <p:spPr>
          <a:xfrm>
            <a:off x="4434840" y="1463040"/>
            <a:ext cx="3108960" cy="2011680"/>
          </a:xfrm>
          <a:prstGeom prst="rect">
            <a:avLst/>
          </a:prstGeom>
          <a:noFill/>
        </p:spPr>
        <p:txBody>
          <a:bodyPr wrap="square"/>
          <a:lstStyle/>
          <a:p>
            <a:endParaRPr/>
          </a:p>
          <a:p>
            <a:pPr>
              <a:spcAft>
                <a:spcPts val="600"/>
              </a:spcAft>
              <a:defRPr sz="1200" b="0">
                <a:solidFill>
                  <a:srgbClr val="FFFFFF"/>
                </a:solidFill>
                <a:latin typeface="Calibri"/>
              </a:defRPr>
            </a:pPr>
            <a:r>
              <a:t>Revenue per person grows 4.4×</a:t>
            </a:r>
          </a:p>
          <a:p>
            <a:pPr>
              <a:spcAft>
                <a:spcPts val="600"/>
              </a:spcAft>
              <a:defRPr sz="1200" b="0">
                <a:solidFill>
                  <a:srgbClr val="FFFFFF"/>
                </a:solidFill>
                <a:latin typeface="Calibri"/>
              </a:defRPr>
            </a:pPr>
            <a:r>
              <a:t>Margin improves from ~20% to 45%+</a:t>
            </a:r>
          </a:p>
          <a:p>
            <a:pPr>
              <a:spcAft>
                <a:spcPts val="600"/>
              </a:spcAft>
              <a:defRPr sz="1200" b="0">
                <a:solidFill>
                  <a:srgbClr val="FFFFFF"/>
                </a:solidFill>
                <a:latin typeface="Calibri"/>
              </a:defRPr>
            </a:pPr>
            <a:r>
              <a:t>Fewer people, each far more valuable</a:t>
            </a:r>
          </a:p>
          <a:p>
            <a:pPr>
              <a:spcAft>
                <a:spcPts val="600"/>
              </a:spcAft>
              <a:defRPr sz="1200" b="0">
                <a:solidFill>
                  <a:srgbClr val="FFFFFF"/>
                </a:solidFill>
                <a:latin typeface="Calibri"/>
              </a:defRPr>
            </a:pPr>
            <a:r>
              <a:t>Compounding flywheel effect</a:t>
            </a:r>
          </a:p>
        </p:txBody>
      </p:sp>
      <p:sp>
        <p:nvSpPr>
          <p:cNvPr id="11" name="Rounded Rectangle 10"/>
          <p:cNvSpPr/>
          <p:nvPr/>
        </p:nvSpPr>
        <p:spPr>
          <a:xfrm>
            <a:off x="7955280" y="914400"/>
            <a:ext cx="3474720" cy="2743200"/>
          </a:xfrm>
          <a:prstGeom prst="round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0" y="1051560"/>
            <a:ext cx="3108960" cy="320040"/>
          </a:xfrm>
          <a:prstGeom prst="rect">
            <a:avLst/>
          </a:prstGeom>
          <a:noFill/>
        </p:spPr>
        <p:txBody>
          <a:bodyPr wrap="square" anchor="t"/>
          <a:lstStyle/>
          <a:p>
            <a:pPr algn="l">
              <a:defRPr sz="1500" b="1">
                <a:solidFill>
                  <a:srgbClr val="BFDBFE"/>
                </a:solidFill>
                <a:latin typeface="Calibri"/>
              </a:defRPr>
            </a:pPr>
            <a:r>
              <a:t>For the Client</a:t>
            </a:r>
          </a:p>
        </p:txBody>
      </p:sp>
      <p:sp>
        <p:nvSpPr>
          <p:cNvPr id="13" name="TextBox 12"/>
          <p:cNvSpPr txBox="1"/>
          <p:nvPr/>
        </p:nvSpPr>
        <p:spPr>
          <a:xfrm>
            <a:off x="8138160" y="1463040"/>
            <a:ext cx="3108960" cy="2011680"/>
          </a:xfrm>
          <a:prstGeom prst="rect">
            <a:avLst/>
          </a:prstGeom>
          <a:noFill/>
        </p:spPr>
        <p:txBody>
          <a:bodyPr wrap="square"/>
          <a:lstStyle/>
          <a:p>
            <a:endParaRPr/>
          </a:p>
          <a:p>
            <a:pPr>
              <a:spcAft>
                <a:spcPts val="600"/>
              </a:spcAft>
              <a:defRPr sz="1200" b="0">
                <a:solidFill>
                  <a:srgbClr val="FFFFFF"/>
                </a:solidFill>
                <a:latin typeface="Calibri"/>
              </a:defRPr>
            </a:pPr>
            <a:r>
              <a:t>60–70% cost reduction</a:t>
            </a:r>
          </a:p>
          <a:p>
            <a:pPr>
              <a:spcAft>
                <a:spcPts val="600"/>
              </a:spcAft>
              <a:defRPr sz="1200" b="0">
                <a:solidFill>
                  <a:srgbClr val="FFFFFF"/>
                </a:solidFill>
                <a:latin typeface="Calibri"/>
              </a:defRPr>
            </a:pPr>
            <a:r>
              <a:t>20–40× faster delivery</a:t>
            </a:r>
          </a:p>
          <a:p>
            <a:pPr>
              <a:spcAft>
                <a:spcPts val="600"/>
              </a:spcAft>
              <a:defRPr sz="1200" b="0">
                <a:solidFill>
                  <a:srgbClr val="FFFFFF"/>
                </a:solidFill>
                <a:latin typeface="Calibri"/>
              </a:defRPr>
            </a:pPr>
            <a:r>
              <a:t>Higher quality (95% test coverage)</a:t>
            </a:r>
          </a:p>
          <a:p>
            <a:pPr>
              <a:spcAft>
                <a:spcPts val="600"/>
              </a:spcAft>
              <a:defRPr sz="1200" b="0">
                <a:solidFill>
                  <a:srgbClr val="FFFFFF"/>
                </a:solidFill>
                <a:latin typeface="Calibri"/>
              </a:defRPr>
            </a:pPr>
            <a:r>
              <a:t>One team, one outcome, one front door</a:t>
            </a:r>
          </a:p>
        </p:txBody>
      </p:sp>
      <p:sp>
        <p:nvSpPr>
          <p:cNvPr id="14" name="Rounded Rectangle 13"/>
          <p:cNvSpPr/>
          <p:nvPr/>
        </p:nvSpPr>
        <p:spPr>
          <a:xfrm>
            <a:off x="548640" y="4023360"/>
            <a:ext cx="10972800" cy="914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114800"/>
            <a:ext cx="10058400" cy="731520"/>
          </a:xfrm>
          <a:prstGeom prst="rect">
            <a:avLst/>
          </a:prstGeom>
          <a:noFill/>
        </p:spPr>
        <p:txBody>
          <a:bodyPr wrap="square"/>
          <a:lstStyle/>
          <a:p>
            <a:pPr algn="l">
              <a:spcBef>
                <a:spcPts val="0"/>
              </a:spcBef>
              <a:spcAft>
                <a:spcPts val="400"/>
              </a:spcAft>
              <a:defRPr sz="1300" b="0" i="1">
                <a:solidFill>
                  <a:srgbClr val="1A4A7A"/>
                </a:solidFill>
                <a:latin typeface="Calibri"/>
              </a:defRPr>
            </a:pPr>
            <a:r>
              <a:t>"As a systems integrator, we either become an AI builder or become history. A technology partner's success is simply the sum of its people's: if each of us makes the shift, the organisation thrives."</a:t>
            </a:r>
          </a:p>
          <a:p>
            <a:pPr algn="l">
              <a:spcBef>
                <a:spcPts val="0"/>
              </a:spcBef>
              <a:spcAft>
                <a:spcPts val="400"/>
              </a:spcAft>
              <a:defRPr sz="1000" b="0" i="0">
                <a:solidFill>
                  <a:srgbClr val="9CA3AF"/>
                </a:solidFill>
                <a:latin typeface="Calibri"/>
              </a:defRPr>
            </a:pPr>
            <a:r>
              <a:t>— From "Becoming a Frontier Professional"</a:t>
            </a:r>
          </a:p>
        </p:txBody>
      </p:sp>
      <p:sp>
        <p:nvSpPr>
          <p:cNvPr id="16" name="Rectangle 15"/>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18" name="TextBox 17"/>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What To Do Next — Three Horizons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ROADMAP</a:t>
            </a:r>
          </a:p>
        </p:txBody>
      </p:sp>
      <p:sp>
        <p:nvSpPr>
          <p:cNvPr id="5" name="Rectangle 4"/>
          <p:cNvSpPr/>
          <p:nvPr/>
        </p:nvSpPr>
        <p:spPr>
          <a:xfrm>
            <a:off x="548640" y="868680"/>
            <a:ext cx="3474720" cy="508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868680"/>
            <a:ext cx="3474720" cy="5303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868680"/>
            <a:ext cx="3474720" cy="508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978408"/>
            <a:ext cx="1463040" cy="201168"/>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978408"/>
            <a:ext cx="1463040" cy="201168"/>
          </a:xfrm>
          <a:prstGeom prst="rect">
            <a:avLst/>
          </a:prstGeom>
          <a:noFill/>
        </p:spPr>
        <p:txBody>
          <a:bodyPr wrap="square" anchor="ctr"/>
          <a:lstStyle/>
          <a:p>
            <a:pPr algn="ctr">
              <a:defRPr sz="800" b="1">
                <a:solidFill>
                  <a:srgbClr val="1A56DB"/>
                </a:solidFill>
                <a:latin typeface="Calibri"/>
              </a:defRPr>
            </a:pPr>
            <a:r>
              <a:t>NOW · Q1–Q2</a:t>
            </a:r>
          </a:p>
        </p:txBody>
      </p:sp>
      <p:sp>
        <p:nvSpPr>
          <p:cNvPr id="10" name="TextBox 9"/>
          <p:cNvSpPr txBox="1"/>
          <p:nvPr/>
        </p:nvSpPr>
        <p:spPr>
          <a:xfrm>
            <a:off x="685800" y="1234440"/>
            <a:ext cx="3200400" cy="274320"/>
          </a:xfrm>
          <a:prstGeom prst="rect">
            <a:avLst/>
          </a:prstGeom>
          <a:noFill/>
        </p:spPr>
        <p:txBody>
          <a:bodyPr wrap="square" anchor="t"/>
          <a:lstStyle/>
          <a:p>
            <a:pPr algn="l">
              <a:defRPr sz="1400" b="1">
                <a:solidFill>
                  <a:srgbClr val="1E3A5F"/>
                </a:solidFill>
                <a:latin typeface="Calibri"/>
              </a:defRPr>
            </a:pPr>
            <a:r>
              <a:t>Build the Foundation</a:t>
            </a:r>
          </a:p>
        </p:txBody>
      </p:sp>
      <p:sp>
        <p:nvSpPr>
          <p:cNvPr id="11" name="TextBox 10"/>
          <p:cNvSpPr txBox="1"/>
          <p:nvPr/>
        </p:nvSpPr>
        <p:spPr>
          <a:xfrm>
            <a:off x="685800" y="1600200"/>
            <a:ext cx="3200400" cy="4389120"/>
          </a:xfrm>
          <a:prstGeom prst="rect">
            <a:avLst/>
          </a:prstGeom>
          <a:noFill/>
        </p:spPr>
        <p:txBody>
          <a:bodyPr wrap="square"/>
          <a:lstStyle/>
          <a:p>
            <a:pPr algn="l">
              <a:spcBef>
                <a:spcPts val="0"/>
              </a:spcBef>
              <a:spcAft>
                <a:spcPts val="100"/>
              </a:spcAft>
              <a:defRPr sz="1100" b="0" i="0">
                <a:solidFill>
                  <a:srgbClr val="374151"/>
                </a:solidFill>
                <a:latin typeface="Calibri"/>
              </a:defRPr>
            </a:pPr>
            <a:r>
              <a:rPr sz="1100" b="1" i="0">
                <a:solidFill>
                  <a:srgbClr val="1A4A7A"/>
                </a:solidFill>
                <a:latin typeface="Calibri"/>
              </a:rPr>
              <a:t>1. Start the Academy</a:t>
            </a:r>
          </a:p>
          <a:p>
            <a:pPr algn="l">
              <a:spcBef>
                <a:spcPts val="0"/>
              </a:spcBef>
              <a:spcAft>
                <a:spcPts val="400"/>
              </a:spcAft>
              <a:defRPr sz="1000" b="0" i="0">
                <a:solidFill>
                  <a:srgbClr val="4B5563"/>
                </a:solidFill>
                <a:latin typeface="Calibri"/>
              </a:defRPr>
            </a:pPr>
            <a:r>
              <a:t>Train first 500 professionals. Each picks one task and hands it to an agent (Stage 1).</a:t>
            </a:r>
          </a:p>
          <a:p>
            <a:pPr algn="l">
              <a:spcBef>
                <a:spcPts val="600"/>
              </a:spcBef>
              <a:spcAft>
                <a:spcPts val="100"/>
              </a:spcAft>
              <a:defRPr sz="1100" b="0" i="0">
                <a:solidFill>
                  <a:srgbClr val="374151"/>
                </a:solidFill>
                <a:latin typeface="Calibri"/>
              </a:defRPr>
            </a:pPr>
            <a:r>
              <a:rPr sz="1100" b="1" i="0">
                <a:solidFill>
                  <a:srgbClr val="1A4A7A"/>
                </a:solidFill>
                <a:latin typeface="Calibri"/>
              </a:rPr>
              <a:t>2. Assess Yourself First</a:t>
            </a:r>
          </a:p>
          <a:p>
            <a:pPr algn="l">
              <a:spcBef>
                <a:spcPts val="0"/>
              </a:spcBef>
              <a:spcAft>
                <a:spcPts val="400"/>
              </a:spcAft>
              <a:defRPr sz="1000" b="0" i="0">
                <a:solidFill>
                  <a:srgbClr val="4B5563"/>
                </a:solidFill>
                <a:latin typeface="Calibri"/>
              </a:defRPr>
            </a:pPr>
            <a:r>
              <a:t>Use STUMP to map your delivery process. Baseline metrics. "We transformed ourselves first."</a:t>
            </a:r>
          </a:p>
          <a:p>
            <a:pPr algn="l">
              <a:spcBef>
                <a:spcPts val="600"/>
              </a:spcBef>
              <a:spcAft>
                <a:spcPts val="100"/>
              </a:spcAft>
              <a:defRPr sz="1100" b="0" i="0">
                <a:solidFill>
                  <a:srgbClr val="374151"/>
                </a:solidFill>
                <a:latin typeface="Calibri"/>
              </a:defRPr>
            </a:pPr>
            <a:r>
              <a:rPr sz="1100" b="1" i="0">
                <a:solidFill>
                  <a:srgbClr val="1A4A7A"/>
                </a:solidFill>
                <a:latin typeface="Calibri"/>
              </a:rPr>
              <a:t>3. Build Agent Library</a:t>
            </a:r>
          </a:p>
          <a:p>
            <a:pPr algn="l">
              <a:spcBef>
                <a:spcPts val="0"/>
              </a:spcBef>
              <a:spcAft>
                <a:spcPts val="400"/>
              </a:spcAft>
              <a:defRPr sz="1000" b="0" i="0">
                <a:solidFill>
                  <a:srgbClr val="4B5563"/>
                </a:solidFill>
                <a:latin typeface="Calibri"/>
              </a:defRPr>
            </a:pPr>
            <a:r>
              <a:t>Reusable agents as shared capability. Not per-project — a library of specialists.</a:t>
            </a:r>
          </a:p>
          <a:p>
            <a:pPr algn="l">
              <a:spcBef>
                <a:spcPts val="600"/>
              </a:spcBef>
              <a:spcAft>
                <a:spcPts val="100"/>
              </a:spcAft>
              <a:defRPr sz="1100" b="0" i="0">
                <a:solidFill>
                  <a:srgbClr val="374151"/>
                </a:solidFill>
                <a:latin typeface="Calibri"/>
              </a:defRPr>
            </a:pPr>
            <a:r>
              <a:rPr sz="1100" b="1" i="0">
                <a:solidFill>
                  <a:srgbClr val="1A4A7A"/>
                </a:solidFill>
                <a:latin typeface="Calibri"/>
              </a:rPr>
              <a:t>4. Run 3–5 Pilot Pods</a:t>
            </a:r>
          </a:p>
          <a:p>
            <a:pPr algn="l">
              <a:spcBef>
                <a:spcPts val="0"/>
              </a:spcBef>
              <a:spcAft>
                <a:spcPts val="400"/>
              </a:spcAft>
              <a:defRPr sz="1000" b="0" i="0">
                <a:solidFill>
                  <a:srgbClr val="4B5563"/>
                </a:solidFill>
                <a:latin typeface="Calibri"/>
              </a:defRPr>
            </a:pPr>
            <a:r>
              <a:t>Hybrid stage (50% automation). Generate proof points and stories.</a:t>
            </a:r>
          </a:p>
        </p:txBody>
      </p:sp>
      <p:sp>
        <p:nvSpPr>
          <p:cNvPr id="12" name="Rectangle 11"/>
          <p:cNvSpPr/>
          <p:nvPr/>
        </p:nvSpPr>
        <p:spPr>
          <a:xfrm>
            <a:off x="4251960" y="868680"/>
            <a:ext cx="347472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251960" y="868680"/>
            <a:ext cx="3474720" cy="5303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51960" y="868680"/>
            <a:ext cx="347472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43400" y="978408"/>
            <a:ext cx="1463040" cy="201168"/>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43400" y="978408"/>
            <a:ext cx="1463040" cy="201168"/>
          </a:xfrm>
          <a:prstGeom prst="rect">
            <a:avLst/>
          </a:prstGeom>
          <a:noFill/>
        </p:spPr>
        <p:txBody>
          <a:bodyPr wrap="square" anchor="ctr"/>
          <a:lstStyle/>
          <a:p>
            <a:pPr algn="ctr">
              <a:defRPr sz="800" b="1">
                <a:solidFill>
                  <a:srgbClr val="1A56DB"/>
                </a:solidFill>
                <a:latin typeface="Calibri"/>
              </a:defRPr>
            </a:pPr>
            <a:r>
              <a:t>NEXT · Q3–Q4</a:t>
            </a:r>
          </a:p>
        </p:txBody>
      </p:sp>
      <p:sp>
        <p:nvSpPr>
          <p:cNvPr id="17" name="TextBox 16"/>
          <p:cNvSpPr txBox="1"/>
          <p:nvPr/>
        </p:nvSpPr>
        <p:spPr>
          <a:xfrm>
            <a:off x="4389120" y="1234440"/>
            <a:ext cx="3200400" cy="274320"/>
          </a:xfrm>
          <a:prstGeom prst="rect">
            <a:avLst/>
          </a:prstGeom>
          <a:noFill/>
        </p:spPr>
        <p:txBody>
          <a:bodyPr wrap="square" anchor="t"/>
          <a:lstStyle/>
          <a:p>
            <a:pPr algn="l">
              <a:defRPr sz="1400" b="1">
                <a:solidFill>
                  <a:srgbClr val="1E3A5F"/>
                </a:solidFill>
                <a:latin typeface="Calibri"/>
              </a:defRPr>
            </a:pPr>
            <a:r>
              <a:t>Scale the Model</a:t>
            </a:r>
          </a:p>
        </p:txBody>
      </p:sp>
      <p:sp>
        <p:nvSpPr>
          <p:cNvPr id="18" name="TextBox 17"/>
          <p:cNvSpPr txBox="1"/>
          <p:nvPr/>
        </p:nvSpPr>
        <p:spPr>
          <a:xfrm>
            <a:off x="4389120" y="1600200"/>
            <a:ext cx="3200400" cy="4389120"/>
          </a:xfrm>
          <a:prstGeom prst="rect">
            <a:avLst/>
          </a:prstGeom>
          <a:noFill/>
        </p:spPr>
        <p:txBody>
          <a:bodyPr wrap="square"/>
          <a:lstStyle/>
          <a:p>
            <a:pPr algn="l">
              <a:spcBef>
                <a:spcPts val="0"/>
              </a:spcBef>
              <a:spcAft>
                <a:spcPts val="100"/>
              </a:spcAft>
              <a:defRPr sz="1100" b="0" i="0">
                <a:solidFill>
                  <a:srgbClr val="374151"/>
                </a:solidFill>
                <a:latin typeface="Calibri"/>
              </a:defRPr>
            </a:pPr>
            <a:r>
              <a:rPr sz="1100" b="1" i="0">
                <a:solidFill>
                  <a:srgbClr val="1A4A7A"/>
                </a:solidFill>
                <a:latin typeface="Calibri"/>
              </a:rPr>
              <a:t>5. Graduate 100 Frontier Engineers</a:t>
            </a:r>
          </a:p>
          <a:p>
            <a:pPr algn="l">
              <a:spcBef>
                <a:spcPts val="0"/>
              </a:spcBef>
              <a:spcAft>
                <a:spcPts val="400"/>
              </a:spcAft>
              <a:defRPr sz="1000" b="0" i="0">
                <a:solidFill>
                  <a:srgbClr val="4B5563"/>
                </a:solidFill>
                <a:latin typeface="Calibri"/>
              </a:defRPr>
            </a:pPr>
            <a:r>
              <a:t>Stage 1 → Stage 2. Each owns a pod. 10× capacity with 1/10th headcount.</a:t>
            </a:r>
          </a:p>
          <a:p>
            <a:pPr algn="l">
              <a:spcBef>
                <a:spcPts val="600"/>
              </a:spcBef>
              <a:spcAft>
                <a:spcPts val="100"/>
              </a:spcAft>
              <a:defRPr sz="1100" b="0" i="0">
                <a:solidFill>
                  <a:srgbClr val="374151"/>
                </a:solidFill>
                <a:latin typeface="Calibri"/>
              </a:defRPr>
            </a:pPr>
            <a:r>
              <a:rPr sz="1100" b="1" i="0">
                <a:solidFill>
                  <a:srgbClr val="1A4A7A"/>
                </a:solidFill>
                <a:latin typeface="Calibri"/>
              </a:rPr>
              <a:t>6. Launch Outcome-Based Pricing</a:t>
            </a:r>
          </a:p>
          <a:p>
            <a:pPr algn="l">
              <a:spcBef>
                <a:spcPts val="0"/>
              </a:spcBef>
              <a:spcAft>
                <a:spcPts val="400"/>
              </a:spcAft>
              <a:defRPr sz="1000" b="0" i="0">
                <a:solidFill>
                  <a:srgbClr val="4B5563"/>
                </a:solidFill>
                <a:latin typeface="Calibri"/>
              </a:defRPr>
            </a:pPr>
            <a:r>
              <a:t>Price per capability. Margins: 20% → 45%+. Client costs drop 60–70%.</a:t>
            </a:r>
          </a:p>
          <a:p>
            <a:pPr algn="l">
              <a:spcBef>
                <a:spcPts val="600"/>
              </a:spcBef>
              <a:spcAft>
                <a:spcPts val="100"/>
              </a:spcAft>
              <a:defRPr sz="1100" b="0" i="0">
                <a:solidFill>
                  <a:srgbClr val="374151"/>
                </a:solidFill>
                <a:latin typeface="Calibri"/>
              </a:defRPr>
            </a:pPr>
            <a:r>
              <a:rPr sz="1100" b="1" i="0">
                <a:solidFill>
                  <a:srgbClr val="1A4A7A"/>
                </a:solidFill>
                <a:latin typeface="Calibri"/>
              </a:rPr>
              <a:t>7. Package as a Service</a:t>
            </a:r>
          </a:p>
          <a:p>
            <a:pPr algn="l">
              <a:spcBef>
                <a:spcPts val="0"/>
              </a:spcBef>
              <a:spcAft>
                <a:spcPts val="400"/>
              </a:spcAft>
              <a:defRPr sz="1000" b="0" i="0">
                <a:solidFill>
                  <a:srgbClr val="4B5563"/>
                </a:solidFill>
                <a:latin typeface="Calibri"/>
              </a:defRPr>
            </a:pPr>
            <a:r>
              <a:t>Assess → Transform → Operate in 90 days. Repeatable GTM.</a:t>
            </a:r>
          </a:p>
          <a:p>
            <a:pPr algn="l">
              <a:spcBef>
                <a:spcPts val="600"/>
              </a:spcBef>
              <a:spcAft>
                <a:spcPts val="100"/>
              </a:spcAft>
              <a:defRPr sz="1100" b="0" i="0">
                <a:solidFill>
                  <a:srgbClr val="374151"/>
                </a:solidFill>
                <a:latin typeface="Calibri"/>
              </a:defRPr>
            </a:pPr>
            <a:r>
              <a:rPr sz="1100" b="1" i="0">
                <a:solidFill>
                  <a:srgbClr val="1A4A7A"/>
                </a:solidFill>
                <a:latin typeface="Calibri"/>
              </a:rPr>
              <a:t>8. Build Governance Layer</a:t>
            </a:r>
          </a:p>
          <a:p>
            <a:pPr algn="l">
              <a:spcBef>
                <a:spcPts val="0"/>
              </a:spcBef>
              <a:spcAft>
                <a:spcPts val="400"/>
              </a:spcAft>
              <a:defRPr sz="1000" b="0" i="0">
                <a:solidFill>
                  <a:srgbClr val="4B5563"/>
                </a:solidFill>
                <a:latin typeface="Calibri"/>
              </a:defRPr>
            </a:pPr>
            <a:r>
              <a:t>Compliance, model risk, agent oversight. Unlocks regulated industries.</a:t>
            </a:r>
          </a:p>
        </p:txBody>
      </p:sp>
      <p:sp>
        <p:nvSpPr>
          <p:cNvPr id="19" name="Rectangle 18"/>
          <p:cNvSpPr/>
          <p:nvPr/>
        </p:nvSpPr>
        <p:spPr>
          <a:xfrm>
            <a:off x="7955280" y="868680"/>
            <a:ext cx="3474720" cy="50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955280" y="868680"/>
            <a:ext cx="3474720" cy="5303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955280" y="868680"/>
            <a:ext cx="3474720" cy="50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046720" y="978408"/>
            <a:ext cx="1463040" cy="201168"/>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0" y="978408"/>
            <a:ext cx="1463040" cy="201168"/>
          </a:xfrm>
          <a:prstGeom prst="rect">
            <a:avLst/>
          </a:prstGeom>
          <a:noFill/>
        </p:spPr>
        <p:txBody>
          <a:bodyPr wrap="square" anchor="ctr"/>
          <a:lstStyle/>
          <a:p>
            <a:pPr algn="ctr">
              <a:defRPr sz="800" b="1">
                <a:solidFill>
                  <a:srgbClr val="1A56DB"/>
                </a:solidFill>
                <a:latin typeface="Calibri"/>
              </a:defRPr>
            </a:pPr>
            <a:r>
              <a:t>FUTURE · Year 2+</a:t>
            </a:r>
          </a:p>
        </p:txBody>
      </p:sp>
      <p:sp>
        <p:nvSpPr>
          <p:cNvPr id="24" name="TextBox 23"/>
          <p:cNvSpPr txBox="1"/>
          <p:nvPr/>
        </p:nvSpPr>
        <p:spPr>
          <a:xfrm>
            <a:off x="8092440" y="1234440"/>
            <a:ext cx="3200400" cy="274320"/>
          </a:xfrm>
          <a:prstGeom prst="rect">
            <a:avLst/>
          </a:prstGeom>
          <a:noFill/>
        </p:spPr>
        <p:txBody>
          <a:bodyPr wrap="square" anchor="t"/>
          <a:lstStyle/>
          <a:p>
            <a:pPr algn="l">
              <a:defRPr sz="1400" b="1">
                <a:solidFill>
                  <a:srgbClr val="1E3A5F"/>
                </a:solidFill>
                <a:latin typeface="Calibri"/>
              </a:defRPr>
            </a:pPr>
            <a:r>
              <a:t>Reinvent the Industry</a:t>
            </a:r>
          </a:p>
        </p:txBody>
      </p:sp>
      <p:sp>
        <p:nvSpPr>
          <p:cNvPr id="25" name="TextBox 24"/>
          <p:cNvSpPr txBox="1"/>
          <p:nvPr/>
        </p:nvSpPr>
        <p:spPr>
          <a:xfrm>
            <a:off x="8092440" y="1600200"/>
            <a:ext cx="3200400" cy="4389120"/>
          </a:xfrm>
          <a:prstGeom prst="rect">
            <a:avLst/>
          </a:prstGeom>
          <a:noFill/>
        </p:spPr>
        <p:txBody>
          <a:bodyPr wrap="square"/>
          <a:lstStyle/>
          <a:p>
            <a:pPr algn="l">
              <a:spcBef>
                <a:spcPts val="0"/>
              </a:spcBef>
              <a:spcAft>
                <a:spcPts val="100"/>
              </a:spcAft>
              <a:defRPr sz="1100" b="0" i="0">
                <a:solidFill>
                  <a:srgbClr val="374151"/>
                </a:solidFill>
                <a:latin typeface="Calibri"/>
              </a:defRPr>
            </a:pPr>
            <a:r>
              <a:rPr sz="1100" b="1" i="0">
                <a:solidFill>
                  <a:srgbClr val="1A4A7A"/>
                </a:solidFill>
                <a:latin typeface="Calibri"/>
              </a:rPr>
              <a:t>9. Certify Frontier Principals</a:t>
            </a:r>
          </a:p>
          <a:p>
            <a:pPr algn="l">
              <a:spcBef>
                <a:spcPts val="0"/>
              </a:spcBef>
              <a:spcAft>
                <a:spcPts val="400"/>
              </a:spcAft>
              <a:defRPr sz="1000" b="0" i="0">
                <a:solidFill>
                  <a:srgbClr val="4B5563"/>
                </a:solidFill>
                <a:latin typeface="Calibri"/>
              </a:defRPr>
            </a:pPr>
            <a:r>
              <a:t>Rarest, highest-value talent tier. Strategic anchors across pod fleet.</a:t>
            </a:r>
          </a:p>
          <a:p>
            <a:pPr algn="l">
              <a:spcBef>
                <a:spcPts val="600"/>
              </a:spcBef>
              <a:spcAft>
                <a:spcPts val="100"/>
              </a:spcAft>
              <a:defRPr sz="1100" b="0" i="0">
                <a:solidFill>
                  <a:srgbClr val="374151"/>
                </a:solidFill>
                <a:latin typeface="Calibri"/>
              </a:defRPr>
            </a:pPr>
            <a:r>
              <a:rPr sz="1100" b="1" i="0">
                <a:solidFill>
                  <a:srgbClr val="1A4A7A"/>
                </a:solidFill>
                <a:latin typeface="Calibri"/>
              </a:rPr>
              <a:t>10. Scale to 100+ Pods</a:t>
            </a:r>
          </a:p>
          <a:p>
            <a:pPr algn="l">
              <a:spcBef>
                <a:spcPts val="0"/>
              </a:spcBef>
              <a:spcAft>
                <a:spcPts val="400"/>
              </a:spcAft>
              <a:defRPr sz="1000" b="0" i="0">
                <a:solidFill>
                  <a:srgbClr val="4B5563"/>
                </a:solidFill>
                <a:latin typeface="Calibri"/>
              </a:defRPr>
            </a:pPr>
            <a:r>
              <a:t>250 engineers, 2,100 agents, $210M annual revenue.</a:t>
            </a:r>
          </a:p>
          <a:p>
            <a:pPr algn="l">
              <a:spcBef>
                <a:spcPts val="600"/>
              </a:spcBef>
              <a:spcAft>
                <a:spcPts val="100"/>
              </a:spcAft>
              <a:defRPr sz="1100" b="0" i="0">
                <a:solidFill>
                  <a:srgbClr val="374151"/>
                </a:solidFill>
                <a:latin typeface="Calibri"/>
              </a:defRPr>
            </a:pPr>
            <a:r>
              <a:rPr sz="1100" b="1" i="0">
                <a:solidFill>
                  <a:srgbClr val="1A4A7A"/>
                </a:solidFill>
                <a:latin typeface="Calibri"/>
              </a:rPr>
              <a:t>11. Industry Pod Templates</a:t>
            </a:r>
          </a:p>
          <a:p>
            <a:pPr algn="l">
              <a:spcBef>
                <a:spcPts val="0"/>
              </a:spcBef>
              <a:spcAft>
                <a:spcPts val="400"/>
              </a:spcAft>
              <a:defRPr sz="1000" b="0" i="0">
                <a:solidFill>
                  <a:srgbClr val="4B5563"/>
                </a:solidFill>
                <a:latin typeface="Calibri"/>
              </a:defRPr>
            </a:pPr>
            <a:r>
              <a:t>Pre-configured agent fleets: banking, insurance, telecom.</a:t>
            </a:r>
          </a:p>
          <a:p>
            <a:pPr algn="l">
              <a:spcBef>
                <a:spcPts val="600"/>
              </a:spcBef>
              <a:spcAft>
                <a:spcPts val="100"/>
              </a:spcAft>
              <a:defRPr sz="1100" b="0" i="0">
                <a:solidFill>
                  <a:srgbClr val="374151"/>
                </a:solidFill>
                <a:latin typeface="Calibri"/>
              </a:defRPr>
            </a:pPr>
            <a:r>
              <a:rPr sz="1100" b="1" i="0">
                <a:solidFill>
                  <a:srgbClr val="1A4A7A"/>
                </a:solidFill>
                <a:latin typeface="Calibri"/>
              </a:rPr>
              <a:t>12. Continuous Improvement Flywheel</a:t>
            </a:r>
          </a:p>
          <a:p>
            <a:pPr algn="l">
              <a:spcBef>
                <a:spcPts val="0"/>
              </a:spcBef>
              <a:spcAft>
                <a:spcPts val="400"/>
              </a:spcAft>
              <a:defRPr sz="1000" b="0" i="0">
                <a:solidFill>
                  <a:srgbClr val="4B5563"/>
                </a:solidFill>
                <a:latin typeface="Calibri"/>
              </a:defRPr>
            </a:pPr>
            <a:r>
              <a:t>Data → better agents → less intervention → more pods. Compounds.</a:t>
            </a:r>
          </a:p>
        </p:txBody>
      </p:sp>
      <p:sp>
        <p:nvSpPr>
          <p:cNvPr id="26" name="Rectangle 25"/>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28" name="TextBox 27"/>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1828800" y="1371600"/>
            <a:ext cx="8229600" cy="914400"/>
          </a:xfrm>
          <a:prstGeom prst="rect">
            <a:avLst/>
          </a:prstGeom>
          <a:noFill/>
        </p:spPr>
        <p:txBody>
          <a:bodyPr wrap="square" anchor="ctr"/>
          <a:lstStyle/>
          <a:p>
            <a:pPr algn="ctr">
              <a:defRPr sz="6000" b="1">
                <a:solidFill>
                  <a:srgbClr val="FFFFFF"/>
                </a:solidFill>
                <a:latin typeface="Calibri"/>
              </a:defRPr>
            </a:pPr>
            <a:r>
              <a:t>$</a:t>
            </a:r>
          </a:p>
        </p:txBody>
      </p:sp>
      <p:sp>
        <p:nvSpPr>
          <p:cNvPr id="3" name="TextBox 2"/>
          <p:cNvSpPr txBox="1"/>
          <p:nvPr/>
        </p:nvSpPr>
        <p:spPr>
          <a:xfrm>
            <a:off x="1828800" y="2286000"/>
            <a:ext cx="8229600" cy="1097280"/>
          </a:xfrm>
          <a:prstGeom prst="rect">
            <a:avLst/>
          </a:prstGeom>
          <a:noFill/>
        </p:spPr>
        <p:txBody>
          <a:bodyPr wrap="square" anchor="t"/>
          <a:lstStyle/>
          <a:p>
            <a:pPr algn="ctr">
              <a:defRPr sz="4200" b="1">
                <a:solidFill>
                  <a:srgbClr val="FFFFFF"/>
                </a:solidFill>
                <a:latin typeface="Calibri"/>
              </a:defRPr>
            </a:pPr>
            <a:r>
              <a:t>Cost View</a:t>
            </a:r>
          </a:p>
        </p:txBody>
      </p:sp>
      <p:sp>
        <p:nvSpPr>
          <p:cNvPr id="4" name="TextBox 3"/>
          <p:cNvSpPr txBox="1"/>
          <p:nvPr/>
        </p:nvSpPr>
        <p:spPr>
          <a:xfrm>
            <a:off x="1828800" y="3474720"/>
            <a:ext cx="8229600" cy="914400"/>
          </a:xfrm>
          <a:prstGeom prst="rect">
            <a:avLst/>
          </a:prstGeom>
          <a:noFill/>
        </p:spPr>
        <p:txBody>
          <a:bodyPr wrap="square" anchor="t"/>
          <a:lstStyle/>
          <a:p>
            <a:pPr algn="ctr">
              <a:defRPr sz="1800" b="0">
                <a:solidFill>
                  <a:srgbClr val="93C5FD"/>
                </a:solidFill>
                <a:latin typeface="Calibri"/>
              </a:defRPr>
            </a:pPr>
            <a:r>
              <a:t>SDLC vs ADLC vs Transformation Costs</a:t>
            </a:r>
            <a:br/>
            <a:r>
              <a:t>Per Pod / Product Team Level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Cost View — Three Perspectives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COST ANALYSIS</a:t>
            </a:r>
          </a:p>
        </p:txBody>
      </p:sp>
      <p:sp>
        <p:nvSpPr>
          <p:cNvPr id="5" name="TextBox 4"/>
          <p:cNvSpPr txBox="1"/>
          <p:nvPr/>
        </p:nvSpPr>
        <p:spPr>
          <a:xfrm>
            <a:off x="548640" y="822960"/>
            <a:ext cx="10972800" cy="457200"/>
          </a:xfrm>
          <a:prstGeom prst="rect">
            <a:avLst/>
          </a:prstGeom>
          <a:noFill/>
        </p:spPr>
        <p:txBody>
          <a:bodyPr wrap="square" anchor="t"/>
          <a:lstStyle/>
          <a:p>
            <a:pPr algn="l">
              <a:defRPr sz="1400" b="0">
                <a:solidFill>
                  <a:srgbClr val="374151"/>
                </a:solidFill>
                <a:latin typeface="Calibri"/>
              </a:defRPr>
            </a:pPr>
            <a:r>
              <a:t>Understanding the full cost picture requires examining three distinct views at the per-pod / product team level.</a:t>
            </a:r>
          </a:p>
        </p:txBody>
      </p:sp>
      <p:sp>
        <p:nvSpPr>
          <p:cNvPr id="6" name="Rectangle 5"/>
          <p:cNvSpPr/>
          <p:nvPr/>
        </p:nvSpPr>
        <p:spPr>
          <a:xfrm>
            <a:off x="548640" y="1463040"/>
            <a:ext cx="3474720" cy="5080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63040"/>
            <a:ext cx="3474720" cy="3200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63040"/>
            <a:ext cx="3474720" cy="5080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600200"/>
            <a:ext cx="914400" cy="457200"/>
          </a:xfrm>
          <a:prstGeom prst="rect">
            <a:avLst/>
          </a:prstGeom>
          <a:noFill/>
        </p:spPr>
        <p:txBody>
          <a:bodyPr wrap="square" anchor="t"/>
          <a:lstStyle/>
          <a:p>
            <a:pPr algn="ctr">
              <a:defRPr sz="3600" b="1">
                <a:solidFill>
                  <a:srgbClr val="93C5FD"/>
                </a:solidFill>
                <a:latin typeface="Calibri"/>
              </a:defRPr>
            </a:pPr>
            <a:r>
              <a:t>1</a:t>
            </a:r>
          </a:p>
        </p:txBody>
      </p:sp>
      <p:sp>
        <p:nvSpPr>
          <p:cNvPr id="10" name="TextBox 9"/>
          <p:cNvSpPr txBox="1"/>
          <p:nvPr/>
        </p:nvSpPr>
        <p:spPr>
          <a:xfrm>
            <a:off x="685800" y="2057400"/>
            <a:ext cx="3200400" cy="274320"/>
          </a:xfrm>
          <a:prstGeom prst="rect">
            <a:avLst/>
          </a:prstGeom>
          <a:noFill/>
        </p:spPr>
        <p:txBody>
          <a:bodyPr wrap="square" anchor="t"/>
          <a:lstStyle/>
          <a:p>
            <a:pPr algn="ctr">
              <a:defRPr sz="1600" b="1">
                <a:solidFill>
                  <a:srgbClr val="9CA3AF"/>
                </a:solidFill>
                <a:latin typeface="Calibri"/>
              </a:defRPr>
            </a:pPr>
            <a:r>
              <a:t>SDLC Cost</a:t>
            </a:r>
          </a:p>
        </p:txBody>
      </p:sp>
      <p:sp>
        <p:nvSpPr>
          <p:cNvPr id="11" name="TextBox 10"/>
          <p:cNvSpPr txBox="1"/>
          <p:nvPr/>
        </p:nvSpPr>
        <p:spPr>
          <a:xfrm>
            <a:off x="685800" y="2423160"/>
            <a:ext cx="3200400" cy="411480"/>
          </a:xfrm>
          <a:prstGeom prst="rect">
            <a:avLst/>
          </a:prstGeom>
          <a:noFill/>
        </p:spPr>
        <p:txBody>
          <a:bodyPr wrap="square" anchor="t"/>
          <a:lstStyle/>
          <a:p>
            <a:pPr algn="ctr">
              <a:defRPr sz="2200" b="1">
                <a:solidFill>
                  <a:srgbClr val="9CA3AF"/>
                </a:solidFill>
                <a:latin typeface="Calibri"/>
              </a:defRPr>
            </a:pPr>
            <a:r>
              <a:t>$85K–$125K</a:t>
            </a:r>
          </a:p>
        </p:txBody>
      </p:sp>
      <p:sp>
        <p:nvSpPr>
          <p:cNvPr id="12" name="TextBox 11"/>
          <p:cNvSpPr txBox="1"/>
          <p:nvPr/>
        </p:nvSpPr>
        <p:spPr>
          <a:xfrm>
            <a:off x="685800" y="2834640"/>
            <a:ext cx="3200400" cy="228600"/>
          </a:xfrm>
          <a:prstGeom prst="rect">
            <a:avLst/>
          </a:prstGeom>
          <a:noFill/>
        </p:spPr>
        <p:txBody>
          <a:bodyPr wrap="square" anchor="t"/>
          <a:lstStyle/>
          <a:p>
            <a:pPr algn="ctr">
              <a:defRPr sz="1000" b="0">
                <a:solidFill>
                  <a:srgbClr val="6B7280"/>
                </a:solidFill>
                <a:latin typeface="Calibri"/>
              </a:defRPr>
            </a:pPr>
            <a:r>
              <a:t>per month / per product team</a:t>
            </a:r>
          </a:p>
        </p:txBody>
      </p:sp>
      <p:sp>
        <p:nvSpPr>
          <p:cNvPr id="13" name="TextBox 12"/>
          <p:cNvSpPr txBox="1"/>
          <p:nvPr/>
        </p:nvSpPr>
        <p:spPr>
          <a:xfrm>
            <a:off x="731520" y="3200400"/>
            <a:ext cx="3108960" cy="1188720"/>
          </a:xfrm>
          <a:prstGeom prst="rect">
            <a:avLst/>
          </a:prstGeom>
          <a:noFill/>
        </p:spPr>
        <p:txBody>
          <a:bodyPr wrap="square" anchor="t"/>
          <a:lstStyle/>
          <a:p>
            <a:pPr algn="ctr">
              <a:defRPr sz="1100" b="0">
                <a:solidFill>
                  <a:srgbClr val="4B5563"/>
                </a:solidFill>
                <a:latin typeface="Calibri"/>
              </a:defRPr>
            </a:pPr>
            <a:r>
              <a:t>Full human team: 8–15 roles, traditional tools, established process. High labour cost, low automation.</a:t>
            </a:r>
          </a:p>
        </p:txBody>
      </p:sp>
      <p:sp>
        <p:nvSpPr>
          <p:cNvPr id="14" name="Rectangle 13"/>
          <p:cNvSpPr/>
          <p:nvPr/>
        </p:nvSpPr>
        <p:spPr>
          <a:xfrm>
            <a:off x="4251960" y="1463040"/>
            <a:ext cx="347472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251960" y="1463040"/>
            <a:ext cx="3474720" cy="3200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51960" y="1463040"/>
            <a:ext cx="347472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0" y="1600200"/>
            <a:ext cx="914400" cy="457200"/>
          </a:xfrm>
          <a:prstGeom prst="rect">
            <a:avLst/>
          </a:prstGeom>
          <a:noFill/>
        </p:spPr>
        <p:txBody>
          <a:bodyPr wrap="square" anchor="t"/>
          <a:lstStyle/>
          <a:p>
            <a:pPr algn="ctr">
              <a:defRPr sz="3600" b="1">
                <a:solidFill>
                  <a:srgbClr val="93C5FD"/>
                </a:solidFill>
                <a:latin typeface="Calibri"/>
              </a:defRPr>
            </a:pPr>
            <a:r>
              <a:t>2</a:t>
            </a:r>
          </a:p>
        </p:txBody>
      </p:sp>
      <p:sp>
        <p:nvSpPr>
          <p:cNvPr id="18" name="TextBox 17"/>
          <p:cNvSpPr txBox="1"/>
          <p:nvPr/>
        </p:nvSpPr>
        <p:spPr>
          <a:xfrm>
            <a:off x="4389120" y="2057400"/>
            <a:ext cx="3200400" cy="274320"/>
          </a:xfrm>
          <a:prstGeom prst="rect">
            <a:avLst/>
          </a:prstGeom>
          <a:noFill/>
        </p:spPr>
        <p:txBody>
          <a:bodyPr wrap="square" anchor="t"/>
          <a:lstStyle/>
          <a:p>
            <a:pPr algn="ctr">
              <a:defRPr sz="1600" b="1">
                <a:solidFill>
                  <a:srgbClr val="2563EB"/>
                </a:solidFill>
                <a:latin typeface="Calibri"/>
              </a:defRPr>
            </a:pPr>
            <a:r>
              <a:t>ADLC Cost</a:t>
            </a:r>
          </a:p>
        </p:txBody>
      </p:sp>
      <p:sp>
        <p:nvSpPr>
          <p:cNvPr id="19" name="TextBox 18"/>
          <p:cNvSpPr txBox="1"/>
          <p:nvPr/>
        </p:nvSpPr>
        <p:spPr>
          <a:xfrm>
            <a:off x="4389120" y="2423160"/>
            <a:ext cx="3200400" cy="411480"/>
          </a:xfrm>
          <a:prstGeom prst="rect">
            <a:avLst/>
          </a:prstGeom>
          <a:noFill/>
        </p:spPr>
        <p:txBody>
          <a:bodyPr wrap="square" anchor="t"/>
          <a:lstStyle/>
          <a:p>
            <a:pPr algn="ctr">
              <a:defRPr sz="2200" b="1">
                <a:solidFill>
                  <a:srgbClr val="2563EB"/>
                </a:solidFill>
                <a:latin typeface="Calibri"/>
              </a:defRPr>
            </a:pPr>
            <a:r>
              <a:t>$18K–$28K</a:t>
            </a:r>
          </a:p>
        </p:txBody>
      </p:sp>
      <p:sp>
        <p:nvSpPr>
          <p:cNvPr id="20" name="TextBox 19"/>
          <p:cNvSpPr txBox="1"/>
          <p:nvPr/>
        </p:nvSpPr>
        <p:spPr>
          <a:xfrm>
            <a:off x="4389120" y="2834640"/>
            <a:ext cx="3200400" cy="228600"/>
          </a:xfrm>
          <a:prstGeom prst="rect">
            <a:avLst/>
          </a:prstGeom>
          <a:noFill/>
        </p:spPr>
        <p:txBody>
          <a:bodyPr wrap="square" anchor="t"/>
          <a:lstStyle/>
          <a:p>
            <a:pPr algn="ctr">
              <a:defRPr sz="1000" b="0">
                <a:solidFill>
                  <a:srgbClr val="6B7280"/>
                </a:solidFill>
                <a:latin typeface="Calibri"/>
              </a:defRPr>
            </a:pPr>
            <a:r>
              <a:t>per month / per pod</a:t>
            </a:r>
          </a:p>
        </p:txBody>
      </p:sp>
      <p:sp>
        <p:nvSpPr>
          <p:cNvPr id="21" name="TextBox 20"/>
          <p:cNvSpPr txBox="1"/>
          <p:nvPr/>
        </p:nvSpPr>
        <p:spPr>
          <a:xfrm>
            <a:off x="4434840" y="3200400"/>
            <a:ext cx="3108960" cy="1188720"/>
          </a:xfrm>
          <a:prstGeom prst="rect">
            <a:avLst/>
          </a:prstGeom>
          <a:noFill/>
        </p:spPr>
        <p:txBody>
          <a:bodyPr wrap="square" anchor="t"/>
          <a:lstStyle/>
          <a:p>
            <a:pPr algn="ctr">
              <a:defRPr sz="1100" b="0">
                <a:solidFill>
                  <a:srgbClr val="4B5563"/>
                </a:solidFill>
                <a:latin typeface="Calibri"/>
              </a:defRPr>
            </a:pPr>
            <a:r>
              <a:t>2–3 Frontier Professionals + 15–21 agents. High automation, low human cost, token &amp; compute spend.</a:t>
            </a:r>
          </a:p>
        </p:txBody>
      </p:sp>
      <p:sp>
        <p:nvSpPr>
          <p:cNvPr id="22" name="Rectangle 21"/>
          <p:cNvSpPr/>
          <p:nvPr/>
        </p:nvSpPr>
        <p:spPr>
          <a:xfrm>
            <a:off x="7955280" y="1463040"/>
            <a:ext cx="3474720" cy="50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955280" y="1463040"/>
            <a:ext cx="3474720" cy="3200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955280" y="1463040"/>
            <a:ext cx="3474720" cy="50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92440" y="1600200"/>
            <a:ext cx="914400" cy="457200"/>
          </a:xfrm>
          <a:prstGeom prst="rect">
            <a:avLst/>
          </a:prstGeom>
          <a:noFill/>
        </p:spPr>
        <p:txBody>
          <a:bodyPr wrap="square" anchor="t"/>
          <a:lstStyle/>
          <a:p>
            <a:pPr algn="ctr">
              <a:defRPr sz="3600" b="1">
                <a:solidFill>
                  <a:srgbClr val="93C5FD"/>
                </a:solidFill>
                <a:latin typeface="Calibri"/>
              </a:defRPr>
            </a:pPr>
            <a:r>
              <a:t>3</a:t>
            </a:r>
          </a:p>
        </p:txBody>
      </p:sp>
      <p:sp>
        <p:nvSpPr>
          <p:cNvPr id="26" name="TextBox 25"/>
          <p:cNvSpPr txBox="1"/>
          <p:nvPr/>
        </p:nvSpPr>
        <p:spPr>
          <a:xfrm>
            <a:off x="8092440" y="2057400"/>
            <a:ext cx="3200400" cy="274320"/>
          </a:xfrm>
          <a:prstGeom prst="rect">
            <a:avLst/>
          </a:prstGeom>
          <a:noFill/>
        </p:spPr>
        <p:txBody>
          <a:bodyPr wrap="square" anchor="t"/>
          <a:lstStyle/>
          <a:p>
            <a:pPr algn="ctr">
              <a:defRPr sz="1600" b="1">
                <a:solidFill>
                  <a:srgbClr val="1E3A5F"/>
                </a:solidFill>
                <a:latin typeface="Calibri"/>
              </a:defRPr>
            </a:pPr>
            <a:r>
              <a:t>Transform Cost</a:t>
            </a:r>
          </a:p>
        </p:txBody>
      </p:sp>
      <p:sp>
        <p:nvSpPr>
          <p:cNvPr id="27" name="TextBox 26"/>
          <p:cNvSpPr txBox="1"/>
          <p:nvPr/>
        </p:nvSpPr>
        <p:spPr>
          <a:xfrm>
            <a:off x="8092440" y="2423160"/>
            <a:ext cx="3200400" cy="411480"/>
          </a:xfrm>
          <a:prstGeom prst="rect">
            <a:avLst/>
          </a:prstGeom>
          <a:noFill/>
        </p:spPr>
        <p:txBody>
          <a:bodyPr wrap="square" anchor="t"/>
          <a:lstStyle/>
          <a:p>
            <a:pPr algn="ctr">
              <a:defRPr sz="2200" b="1">
                <a:solidFill>
                  <a:srgbClr val="1E3A5F"/>
                </a:solidFill>
                <a:latin typeface="Calibri"/>
              </a:defRPr>
            </a:pPr>
            <a:r>
              <a:t>$120K–$200K</a:t>
            </a:r>
          </a:p>
        </p:txBody>
      </p:sp>
      <p:sp>
        <p:nvSpPr>
          <p:cNvPr id="28" name="TextBox 27"/>
          <p:cNvSpPr txBox="1"/>
          <p:nvPr/>
        </p:nvSpPr>
        <p:spPr>
          <a:xfrm>
            <a:off x="8092440" y="2834640"/>
            <a:ext cx="3200400" cy="228600"/>
          </a:xfrm>
          <a:prstGeom prst="rect">
            <a:avLst/>
          </a:prstGeom>
          <a:noFill/>
        </p:spPr>
        <p:txBody>
          <a:bodyPr wrap="square" anchor="t"/>
          <a:lstStyle/>
          <a:p>
            <a:pPr algn="ctr">
              <a:defRPr sz="1000" b="0">
                <a:solidFill>
                  <a:srgbClr val="6B7280"/>
                </a:solidFill>
                <a:latin typeface="Calibri"/>
              </a:defRPr>
            </a:pPr>
            <a:r>
              <a:t>one-time / per pod setup</a:t>
            </a:r>
          </a:p>
        </p:txBody>
      </p:sp>
      <p:sp>
        <p:nvSpPr>
          <p:cNvPr id="29" name="TextBox 28"/>
          <p:cNvSpPr txBox="1"/>
          <p:nvPr/>
        </p:nvSpPr>
        <p:spPr>
          <a:xfrm>
            <a:off x="8138160" y="3200400"/>
            <a:ext cx="3108960" cy="1188720"/>
          </a:xfrm>
          <a:prstGeom prst="rect">
            <a:avLst/>
          </a:prstGeom>
          <a:noFill/>
        </p:spPr>
        <p:txBody>
          <a:bodyPr wrap="square" anchor="t"/>
          <a:lstStyle/>
          <a:p>
            <a:pPr algn="ctr">
              <a:defRPr sz="1100" b="0">
                <a:solidFill>
                  <a:srgbClr val="4B5563"/>
                </a:solidFill>
                <a:latin typeface="Calibri"/>
              </a:defRPr>
            </a:pPr>
            <a:r>
              <a:t>Training, agent development, infrastructure setup, process redesign. One-time investment; pays back in 2–4 months.</a:t>
            </a:r>
          </a:p>
        </p:txBody>
      </p:sp>
      <p:sp>
        <p:nvSpPr>
          <p:cNvPr id="30" name="Rounded Rectangle 29"/>
          <p:cNvSpPr/>
          <p:nvPr/>
        </p:nvSpPr>
        <p:spPr>
          <a:xfrm>
            <a:off x="548640" y="5029200"/>
            <a:ext cx="1097280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074920"/>
            <a:ext cx="10058400" cy="502920"/>
          </a:xfrm>
          <a:prstGeom prst="rect">
            <a:avLst/>
          </a:prstGeom>
          <a:noFill/>
        </p:spPr>
        <p:txBody>
          <a:bodyPr wrap="square"/>
          <a:lstStyle/>
          <a:p>
            <a:pPr algn="ctr">
              <a:spcBef>
                <a:spcPts val="0"/>
              </a:spcBef>
              <a:spcAft>
                <a:spcPts val="400"/>
              </a:spcAft>
              <a:defRPr sz="1300" b="0" i="0">
                <a:solidFill>
                  <a:srgbClr val="374151"/>
                </a:solidFill>
                <a:latin typeface="Calibri"/>
              </a:defRPr>
            </a:pPr>
            <a:r>
              <a:rPr sz="1300" b="0" i="0">
                <a:solidFill>
                  <a:srgbClr val="374151"/>
                </a:solidFill>
                <a:latin typeface="Calibri"/>
              </a:rPr>
              <a:t>Net savings after transformation: </a:t>
            </a:r>
            <a:r>
              <a:rPr sz="1300" b="1" i="0">
                <a:solidFill>
                  <a:srgbClr val="1A56DB"/>
                </a:solidFill>
                <a:latin typeface="Calibri"/>
              </a:rPr>
              <a:t>$55K–$97K per month per pod</a:t>
            </a:r>
            <a:r>
              <a:rPr sz="1300" b="0" i="0">
                <a:solidFill>
                  <a:srgbClr val="9CA3AF"/>
                </a:solidFill>
                <a:latin typeface="Calibri"/>
              </a:rPr>
              <a:t>   ·   </a:t>
            </a:r>
            <a:r>
              <a:rPr sz="1300" b="0" i="0">
                <a:solidFill>
                  <a:srgbClr val="374151"/>
                </a:solidFill>
                <a:latin typeface="Calibri"/>
              </a:rPr>
              <a:t>Payback period: </a:t>
            </a:r>
            <a:r>
              <a:rPr sz="1300" b="1" i="0">
                <a:solidFill>
                  <a:srgbClr val="1A56DB"/>
                </a:solidFill>
                <a:latin typeface="Calibri"/>
              </a:rPr>
              <a:t>2–4 months</a:t>
            </a:r>
          </a:p>
        </p:txBody>
      </p:sp>
      <p:sp>
        <p:nvSpPr>
          <p:cNvPr id="32" name="Rectangle 31"/>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34" name="TextBox 33"/>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SDLC Cost Breakdown — Full Human Team</a:t>
            </a:r>
          </a:p>
        </p:txBody>
      </p:sp>
      <p:sp>
        <p:nvSpPr>
          <p:cNvPr id="4" name="TextBox 3"/>
          <p:cNvSpPr txBox="1"/>
          <p:nvPr/>
        </p:nvSpPr>
        <p:spPr>
          <a:xfrm>
            <a:off x="9144000" y="137160"/>
            <a:ext cx="2743200" cy="365760"/>
          </a:xfrm>
          <a:prstGeom prst="rect">
            <a:avLst/>
          </a:prstGeom>
          <a:noFill/>
        </p:spPr>
        <p:txBody>
          <a:bodyPr wrap="square" anchor="ctr"/>
          <a:lstStyle/>
          <a:p>
            <a:pPr algn="r">
              <a:defRPr sz="1000" b="1">
                <a:solidFill>
                  <a:srgbClr val="D1D5DB"/>
                </a:solidFill>
                <a:latin typeface="Calibri"/>
              </a:defRPr>
            </a:pPr>
            <a:r>
              <a:t>PER PRODUCT TEAM / MONTH</a:t>
            </a:r>
          </a:p>
        </p:txBody>
      </p:sp>
      <p:sp>
        <p:nvSpPr>
          <p:cNvPr id="5" name="TextBox 4"/>
          <p:cNvSpPr txBox="1"/>
          <p:nvPr/>
        </p:nvSpPr>
        <p:spPr>
          <a:xfrm>
            <a:off x="548640" y="777240"/>
            <a:ext cx="3657600" cy="320040"/>
          </a:xfrm>
          <a:prstGeom prst="rect">
            <a:avLst/>
          </a:prstGeom>
          <a:noFill/>
        </p:spPr>
        <p:txBody>
          <a:bodyPr wrap="square" anchor="t"/>
          <a:lstStyle/>
          <a:p>
            <a:pPr algn="l">
              <a:defRPr sz="1400" b="1">
                <a:solidFill>
                  <a:srgbClr val="1E3A5F"/>
                </a:solidFill>
                <a:latin typeface="Calibri"/>
              </a:defRPr>
            </a:pPr>
            <a:r>
              <a:t>Human Resources   $72K–$105K</a:t>
            </a:r>
          </a:p>
        </p:txBody>
      </p:sp>
      <p:graphicFrame>
        <p:nvGraphicFramePr>
          <p:cNvPr id="6" name="Table 5"/>
          <p:cNvGraphicFramePr>
            <a:graphicFrameLocks noGrp="1"/>
          </p:cNvGraphicFramePr>
          <p:nvPr/>
        </p:nvGraphicFramePr>
        <p:xfrm>
          <a:off x="548640" y="1143000"/>
          <a:ext cx="5303520" cy="22860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26571">
                <a:tc>
                  <a:txBody>
                    <a:bodyPr/>
                    <a:lstStyle/>
                    <a:p>
                      <a:pPr algn="l">
                        <a:defRPr sz="1000" b="1">
                          <a:solidFill>
                            <a:srgbClr val="FFFFFF"/>
                          </a:solidFill>
                          <a:latin typeface="Calibri"/>
                        </a:defRPr>
                      </a:pPr>
                      <a:r>
                        <a:t>Role</a:t>
                      </a:r>
                    </a:p>
                  </a:txBody>
                  <a:tcPr>
                    <a:solidFill>
                      <a:srgbClr val="1A56DB"/>
                    </a:solidFill>
                  </a:tcPr>
                </a:tc>
                <a:tc>
                  <a:txBody>
                    <a:bodyPr/>
                    <a:lstStyle/>
                    <a:p>
                      <a:pPr algn="l">
                        <a:defRPr sz="1000" b="1">
                          <a:solidFill>
                            <a:srgbClr val="FFFFFF"/>
                          </a:solidFill>
                          <a:latin typeface="Calibri"/>
                        </a:defRPr>
                      </a:pPr>
                      <a:r>
                        <a:t>Count</a:t>
                      </a:r>
                    </a:p>
                  </a:txBody>
                  <a:tcPr>
                    <a:solidFill>
                      <a:srgbClr val="1A56DB"/>
                    </a:solidFill>
                  </a:tcPr>
                </a:tc>
                <a:tc>
                  <a:txBody>
                    <a:bodyPr/>
                    <a:lstStyle/>
                    <a:p>
                      <a:pPr algn="l">
                        <a:defRPr sz="1000" b="1">
                          <a:solidFill>
                            <a:srgbClr val="FFFFFF"/>
                          </a:solidFill>
                          <a:latin typeface="Calibri"/>
                        </a:defRPr>
                      </a:pPr>
                      <a:r>
                        <a:t>Cost/mo</a:t>
                      </a:r>
                    </a:p>
                  </a:txBody>
                  <a:tcPr>
                    <a:solidFill>
                      <a:srgbClr val="1A56DB"/>
                    </a:solidFill>
                  </a:tcPr>
                </a:tc>
                <a:extLst>
                  <a:ext uri="{0D108BD9-81ED-4DB2-BD59-A6C34878D82A}">
                    <a16:rowId xmlns:a16="http://schemas.microsoft.com/office/drawing/2014/main" val="10000"/>
                  </a:ext>
                </a:extLst>
              </a:tr>
              <a:tr h="326571">
                <a:tc>
                  <a:txBody>
                    <a:bodyPr/>
                    <a:lstStyle/>
                    <a:p>
                      <a:pPr algn="l">
                        <a:defRPr sz="1100" b="0">
                          <a:solidFill>
                            <a:srgbClr val="374151"/>
                          </a:solidFill>
                          <a:latin typeface="Calibri"/>
                        </a:defRPr>
                      </a:pPr>
                      <a:r>
                        <a:t>Business Analyst</a:t>
                      </a:r>
                    </a:p>
                  </a:txBody>
                  <a:tcPr>
                    <a:solidFill>
                      <a:srgbClr val="FFFFFF"/>
                    </a:solidFill>
                  </a:tcPr>
                </a:tc>
                <a:tc>
                  <a:txBody>
                    <a:bodyPr/>
                    <a:lstStyle/>
                    <a:p>
                      <a:pPr algn="ctr">
                        <a:defRPr sz="1100" b="0">
                          <a:solidFill>
                            <a:srgbClr val="374151"/>
                          </a:solidFill>
                          <a:latin typeface="Calibri"/>
                        </a:defRPr>
                      </a:pPr>
                      <a:r>
                        <a:t>1–2</a:t>
                      </a:r>
                    </a:p>
                  </a:txBody>
                  <a:tcPr>
                    <a:solidFill>
                      <a:srgbClr val="FFFFFF"/>
                    </a:solidFill>
                  </a:tcPr>
                </a:tc>
                <a:tc>
                  <a:txBody>
                    <a:bodyPr/>
                    <a:lstStyle/>
                    <a:p>
                      <a:pPr algn="r">
                        <a:defRPr sz="1100" b="0">
                          <a:solidFill>
                            <a:srgbClr val="374151"/>
                          </a:solidFill>
                          <a:latin typeface="Calibri"/>
                        </a:defRPr>
                      </a:pPr>
                      <a:r>
                        <a:t>$7K–$14K</a:t>
                      </a:r>
                    </a:p>
                  </a:txBody>
                  <a:tcPr>
                    <a:solidFill>
                      <a:srgbClr val="FFFFFF"/>
                    </a:solidFill>
                  </a:tcPr>
                </a:tc>
                <a:extLst>
                  <a:ext uri="{0D108BD9-81ED-4DB2-BD59-A6C34878D82A}">
                    <a16:rowId xmlns:a16="http://schemas.microsoft.com/office/drawing/2014/main" val="10001"/>
                  </a:ext>
                </a:extLst>
              </a:tr>
              <a:tr h="326571">
                <a:tc>
                  <a:txBody>
                    <a:bodyPr/>
                    <a:lstStyle/>
                    <a:p>
                      <a:pPr algn="l">
                        <a:defRPr sz="1100" b="0">
                          <a:solidFill>
                            <a:srgbClr val="374151"/>
                          </a:solidFill>
                          <a:latin typeface="Calibri"/>
                        </a:defRPr>
                      </a:pPr>
                      <a:r>
                        <a:t>Solution Architect</a:t>
                      </a:r>
                    </a:p>
                  </a:txBody>
                  <a:tcPr>
                    <a:solidFill>
                      <a:srgbClr val="EFF6FF"/>
                    </a:solidFill>
                  </a:tcPr>
                </a:tc>
                <a:tc>
                  <a:txBody>
                    <a:bodyPr/>
                    <a:lstStyle/>
                    <a:p>
                      <a:pPr algn="ctr">
                        <a:defRPr sz="1100" b="0">
                          <a:solidFill>
                            <a:srgbClr val="374151"/>
                          </a:solidFill>
                          <a:latin typeface="Calibri"/>
                        </a:defRPr>
                      </a:pPr>
                      <a:r>
                        <a:t>1</a:t>
                      </a:r>
                    </a:p>
                  </a:txBody>
                  <a:tcPr>
                    <a:solidFill>
                      <a:srgbClr val="EFF6FF"/>
                    </a:solidFill>
                  </a:tcPr>
                </a:tc>
                <a:tc>
                  <a:txBody>
                    <a:bodyPr/>
                    <a:lstStyle/>
                    <a:p>
                      <a:pPr algn="r">
                        <a:defRPr sz="1100" b="0">
                          <a:solidFill>
                            <a:srgbClr val="374151"/>
                          </a:solidFill>
                          <a:latin typeface="Calibri"/>
                        </a:defRPr>
                      </a:pPr>
                      <a:r>
                        <a:t>$12K–$15K</a:t>
                      </a:r>
                    </a:p>
                  </a:txBody>
                  <a:tcPr>
                    <a:solidFill>
                      <a:srgbClr val="EFF6FF"/>
                    </a:solidFill>
                  </a:tcPr>
                </a:tc>
                <a:extLst>
                  <a:ext uri="{0D108BD9-81ED-4DB2-BD59-A6C34878D82A}">
                    <a16:rowId xmlns:a16="http://schemas.microsoft.com/office/drawing/2014/main" val="10002"/>
                  </a:ext>
                </a:extLst>
              </a:tr>
              <a:tr h="326571">
                <a:tc>
                  <a:txBody>
                    <a:bodyPr/>
                    <a:lstStyle/>
                    <a:p>
                      <a:pPr algn="l">
                        <a:defRPr sz="1100" b="0">
                          <a:solidFill>
                            <a:srgbClr val="374151"/>
                          </a:solidFill>
                          <a:latin typeface="Calibri"/>
                        </a:defRPr>
                      </a:pPr>
                      <a:r>
                        <a:t>Developers (Frontend + Backend)</a:t>
                      </a:r>
                    </a:p>
                  </a:txBody>
                  <a:tcPr>
                    <a:solidFill>
                      <a:srgbClr val="FFFFFF"/>
                    </a:solidFill>
                  </a:tcPr>
                </a:tc>
                <a:tc>
                  <a:txBody>
                    <a:bodyPr/>
                    <a:lstStyle/>
                    <a:p>
                      <a:pPr algn="ctr">
                        <a:defRPr sz="1100" b="0">
                          <a:solidFill>
                            <a:srgbClr val="374151"/>
                          </a:solidFill>
                          <a:latin typeface="Calibri"/>
                        </a:defRPr>
                      </a:pPr>
                      <a:r>
                        <a:t>3–5</a:t>
                      </a:r>
                    </a:p>
                  </a:txBody>
                  <a:tcPr>
                    <a:solidFill>
                      <a:srgbClr val="FFFFFF"/>
                    </a:solidFill>
                  </a:tcPr>
                </a:tc>
                <a:tc>
                  <a:txBody>
                    <a:bodyPr/>
                    <a:lstStyle/>
                    <a:p>
                      <a:pPr algn="r">
                        <a:defRPr sz="1100" b="0">
                          <a:solidFill>
                            <a:srgbClr val="374151"/>
                          </a:solidFill>
                          <a:latin typeface="Calibri"/>
                        </a:defRPr>
                      </a:pPr>
                      <a:r>
                        <a:t>$24K–$40K</a:t>
                      </a:r>
                    </a:p>
                  </a:txBody>
                  <a:tcPr>
                    <a:solidFill>
                      <a:srgbClr val="FFFFFF"/>
                    </a:solidFill>
                  </a:tcPr>
                </a:tc>
                <a:extLst>
                  <a:ext uri="{0D108BD9-81ED-4DB2-BD59-A6C34878D82A}">
                    <a16:rowId xmlns:a16="http://schemas.microsoft.com/office/drawing/2014/main" val="10003"/>
                  </a:ext>
                </a:extLst>
              </a:tr>
              <a:tr h="326571">
                <a:tc>
                  <a:txBody>
                    <a:bodyPr/>
                    <a:lstStyle/>
                    <a:p>
                      <a:pPr algn="l">
                        <a:defRPr sz="1100" b="0">
                          <a:solidFill>
                            <a:srgbClr val="374151"/>
                          </a:solidFill>
                          <a:latin typeface="Calibri"/>
                        </a:defRPr>
                      </a:pPr>
                      <a:r>
                        <a:t>QA / Test Engineers</a:t>
                      </a:r>
                    </a:p>
                  </a:txBody>
                  <a:tcPr>
                    <a:solidFill>
                      <a:srgbClr val="EFF6FF"/>
                    </a:solidFill>
                  </a:tcPr>
                </a:tc>
                <a:tc>
                  <a:txBody>
                    <a:bodyPr/>
                    <a:lstStyle/>
                    <a:p>
                      <a:pPr algn="ctr">
                        <a:defRPr sz="1100" b="0">
                          <a:solidFill>
                            <a:srgbClr val="374151"/>
                          </a:solidFill>
                          <a:latin typeface="Calibri"/>
                        </a:defRPr>
                      </a:pPr>
                      <a:r>
                        <a:t>2–3</a:t>
                      </a:r>
                    </a:p>
                  </a:txBody>
                  <a:tcPr>
                    <a:solidFill>
                      <a:srgbClr val="EFF6FF"/>
                    </a:solidFill>
                  </a:tcPr>
                </a:tc>
                <a:tc>
                  <a:txBody>
                    <a:bodyPr/>
                    <a:lstStyle/>
                    <a:p>
                      <a:pPr algn="r">
                        <a:defRPr sz="1100" b="0">
                          <a:solidFill>
                            <a:srgbClr val="374151"/>
                          </a:solidFill>
                          <a:latin typeface="Calibri"/>
                        </a:defRPr>
                      </a:pPr>
                      <a:r>
                        <a:t>$12K–$18K</a:t>
                      </a:r>
                    </a:p>
                  </a:txBody>
                  <a:tcPr>
                    <a:solidFill>
                      <a:srgbClr val="EFF6FF"/>
                    </a:solidFill>
                  </a:tcPr>
                </a:tc>
                <a:extLst>
                  <a:ext uri="{0D108BD9-81ED-4DB2-BD59-A6C34878D82A}">
                    <a16:rowId xmlns:a16="http://schemas.microsoft.com/office/drawing/2014/main" val="10004"/>
                  </a:ext>
                </a:extLst>
              </a:tr>
              <a:tr h="326571">
                <a:tc>
                  <a:txBody>
                    <a:bodyPr/>
                    <a:lstStyle/>
                    <a:p>
                      <a:pPr algn="l">
                        <a:defRPr sz="1100" b="0">
                          <a:solidFill>
                            <a:srgbClr val="374151"/>
                          </a:solidFill>
                          <a:latin typeface="Calibri"/>
                        </a:defRPr>
                      </a:pPr>
                      <a:r>
                        <a:t>DevOps Engineer</a:t>
                      </a:r>
                    </a:p>
                  </a:txBody>
                  <a:tcPr>
                    <a:solidFill>
                      <a:srgbClr val="FFFFFF"/>
                    </a:solidFill>
                  </a:tcPr>
                </a:tc>
                <a:tc>
                  <a:txBody>
                    <a:bodyPr/>
                    <a:lstStyle/>
                    <a:p>
                      <a:pPr algn="ctr">
                        <a:defRPr sz="1100" b="0">
                          <a:solidFill>
                            <a:srgbClr val="374151"/>
                          </a:solidFill>
                          <a:latin typeface="Calibri"/>
                        </a:defRPr>
                      </a:pPr>
                      <a:r>
                        <a:t>1</a:t>
                      </a:r>
                    </a:p>
                  </a:txBody>
                  <a:tcPr>
                    <a:solidFill>
                      <a:srgbClr val="FFFFFF"/>
                    </a:solidFill>
                  </a:tcPr>
                </a:tc>
                <a:tc>
                  <a:txBody>
                    <a:bodyPr/>
                    <a:lstStyle/>
                    <a:p>
                      <a:pPr algn="r">
                        <a:defRPr sz="1100" b="0">
                          <a:solidFill>
                            <a:srgbClr val="374151"/>
                          </a:solidFill>
                          <a:latin typeface="Calibri"/>
                        </a:defRPr>
                      </a:pPr>
                      <a:r>
                        <a:t>$8K–$10K</a:t>
                      </a:r>
                    </a:p>
                  </a:txBody>
                  <a:tcPr>
                    <a:solidFill>
                      <a:srgbClr val="FFFFFF"/>
                    </a:solidFill>
                  </a:tcPr>
                </a:tc>
                <a:extLst>
                  <a:ext uri="{0D108BD9-81ED-4DB2-BD59-A6C34878D82A}">
                    <a16:rowId xmlns:a16="http://schemas.microsoft.com/office/drawing/2014/main" val="10005"/>
                  </a:ext>
                </a:extLst>
              </a:tr>
              <a:tr h="326574">
                <a:tc>
                  <a:txBody>
                    <a:bodyPr/>
                    <a:lstStyle/>
                    <a:p>
                      <a:pPr algn="l">
                        <a:defRPr sz="1100" b="0">
                          <a:solidFill>
                            <a:srgbClr val="374151"/>
                          </a:solidFill>
                          <a:latin typeface="Calibri"/>
                        </a:defRPr>
                      </a:pPr>
                      <a:r>
                        <a:t>Project Manager / Scrum Master</a:t>
                      </a:r>
                    </a:p>
                  </a:txBody>
                  <a:tcPr>
                    <a:solidFill>
                      <a:srgbClr val="EFF6FF"/>
                    </a:solidFill>
                  </a:tcPr>
                </a:tc>
                <a:tc>
                  <a:txBody>
                    <a:bodyPr/>
                    <a:lstStyle/>
                    <a:p>
                      <a:pPr algn="ctr">
                        <a:defRPr sz="1100" b="0">
                          <a:solidFill>
                            <a:srgbClr val="374151"/>
                          </a:solidFill>
                          <a:latin typeface="Calibri"/>
                        </a:defRPr>
                      </a:pPr>
                      <a:r>
                        <a:t>1</a:t>
                      </a:r>
                    </a:p>
                  </a:txBody>
                  <a:tcPr>
                    <a:solidFill>
                      <a:srgbClr val="EFF6FF"/>
                    </a:solidFill>
                  </a:tcPr>
                </a:tc>
                <a:tc>
                  <a:txBody>
                    <a:bodyPr/>
                    <a:lstStyle/>
                    <a:p>
                      <a:pPr algn="r">
                        <a:defRPr sz="1100" b="0">
                          <a:solidFill>
                            <a:srgbClr val="374151"/>
                          </a:solidFill>
                          <a:latin typeface="Calibri"/>
                        </a:defRPr>
                      </a:pPr>
                      <a:r>
                        <a:t>$9K–$12K</a:t>
                      </a:r>
                    </a:p>
                  </a:txBody>
                  <a:tcPr>
                    <a:solidFill>
                      <a:srgbClr val="EFF6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217920" y="777240"/>
            <a:ext cx="3657600" cy="320040"/>
          </a:xfrm>
          <a:prstGeom prst="rect">
            <a:avLst/>
          </a:prstGeom>
          <a:noFill/>
        </p:spPr>
        <p:txBody>
          <a:bodyPr wrap="square" anchor="t"/>
          <a:lstStyle/>
          <a:p>
            <a:pPr algn="l">
              <a:defRPr sz="1400" b="1">
                <a:solidFill>
                  <a:srgbClr val="1E3A5F"/>
                </a:solidFill>
                <a:latin typeface="Calibri"/>
              </a:defRPr>
            </a:pPr>
            <a:r>
              <a:t>Tools &amp; Licences   $8K–$12K</a:t>
            </a:r>
          </a:p>
        </p:txBody>
      </p:sp>
      <p:graphicFrame>
        <p:nvGraphicFramePr>
          <p:cNvPr id="8" name="Table 7"/>
          <p:cNvGraphicFramePr>
            <a:graphicFrameLocks noGrp="1"/>
          </p:cNvGraphicFramePr>
          <p:nvPr/>
        </p:nvGraphicFramePr>
        <p:xfrm>
          <a:off x="6217920" y="1143000"/>
          <a:ext cx="5303520" cy="18288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04800">
                <a:tc>
                  <a:txBody>
                    <a:bodyPr/>
                    <a:lstStyle/>
                    <a:p>
                      <a:pPr algn="l">
                        <a:defRPr sz="1000" b="1">
                          <a:solidFill>
                            <a:srgbClr val="FFFFFF"/>
                          </a:solidFill>
                          <a:latin typeface="Calibri"/>
                        </a:defRPr>
                      </a:pPr>
                      <a:r>
                        <a:t>Item</a:t>
                      </a:r>
                    </a:p>
                  </a:txBody>
                  <a:tcPr>
                    <a:solidFill>
                      <a:srgbClr val="1A56DB"/>
                    </a:solidFill>
                  </a:tcPr>
                </a:tc>
                <a:tc>
                  <a:txBody>
                    <a:bodyPr/>
                    <a:lstStyle/>
                    <a:p>
                      <a:pPr algn="l">
                        <a:defRPr sz="1000" b="1">
                          <a:solidFill>
                            <a:srgbClr val="FFFFFF"/>
                          </a:solidFill>
                          <a:latin typeface="Calibri"/>
                        </a:defRPr>
                      </a:pPr>
                      <a:r>
                        <a:t>Cost/mo</a:t>
                      </a:r>
                    </a:p>
                  </a:txBody>
                  <a:tcPr>
                    <a:solidFill>
                      <a:srgbClr val="1A56DB"/>
                    </a:solidFill>
                  </a:tcPr>
                </a:tc>
                <a:extLst>
                  <a:ext uri="{0D108BD9-81ED-4DB2-BD59-A6C34878D82A}">
                    <a16:rowId xmlns:a16="http://schemas.microsoft.com/office/drawing/2014/main" val="10000"/>
                  </a:ext>
                </a:extLst>
              </a:tr>
              <a:tr h="304800">
                <a:tc>
                  <a:txBody>
                    <a:bodyPr/>
                    <a:lstStyle/>
                    <a:p>
                      <a:pPr algn="l">
                        <a:defRPr sz="1100" b="0">
                          <a:solidFill>
                            <a:srgbClr val="374151"/>
                          </a:solidFill>
                          <a:latin typeface="Calibri"/>
                        </a:defRPr>
                      </a:pPr>
                      <a:r>
                        <a:t>IDE licences (per seat)</a:t>
                      </a:r>
                    </a:p>
                  </a:txBody>
                  <a:tcPr>
                    <a:solidFill>
                      <a:srgbClr val="FFFFFF"/>
                    </a:solidFill>
                  </a:tcPr>
                </a:tc>
                <a:tc>
                  <a:txBody>
                    <a:bodyPr/>
                    <a:lstStyle/>
                    <a:p>
                      <a:pPr algn="r">
                        <a:defRPr sz="1100" b="0">
                          <a:solidFill>
                            <a:srgbClr val="374151"/>
                          </a:solidFill>
                          <a:latin typeface="Calibri"/>
                        </a:defRPr>
                      </a:pPr>
                      <a:r>
                        <a:t>$1K–$2K</a:t>
                      </a:r>
                    </a:p>
                  </a:txBody>
                  <a:tcPr>
                    <a:solidFill>
                      <a:srgbClr val="FFFFFF"/>
                    </a:solidFill>
                  </a:tcPr>
                </a:tc>
                <a:extLst>
                  <a:ext uri="{0D108BD9-81ED-4DB2-BD59-A6C34878D82A}">
                    <a16:rowId xmlns:a16="http://schemas.microsoft.com/office/drawing/2014/main" val="10001"/>
                  </a:ext>
                </a:extLst>
              </a:tr>
              <a:tr h="304800">
                <a:tc>
                  <a:txBody>
                    <a:bodyPr/>
                    <a:lstStyle/>
                    <a:p>
                      <a:pPr algn="l">
                        <a:defRPr sz="1100" b="0">
                          <a:solidFill>
                            <a:srgbClr val="374151"/>
                          </a:solidFill>
                          <a:latin typeface="Calibri"/>
                        </a:defRPr>
                      </a:pPr>
                      <a:r>
                        <a:t>CI/CD tooling (Jenkins/Azure DevOps)</a:t>
                      </a:r>
                    </a:p>
                  </a:txBody>
                  <a:tcPr>
                    <a:solidFill>
                      <a:srgbClr val="EFF6FF"/>
                    </a:solidFill>
                  </a:tcPr>
                </a:tc>
                <a:tc>
                  <a:txBody>
                    <a:bodyPr/>
                    <a:lstStyle/>
                    <a:p>
                      <a:pPr algn="r">
                        <a:defRPr sz="1100" b="0">
                          <a:solidFill>
                            <a:srgbClr val="374151"/>
                          </a:solidFill>
                          <a:latin typeface="Calibri"/>
                        </a:defRPr>
                      </a:pPr>
                      <a:r>
                        <a:t>$1.5K–$2.5K</a:t>
                      </a:r>
                    </a:p>
                  </a:txBody>
                  <a:tcPr>
                    <a:solidFill>
                      <a:srgbClr val="EFF6FF"/>
                    </a:solidFill>
                  </a:tcPr>
                </a:tc>
                <a:extLst>
                  <a:ext uri="{0D108BD9-81ED-4DB2-BD59-A6C34878D82A}">
                    <a16:rowId xmlns:a16="http://schemas.microsoft.com/office/drawing/2014/main" val="10002"/>
                  </a:ext>
                </a:extLst>
              </a:tr>
              <a:tr h="304800">
                <a:tc>
                  <a:txBody>
                    <a:bodyPr/>
                    <a:lstStyle/>
                    <a:p>
                      <a:pPr algn="l">
                        <a:defRPr sz="1100" b="0">
                          <a:solidFill>
                            <a:srgbClr val="374151"/>
                          </a:solidFill>
                          <a:latin typeface="Calibri"/>
                        </a:defRPr>
                      </a:pPr>
                      <a:r>
                        <a:t>JIRA / Confluence / Collaboration</a:t>
                      </a:r>
                    </a:p>
                  </a:txBody>
                  <a:tcPr>
                    <a:solidFill>
                      <a:srgbClr val="FFFFFF"/>
                    </a:solidFill>
                  </a:tcPr>
                </a:tc>
                <a:tc>
                  <a:txBody>
                    <a:bodyPr/>
                    <a:lstStyle/>
                    <a:p>
                      <a:pPr algn="r">
                        <a:defRPr sz="1100" b="0">
                          <a:solidFill>
                            <a:srgbClr val="374151"/>
                          </a:solidFill>
                          <a:latin typeface="Calibri"/>
                        </a:defRPr>
                      </a:pPr>
                      <a:r>
                        <a:t>$0.8K–$1.5K</a:t>
                      </a:r>
                    </a:p>
                  </a:txBody>
                  <a:tcPr>
                    <a:solidFill>
                      <a:srgbClr val="FFFFFF"/>
                    </a:solidFill>
                  </a:tcPr>
                </a:tc>
                <a:extLst>
                  <a:ext uri="{0D108BD9-81ED-4DB2-BD59-A6C34878D82A}">
                    <a16:rowId xmlns:a16="http://schemas.microsoft.com/office/drawing/2014/main" val="10003"/>
                  </a:ext>
                </a:extLst>
              </a:tr>
              <a:tr h="304800">
                <a:tc>
                  <a:txBody>
                    <a:bodyPr/>
                    <a:lstStyle/>
                    <a:p>
                      <a:pPr algn="l">
                        <a:defRPr sz="1100" b="0">
                          <a:solidFill>
                            <a:srgbClr val="374151"/>
                          </a:solidFill>
                          <a:latin typeface="Calibri"/>
                        </a:defRPr>
                      </a:pPr>
                      <a:r>
                        <a:t>Cloud infra (dev/test/staging)</a:t>
                      </a:r>
                    </a:p>
                  </a:txBody>
                  <a:tcPr>
                    <a:solidFill>
                      <a:srgbClr val="EFF6FF"/>
                    </a:solidFill>
                  </a:tcPr>
                </a:tc>
                <a:tc>
                  <a:txBody>
                    <a:bodyPr/>
                    <a:lstStyle/>
                    <a:p>
                      <a:pPr algn="r">
                        <a:defRPr sz="1100" b="0">
                          <a:solidFill>
                            <a:srgbClr val="374151"/>
                          </a:solidFill>
                          <a:latin typeface="Calibri"/>
                        </a:defRPr>
                      </a:pPr>
                      <a:r>
                        <a:t>$3K–$4K</a:t>
                      </a:r>
                    </a:p>
                  </a:txBody>
                  <a:tcPr>
                    <a:solidFill>
                      <a:srgbClr val="EFF6FF"/>
                    </a:solidFill>
                  </a:tcPr>
                </a:tc>
                <a:extLst>
                  <a:ext uri="{0D108BD9-81ED-4DB2-BD59-A6C34878D82A}">
                    <a16:rowId xmlns:a16="http://schemas.microsoft.com/office/drawing/2014/main" val="10004"/>
                  </a:ext>
                </a:extLst>
              </a:tr>
              <a:tr h="304800">
                <a:tc>
                  <a:txBody>
                    <a:bodyPr/>
                    <a:lstStyle/>
                    <a:p>
                      <a:pPr algn="l">
                        <a:defRPr sz="1100" b="0">
                          <a:solidFill>
                            <a:srgbClr val="374151"/>
                          </a:solidFill>
                          <a:latin typeface="Calibri"/>
                        </a:defRPr>
                      </a:pPr>
                      <a:r>
                        <a:t>Security / SAST tools</a:t>
                      </a:r>
                    </a:p>
                  </a:txBody>
                  <a:tcPr>
                    <a:solidFill>
                      <a:srgbClr val="FFFFFF"/>
                    </a:solidFill>
                  </a:tcPr>
                </a:tc>
                <a:tc>
                  <a:txBody>
                    <a:bodyPr/>
                    <a:lstStyle/>
                    <a:p>
                      <a:pPr algn="r">
                        <a:defRPr sz="1100" b="0">
                          <a:solidFill>
                            <a:srgbClr val="374151"/>
                          </a:solidFill>
                          <a:latin typeface="Calibri"/>
                        </a:defRPr>
                      </a:pPr>
                      <a:r>
                        <a:t>$1K–$2K</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217920" y="3154680"/>
            <a:ext cx="3657600" cy="274320"/>
          </a:xfrm>
          <a:prstGeom prst="rect">
            <a:avLst/>
          </a:prstGeom>
          <a:noFill/>
        </p:spPr>
        <p:txBody>
          <a:bodyPr wrap="square" anchor="t"/>
          <a:lstStyle/>
          <a:p>
            <a:pPr algn="l">
              <a:defRPr sz="1300" b="1">
                <a:solidFill>
                  <a:srgbClr val="1E3A5F"/>
                </a:solidFill>
                <a:latin typeface="Calibri"/>
              </a:defRPr>
            </a:pPr>
            <a:r>
              <a:t>Other Costs   $5K–$8K</a:t>
            </a:r>
          </a:p>
        </p:txBody>
      </p:sp>
      <p:sp>
        <p:nvSpPr>
          <p:cNvPr id="10" name="TextBox 9"/>
          <p:cNvSpPr txBox="1"/>
          <p:nvPr/>
        </p:nvSpPr>
        <p:spPr>
          <a:xfrm>
            <a:off x="6217920" y="3474720"/>
            <a:ext cx="5029200" cy="731520"/>
          </a:xfrm>
          <a:prstGeom prst="rect">
            <a:avLst/>
          </a:prstGeom>
          <a:noFill/>
        </p:spPr>
        <p:txBody>
          <a:bodyPr wrap="square"/>
          <a:lstStyle/>
          <a:p>
            <a:pPr algn="l">
              <a:spcBef>
                <a:spcPts val="0"/>
              </a:spcBef>
              <a:spcAft>
                <a:spcPts val="400"/>
              </a:spcAft>
              <a:defRPr sz="1000" b="0" i="0">
                <a:solidFill>
                  <a:srgbClr val="4B5563"/>
                </a:solidFill>
                <a:latin typeface="Calibri"/>
              </a:defRPr>
            </a:pPr>
            <a:r>
              <a:t>Coordination overhead, environment management, documentation &amp; compliance, training (amortised)</a:t>
            </a:r>
          </a:p>
        </p:txBody>
      </p:sp>
      <p:sp>
        <p:nvSpPr>
          <p:cNvPr id="11" name="Rounded Rectangle 10"/>
          <p:cNvSpPr/>
          <p:nvPr/>
        </p:nvSpPr>
        <p:spPr>
          <a:xfrm>
            <a:off x="2743200" y="4572000"/>
            <a:ext cx="6400800" cy="137160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0" y="4617720"/>
            <a:ext cx="6400800" cy="274320"/>
          </a:xfrm>
          <a:prstGeom prst="rect">
            <a:avLst/>
          </a:prstGeom>
          <a:noFill/>
        </p:spPr>
        <p:txBody>
          <a:bodyPr wrap="square" anchor="t"/>
          <a:lstStyle/>
          <a:p>
            <a:pPr algn="ctr">
              <a:defRPr sz="1400" b="1">
                <a:solidFill>
                  <a:srgbClr val="BFDBFE"/>
                </a:solidFill>
                <a:latin typeface="Calibri"/>
              </a:defRPr>
            </a:pPr>
            <a:r>
              <a:t>Total SDLC</a:t>
            </a:r>
          </a:p>
        </p:txBody>
      </p:sp>
      <p:sp>
        <p:nvSpPr>
          <p:cNvPr id="13" name="TextBox 12"/>
          <p:cNvSpPr txBox="1"/>
          <p:nvPr/>
        </p:nvSpPr>
        <p:spPr>
          <a:xfrm>
            <a:off x="2743200" y="4892040"/>
            <a:ext cx="6400800" cy="548640"/>
          </a:xfrm>
          <a:prstGeom prst="rect">
            <a:avLst/>
          </a:prstGeom>
          <a:noFill/>
        </p:spPr>
        <p:txBody>
          <a:bodyPr wrap="square" anchor="t"/>
          <a:lstStyle/>
          <a:p>
            <a:pPr algn="ctr">
              <a:defRPr sz="3800" b="1">
                <a:solidFill>
                  <a:srgbClr val="FFFFFF"/>
                </a:solidFill>
                <a:latin typeface="Calibri"/>
              </a:defRPr>
            </a:pPr>
            <a:r>
              <a:t>$85K–$125K</a:t>
            </a:r>
          </a:p>
        </p:txBody>
      </p:sp>
      <p:sp>
        <p:nvSpPr>
          <p:cNvPr id="14" name="TextBox 13"/>
          <p:cNvSpPr txBox="1"/>
          <p:nvPr/>
        </p:nvSpPr>
        <p:spPr>
          <a:xfrm>
            <a:off x="2743200" y="5394960"/>
            <a:ext cx="6400800" cy="228600"/>
          </a:xfrm>
          <a:prstGeom prst="rect">
            <a:avLst/>
          </a:prstGeom>
          <a:noFill/>
        </p:spPr>
        <p:txBody>
          <a:bodyPr wrap="square" anchor="t"/>
          <a:lstStyle/>
          <a:p>
            <a:pPr algn="ctr">
              <a:defRPr sz="1000" b="0">
                <a:solidFill>
                  <a:srgbClr val="BFDBFE"/>
                </a:solidFill>
                <a:latin typeface="Calibri"/>
              </a:defRPr>
            </a:pPr>
            <a:r>
              <a:t>per product team / per month   ·   8–12 people   ·   ~85% labour   ·   5–12% productive</a:t>
            </a:r>
          </a:p>
        </p:txBody>
      </p:sp>
      <p:sp>
        <p:nvSpPr>
          <p:cNvPr id="15" name="Rectangle 14"/>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17" name="TextBox 16"/>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ADLC Cost Breakdown — Agent-Driven Pod</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PER POD / MONTH</a:t>
            </a:r>
          </a:p>
        </p:txBody>
      </p:sp>
      <p:sp>
        <p:nvSpPr>
          <p:cNvPr id="5" name="TextBox 4"/>
          <p:cNvSpPr txBox="1"/>
          <p:nvPr/>
        </p:nvSpPr>
        <p:spPr>
          <a:xfrm>
            <a:off x="548640" y="777240"/>
            <a:ext cx="4572000" cy="274320"/>
          </a:xfrm>
          <a:prstGeom prst="rect">
            <a:avLst/>
          </a:prstGeom>
          <a:noFill/>
        </p:spPr>
        <p:txBody>
          <a:bodyPr wrap="square" anchor="t"/>
          <a:lstStyle/>
          <a:p>
            <a:pPr algn="l">
              <a:defRPr sz="1300" b="1">
                <a:solidFill>
                  <a:srgbClr val="1E3A5F"/>
                </a:solidFill>
                <a:latin typeface="Calibri"/>
              </a:defRPr>
            </a:pPr>
            <a:r>
              <a:t>Human Resources   $8K–$12K</a:t>
            </a:r>
          </a:p>
        </p:txBody>
      </p:sp>
      <p:graphicFrame>
        <p:nvGraphicFramePr>
          <p:cNvPr id="6" name="Table 5"/>
          <p:cNvGraphicFramePr>
            <a:graphicFrameLocks noGrp="1"/>
          </p:cNvGraphicFramePr>
          <p:nvPr/>
        </p:nvGraphicFramePr>
        <p:xfrm>
          <a:off x="548640" y="1097280"/>
          <a:ext cx="5303520" cy="11887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97180">
                <a:tc>
                  <a:txBody>
                    <a:bodyPr/>
                    <a:lstStyle/>
                    <a:p>
                      <a:pPr algn="l">
                        <a:defRPr sz="1000" b="1">
                          <a:solidFill>
                            <a:srgbClr val="FFFFFF"/>
                          </a:solidFill>
                          <a:latin typeface="Calibri"/>
                        </a:defRPr>
                      </a:pPr>
                      <a:r>
                        <a:t>Role</a:t>
                      </a:r>
                    </a:p>
                  </a:txBody>
                  <a:tcPr>
                    <a:solidFill>
                      <a:srgbClr val="1A56DB"/>
                    </a:solidFill>
                  </a:tcPr>
                </a:tc>
                <a:tc>
                  <a:txBody>
                    <a:bodyPr/>
                    <a:lstStyle/>
                    <a:p>
                      <a:pPr algn="l">
                        <a:defRPr sz="1000" b="1">
                          <a:solidFill>
                            <a:srgbClr val="FFFFFF"/>
                          </a:solidFill>
                          <a:latin typeface="Calibri"/>
                        </a:defRPr>
                      </a:pPr>
                      <a:r>
                        <a:t>Count</a:t>
                      </a:r>
                    </a:p>
                  </a:txBody>
                  <a:tcPr>
                    <a:solidFill>
                      <a:srgbClr val="1A56DB"/>
                    </a:solidFill>
                  </a:tcPr>
                </a:tc>
                <a:tc>
                  <a:txBody>
                    <a:bodyPr/>
                    <a:lstStyle/>
                    <a:p>
                      <a:pPr algn="l">
                        <a:defRPr sz="1000" b="1">
                          <a:solidFill>
                            <a:srgbClr val="FFFFFF"/>
                          </a:solidFill>
                          <a:latin typeface="Calibri"/>
                        </a:defRPr>
                      </a:pPr>
                      <a:r>
                        <a:t>Cost/mo</a:t>
                      </a:r>
                    </a:p>
                  </a:txBody>
                  <a:tcPr>
                    <a:solidFill>
                      <a:srgbClr val="1A56DB"/>
                    </a:solidFill>
                  </a:tcPr>
                </a:tc>
                <a:extLst>
                  <a:ext uri="{0D108BD9-81ED-4DB2-BD59-A6C34878D82A}">
                    <a16:rowId xmlns:a16="http://schemas.microsoft.com/office/drawing/2014/main" val="10000"/>
                  </a:ext>
                </a:extLst>
              </a:tr>
              <a:tr h="297180">
                <a:tc>
                  <a:txBody>
                    <a:bodyPr/>
                    <a:lstStyle/>
                    <a:p>
                      <a:pPr algn="l">
                        <a:defRPr sz="1100" b="0">
                          <a:solidFill>
                            <a:srgbClr val="374151"/>
                          </a:solidFill>
                          <a:latin typeface="Calibri"/>
                        </a:defRPr>
                      </a:pPr>
                      <a:r>
                        <a:t>Product Definer</a:t>
                      </a:r>
                    </a:p>
                  </a:txBody>
                  <a:tcPr>
                    <a:solidFill>
                      <a:srgbClr val="FFFFFF"/>
                    </a:solidFill>
                  </a:tcPr>
                </a:tc>
                <a:tc>
                  <a:txBody>
                    <a:bodyPr/>
                    <a:lstStyle/>
                    <a:p>
                      <a:pPr algn="ctr">
                        <a:defRPr sz="1100" b="0">
                          <a:solidFill>
                            <a:srgbClr val="374151"/>
                          </a:solidFill>
                          <a:latin typeface="Calibri"/>
                        </a:defRPr>
                      </a:pPr>
                      <a:r>
                        <a:t>1</a:t>
                      </a:r>
                    </a:p>
                  </a:txBody>
                  <a:tcPr>
                    <a:solidFill>
                      <a:srgbClr val="FFFFFF"/>
                    </a:solidFill>
                  </a:tcPr>
                </a:tc>
                <a:tc>
                  <a:txBody>
                    <a:bodyPr/>
                    <a:lstStyle/>
                    <a:p>
                      <a:pPr algn="r">
                        <a:defRPr sz="1100" b="0">
                          <a:solidFill>
                            <a:srgbClr val="374151"/>
                          </a:solidFill>
                          <a:latin typeface="Calibri"/>
                        </a:defRPr>
                      </a:pPr>
                      <a:r>
                        <a:t>$3.5K–$5K</a:t>
                      </a:r>
                    </a:p>
                  </a:txBody>
                  <a:tcPr>
                    <a:solidFill>
                      <a:srgbClr val="FFFFFF"/>
                    </a:solidFill>
                  </a:tcPr>
                </a:tc>
                <a:extLst>
                  <a:ext uri="{0D108BD9-81ED-4DB2-BD59-A6C34878D82A}">
                    <a16:rowId xmlns:a16="http://schemas.microsoft.com/office/drawing/2014/main" val="10001"/>
                  </a:ext>
                </a:extLst>
              </a:tr>
              <a:tr h="297180">
                <a:tc>
                  <a:txBody>
                    <a:bodyPr/>
                    <a:lstStyle/>
                    <a:p>
                      <a:pPr algn="l">
                        <a:defRPr sz="1100" b="0">
                          <a:solidFill>
                            <a:srgbClr val="374151"/>
                          </a:solidFill>
                          <a:latin typeface="Calibri"/>
                        </a:defRPr>
                      </a:pPr>
                      <a:r>
                        <a:t>Product Builder</a:t>
                      </a:r>
                    </a:p>
                  </a:txBody>
                  <a:tcPr>
                    <a:solidFill>
                      <a:srgbClr val="EFF6FF"/>
                    </a:solidFill>
                  </a:tcPr>
                </a:tc>
                <a:tc>
                  <a:txBody>
                    <a:bodyPr/>
                    <a:lstStyle/>
                    <a:p>
                      <a:pPr algn="ctr">
                        <a:defRPr sz="1100" b="0">
                          <a:solidFill>
                            <a:srgbClr val="374151"/>
                          </a:solidFill>
                          <a:latin typeface="Calibri"/>
                        </a:defRPr>
                      </a:pPr>
                      <a:r>
                        <a:t>1</a:t>
                      </a:r>
                    </a:p>
                  </a:txBody>
                  <a:tcPr>
                    <a:solidFill>
                      <a:srgbClr val="EFF6FF"/>
                    </a:solidFill>
                  </a:tcPr>
                </a:tc>
                <a:tc>
                  <a:txBody>
                    <a:bodyPr/>
                    <a:lstStyle/>
                    <a:p>
                      <a:pPr algn="r">
                        <a:defRPr sz="1100" b="0">
                          <a:solidFill>
                            <a:srgbClr val="374151"/>
                          </a:solidFill>
                          <a:latin typeface="Calibri"/>
                        </a:defRPr>
                      </a:pPr>
                      <a:r>
                        <a:t>$3.5K–$5K</a:t>
                      </a:r>
                    </a:p>
                  </a:txBody>
                  <a:tcPr>
                    <a:solidFill>
                      <a:srgbClr val="EFF6FF"/>
                    </a:solidFill>
                  </a:tcPr>
                </a:tc>
                <a:extLst>
                  <a:ext uri="{0D108BD9-81ED-4DB2-BD59-A6C34878D82A}">
                    <a16:rowId xmlns:a16="http://schemas.microsoft.com/office/drawing/2014/main" val="10002"/>
                  </a:ext>
                </a:extLst>
              </a:tr>
              <a:tr h="297180">
                <a:tc>
                  <a:txBody>
                    <a:bodyPr/>
                    <a:lstStyle/>
                    <a:p>
                      <a:pPr algn="l">
                        <a:defRPr sz="1100" b="0">
                          <a:solidFill>
                            <a:srgbClr val="374151"/>
                          </a:solidFill>
                          <a:latin typeface="Calibri"/>
                        </a:defRPr>
                      </a:pPr>
                      <a:r>
                        <a:t>Frontier Principal (0.25 FTE)</a:t>
                      </a:r>
                    </a:p>
                  </a:txBody>
                  <a:tcPr>
                    <a:solidFill>
                      <a:srgbClr val="FFFFFF"/>
                    </a:solidFill>
                  </a:tcPr>
                </a:tc>
                <a:tc>
                  <a:txBody>
                    <a:bodyPr/>
                    <a:lstStyle/>
                    <a:p>
                      <a:pPr algn="ctr">
                        <a:defRPr sz="1100" b="0">
                          <a:solidFill>
                            <a:srgbClr val="374151"/>
                          </a:solidFill>
                          <a:latin typeface="Calibri"/>
                        </a:defRPr>
                      </a:pPr>
                      <a:r>
                        <a:t>0.25</a:t>
                      </a:r>
                    </a:p>
                  </a:txBody>
                  <a:tcPr>
                    <a:solidFill>
                      <a:srgbClr val="FFFFFF"/>
                    </a:solidFill>
                  </a:tcPr>
                </a:tc>
                <a:tc>
                  <a:txBody>
                    <a:bodyPr/>
                    <a:lstStyle/>
                    <a:p>
                      <a:pPr algn="r">
                        <a:defRPr sz="1100" b="0">
                          <a:solidFill>
                            <a:srgbClr val="374151"/>
                          </a:solidFill>
                          <a:latin typeface="Calibri"/>
                        </a:defRPr>
                      </a:pPr>
                      <a:r>
                        <a:t>$1K–$2K</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48640" y="2423160"/>
            <a:ext cx="4572000" cy="274320"/>
          </a:xfrm>
          <a:prstGeom prst="rect">
            <a:avLst/>
          </a:prstGeom>
          <a:noFill/>
        </p:spPr>
        <p:txBody>
          <a:bodyPr wrap="square" anchor="t"/>
          <a:lstStyle/>
          <a:p>
            <a:pPr algn="l">
              <a:defRPr sz="1300" b="1">
                <a:solidFill>
                  <a:srgbClr val="1E3A5F"/>
                </a:solidFill>
                <a:latin typeface="Calibri"/>
              </a:defRPr>
            </a:pPr>
            <a:r>
              <a:t>AI / Agent Infrastructure   $4K–$7K</a:t>
            </a:r>
          </a:p>
        </p:txBody>
      </p:sp>
      <p:graphicFrame>
        <p:nvGraphicFramePr>
          <p:cNvPr id="8" name="Table 7"/>
          <p:cNvGraphicFramePr>
            <a:graphicFrameLocks noGrp="1"/>
          </p:cNvGraphicFramePr>
          <p:nvPr/>
        </p:nvGraphicFramePr>
        <p:xfrm>
          <a:off x="548640" y="2743200"/>
          <a:ext cx="5303520" cy="22860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26571">
                <a:tc>
                  <a:txBody>
                    <a:bodyPr/>
                    <a:lstStyle/>
                    <a:p>
                      <a:pPr algn="l">
                        <a:defRPr sz="1000" b="1">
                          <a:solidFill>
                            <a:srgbClr val="FFFFFF"/>
                          </a:solidFill>
                          <a:latin typeface="Calibri"/>
                        </a:defRPr>
                      </a:pPr>
                      <a:r>
                        <a:t>Item</a:t>
                      </a:r>
                    </a:p>
                  </a:txBody>
                  <a:tcPr>
                    <a:solidFill>
                      <a:srgbClr val="1A56DB"/>
                    </a:solidFill>
                  </a:tcPr>
                </a:tc>
                <a:tc>
                  <a:txBody>
                    <a:bodyPr/>
                    <a:lstStyle/>
                    <a:p>
                      <a:pPr algn="l">
                        <a:defRPr sz="1000" b="1">
                          <a:solidFill>
                            <a:srgbClr val="FFFFFF"/>
                          </a:solidFill>
                          <a:latin typeface="Calibri"/>
                        </a:defRPr>
                      </a:pPr>
                      <a:r>
                        <a:t>Cost/mo</a:t>
                      </a:r>
                    </a:p>
                  </a:txBody>
                  <a:tcPr>
                    <a:solidFill>
                      <a:srgbClr val="1A56DB"/>
                    </a:solidFill>
                  </a:tcPr>
                </a:tc>
                <a:extLst>
                  <a:ext uri="{0D108BD9-81ED-4DB2-BD59-A6C34878D82A}">
                    <a16:rowId xmlns:a16="http://schemas.microsoft.com/office/drawing/2014/main" val="10000"/>
                  </a:ext>
                </a:extLst>
              </a:tr>
              <a:tr h="326571">
                <a:tc>
                  <a:txBody>
                    <a:bodyPr/>
                    <a:lstStyle/>
                    <a:p>
                      <a:pPr algn="l">
                        <a:defRPr sz="1100" b="0">
                          <a:solidFill>
                            <a:srgbClr val="374151"/>
                          </a:solidFill>
                          <a:latin typeface="Calibri"/>
                        </a:defRPr>
                      </a:pPr>
                      <a:r>
                        <a:t>LLM API tokens (GPT-4 / Claude / Gemini)</a:t>
                      </a:r>
                    </a:p>
                  </a:txBody>
                  <a:tcPr>
                    <a:solidFill>
                      <a:srgbClr val="FFFFFF"/>
                    </a:solidFill>
                  </a:tcPr>
                </a:tc>
                <a:tc>
                  <a:txBody>
                    <a:bodyPr/>
                    <a:lstStyle/>
                    <a:p>
                      <a:pPr algn="r">
                        <a:defRPr sz="1100" b="0">
                          <a:solidFill>
                            <a:srgbClr val="374151"/>
                          </a:solidFill>
                          <a:latin typeface="Calibri"/>
                        </a:defRPr>
                      </a:pPr>
                      <a:r>
                        <a:t>$1.5K–$3K</a:t>
                      </a:r>
                    </a:p>
                  </a:txBody>
                  <a:tcPr>
                    <a:solidFill>
                      <a:srgbClr val="FFFFFF"/>
                    </a:solidFill>
                  </a:tcPr>
                </a:tc>
                <a:extLst>
                  <a:ext uri="{0D108BD9-81ED-4DB2-BD59-A6C34878D82A}">
                    <a16:rowId xmlns:a16="http://schemas.microsoft.com/office/drawing/2014/main" val="10001"/>
                  </a:ext>
                </a:extLst>
              </a:tr>
              <a:tr h="326571">
                <a:tc>
                  <a:txBody>
                    <a:bodyPr/>
                    <a:lstStyle/>
                    <a:p>
                      <a:pPr algn="l">
                        <a:defRPr sz="1100" b="0">
                          <a:solidFill>
                            <a:srgbClr val="374151"/>
                          </a:solidFill>
                          <a:latin typeface="Calibri"/>
                        </a:defRPr>
                      </a:pPr>
                      <a:r>
                        <a:t>Agent compute (hosting, orchestration)</a:t>
                      </a:r>
                    </a:p>
                  </a:txBody>
                  <a:tcPr>
                    <a:solidFill>
                      <a:srgbClr val="EFF6FF"/>
                    </a:solidFill>
                  </a:tcPr>
                </a:tc>
                <a:tc>
                  <a:txBody>
                    <a:bodyPr/>
                    <a:lstStyle/>
                    <a:p>
                      <a:pPr algn="r">
                        <a:defRPr sz="1100" b="0">
                          <a:solidFill>
                            <a:srgbClr val="374151"/>
                          </a:solidFill>
                          <a:latin typeface="Calibri"/>
                        </a:defRPr>
                      </a:pPr>
                      <a:r>
                        <a:t>$1K–$1.5K</a:t>
                      </a:r>
                    </a:p>
                  </a:txBody>
                  <a:tcPr>
                    <a:solidFill>
                      <a:srgbClr val="EFF6FF"/>
                    </a:solidFill>
                  </a:tcPr>
                </a:tc>
                <a:extLst>
                  <a:ext uri="{0D108BD9-81ED-4DB2-BD59-A6C34878D82A}">
                    <a16:rowId xmlns:a16="http://schemas.microsoft.com/office/drawing/2014/main" val="10002"/>
                  </a:ext>
                </a:extLst>
              </a:tr>
              <a:tr h="326571">
                <a:tc>
                  <a:txBody>
                    <a:bodyPr/>
                    <a:lstStyle/>
                    <a:p>
                      <a:pPr algn="l">
                        <a:defRPr sz="1100" b="0">
                          <a:solidFill>
                            <a:srgbClr val="374151"/>
                          </a:solidFill>
                          <a:latin typeface="Calibri"/>
                        </a:defRPr>
                      </a:pPr>
                      <a:r>
                        <a:t>Embedding &amp; vector DB</a:t>
                      </a:r>
                    </a:p>
                  </a:txBody>
                  <a:tcPr>
                    <a:solidFill>
                      <a:srgbClr val="FFFFFF"/>
                    </a:solidFill>
                  </a:tcPr>
                </a:tc>
                <a:tc>
                  <a:txBody>
                    <a:bodyPr/>
                    <a:lstStyle/>
                    <a:p>
                      <a:pPr algn="r">
                        <a:defRPr sz="1100" b="0">
                          <a:solidFill>
                            <a:srgbClr val="374151"/>
                          </a:solidFill>
                          <a:latin typeface="Calibri"/>
                        </a:defRPr>
                      </a:pPr>
                      <a:r>
                        <a:t>$0.3K–$0.5K</a:t>
                      </a:r>
                    </a:p>
                  </a:txBody>
                  <a:tcPr>
                    <a:solidFill>
                      <a:srgbClr val="FFFFFF"/>
                    </a:solidFill>
                  </a:tcPr>
                </a:tc>
                <a:extLst>
                  <a:ext uri="{0D108BD9-81ED-4DB2-BD59-A6C34878D82A}">
                    <a16:rowId xmlns:a16="http://schemas.microsoft.com/office/drawing/2014/main" val="10003"/>
                  </a:ext>
                </a:extLst>
              </a:tr>
              <a:tr h="326571">
                <a:tc>
                  <a:txBody>
                    <a:bodyPr/>
                    <a:lstStyle/>
                    <a:p>
                      <a:pPr algn="l">
                        <a:defRPr sz="1100" b="0">
                          <a:solidFill>
                            <a:srgbClr val="374151"/>
                          </a:solidFill>
                          <a:latin typeface="Calibri"/>
                        </a:defRPr>
                      </a:pPr>
                      <a:r>
                        <a:t>Agent monitoring &amp; logging</a:t>
                      </a:r>
                    </a:p>
                  </a:txBody>
                  <a:tcPr>
                    <a:solidFill>
                      <a:srgbClr val="EFF6FF"/>
                    </a:solidFill>
                  </a:tcPr>
                </a:tc>
                <a:tc>
                  <a:txBody>
                    <a:bodyPr/>
                    <a:lstStyle/>
                    <a:p>
                      <a:pPr algn="r">
                        <a:defRPr sz="1100" b="0">
                          <a:solidFill>
                            <a:srgbClr val="374151"/>
                          </a:solidFill>
                          <a:latin typeface="Calibri"/>
                        </a:defRPr>
                      </a:pPr>
                      <a:r>
                        <a:t>$0.2K–$0.5K</a:t>
                      </a:r>
                    </a:p>
                  </a:txBody>
                  <a:tcPr>
                    <a:solidFill>
                      <a:srgbClr val="EFF6FF"/>
                    </a:solidFill>
                  </a:tcPr>
                </a:tc>
                <a:extLst>
                  <a:ext uri="{0D108BD9-81ED-4DB2-BD59-A6C34878D82A}">
                    <a16:rowId xmlns:a16="http://schemas.microsoft.com/office/drawing/2014/main" val="10004"/>
                  </a:ext>
                </a:extLst>
              </a:tr>
              <a:tr h="326571">
                <a:tc>
                  <a:txBody>
                    <a:bodyPr/>
                    <a:lstStyle/>
                    <a:p>
                      <a:pPr algn="l">
                        <a:defRPr sz="1100" b="0">
                          <a:solidFill>
                            <a:srgbClr val="374151"/>
                          </a:solidFill>
                          <a:latin typeface="Calibri"/>
                        </a:defRPr>
                      </a:pPr>
                      <a:r>
                        <a:t>Model fine-tuning (amortised)</a:t>
                      </a:r>
                    </a:p>
                  </a:txBody>
                  <a:tcPr>
                    <a:solidFill>
                      <a:srgbClr val="FFFFFF"/>
                    </a:solidFill>
                  </a:tcPr>
                </a:tc>
                <a:tc>
                  <a:txBody>
                    <a:bodyPr/>
                    <a:lstStyle/>
                    <a:p>
                      <a:pPr algn="r">
                        <a:defRPr sz="1100" b="0">
                          <a:solidFill>
                            <a:srgbClr val="374151"/>
                          </a:solidFill>
                          <a:latin typeface="Calibri"/>
                        </a:defRPr>
                      </a:pPr>
                      <a:r>
                        <a:t>$0.5K–$1K</a:t>
                      </a:r>
                    </a:p>
                  </a:txBody>
                  <a:tcPr>
                    <a:solidFill>
                      <a:srgbClr val="FFFFFF"/>
                    </a:solidFill>
                  </a:tcPr>
                </a:tc>
                <a:extLst>
                  <a:ext uri="{0D108BD9-81ED-4DB2-BD59-A6C34878D82A}">
                    <a16:rowId xmlns:a16="http://schemas.microsoft.com/office/drawing/2014/main" val="10005"/>
                  </a:ext>
                </a:extLst>
              </a:tr>
              <a:tr h="326574">
                <a:tc>
                  <a:txBody>
                    <a:bodyPr/>
                    <a:lstStyle/>
                    <a:p>
                      <a:pPr algn="l">
                        <a:defRPr sz="1100" b="0">
                          <a:solidFill>
                            <a:srgbClr val="374151"/>
                          </a:solidFill>
                          <a:latin typeface="Calibri"/>
                        </a:defRPr>
                      </a:pPr>
                      <a:r>
                        <a:t>Guardrails &amp; safety layer</a:t>
                      </a:r>
                    </a:p>
                  </a:txBody>
                  <a:tcPr>
                    <a:solidFill>
                      <a:srgbClr val="EFF6FF"/>
                    </a:solidFill>
                  </a:tcPr>
                </a:tc>
                <a:tc>
                  <a:txBody>
                    <a:bodyPr/>
                    <a:lstStyle/>
                    <a:p>
                      <a:pPr algn="r">
                        <a:defRPr sz="1100" b="0">
                          <a:solidFill>
                            <a:srgbClr val="374151"/>
                          </a:solidFill>
                          <a:latin typeface="Calibri"/>
                        </a:defRPr>
                      </a:pPr>
                      <a:r>
                        <a:t>$0.2K–$0.5K</a:t>
                      </a:r>
                    </a:p>
                  </a:txBody>
                  <a:tcPr>
                    <a:solidFill>
                      <a:srgbClr val="EFF6FF"/>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6217920" y="777240"/>
            <a:ext cx="4572000" cy="274320"/>
          </a:xfrm>
          <a:prstGeom prst="rect">
            <a:avLst/>
          </a:prstGeom>
          <a:noFill/>
        </p:spPr>
        <p:txBody>
          <a:bodyPr wrap="square" anchor="t"/>
          <a:lstStyle/>
          <a:p>
            <a:pPr algn="l">
              <a:defRPr sz="1300" b="1">
                <a:solidFill>
                  <a:srgbClr val="1E3A5F"/>
                </a:solidFill>
                <a:latin typeface="Calibri"/>
              </a:defRPr>
            </a:pPr>
            <a:r>
              <a:t>Tools &amp; Licences   $3.5K–$5K</a:t>
            </a:r>
          </a:p>
        </p:txBody>
      </p:sp>
      <p:graphicFrame>
        <p:nvGraphicFramePr>
          <p:cNvPr id="10" name="Table 9"/>
          <p:cNvGraphicFramePr>
            <a:graphicFrameLocks noGrp="1"/>
          </p:cNvGraphicFramePr>
          <p:nvPr/>
        </p:nvGraphicFramePr>
        <p:xfrm>
          <a:off x="6217920" y="1097280"/>
          <a:ext cx="5303520" cy="18288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04800">
                <a:tc>
                  <a:txBody>
                    <a:bodyPr/>
                    <a:lstStyle/>
                    <a:p>
                      <a:pPr algn="l">
                        <a:defRPr sz="1000" b="1">
                          <a:solidFill>
                            <a:srgbClr val="FFFFFF"/>
                          </a:solidFill>
                          <a:latin typeface="Calibri"/>
                        </a:defRPr>
                      </a:pPr>
                      <a:r>
                        <a:t>Item</a:t>
                      </a:r>
                    </a:p>
                  </a:txBody>
                  <a:tcPr>
                    <a:solidFill>
                      <a:srgbClr val="1A56DB"/>
                    </a:solidFill>
                  </a:tcPr>
                </a:tc>
                <a:tc>
                  <a:txBody>
                    <a:bodyPr/>
                    <a:lstStyle/>
                    <a:p>
                      <a:pPr algn="l">
                        <a:defRPr sz="1000" b="1">
                          <a:solidFill>
                            <a:srgbClr val="FFFFFF"/>
                          </a:solidFill>
                          <a:latin typeface="Calibri"/>
                        </a:defRPr>
                      </a:pPr>
                      <a:r>
                        <a:t>Cost/mo</a:t>
                      </a:r>
                    </a:p>
                  </a:txBody>
                  <a:tcPr>
                    <a:solidFill>
                      <a:srgbClr val="1A56DB"/>
                    </a:solidFill>
                  </a:tcPr>
                </a:tc>
                <a:extLst>
                  <a:ext uri="{0D108BD9-81ED-4DB2-BD59-A6C34878D82A}">
                    <a16:rowId xmlns:a16="http://schemas.microsoft.com/office/drawing/2014/main" val="10000"/>
                  </a:ext>
                </a:extLst>
              </a:tr>
              <a:tr h="304800">
                <a:tc>
                  <a:txBody>
                    <a:bodyPr/>
                    <a:lstStyle/>
                    <a:p>
                      <a:pPr algn="l">
                        <a:defRPr sz="1100" b="0">
                          <a:solidFill>
                            <a:srgbClr val="374151"/>
                          </a:solidFill>
                          <a:latin typeface="Calibri"/>
                        </a:defRPr>
                      </a:pPr>
                      <a:r>
                        <a:t>AI-native IDE (Cursor, Claude Code)</a:t>
                      </a:r>
                    </a:p>
                  </a:txBody>
                  <a:tcPr>
                    <a:solidFill>
                      <a:srgbClr val="FFFFFF"/>
                    </a:solidFill>
                  </a:tcPr>
                </a:tc>
                <a:tc>
                  <a:txBody>
                    <a:bodyPr/>
                    <a:lstStyle/>
                    <a:p>
                      <a:pPr algn="r">
                        <a:defRPr sz="1100" b="0">
                          <a:solidFill>
                            <a:srgbClr val="374151"/>
                          </a:solidFill>
                          <a:latin typeface="Calibri"/>
                        </a:defRPr>
                      </a:pPr>
                      <a:r>
                        <a:t>$0.3K–$0.5K</a:t>
                      </a:r>
                    </a:p>
                  </a:txBody>
                  <a:tcPr>
                    <a:solidFill>
                      <a:srgbClr val="FFFFFF"/>
                    </a:solidFill>
                  </a:tcPr>
                </a:tc>
                <a:extLst>
                  <a:ext uri="{0D108BD9-81ED-4DB2-BD59-A6C34878D82A}">
                    <a16:rowId xmlns:a16="http://schemas.microsoft.com/office/drawing/2014/main" val="10001"/>
                  </a:ext>
                </a:extLst>
              </a:tr>
              <a:tr h="304800">
                <a:tc>
                  <a:txBody>
                    <a:bodyPr/>
                    <a:lstStyle/>
                    <a:p>
                      <a:pPr algn="l">
                        <a:defRPr sz="1100" b="0">
                          <a:solidFill>
                            <a:srgbClr val="374151"/>
                          </a:solidFill>
                          <a:latin typeface="Calibri"/>
                        </a:defRPr>
                      </a:pPr>
                      <a:r>
                        <a:t>CI/CD + automated pipelines</a:t>
                      </a:r>
                    </a:p>
                  </a:txBody>
                  <a:tcPr>
                    <a:solidFill>
                      <a:srgbClr val="EFF6FF"/>
                    </a:solidFill>
                  </a:tcPr>
                </a:tc>
                <a:tc>
                  <a:txBody>
                    <a:bodyPr/>
                    <a:lstStyle/>
                    <a:p>
                      <a:pPr algn="r">
                        <a:defRPr sz="1100" b="0">
                          <a:solidFill>
                            <a:srgbClr val="374151"/>
                          </a:solidFill>
                          <a:latin typeface="Calibri"/>
                        </a:defRPr>
                      </a:pPr>
                      <a:r>
                        <a:t>$1K–$1.5K</a:t>
                      </a:r>
                    </a:p>
                  </a:txBody>
                  <a:tcPr>
                    <a:solidFill>
                      <a:srgbClr val="EFF6FF"/>
                    </a:solidFill>
                  </a:tcPr>
                </a:tc>
                <a:extLst>
                  <a:ext uri="{0D108BD9-81ED-4DB2-BD59-A6C34878D82A}">
                    <a16:rowId xmlns:a16="http://schemas.microsoft.com/office/drawing/2014/main" val="10002"/>
                  </a:ext>
                </a:extLst>
              </a:tr>
              <a:tr h="304800">
                <a:tc>
                  <a:txBody>
                    <a:bodyPr/>
                    <a:lstStyle/>
                    <a:p>
                      <a:pPr algn="l">
                        <a:defRPr sz="1100" b="0">
                          <a:solidFill>
                            <a:srgbClr val="374151"/>
                          </a:solidFill>
                          <a:latin typeface="Calibri"/>
                        </a:defRPr>
                      </a:pPr>
                      <a:r>
                        <a:t>Cloud infra (prod-grade, auto-scaled)</a:t>
                      </a:r>
                    </a:p>
                  </a:txBody>
                  <a:tcPr>
                    <a:solidFill>
                      <a:srgbClr val="FFFFFF"/>
                    </a:solidFill>
                  </a:tcPr>
                </a:tc>
                <a:tc>
                  <a:txBody>
                    <a:bodyPr/>
                    <a:lstStyle/>
                    <a:p>
                      <a:pPr algn="r">
                        <a:defRPr sz="1100" b="0">
                          <a:solidFill>
                            <a:srgbClr val="374151"/>
                          </a:solidFill>
                          <a:latin typeface="Calibri"/>
                        </a:defRPr>
                      </a:pPr>
                      <a:r>
                        <a:t>$1.5K–$2K</a:t>
                      </a:r>
                    </a:p>
                  </a:txBody>
                  <a:tcPr>
                    <a:solidFill>
                      <a:srgbClr val="FFFFFF"/>
                    </a:solidFill>
                  </a:tcPr>
                </a:tc>
                <a:extLst>
                  <a:ext uri="{0D108BD9-81ED-4DB2-BD59-A6C34878D82A}">
                    <a16:rowId xmlns:a16="http://schemas.microsoft.com/office/drawing/2014/main" val="10003"/>
                  </a:ext>
                </a:extLst>
              </a:tr>
              <a:tr h="304800">
                <a:tc>
                  <a:txBody>
                    <a:bodyPr/>
                    <a:lstStyle/>
                    <a:p>
                      <a:pPr algn="l">
                        <a:defRPr sz="1100" b="0">
                          <a:solidFill>
                            <a:srgbClr val="374151"/>
                          </a:solidFill>
                          <a:latin typeface="Calibri"/>
                        </a:defRPr>
                      </a:pPr>
                      <a:r>
                        <a:t>Observability (APM, traces)</a:t>
                      </a:r>
                    </a:p>
                  </a:txBody>
                  <a:tcPr>
                    <a:solidFill>
                      <a:srgbClr val="EFF6FF"/>
                    </a:solidFill>
                  </a:tcPr>
                </a:tc>
                <a:tc>
                  <a:txBody>
                    <a:bodyPr/>
                    <a:lstStyle/>
                    <a:p>
                      <a:pPr algn="r">
                        <a:defRPr sz="1100" b="0">
                          <a:solidFill>
                            <a:srgbClr val="374151"/>
                          </a:solidFill>
                          <a:latin typeface="Calibri"/>
                        </a:defRPr>
                      </a:pPr>
                      <a:r>
                        <a:t>$0.5K–$0.8K</a:t>
                      </a:r>
                    </a:p>
                  </a:txBody>
                  <a:tcPr>
                    <a:solidFill>
                      <a:srgbClr val="EFF6FF"/>
                    </a:solidFill>
                  </a:tcPr>
                </a:tc>
                <a:extLst>
                  <a:ext uri="{0D108BD9-81ED-4DB2-BD59-A6C34878D82A}">
                    <a16:rowId xmlns:a16="http://schemas.microsoft.com/office/drawing/2014/main" val="10004"/>
                  </a:ext>
                </a:extLst>
              </a:tr>
              <a:tr h="304800">
                <a:tc>
                  <a:txBody>
                    <a:bodyPr/>
                    <a:lstStyle/>
                    <a:p>
                      <a:pPr algn="l">
                        <a:defRPr sz="1100" b="0">
                          <a:solidFill>
                            <a:srgbClr val="374151"/>
                          </a:solidFill>
                          <a:latin typeface="Calibri"/>
                        </a:defRPr>
                      </a:pPr>
                      <a:r>
                        <a:t>Security scanning (automated)</a:t>
                      </a:r>
                    </a:p>
                  </a:txBody>
                  <a:tcPr>
                    <a:solidFill>
                      <a:srgbClr val="FFFFFF"/>
                    </a:solidFill>
                  </a:tcPr>
                </a:tc>
                <a:tc>
                  <a:txBody>
                    <a:bodyPr/>
                    <a:lstStyle/>
                    <a:p>
                      <a:pPr algn="r">
                        <a:defRPr sz="1100" b="0">
                          <a:solidFill>
                            <a:srgbClr val="374151"/>
                          </a:solidFill>
                          <a:latin typeface="Calibri"/>
                        </a:defRPr>
                      </a:pPr>
                      <a:r>
                        <a:t>$0.2K</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6217920" y="3063240"/>
            <a:ext cx="4572000" cy="274320"/>
          </a:xfrm>
          <a:prstGeom prst="rect">
            <a:avLst/>
          </a:prstGeom>
          <a:noFill/>
        </p:spPr>
        <p:txBody>
          <a:bodyPr wrap="square" anchor="t"/>
          <a:lstStyle/>
          <a:p>
            <a:pPr algn="l">
              <a:defRPr sz="1300" b="1">
                <a:solidFill>
                  <a:srgbClr val="1E3A5F"/>
                </a:solidFill>
                <a:latin typeface="Calibri"/>
              </a:defRPr>
            </a:pPr>
            <a:r>
              <a:t>Other   $2.5K–$4K</a:t>
            </a:r>
          </a:p>
        </p:txBody>
      </p:sp>
      <p:sp>
        <p:nvSpPr>
          <p:cNvPr id="12" name="TextBox 11"/>
          <p:cNvSpPr txBox="1"/>
          <p:nvPr/>
        </p:nvSpPr>
        <p:spPr>
          <a:xfrm>
            <a:off x="6217920" y="3383280"/>
            <a:ext cx="5029200" cy="457200"/>
          </a:xfrm>
          <a:prstGeom prst="rect">
            <a:avLst/>
          </a:prstGeom>
          <a:noFill/>
        </p:spPr>
        <p:txBody>
          <a:bodyPr wrap="square"/>
          <a:lstStyle/>
          <a:p>
            <a:pPr algn="l">
              <a:spcBef>
                <a:spcPts val="0"/>
              </a:spcBef>
              <a:spcAft>
                <a:spcPts val="400"/>
              </a:spcAft>
              <a:defRPr sz="1000" b="0" i="0">
                <a:solidFill>
                  <a:srgbClr val="4B5563"/>
                </a:solidFill>
                <a:latin typeface="Calibri"/>
              </a:defRPr>
            </a:pPr>
            <a:r>
              <a:t>Agent governance, knowledge base maintenance, upskilling, pod coordination, contingency</a:t>
            </a:r>
          </a:p>
        </p:txBody>
      </p:sp>
      <p:sp>
        <p:nvSpPr>
          <p:cNvPr id="13" name="Rounded Rectangle 12"/>
          <p:cNvSpPr/>
          <p:nvPr/>
        </p:nvSpPr>
        <p:spPr>
          <a:xfrm>
            <a:off x="6217920" y="4023360"/>
            <a:ext cx="5303520" cy="1554480"/>
          </a:xfrm>
          <a:prstGeom prst="round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4114800"/>
            <a:ext cx="5303520" cy="274320"/>
          </a:xfrm>
          <a:prstGeom prst="rect">
            <a:avLst/>
          </a:prstGeom>
          <a:noFill/>
        </p:spPr>
        <p:txBody>
          <a:bodyPr wrap="square" anchor="t"/>
          <a:lstStyle/>
          <a:p>
            <a:pPr algn="ctr">
              <a:defRPr sz="1400" b="1">
                <a:solidFill>
                  <a:srgbClr val="BFDBFE"/>
                </a:solidFill>
                <a:latin typeface="Calibri"/>
              </a:defRPr>
            </a:pPr>
            <a:r>
              <a:t>Total ADLC</a:t>
            </a:r>
          </a:p>
        </p:txBody>
      </p:sp>
      <p:sp>
        <p:nvSpPr>
          <p:cNvPr id="15" name="TextBox 14"/>
          <p:cNvSpPr txBox="1"/>
          <p:nvPr/>
        </p:nvSpPr>
        <p:spPr>
          <a:xfrm>
            <a:off x="6217920" y="4389120"/>
            <a:ext cx="5303520" cy="548640"/>
          </a:xfrm>
          <a:prstGeom prst="rect">
            <a:avLst/>
          </a:prstGeom>
          <a:noFill/>
        </p:spPr>
        <p:txBody>
          <a:bodyPr wrap="square" anchor="t"/>
          <a:lstStyle/>
          <a:p>
            <a:pPr algn="ctr">
              <a:defRPr sz="3800" b="1">
                <a:solidFill>
                  <a:srgbClr val="FFFFFF"/>
                </a:solidFill>
                <a:latin typeface="Calibri"/>
              </a:defRPr>
            </a:pPr>
            <a:r>
              <a:t>$18K–$28K</a:t>
            </a:r>
          </a:p>
        </p:txBody>
      </p:sp>
      <p:sp>
        <p:nvSpPr>
          <p:cNvPr id="16" name="TextBox 15"/>
          <p:cNvSpPr txBox="1"/>
          <p:nvPr/>
        </p:nvSpPr>
        <p:spPr>
          <a:xfrm>
            <a:off x="6217920" y="4892040"/>
            <a:ext cx="5303520" cy="274320"/>
          </a:xfrm>
          <a:prstGeom prst="rect">
            <a:avLst/>
          </a:prstGeom>
          <a:noFill/>
        </p:spPr>
        <p:txBody>
          <a:bodyPr wrap="square" anchor="t"/>
          <a:lstStyle/>
          <a:p>
            <a:pPr algn="ctr">
              <a:defRPr sz="1000" b="0">
                <a:solidFill>
                  <a:srgbClr val="BFDBFE"/>
                </a:solidFill>
                <a:latin typeface="Calibri"/>
              </a:defRPr>
            </a:pPr>
            <a:r>
              <a:t>per pod / per month   ·   2.25 people   ·   21 agents   ·   ~45% labour</a:t>
            </a:r>
          </a:p>
        </p:txBody>
      </p:sp>
      <p:sp>
        <p:nvSpPr>
          <p:cNvPr id="17" name="Rectangle 16"/>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19" name="TextBox 18"/>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Transformation Cost: SDLC → ADLC</a:t>
            </a:r>
          </a:p>
        </p:txBody>
      </p:sp>
      <p:sp>
        <p:nvSpPr>
          <p:cNvPr id="4" name="TextBox 3"/>
          <p:cNvSpPr txBox="1"/>
          <p:nvPr/>
        </p:nvSpPr>
        <p:spPr>
          <a:xfrm>
            <a:off x="9144000" y="137160"/>
            <a:ext cx="2743200" cy="365760"/>
          </a:xfrm>
          <a:prstGeom prst="rect">
            <a:avLst/>
          </a:prstGeom>
          <a:noFill/>
        </p:spPr>
        <p:txBody>
          <a:bodyPr wrap="square" anchor="ctr"/>
          <a:lstStyle/>
          <a:p>
            <a:pPr algn="r">
              <a:defRPr sz="1000" b="1">
                <a:solidFill>
                  <a:srgbClr val="93C5FD"/>
                </a:solidFill>
                <a:latin typeface="Calibri"/>
              </a:defRPr>
            </a:pPr>
            <a:r>
              <a:t>PER POD / ONE-TIME</a:t>
            </a:r>
          </a:p>
        </p:txBody>
      </p:sp>
      <p:sp>
        <p:nvSpPr>
          <p:cNvPr id="5" name="TextBox 4"/>
          <p:cNvSpPr txBox="1"/>
          <p:nvPr/>
        </p:nvSpPr>
        <p:spPr>
          <a:xfrm>
            <a:off x="548640" y="777240"/>
            <a:ext cx="10972800" cy="274320"/>
          </a:xfrm>
          <a:prstGeom prst="rect">
            <a:avLst/>
          </a:prstGeom>
          <a:noFill/>
        </p:spPr>
        <p:txBody>
          <a:bodyPr wrap="square" anchor="t"/>
          <a:lstStyle/>
          <a:p>
            <a:pPr algn="l">
              <a:defRPr sz="1300" b="0">
                <a:solidFill>
                  <a:srgbClr val="4B5563"/>
                </a:solidFill>
                <a:latin typeface="Calibri"/>
              </a:defRPr>
            </a:pPr>
            <a:r>
              <a:t>One-time investment to transform a single product team from traditional SDLC to an ADLC Frontier Pod.</a:t>
            </a:r>
          </a:p>
        </p:txBody>
      </p:sp>
      <p:graphicFrame>
        <p:nvGraphicFramePr>
          <p:cNvPr id="6" name="Table 5"/>
          <p:cNvGraphicFramePr>
            <a:graphicFrameLocks noGrp="1"/>
          </p:cNvGraphicFramePr>
          <p:nvPr/>
        </p:nvGraphicFramePr>
        <p:xfrm>
          <a:off x="548640" y="1143000"/>
          <a:ext cx="6858000" cy="3291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algn="l">
                        <a:defRPr sz="1000" b="1">
                          <a:solidFill>
                            <a:srgbClr val="FFFFFF"/>
                          </a:solidFill>
                          <a:latin typeface="Calibri"/>
                        </a:defRPr>
                      </a:pPr>
                      <a:r>
                        <a:t>Category</a:t>
                      </a:r>
                    </a:p>
                  </a:txBody>
                  <a:tcPr>
                    <a:solidFill>
                      <a:srgbClr val="1A56DB"/>
                    </a:solidFill>
                  </a:tcPr>
                </a:tc>
                <a:tc>
                  <a:txBody>
                    <a:bodyPr/>
                    <a:lstStyle/>
                    <a:p>
                      <a:pPr algn="l">
                        <a:defRPr sz="1000" b="1">
                          <a:solidFill>
                            <a:srgbClr val="FFFFFF"/>
                          </a:solidFill>
                          <a:latin typeface="Calibri"/>
                        </a:defRPr>
                      </a:pPr>
                      <a:r>
                        <a:t>Items</a:t>
                      </a:r>
                    </a:p>
                  </a:txBody>
                  <a:tcPr>
                    <a:solidFill>
                      <a:srgbClr val="1A56DB"/>
                    </a:solidFill>
                  </a:tcPr>
                </a:tc>
                <a:tc>
                  <a:txBody>
                    <a:bodyPr/>
                    <a:lstStyle/>
                    <a:p>
                      <a:pPr algn="l">
                        <a:defRPr sz="1000" b="1">
                          <a:solidFill>
                            <a:srgbClr val="FFFFFF"/>
                          </a:solidFill>
                          <a:latin typeface="Calibri"/>
                        </a:defRPr>
                      </a:pPr>
                      <a:r>
                        <a:t>Cost</a:t>
                      </a:r>
                    </a:p>
                  </a:txBody>
                  <a:tcPr>
                    <a:solidFill>
                      <a:srgbClr val="1A56DB"/>
                    </a:solidFill>
                  </a:tcPr>
                </a:tc>
                <a:extLst>
                  <a:ext uri="{0D108BD9-81ED-4DB2-BD59-A6C34878D82A}">
                    <a16:rowId xmlns:a16="http://schemas.microsoft.com/office/drawing/2014/main" val="10000"/>
                  </a:ext>
                </a:extLst>
              </a:tr>
              <a:tr h="411480">
                <a:tc>
                  <a:txBody>
                    <a:bodyPr/>
                    <a:lstStyle/>
                    <a:p>
                      <a:pPr algn="l">
                        <a:defRPr sz="1100" b="1">
                          <a:solidFill>
                            <a:srgbClr val="374151"/>
                          </a:solidFill>
                          <a:latin typeface="Calibri"/>
                        </a:defRPr>
                      </a:pPr>
                      <a:r>
                        <a:t>People &amp; Training</a:t>
                      </a:r>
                    </a:p>
                  </a:txBody>
                  <a:tcPr>
                    <a:solidFill>
                      <a:srgbClr val="FFFFFF"/>
                    </a:solidFill>
                  </a:tcPr>
                </a:tc>
                <a:tc>
                  <a:txBody>
                    <a:bodyPr/>
                    <a:lstStyle/>
                    <a:p>
                      <a:pPr algn="l">
                        <a:defRPr sz="1000" b="0">
                          <a:solidFill>
                            <a:srgbClr val="374151"/>
                          </a:solidFill>
                          <a:latin typeface="Calibri"/>
                        </a:defRPr>
                      </a:pPr>
                      <a:r>
                        <a:t>Frontier Academy enrolment (2–3 people), hands-on agent training, certification, domain immersion</a:t>
                      </a:r>
                    </a:p>
                  </a:txBody>
                  <a:tcPr>
                    <a:solidFill>
                      <a:srgbClr val="FFFFFF"/>
                    </a:solidFill>
                  </a:tcPr>
                </a:tc>
                <a:tc>
                  <a:txBody>
                    <a:bodyPr/>
                    <a:lstStyle/>
                    <a:p>
                      <a:pPr algn="r">
                        <a:defRPr sz="1100" b="1">
                          <a:solidFill>
                            <a:srgbClr val="374151"/>
                          </a:solidFill>
                          <a:latin typeface="Calibri"/>
                        </a:defRPr>
                      </a:pPr>
                      <a:r>
                        <a:t>$25K–$40K</a:t>
                      </a:r>
                    </a:p>
                  </a:txBody>
                  <a:tcPr>
                    <a:solidFill>
                      <a:srgbClr val="FFFFFF"/>
                    </a:solidFill>
                  </a:tcPr>
                </a:tc>
                <a:extLst>
                  <a:ext uri="{0D108BD9-81ED-4DB2-BD59-A6C34878D82A}">
                    <a16:rowId xmlns:a16="http://schemas.microsoft.com/office/drawing/2014/main" val="10001"/>
                  </a:ext>
                </a:extLst>
              </a:tr>
              <a:tr h="411480">
                <a:tc>
                  <a:txBody>
                    <a:bodyPr/>
                    <a:lstStyle/>
                    <a:p>
                      <a:pPr algn="l">
                        <a:defRPr sz="1100" b="1">
                          <a:solidFill>
                            <a:srgbClr val="374151"/>
                          </a:solidFill>
                          <a:latin typeface="Calibri"/>
                        </a:defRPr>
                      </a:pPr>
                      <a:r>
                        <a:t>Agent Development</a:t>
                      </a:r>
                    </a:p>
                  </a:txBody>
                  <a:tcPr>
                    <a:solidFill>
                      <a:srgbClr val="EFF6FF"/>
                    </a:solidFill>
                  </a:tcPr>
                </a:tc>
                <a:tc>
                  <a:txBody>
                    <a:bodyPr/>
                    <a:lstStyle/>
                    <a:p>
                      <a:pPr algn="l">
                        <a:defRPr sz="1000" b="0">
                          <a:solidFill>
                            <a:srgbClr val="374151"/>
                          </a:solidFill>
                          <a:latin typeface="Calibri"/>
                        </a:defRPr>
                      </a:pPr>
                      <a:r>
                        <a:t>Build/configure 15–21 specialised agents, prompt engineering, test harnesses, integration testing</a:t>
                      </a:r>
                    </a:p>
                  </a:txBody>
                  <a:tcPr>
                    <a:solidFill>
                      <a:srgbClr val="EFF6FF"/>
                    </a:solidFill>
                  </a:tcPr>
                </a:tc>
                <a:tc>
                  <a:txBody>
                    <a:bodyPr/>
                    <a:lstStyle/>
                    <a:p>
                      <a:pPr algn="r">
                        <a:defRPr sz="1100" b="1">
                          <a:solidFill>
                            <a:srgbClr val="374151"/>
                          </a:solidFill>
                          <a:latin typeface="Calibri"/>
                        </a:defRPr>
                      </a:pPr>
                      <a:r>
                        <a:t>$35K–$55K</a:t>
                      </a:r>
                    </a:p>
                  </a:txBody>
                  <a:tcPr>
                    <a:solidFill>
                      <a:srgbClr val="EFF6FF"/>
                    </a:solidFill>
                  </a:tcPr>
                </a:tc>
                <a:extLst>
                  <a:ext uri="{0D108BD9-81ED-4DB2-BD59-A6C34878D82A}">
                    <a16:rowId xmlns:a16="http://schemas.microsoft.com/office/drawing/2014/main" val="10002"/>
                  </a:ext>
                </a:extLst>
              </a:tr>
              <a:tr h="411480">
                <a:tc>
                  <a:txBody>
                    <a:bodyPr/>
                    <a:lstStyle/>
                    <a:p>
                      <a:pPr algn="l">
                        <a:defRPr sz="1100" b="1">
                          <a:solidFill>
                            <a:srgbClr val="374151"/>
                          </a:solidFill>
                          <a:latin typeface="Calibri"/>
                        </a:defRPr>
                      </a:pPr>
                      <a:r>
                        <a:t>Infrastructure Setup</a:t>
                      </a:r>
                    </a:p>
                  </a:txBody>
                  <a:tcPr>
                    <a:solidFill>
                      <a:srgbClr val="FFFFFF"/>
                    </a:solidFill>
                  </a:tcPr>
                </a:tc>
                <a:tc>
                  <a:txBody>
                    <a:bodyPr/>
                    <a:lstStyle/>
                    <a:p>
                      <a:pPr algn="l">
                        <a:defRPr sz="1000" b="0">
                          <a:solidFill>
                            <a:srgbClr val="374151"/>
                          </a:solidFill>
                          <a:latin typeface="Calibri"/>
                        </a:defRPr>
                      </a:pPr>
                      <a:r>
                        <a:t>Agent orchestration platform, vector DB, LLM gateway, CI/CD pipelines, observability stack</a:t>
                      </a:r>
                    </a:p>
                  </a:txBody>
                  <a:tcPr>
                    <a:solidFill>
                      <a:srgbClr val="FFFFFF"/>
                    </a:solidFill>
                  </a:tcPr>
                </a:tc>
                <a:tc>
                  <a:txBody>
                    <a:bodyPr/>
                    <a:lstStyle/>
                    <a:p>
                      <a:pPr algn="r">
                        <a:defRPr sz="1100" b="1">
                          <a:solidFill>
                            <a:srgbClr val="374151"/>
                          </a:solidFill>
                          <a:latin typeface="Calibri"/>
                        </a:defRPr>
                      </a:pPr>
                      <a:r>
                        <a:t>$20K–$30K</a:t>
                      </a:r>
                    </a:p>
                  </a:txBody>
                  <a:tcPr>
                    <a:solidFill>
                      <a:srgbClr val="FFFFFF"/>
                    </a:solidFill>
                  </a:tcPr>
                </a:tc>
                <a:extLst>
                  <a:ext uri="{0D108BD9-81ED-4DB2-BD59-A6C34878D82A}">
                    <a16:rowId xmlns:a16="http://schemas.microsoft.com/office/drawing/2014/main" val="10003"/>
                  </a:ext>
                </a:extLst>
              </a:tr>
              <a:tr h="411480">
                <a:tc>
                  <a:txBody>
                    <a:bodyPr/>
                    <a:lstStyle/>
                    <a:p>
                      <a:pPr algn="l">
                        <a:defRPr sz="1100" b="1">
                          <a:solidFill>
                            <a:srgbClr val="374151"/>
                          </a:solidFill>
                          <a:latin typeface="Calibri"/>
                        </a:defRPr>
                      </a:pPr>
                      <a:r>
                        <a:t>Process Redesign</a:t>
                      </a:r>
                    </a:p>
                  </a:txBody>
                  <a:tcPr>
                    <a:solidFill>
                      <a:srgbClr val="EFF6FF"/>
                    </a:solidFill>
                  </a:tcPr>
                </a:tc>
                <a:tc>
                  <a:txBody>
                    <a:bodyPr/>
                    <a:lstStyle/>
                    <a:p>
                      <a:pPr algn="l">
                        <a:defRPr sz="1000" b="0">
                          <a:solidFill>
                            <a:srgbClr val="374151"/>
                          </a:solidFill>
                          <a:latin typeface="Calibri"/>
                        </a:defRPr>
                      </a:pPr>
                      <a:r>
                        <a:t>Value stream mapping, workflow automation, governance model, RACI redefinition, quality gates</a:t>
                      </a:r>
                    </a:p>
                  </a:txBody>
                  <a:tcPr>
                    <a:solidFill>
                      <a:srgbClr val="EFF6FF"/>
                    </a:solidFill>
                  </a:tcPr>
                </a:tc>
                <a:tc>
                  <a:txBody>
                    <a:bodyPr/>
                    <a:lstStyle/>
                    <a:p>
                      <a:pPr algn="r">
                        <a:defRPr sz="1100" b="1">
                          <a:solidFill>
                            <a:srgbClr val="374151"/>
                          </a:solidFill>
                          <a:latin typeface="Calibri"/>
                        </a:defRPr>
                      </a:pPr>
                      <a:r>
                        <a:t>$15K–$25K</a:t>
                      </a:r>
                    </a:p>
                  </a:txBody>
                  <a:tcPr>
                    <a:solidFill>
                      <a:srgbClr val="EFF6FF"/>
                    </a:solidFill>
                  </a:tcPr>
                </a:tc>
                <a:extLst>
                  <a:ext uri="{0D108BD9-81ED-4DB2-BD59-A6C34878D82A}">
                    <a16:rowId xmlns:a16="http://schemas.microsoft.com/office/drawing/2014/main" val="10004"/>
                  </a:ext>
                </a:extLst>
              </a:tr>
              <a:tr h="411480">
                <a:tc>
                  <a:txBody>
                    <a:bodyPr/>
                    <a:lstStyle/>
                    <a:p>
                      <a:pPr algn="l">
                        <a:defRPr sz="1100" b="1">
                          <a:solidFill>
                            <a:srgbClr val="374151"/>
                          </a:solidFill>
                          <a:latin typeface="Calibri"/>
                        </a:defRPr>
                      </a:pPr>
                      <a:r>
                        <a:t>Knowledge Transfer</a:t>
                      </a:r>
                    </a:p>
                  </a:txBody>
                  <a:tcPr>
                    <a:solidFill>
                      <a:srgbClr val="FFFFFF"/>
                    </a:solidFill>
                  </a:tcPr>
                </a:tc>
                <a:tc>
                  <a:txBody>
                    <a:bodyPr/>
                    <a:lstStyle/>
                    <a:p>
                      <a:pPr algn="l">
                        <a:defRPr sz="1000" b="0">
                          <a:solidFill>
                            <a:srgbClr val="374151"/>
                          </a:solidFill>
                          <a:latin typeface="Calibri"/>
                        </a:defRPr>
                      </a:pPr>
                      <a:r>
                        <a:t>Domain knowledge capture, RAG pipeline setup, context embedding, institutional memory digitisation</a:t>
                      </a:r>
                    </a:p>
                  </a:txBody>
                  <a:tcPr>
                    <a:solidFill>
                      <a:srgbClr val="FFFFFF"/>
                    </a:solidFill>
                  </a:tcPr>
                </a:tc>
                <a:tc>
                  <a:txBody>
                    <a:bodyPr/>
                    <a:lstStyle/>
                    <a:p>
                      <a:pPr algn="r">
                        <a:defRPr sz="1100" b="1">
                          <a:solidFill>
                            <a:srgbClr val="374151"/>
                          </a:solidFill>
                          <a:latin typeface="Calibri"/>
                        </a:defRPr>
                      </a:pPr>
                      <a:r>
                        <a:t>$10K–$20K</a:t>
                      </a:r>
                    </a:p>
                  </a:txBody>
                  <a:tcPr>
                    <a:solidFill>
                      <a:srgbClr val="FFFFFF"/>
                    </a:solidFill>
                  </a:tcPr>
                </a:tc>
                <a:extLst>
                  <a:ext uri="{0D108BD9-81ED-4DB2-BD59-A6C34878D82A}">
                    <a16:rowId xmlns:a16="http://schemas.microsoft.com/office/drawing/2014/main" val="10005"/>
                  </a:ext>
                </a:extLst>
              </a:tr>
              <a:tr h="411480">
                <a:tc>
                  <a:txBody>
                    <a:bodyPr/>
                    <a:lstStyle/>
                    <a:p>
                      <a:pPr algn="l">
                        <a:defRPr sz="1100" b="1">
                          <a:solidFill>
                            <a:srgbClr val="374151"/>
                          </a:solidFill>
                          <a:latin typeface="Calibri"/>
                        </a:defRPr>
                      </a:pPr>
                      <a:r>
                        <a:t>Pilot &amp; Validation</a:t>
                      </a:r>
                    </a:p>
                  </a:txBody>
                  <a:tcPr>
                    <a:solidFill>
                      <a:srgbClr val="EFF6FF"/>
                    </a:solidFill>
                  </a:tcPr>
                </a:tc>
                <a:tc>
                  <a:txBody>
                    <a:bodyPr/>
                    <a:lstStyle/>
                    <a:p>
                      <a:pPr algn="l">
                        <a:defRPr sz="1000" b="0">
                          <a:solidFill>
                            <a:srgbClr val="374151"/>
                          </a:solidFill>
                          <a:latin typeface="Calibri"/>
                        </a:defRPr>
                      </a:pPr>
                      <a:r>
                        <a:t>2–4 week pilot run, parallel operation with SDLC team, metrics comparison, go/no-go gate</a:t>
                      </a:r>
                    </a:p>
                  </a:txBody>
                  <a:tcPr>
                    <a:solidFill>
                      <a:srgbClr val="EFF6FF"/>
                    </a:solidFill>
                  </a:tcPr>
                </a:tc>
                <a:tc>
                  <a:txBody>
                    <a:bodyPr/>
                    <a:lstStyle/>
                    <a:p>
                      <a:pPr algn="r">
                        <a:defRPr sz="1100" b="1">
                          <a:solidFill>
                            <a:srgbClr val="374151"/>
                          </a:solidFill>
                          <a:latin typeface="Calibri"/>
                        </a:defRPr>
                      </a:pPr>
                      <a:r>
                        <a:t>$10K–$20K</a:t>
                      </a:r>
                    </a:p>
                  </a:txBody>
                  <a:tcPr>
                    <a:solidFill>
                      <a:srgbClr val="EFF6FF"/>
                    </a:solidFill>
                  </a:tcPr>
                </a:tc>
                <a:extLst>
                  <a:ext uri="{0D108BD9-81ED-4DB2-BD59-A6C34878D82A}">
                    <a16:rowId xmlns:a16="http://schemas.microsoft.com/office/drawing/2014/main" val="10006"/>
                  </a:ext>
                </a:extLst>
              </a:tr>
              <a:tr h="411480">
                <a:tc>
                  <a:txBody>
                    <a:bodyPr/>
                    <a:lstStyle/>
                    <a:p>
                      <a:pPr algn="l">
                        <a:defRPr sz="1100" b="1">
                          <a:solidFill>
                            <a:srgbClr val="374151"/>
                          </a:solidFill>
                          <a:latin typeface="Calibri"/>
                        </a:defRPr>
                      </a:pPr>
                      <a:r>
                        <a:t>Change Management</a:t>
                      </a:r>
                    </a:p>
                  </a:txBody>
                  <a:tcPr>
                    <a:solidFill>
                      <a:srgbClr val="FFFFFF"/>
                    </a:solidFill>
                  </a:tcPr>
                </a:tc>
                <a:tc>
                  <a:txBody>
                    <a:bodyPr/>
                    <a:lstStyle/>
                    <a:p>
                      <a:pPr algn="l">
                        <a:defRPr sz="1000" b="0">
                          <a:solidFill>
                            <a:srgbClr val="374151"/>
                          </a:solidFill>
                          <a:latin typeface="Calibri"/>
                        </a:defRPr>
                      </a:pPr>
                      <a:r>
                        <a:t>Stakeholder alignment, role transition support, client communication, org-change facilitation</a:t>
                      </a:r>
                    </a:p>
                  </a:txBody>
                  <a:tcPr>
                    <a:solidFill>
                      <a:srgbClr val="FFFFFF"/>
                    </a:solidFill>
                  </a:tcPr>
                </a:tc>
                <a:tc>
                  <a:txBody>
                    <a:bodyPr/>
                    <a:lstStyle/>
                    <a:p>
                      <a:pPr algn="r">
                        <a:defRPr sz="1100" b="1">
                          <a:solidFill>
                            <a:srgbClr val="374151"/>
                          </a:solidFill>
                          <a:latin typeface="Calibri"/>
                        </a:defRPr>
                      </a:pPr>
                      <a:r>
                        <a:t>$5K–$10K</a:t>
                      </a:r>
                    </a:p>
                  </a:txBody>
                  <a:tcPr>
                    <a:solidFill>
                      <a:srgbClr val="FFFFFF"/>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7772400" y="1143000"/>
            <a:ext cx="3931920" cy="118872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0" y="1188720"/>
            <a:ext cx="3931920" cy="228600"/>
          </a:xfrm>
          <a:prstGeom prst="rect">
            <a:avLst/>
          </a:prstGeom>
          <a:noFill/>
        </p:spPr>
        <p:txBody>
          <a:bodyPr wrap="square" anchor="t"/>
          <a:lstStyle/>
          <a:p>
            <a:pPr algn="ctr">
              <a:defRPr sz="1200" b="1">
                <a:solidFill>
                  <a:srgbClr val="BFDBFE"/>
                </a:solidFill>
                <a:latin typeface="Calibri"/>
              </a:defRPr>
            </a:pPr>
            <a:r>
              <a:t>Total Transformation</a:t>
            </a:r>
          </a:p>
        </p:txBody>
      </p:sp>
      <p:sp>
        <p:nvSpPr>
          <p:cNvPr id="9" name="TextBox 8"/>
          <p:cNvSpPr txBox="1"/>
          <p:nvPr/>
        </p:nvSpPr>
        <p:spPr>
          <a:xfrm>
            <a:off x="7772400" y="1463040"/>
            <a:ext cx="3931920" cy="502920"/>
          </a:xfrm>
          <a:prstGeom prst="rect">
            <a:avLst/>
          </a:prstGeom>
          <a:noFill/>
        </p:spPr>
        <p:txBody>
          <a:bodyPr wrap="square" anchor="t"/>
          <a:lstStyle/>
          <a:p>
            <a:pPr algn="ctr">
              <a:defRPr sz="3400" b="1">
                <a:solidFill>
                  <a:srgbClr val="FFFFFF"/>
                </a:solidFill>
                <a:latin typeface="Calibri"/>
              </a:defRPr>
            </a:pPr>
            <a:r>
              <a:t>$120K–$200K</a:t>
            </a:r>
          </a:p>
        </p:txBody>
      </p:sp>
      <p:sp>
        <p:nvSpPr>
          <p:cNvPr id="10" name="TextBox 9"/>
          <p:cNvSpPr txBox="1"/>
          <p:nvPr/>
        </p:nvSpPr>
        <p:spPr>
          <a:xfrm>
            <a:off x="7772400" y="1965960"/>
            <a:ext cx="3931920" cy="182880"/>
          </a:xfrm>
          <a:prstGeom prst="rect">
            <a:avLst/>
          </a:prstGeom>
          <a:noFill/>
        </p:spPr>
        <p:txBody>
          <a:bodyPr wrap="square" anchor="t"/>
          <a:lstStyle/>
          <a:p>
            <a:pPr algn="ctr">
              <a:defRPr sz="1000" b="0">
                <a:solidFill>
                  <a:srgbClr val="BFDBFE"/>
                </a:solidFill>
                <a:latin typeface="Calibri"/>
              </a:defRPr>
            </a:pPr>
            <a:r>
              <a:t>one-time per pod</a:t>
            </a:r>
          </a:p>
        </p:txBody>
      </p:sp>
      <p:sp>
        <p:nvSpPr>
          <p:cNvPr id="11" name="Rounded Rectangle 10"/>
          <p:cNvSpPr/>
          <p:nvPr/>
        </p:nvSpPr>
        <p:spPr>
          <a:xfrm>
            <a:off x="7772400" y="2560320"/>
            <a:ext cx="3931920" cy="914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2606040"/>
            <a:ext cx="3931920" cy="182880"/>
          </a:xfrm>
          <a:prstGeom prst="rect">
            <a:avLst/>
          </a:prstGeom>
          <a:noFill/>
        </p:spPr>
        <p:txBody>
          <a:bodyPr wrap="square" anchor="t"/>
          <a:lstStyle/>
          <a:p>
            <a:pPr algn="ctr">
              <a:defRPr sz="1200" b="1">
                <a:solidFill>
                  <a:srgbClr val="1A4A7A"/>
                </a:solidFill>
                <a:latin typeface="Calibri"/>
              </a:defRPr>
            </a:pPr>
            <a:r>
              <a:t>Payback Period</a:t>
            </a:r>
          </a:p>
        </p:txBody>
      </p:sp>
      <p:sp>
        <p:nvSpPr>
          <p:cNvPr id="13" name="TextBox 12"/>
          <p:cNvSpPr txBox="1"/>
          <p:nvPr/>
        </p:nvSpPr>
        <p:spPr>
          <a:xfrm>
            <a:off x="7772400" y="2834640"/>
            <a:ext cx="3931920" cy="365760"/>
          </a:xfrm>
          <a:prstGeom prst="rect">
            <a:avLst/>
          </a:prstGeom>
          <a:noFill/>
        </p:spPr>
        <p:txBody>
          <a:bodyPr wrap="square" anchor="t"/>
          <a:lstStyle/>
          <a:p>
            <a:pPr algn="ctr">
              <a:defRPr sz="2800" b="1">
                <a:solidFill>
                  <a:srgbClr val="1A56DB"/>
                </a:solidFill>
                <a:latin typeface="Calibri"/>
              </a:defRPr>
            </a:pPr>
            <a:r>
              <a:t>2–4 months</a:t>
            </a:r>
          </a:p>
        </p:txBody>
      </p:sp>
      <p:sp>
        <p:nvSpPr>
          <p:cNvPr id="14" name="TextBox 13"/>
          <p:cNvSpPr txBox="1"/>
          <p:nvPr/>
        </p:nvSpPr>
        <p:spPr>
          <a:xfrm>
            <a:off x="7863840" y="3200400"/>
            <a:ext cx="3749039" cy="228600"/>
          </a:xfrm>
          <a:prstGeom prst="rect">
            <a:avLst/>
          </a:prstGeom>
          <a:noFill/>
        </p:spPr>
        <p:txBody>
          <a:bodyPr wrap="square" anchor="t"/>
          <a:lstStyle/>
          <a:p>
            <a:pPr algn="ctr">
              <a:defRPr sz="900" b="0">
                <a:solidFill>
                  <a:srgbClr val="6B7280"/>
                </a:solidFill>
                <a:latin typeface="Calibri"/>
              </a:defRPr>
            </a:pPr>
            <a:r>
              <a:t>Monthly savings of $55K–$97K offset the one-time investment.</a:t>
            </a:r>
          </a:p>
        </p:txBody>
      </p:sp>
      <p:sp>
        <p:nvSpPr>
          <p:cNvPr id="15" name="Rounded Rectangle 14"/>
          <p:cNvSpPr/>
          <p:nvPr/>
        </p:nvSpPr>
        <p:spPr>
          <a:xfrm>
            <a:off x="7772400" y="3657600"/>
            <a:ext cx="3931920" cy="1188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0" y="3703320"/>
            <a:ext cx="3931920" cy="182880"/>
          </a:xfrm>
          <a:prstGeom prst="rect">
            <a:avLst/>
          </a:prstGeom>
          <a:noFill/>
        </p:spPr>
        <p:txBody>
          <a:bodyPr wrap="square" anchor="t"/>
          <a:lstStyle/>
          <a:p>
            <a:pPr algn="ctr">
              <a:defRPr sz="1200" b="1">
                <a:solidFill>
                  <a:srgbClr val="1A4A7A"/>
                </a:solidFill>
                <a:latin typeface="Calibri"/>
              </a:defRPr>
            </a:pPr>
            <a:r>
              <a:t>Economies of Scale</a:t>
            </a:r>
          </a:p>
        </p:txBody>
      </p:sp>
      <p:sp>
        <p:nvSpPr>
          <p:cNvPr id="17" name="TextBox 16"/>
          <p:cNvSpPr txBox="1"/>
          <p:nvPr/>
        </p:nvSpPr>
        <p:spPr>
          <a:xfrm>
            <a:off x="7955279" y="3931920"/>
            <a:ext cx="3657600" cy="822960"/>
          </a:xfrm>
          <a:prstGeom prst="rect">
            <a:avLst/>
          </a:prstGeom>
          <a:noFill/>
        </p:spPr>
        <p:txBody>
          <a:bodyPr wrap="square"/>
          <a:lstStyle/>
          <a:p>
            <a:endParaRPr/>
          </a:p>
          <a:p>
            <a:pPr>
              <a:spcAft>
                <a:spcPts val="200"/>
              </a:spcAft>
              <a:defRPr sz="1000" b="0">
                <a:solidFill>
                  <a:srgbClr val="374151"/>
                </a:solidFill>
                <a:latin typeface="Calibri"/>
              </a:defRPr>
            </a:pPr>
            <a:r>
              <a:t>2nd pod: ~30% cheaper (shared agents)</a:t>
            </a:r>
          </a:p>
          <a:p>
            <a:pPr>
              <a:spcAft>
                <a:spcPts val="200"/>
              </a:spcAft>
              <a:defRPr sz="1000" b="0">
                <a:solidFill>
                  <a:srgbClr val="374151"/>
                </a:solidFill>
                <a:latin typeface="Calibri"/>
              </a:defRPr>
            </a:pPr>
            <a:r>
              <a:t>5th pod: ~50% cheaper (reusable templates)</a:t>
            </a:r>
          </a:p>
          <a:p>
            <a:pPr>
              <a:spcAft>
                <a:spcPts val="200"/>
              </a:spcAft>
              <a:defRPr sz="1000" b="0">
                <a:solidFill>
                  <a:srgbClr val="374151"/>
                </a:solidFill>
                <a:latin typeface="Calibri"/>
              </a:defRPr>
            </a:pPr>
            <a:r>
              <a:t>10th pod: ~60% cheaper (mature platform)</a:t>
            </a:r>
          </a:p>
        </p:txBody>
      </p:sp>
      <p:sp>
        <p:nvSpPr>
          <p:cNvPr id="18" name="Rectangle 17"/>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20" name="TextBox 19"/>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Cost Comparison Summary</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SIDE BY SIDE</a:t>
            </a:r>
          </a:p>
        </p:txBody>
      </p:sp>
      <p:graphicFrame>
        <p:nvGraphicFramePr>
          <p:cNvPr id="5" name="Table 4"/>
          <p:cNvGraphicFramePr>
            <a:graphicFrameLocks noGrp="1"/>
          </p:cNvGraphicFramePr>
          <p:nvPr/>
        </p:nvGraphicFramePr>
        <p:xfrm>
          <a:off x="548640" y="914400"/>
          <a:ext cx="10972800" cy="25603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26720">
                <a:tc>
                  <a:txBody>
                    <a:bodyPr/>
                    <a:lstStyle/>
                    <a:p>
                      <a:pPr algn="l">
                        <a:defRPr sz="1000" b="1">
                          <a:solidFill>
                            <a:srgbClr val="FFFFFF"/>
                          </a:solidFill>
                          <a:latin typeface="Calibri"/>
                        </a:defRPr>
                      </a:pPr>
                      <a:r>
                        <a:t>Cost Category</a:t>
                      </a:r>
                    </a:p>
                  </a:txBody>
                  <a:tcPr>
                    <a:solidFill>
                      <a:srgbClr val="1A56DB"/>
                    </a:solidFill>
                  </a:tcPr>
                </a:tc>
                <a:tc>
                  <a:txBody>
                    <a:bodyPr/>
                    <a:lstStyle/>
                    <a:p>
                      <a:pPr algn="l">
                        <a:defRPr sz="1000" b="1">
                          <a:solidFill>
                            <a:srgbClr val="FFFFFF"/>
                          </a:solidFill>
                          <a:latin typeface="Calibri"/>
                        </a:defRPr>
                      </a:pPr>
                      <a:r>
                        <a:t>SDLC (Monthly)</a:t>
                      </a:r>
                    </a:p>
                  </a:txBody>
                  <a:tcPr>
                    <a:solidFill>
                      <a:srgbClr val="1A56DB"/>
                    </a:solidFill>
                  </a:tcPr>
                </a:tc>
                <a:tc>
                  <a:txBody>
                    <a:bodyPr/>
                    <a:lstStyle/>
                    <a:p>
                      <a:pPr algn="l">
                        <a:defRPr sz="1000" b="1">
                          <a:solidFill>
                            <a:srgbClr val="FFFFFF"/>
                          </a:solidFill>
                          <a:latin typeface="Calibri"/>
                        </a:defRPr>
                      </a:pPr>
                      <a:r>
                        <a:t>ADLC (Monthly)</a:t>
                      </a:r>
                    </a:p>
                  </a:txBody>
                  <a:tcPr>
                    <a:solidFill>
                      <a:srgbClr val="1A56DB"/>
                    </a:solidFill>
                  </a:tcPr>
                </a:tc>
                <a:tc>
                  <a:txBody>
                    <a:bodyPr/>
                    <a:lstStyle/>
                    <a:p>
                      <a:pPr algn="l">
                        <a:defRPr sz="1000" b="1">
                          <a:solidFill>
                            <a:srgbClr val="FFFFFF"/>
                          </a:solidFill>
                          <a:latin typeface="Calibri"/>
                        </a:defRPr>
                      </a:pPr>
                      <a:r>
                        <a:t>Transform (One-Time)</a:t>
                      </a:r>
                    </a:p>
                  </a:txBody>
                  <a:tcPr>
                    <a:solidFill>
                      <a:srgbClr val="1A56DB"/>
                    </a:solidFill>
                  </a:tcPr>
                </a:tc>
                <a:tc>
                  <a:txBody>
                    <a:bodyPr/>
                    <a:lstStyle/>
                    <a:p>
                      <a:pPr algn="l">
                        <a:defRPr sz="1000" b="1">
                          <a:solidFill>
                            <a:srgbClr val="FFFFFF"/>
                          </a:solidFill>
                          <a:latin typeface="Calibri"/>
                        </a:defRPr>
                      </a:pPr>
                      <a:r>
                        <a:t>Shift</a:t>
                      </a:r>
                    </a:p>
                  </a:txBody>
                  <a:tcPr>
                    <a:solidFill>
                      <a:srgbClr val="1A56DB"/>
                    </a:solidFill>
                  </a:tcPr>
                </a:tc>
                <a:extLst>
                  <a:ext uri="{0D108BD9-81ED-4DB2-BD59-A6C34878D82A}">
                    <a16:rowId xmlns:a16="http://schemas.microsoft.com/office/drawing/2014/main" val="10000"/>
                  </a:ext>
                </a:extLst>
              </a:tr>
              <a:tr h="426720">
                <a:tc>
                  <a:txBody>
                    <a:bodyPr/>
                    <a:lstStyle/>
                    <a:p>
                      <a:pPr algn="l">
                        <a:defRPr sz="1100" b="1">
                          <a:solidFill>
                            <a:srgbClr val="374151"/>
                          </a:solidFill>
                          <a:latin typeface="Calibri"/>
                        </a:defRPr>
                      </a:pPr>
                      <a:r>
                        <a:t>Human / Labour</a:t>
                      </a:r>
                    </a:p>
                  </a:txBody>
                  <a:tcPr>
                    <a:solidFill>
                      <a:srgbClr val="FFFFFF"/>
                    </a:solidFill>
                  </a:tcPr>
                </a:tc>
                <a:tc>
                  <a:txBody>
                    <a:bodyPr/>
                    <a:lstStyle/>
                    <a:p>
                      <a:pPr algn="l">
                        <a:defRPr sz="1100" b="0">
                          <a:solidFill>
                            <a:srgbClr val="374151"/>
                          </a:solidFill>
                          <a:latin typeface="Calibri"/>
                        </a:defRPr>
                      </a:pPr>
                      <a:r>
                        <a:t>$72K–$105K</a:t>
                      </a:r>
                    </a:p>
                  </a:txBody>
                  <a:tcPr>
                    <a:solidFill>
                      <a:srgbClr val="FFFFFF"/>
                    </a:solidFill>
                  </a:tcPr>
                </a:tc>
                <a:tc>
                  <a:txBody>
                    <a:bodyPr/>
                    <a:lstStyle/>
                    <a:p>
                      <a:pPr algn="l">
                        <a:defRPr sz="1100" b="1">
                          <a:solidFill>
                            <a:srgbClr val="1A56DB"/>
                          </a:solidFill>
                          <a:latin typeface="Calibri"/>
                        </a:defRPr>
                      </a:pPr>
                      <a:r>
                        <a:t>$8K–$12K</a:t>
                      </a:r>
                    </a:p>
                  </a:txBody>
                  <a:tcPr>
                    <a:solidFill>
                      <a:srgbClr val="FFFFFF"/>
                    </a:solidFill>
                  </a:tcPr>
                </a:tc>
                <a:tc>
                  <a:txBody>
                    <a:bodyPr/>
                    <a:lstStyle/>
                    <a:p>
                      <a:pPr algn="l">
                        <a:defRPr sz="1100" b="0">
                          <a:solidFill>
                            <a:srgbClr val="374151"/>
                          </a:solidFill>
                          <a:latin typeface="Calibri"/>
                        </a:defRPr>
                      </a:pPr>
                      <a:r>
                        <a:t>$25K–$40K</a:t>
                      </a:r>
                    </a:p>
                  </a:txBody>
                  <a:tcPr>
                    <a:solidFill>
                      <a:srgbClr val="FFFFFF"/>
                    </a:solidFill>
                  </a:tcPr>
                </a:tc>
                <a:tc>
                  <a:txBody>
                    <a:bodyPr/>
                    <a:lstStyle/>
                    <a:p>
                      <a:pPr algn="l">
                        <a:defRPr sz="1100" b="1">
                          <a:solidFill>
                            <a:srgbClr val="1A56DB"/>
                          </a:solidFill>
                          <a:latin typeface="Calibri"/>
                        </a:defRPr>
                      </a:pPr>
                      <a:r>
                        <a:t>↓ 85–90%</a:t>
                      </a:r>
                    </a:p>
                  </a:txBody>
                  <a:tcPr>
                    <a:solidFill>
                      <a:srgbClr val="FFFFFF"/>
                    </a:solidFill>
                  </a:tcPr>
                </a:tc>
                <a:extLst>
                  <a:ext uri="{0D108BD9-81ED-4DB2-BD59-A6C34878D82A}">
                    <a16:rowId xmlns:a16="http://schemas.microsoft.com/office/drawing/2014/main" val="10001"/>
                  </a:ext>
                </a:extLst>
              </a:tr>
              <a:tr h="426720">
                <a:tc>
                  <a:txBody>
                    <a:bodyPr/>
                    <a:lstStyle/>
                    <a:p>
                      <a:pPr algn="l">
                        <a:defRPr sz="1100" b="1">
                          <a:solidFill>
                            <a:srgbClr val="374151"/>
                          </a:solidFill>
                          <a:latin typeface="Calibri"/>
                        </a:defRPr>
                      </a:pPr>
                      <a:r>
                        <a:t>AI / Tokens / Compute</a:t>
                      </a:r>
                    </a:p>
                  </a:txBody>
                  <a:tcPr>
                    <a:solidFill>
                      <a:srgbClr val="EFF6FF"/>
                    </a:solidFill>
                  </a:tcPr>
                </a:tc>
                <a:tc>
                  <a:txBody>
                    <a:bodyPr/>
                    <a:lstStyle/>
                    <a:p>
                      <a:pPr algn="l">
                        <a:defRPr sz="1100" b="0">
                          <a:solidFill>
                            <a:srgbClr val="374151"/>
                          </a:solidFill>
                          <a:latin typeface="Calibri"/>
                        </a:defRPr>
                      </a:pPr>
                      <a:r>
                        <a:t>$0</a:t>
                      </a:r>
                    </a:p>
                  </a:txBody>
                  <a:tcPr>
                    <a:solidFill>
                      <a:srgbClr val="EFF6FF"/>
                    </a:solidFill>
                  </a:tcPr>
                </a:tc>
                <a:tc>
                  <a:txBody>
                    <a:bodyPr/>
                    <a:lstStyle/>
                    <a:p>
                      <a:pPr algn="l">
                        <a:defRPr sz="1100" b="1">
                          <a:solidFill>
                            <a:srgbClr val="1A56DB"/>
                          </a:solidFill>
                          <a:latin typeface="Calibri"/>
                        </a:defRPr>
                      </a:pPr>
                      <a:r>
                        <a:t>$4K–$7K</a:t>
                      </a:r>
                    </a:p>
                  </a:txBody>
                  <a:tcPr>
                    <a:solidFill>
                      <a:srgbClr val="EFF6FF"/>
                    </a:solidFill>
                  </a:tcPr>
                </a:tc>
                <a:tc>
                  <a:txBody>
                    <a:bodyPr/>
                    <a:lstStyle/>
                    <a:p>
                      <a:pPr algn="l">
                        <a:defRPr sz="1100" b="0">
                          <a:solidFill>
                            <a:srgbClr val="374151"/>
                          </a:solidFill>
                          <a:latin typeface="Calibri"/>
                        </a:defRPr>
                      </a:pPr>
                      <a:r>
                        <a:t>$35K–$55K</a:t>
                      </a:r>
                    </a:p>
                  </a:txBody>
                  <a:tcPr>
                    <a:solidFill>
                      <a:srgbClr val="EFF6FF"/>
                    </a:solidFill>
                  </a:tcPr>
                </a:tc>
                <a:tc>
                  <a:txBody>
                    <a:bodyPr/>
                    <a:lstStyle/>
                    <a:p>
                      <a:pPr algn="l">
                        <a:defRPr sz="1100" b="1">
                          <a:solidFill>
                            <a:srgbClr val="1A56DB"/>
                          </a:solidFill>
                          <a:latin typeface="Calibri"/>
                        </a:defRPr>
                      </a:pPr>
                      <a:r>
                        <a:t>New cost centre</a:t>
                      </a:r>
                    </a:p>
                  </a:txBody>
                  <a:tcPr>
                    <a:solidFill>
                      <a:srgbClr val="EFF6FF"/>
                    </a:solidFill>
                  </a:tcPr>
                </a:tc>
                <a:extLst>
                  <a:ext uri="{0D108BD9-81ED-4DB2-BD59-A6C34878D82A}">
                    <a16:rowId xmlns:a16="http://schemas.microsoft.com/office/drawing/2014/main" val="10002"/>
                  </a:ext>
                </a:extLst>
              </a:tr>
              <a:tr h="426720">
                <a:tc>
                  <a:txBody>
                    <a:bodyPr/>
                    <a:lstStyle/>
                    <a:p>
                      <a:pPr algn="l">
                        <a:defRPr sz="1100" b="1">
                          <a:solidFill>
                            <a:srgbClr val="374151"/>
                          </a:solidFill>
                          <a:latin typeface="Calibri"/>
                        </a:defRPr>
                      </a:pPr>
                      <a:r>
                        <a:t>Tools &amp; Licences</a:t>
                      </a:r>
                    </a:p>
                  </a:txBody>
                  <a:tcPr>
                    <a:solidFill>
                      <a:srgbClr val="FFFFFF"/>
                    </a:solidFill>
                  </a:tcPr>
                </a:tc>
                <a:tc>
                  <a:txBody>
                    <a:bodyPr/>
                    <a:lstStyle/>
                    <a:p>
                      <a:pPr algn="l">
                        <a:defRPr sz="1100" b="0">
                          <a:solidFill>
                            <a:srgbClr val="374151"/>
                          </a:solidFill>
                          <a:latin typeface="Calibri"/>
                        </a:defRPr>
                      </a:pPr>
                      <a:r>
                        <a:t>$8K–$12K</a:t>
                      </a:r>
                    </a:p>
                  </a:txBody>
                  <a:tcPr>
                    <a:solidFill>
                      <a:srgbClr val="FFFFFF"/>
                    </a:solidFill>
                  </a:tcPr>
                </a:tc>
                <a:tc>
                  <a:txBody>
                    <a:bodyPr/>
                    <a:lstStyle/>
                    <a:p>
                      <a:pPr algn="l">
                        <a:defRPr sz="1100" b="1">
                          <a:solidFill>
                            <a:srgbClr val="1A56DB"/>
                          </a:solidFill>
                          <a:latin typeface="Calibri"/>
                        </a:defRPr>
                      </a:pPr>
                      <a:r>
                        <a:t>$3.5K–$5K</a:t>
                      </a:r>
                    </a:p>
                  </a:txBody>
                  <a:tcPr>
                    <a:solidFill>
                      <a:srgbClr val="FFFFFF"/>
                    </a:solidFill>
                  </a:tcPr>
                </a:tc>
                <a:tc>
                  <a:txBody>
                    <a:bodyPr/>
                    <a:lstStyle/>
                    <a:p>
                      <a:pPr algn="l">
                        <a:defRPr sz="1100" b="0">
                          <a:solidFill>
                            <a:srgbClr val="374151"/>
                          </a:solidFill>
                          <a:latin typeface="Calibri"/>
                        </a:defRPr>
                      </a:pPr>
                      <a:r>
                        <a:t>$20K–$30K</a:t>
                      </a:r>
                    </a:p>
                  </a:txBody>
                  <a:tcPr>
                    <a:solidFill>
                      <a:srgbClr val="FFFFFF"/>
                    </a:solidFill>
                  </a:tcPr>
                </a:tc>
                <a:tc>
                  <a:txBody>
                    <a:bodyPr/>
                    <a:lstStyle/>
                    <a:p>
                      <a:pPr algn="l">
                        <a:defRPr sz="1100" b="1">
                          <a:solidFill>
                            <a:srgbClr val="1A56DB"/>
                          </a:solidFill>
                          <a:latin typeface="Calibri"/>
                        </a:defRPr>
                      </a:pPr>
                      <a:r>
                        <a:t>↓ 50–60%</a:t>
                      </a:r>
                    </a:p>
                  </a:txBody>
                  <a:tcPr>
                    <a:solidFill>
                      <a:srgbClr val="FFFFFF"/>
                    </a:solidFill>
                  </a:tcPr>
                </a:tc>
                <a:extLst>
                  <a:ext uri="{0D108BD9-81ED-4DB2-BD59-A6C34878D82A}">
                    <a16:rowId xmlns:a16="http://schemas.microsoft.com/office/drawing/2014/main" val="10003"/>
                  </a:ext>
                </a:extLst>
              </a:tr>
              <a:tr h="426720">
                <a:tc>
                  <a:txBody>
                    <a:bodyPr/>
                    <a:lstStyle/>
                    <a:p>
                      <a:pPr algn="l">
                        <a:defRPr sz="1100" b="1">
                          <a:solidFill>
                            <a:srgbClr val="374151"/>
                          </a:solidFill>
                          <a:latin typeface="Calibri"/>
                        </a:defRPr>
                      </a:pPr>
                      <a:r>
                        <a:t>Process / Overhead</a:t>
                      </a:r>
                    </a:p>
                  </a:txBody>
                  <a:tcPr>
                    <a:solidFill>
                      <a:srgbClr val="EFF6FF"/>
                    </a:solidFill>
                  </a:tcPr>
                </a:tc>
                <a:tc>
                  <a:txBody>
                    <a:bodyPr/>
                    <a:lstStyle/>
                    <a:p>
                      <a:pPr algn="l">
                        <a:defRPr sz="1100" b="0">
                          <a:solidFill>
                            <a:srgbClr val="374151"/>
                          </a:solidFill>
                          <a:latin typeface="Calibri"/>
                        </a:defRPr>
                      </a:pPr>
                      <a:r>
                        <a:t>$5K–$8K</a:t>
                      </a:r>
                    </a:p>
                  </a:txBody>
                  <a:tcPr>
                    <a:solidFill>
                      <a:srgbClr val="EFF6FF"/>
                    </a:solidFill>
                  </a:tcPr>
                </a:tc>
                <a:tc>
                  <a:txBody>
                    <a:bodyPr/>
                    <a:lstStyle/>
                    <a:p>
                      <a:pPr algn="l">
                        <a:defRPr sz="1100" b="1">
                          <a:solidFill>
                            <a:srgbClr val="1A56DB"/>
                          </a:solidFill>
                          <a:latin typeface="Calibri"/>
                        </a:defRPr>
                      </a:pPr>
                      <a:r>
                        <a:t>$2.5K–$4K</a:t>
                      </a:r>
                    </a:p>
                  </a:txBody>
                  <a:tcPr>
                    <a:solidFill>
                      <a:srgbClr val="EFF6FF"/>
                    </a:solidFill>
                  </a:tcPr>
                </a:tc>
                <a:tc>
                  <a:txBody>
                    <a:bodyPr/>
                    <a:lstStyle/>
                    <a:p>
                      <a:pPr algn="l">
                        <a:defRPr sz="1100" b="0">
                          <a:solidFill>
                            <a:srgbClr val="374151"/>
                          </a:solidFill>
                          <a:latin typeface="Calibri"/>
                        </a:defRPr>
                      </a:pPr>
                      <a:r>
                        <a:t>$40K–$75K</a:t>
                      </a:r>
                    </a:p>
                  </a:txBody>
                  <a:tcPr>
                    <a:solidFill>
                      <a:srgbClr val="EFF6FF"/>
                    </a:solidFill>
                  </a:tcPr>
                </a:tc>
                <a:tc>
                  <a:txBody>
                    <a:bodyPr/>
                    <a:lstStyle/>
                    <a:p>
                      <a:pPr algn="l">
                        <a:defRPr sz="1100" b="1">
                          <a:solidFill>
                            <a:srgbClr val="1A56DB"/>
                          </a:solidFill>
                          <a:latin typeface="Calibri"/>
                        </a:defRPr>
                      </a:pPr>
                      <a:r>
                        <a:t>↓ 50%</a:t>
                      </a:r>
                    </a:p>
                  </a:txBody>
                  <a:tcPr>
                    <a:solidFill>
                      <a:srgbClr val="EFF6FF"/>
                    </a:solidFill>
                  </a:tcPr>
                </a:tc>
                <a:extLst>
                  <a:ext uri="{0D108BD9-81ED-4DB2-BD59-A6C34878D82A}">
                    <a16:rowId xmlns:a16="http://schemas.microsoft.com/office/drawing/2014/main" val="10004"/>
                  </a:ext>
                </a:extLst>
              </a:tr>
              <a:tr h="426720">
                <a:tc>
                  <a:txBody>
                    <a:bodyPr/>
                    <a:lstStyle/>
                    <a:p>
                      <a:pPr algn="l">
                        <a:defRPr sz="1100" b="1">
                          <a:solidFill>
                            <a:srgbClr val="374151"/>
                          </a:solidFill>
                          <a:latin typeface="Calibri"/>
                        </a:defRPr>
                      </a:pPr>
                      <a:r>
                        <a:t>TOTAL</a:t>
                      </a:r>
                    </a:p>
                  </a:txBody>
                  <a:tcPr>
                    <a:solidFill>
                      <a:srgbClr val="DBEAFE"/>
                    </a:solidFill>
                  </a:tcPr>
                </a:tc>
                <a:tc>
                  <a:txBody>
                    <a:bodyPr/>
                    <a:lstStyle/>
                    <a:p>
                      <a:pPr algn="l">
                        <a:defRPr sz="1100" b="1">
                          <a:solidFill>
                            <a:srgbClr val="374151"/>
                          </a:solidFill>
                          <a:latin typeface="Calibri"/>
                        </a:defRPr>
                      </a:pPr>
                      <a:r>
                        <a:t>$85K–$125K</a:t>
                      </a:r>
                    </a:p>
                  </a:txBody>
                  <a:tcPr>
                    <a:solidFill>
                      <a:srgbClr val="DBEAFE"/>
                    </a:solidFill>
                  </a:tcPr>
                </a:tc>
                <a:tc>
                  <a:txBody>
                    <a:bodyPr/>
                    <a:lstStyle/>
                    <a:p>
                      <a:pPr algn="l">
                        <a:defRPr sz="1100" b="1">
                          <a:solidFill>
                            <a:srgbClr val="1A56DB"/>
                          </a:solidFill>
                          <a:latin typeface="Calibri"/>
                        </a:defRPr>
                      </a:pPr>
                      <a:r>
                        <a:t>$18K–$28K</a:t>
                      </a:r>
                    </a:p>
                  </a:txBody>
                  <a:tcPr>
                    <a:solidFill>
                      <a:srgbClr val="DBEAFE"/>
                    </a:solidFill>
                  </a:tcPr>
                </a:tc>
                <a:tc>
                  <a:txBody>
                    <a:bodyPr/>
                    <a:lstStyle/>
                    <a:p>
                      <a:pPr algn="l">
                        <a:defRPr sz="1100" b="1">
                          <a:solidFill>
                            <a:srgbClr val="1E3A5F"/>
                          </a:solidFill>
                          <a:latin typeface="Calibri"/>
                        </a:defRPr>
                      </a:pPr>
                      <a:r>
                        <a:t>$120K–$200K</a:t>
                      </a:r>
                    </a:p>
                  </a:txBody>
                  <a:tcPr>
                    <a:solidFill>
                      <a:srgbClr val="DBEAFE"/>
                    </a:solidFill>
                  </a:tcPr>
                </a:tc>
                <a:tc>
                  <a:txBody>
                    <a:bodyPr/>
                    <a:lstStyle/>
                    <a:p>
                      <a:pPr algn="l">
                        <a:defRPr sz="1100" b="1">
                          <a:solidFill>
                            <a:srgbClr val="1A56DB"/>
                          </a:solidFill>
                          <a:latin typeface="Calibri"/>
                        </a:defRPr>
                      </a:pPr>
                      <a:r>
                        <a:t>↓ 70–78%</a:t>
                      </a:r>
                    </a:p>
                  </a:txBody>
                  <a:tcPr>
                    <a:solidFill>
                      <a:srgbClr val="DBEAFE"/>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548640" y="3840480"/>
            <a:ext cx="3474720" cy="1188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886200"/>
            <a:ext cx="3474720" cy="182880"/>
          </a:xfrm>
          <a:prstGeom prst="rect">
            <a:avLst/>
          </a:prstGeom>
          <a:noFill/>
        </p:spPr>
        <p:txBody>
          <a:bodyPr wrap="square" anchor="t"/>
          <a:lstStyle/>
          <a:p>
            <a:pPr algn="ctr">
              <a:defRPr sz="1000" b="0">
                <a:solidFill>
                  <a:srgbClr val="6B7280"/>
                </a:solidFill>
                <a:latin typeface="Calibri"/>
              </a:defRPr>
            </a:pPr>
            <a:r>
              <a:t>Monthly Savings</a:t>
            </a:r>
          </a:p>
        </p:txBody>
      </p:sp>
      <p:sp>
        <p:nvSpPr>
          <p:cNvPr id="8" name="TextBox 7"/>
          <p:cNvSpPr txBox="1"/>
          <p:nvPr/>
        </p:nvSpPr>
        <p:spPr>
          <a:xfrm>
            <a:off x="548640" y="4114800"/>
            <a:ext cx="3474720" cy="457200"/>
          </a:xfrm>
          <a:prstGeom prst="rect">
            <a:avLst/>
          </a:prstGeom>
          <a:noFill/>
        </p:spPr>
        <p:txBody>
          <a:bodyPr wrap="square" anchor="t"/>
          <a:lstStyle/>
          <a:p>
            <a:pPr algn="ctr">
              <a:defRPr sz="2600" b="1">
                <a:solidFill>
                  <a:srgbClr val="1A56DB"/>
                </a:solidFill>
                <a:latin typeface="Calibri"/>
              </a:defRPr>
            </a:pPr>
            <a:r>
              <a:t>$55K–$97K</a:t>
            </a:r>
          </a:p>
        </p:txBody>
      </p:sp>
      <p:sp>
        <p:nvSpPr>
          <p:cNvPr id="9" name="TextBox 8"/>
          <p:cNvSpPr txBox="1"/>
          <p:nvPr/>
        </p:nvSpPr>
        <p:spPr>
          <a:xfrm>
            <a:off x="548640" y="4572000"/>
            <a:ext cx="3474720" cy="182880"/>
          </a:xfrm>
          <a:prstGeom prst="rect">
            <a:avLst/>
          </a:prstGeom>
          <a:noFill/>
        </p:spPr>
        <p:txBody>
          <a:bodyPr wrap="square" anchor="t"/>
          <a:lstStyle/>
          <a:p>
            <a:pPr algn="ctr">
              <a:defRPr sz="1000" b="0">
                <a:solidFill>
                  <a:srgbClr val="6B7280"/>
                </a:solidFill>
                <a:latin typeface="Calibri"/>
              </a:defRPr>
            </a:pPr>
            <a:r>
              <a:t>per pod</a:t>
            </a:r>
          </a:p>
        </p:txBody>
      </p:sp>
      <p:sp>
        <p:nvSpPr>
          <p:cNvPr id="10" name="Rounded Rectangle 9"/>
          <p:cNvSpPr/>
          <p:nvPr/>
        </p:nvSpPr>
        <p:spPr>
          <a:xfrm>
            <a:off x="4251960" y="3840480"/>
            <a:ext cx="3474720" cy="1188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51960" y="3886200"/>
            <a:ext cx="3474720" cy="182880"/>
          </a:xfrm>
          <a:prstGeom prst="rect">
            <a:avLst/>
          </a:prstGeom>
          <a:noFill/>
        </p:spPr>
        <p:txBody>
          <a:bodyPr wrap="square" anchor="t"/>
          <a:lstStyle/>
          <a:p>
            <a:pPr algn="ctr">
              <a:defRPr sz="1000" b="0">
                <a:solidFill>
                  <a:srgbClr val="6B7280"/>
                </a:solidFill>
                <a:latin typeface="Calibri"/>
              </a:defRPr>
            </a:pPr>
            <a:r>
              <a:t>Year 1 Net Savings</a:t>
            </a:r>
          </a:p>
        </p:txBody>
      </p:sp>
      <p:sp>
        <p:nvSpPr>
          <p:cNvPr id="12" name="TextBox 11"/>
          <p:cNvSpPr txBox="1"/>
          <p:nvPr/>
        </p:nvSpPr>
        <p:spPr>
          <a:xfrm>
            <a:off x="4251960" y="4114800"/>
            <a:ext cx="3474720" cy="457200"/>
          </a:xfrm>
          <a:prstGeom prst="rect">
            <a:avLst/>
          </a:prstGeom>
          <a:noFill/>
        </p:spPr>
        <p:txBody>
          <a:bodyPr wrap="square" anchor="t"/>
          <a:lstStyle/>
          <a:p>
            <a:pPr algn="ctr">
              <a:defRPr sz="2600" b="1">
                <a:solidFill>
                  <a:srgbClr val="1A56DB"/>
                </a:solidFill>
                <a:latin typeface="Calibri"/>
              </a:defRPr>
            </a:pPr>
            <a:r>
              <a:t>$540K–$960K</a:t>
            </a:r>
          </a:p>
        </p:txBody>
      </p:sp>
      <p:sp>
        <p:nvSpPr>
          <p:cNvPr id="13" name="TextBox 12"/>
          <p:cNvSpPr txBox="1"/>
          <p:nvPr/>
        </p:nvSpPr>
        <p:spPr>
          <a:xfrm>
            <a:off x="4251960" y="4572000"/>
            <a:ext cx="3474720" cy="182880"/>
          </a:xfrm>
          <a:prstGeom prst="rect">
            <a:avLst/>
          </a:prstGeom>
          <a:noFill/>
        </p:spPr>
        <p:txBody>
          <a:bodyPr wrap="square" anchor="t"/>
          <a:lstStyle/>
          <a:p>
            <a:pPr algn="ctr">
              <a:defRPr sz="1000" b="0">
                <a:solidFill>
                  <a:srgbClr val="6B7280"/>
                </a:solidFill>
                <a:latin typeface="Calibri"/>
              </a:defRPr>
            </a:pPr>
            <a:r>
              <a:t>per pod (after transform)</a:t>
            </a:r>
          </a:p>
        </p:txBody>
      </p:sp>
      <p:sp>
        <p:nvSpPr>
          <p:cNvPr id="14" name="Rounded Rectangle 13"/>
          <p:cNvSpPr/>
          <p:nvPr/>
        </p:nvSpPr>
        <p:spPr>
          <a:xfrm>
            <a:off x="7955280" y="3840480"/>
            <a:ext cx="3474720" cy="1188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0" y="3886200"/>
            <a:ext cx="3474720" cy="182880"/>
          </a:xfrm>
          <a:prstGeom prst="rect">
            <a:avLst/>
          </a:prstGeom>
          <a:noFill/>
        </p:spPr>
        <p:txBody>
          <a:bodyPr wrap="square" anchor="t"/>
          <a:lstStyle/>
          <a:p>
            <a:pPr algn="ctr">
              <a:defRPr sz="1000" b="0">
                <a:solidFill>
                  <a:srgbClr val="6B7280"/>
                </a:solidFill>
                <a:latin typeface="Calibri"/>
              </a:defRPr>
            </a:pPr>
            <a:r>
              <a:t>Cost per Capability</a:t>
            </a:r>
          </a:p>
        </p:txBody>
      </p:sp>
      <p:sp>
        <p:nvSpPr>
          <p:cNvPr id="16" name="TextBox 15"/>
          <p:cNvSpPr txBox="1"/>
          <p:nvPr/>
        </p:nvSpPr>
        <p:spPr>
          <a:xfrm>
            <a:off x="7955280" y="4114800"/>
            <a:ext cx="3474720" cy="457200"/>
          </a:xfrm>
          <a:prstGeom prst="rect">
            <a:avLst/>
          </a:prstGeom>
          <a:noFill/>
        </p:spPr>
        <p:txBody>
          <a:bodyPr wrap="square" anchor="t"/>
          <a:lstStyle/>
          <a:p>
            <a:pPr algn="ctr">
              <a:defRPr sz="2600" b="1">
                <a:solidFill>
                  <a:srgbClr val="1A56DB"/>
                </a:solidFill>
                <a:latin typeface="Calibri"/>
              </a:defRPr>
            </a:pPr>
            <a:r>
              <a:t>$5K–$15K</a:t>
            </a:r>
          </a:p>
        </p:txBody>
      </p:sp>
      <p:sp>
        <p:nvSpPr>
          <p:cNvPr id="17" name="TextBox 16"/>
          <p:cNvSpPr txBox="1"/>
          <p:nvPr/>
        </p:nvSpPr>
        <p:spPr>
          <a:xfrm>
            <a:off x="7955280" y="4572000"/>
            <a:ext cx="3474720" cy="182880"/>
          </a:xfrm>
          <a:prstGeom prst="rect">
            <a:avLst/>
          </a:prstGeom>
          <a:noFill/>
        </p:spPr>
        <p:txBody>
          <a:bodyPr wrap="square" anchor="t"/>
          <a:lstStyle/>
          <a:p>
            <a:pPr algn="ctr">
              <a:defRPr sz="1000" b="0">
                <a:solidFill>
                  <a:srgbClr val="6B7280"/>
                </a:solidFill>
                <a:latin typeface="Calibri"/>
              </a:defRPr>
            </a:pPr>
            <a:r>
              <a:t>vs $300K–$600K SDLC</a:t>
            </a:r>
          </a:p>
        </p:txBody>
      </p:sp>
      <p:sp>
        <p:nvSpPr>
          <p:cNvPr id="18" name="Rectangle 17"/>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20" name="TextBox 19"/>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Token &amp; Compute Cost Deep Dive</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ADLC DETAIL</a:t>
            </a:r>
          </a:p>
        </p:txBody>
      </p:sp>
      <p:sp>
        <p:nvSpPr>
          <p:cNvPr id="5" name="TextBox 4"/>
          <p:cNvSpPr txBox="1"/>
          <p:nvPr/>
        </p:nvSpPr>
        <p:spPr>
          <a:xfrm>
            <a:off x="548640" y="777240"/>
            <a:ext cx="10972800" cy="274320"/>
          </a:xfrm>
          <a:prstGeom prst="rect">
            <a:avLst/>
          </a:prstGeom>
          <a:noFill/>
        </p:spPr>
        <p:txBody>
          <a:bodyPr wrap="square" anchor="t"/>
          <a:lstStyle/>
          <a:p>
            <a:pPr algn="l">
              <a:defRPr sz="1300" b="0">
                <a:solidFill>
                  <a:srgbClr val="4B5563"/>
                </a:solidFill>
                <a:latin typeface="Calibri"/>
              </a:defRPr>
            </a:pPr>
            <a:r>
              <a:t>The new cost centre in ADLC: AI tokens and agent compute. Breakdown per pod per month.</a:t>
            </a:r>
          </a:p>
        </p:txBody>
      </p:sp>
      <p:sp>
        <p:nvSpPr>
          <p:cNvPr id="6" name="TextBox 5"/>
          <p:cNvSpPr txBox="1"/>
          <p:nvPr/>
        </p:nvSpPr>
        <p:spPr>
          <a:xfrm>
            <a:off x="548640" y="1143000"/>
            <a:ext cx="4572000" cy="274320"/>
          </a:xfrm>
          <a:prstGeom prst="rect">
            <a:avLst/>
          </a:prstGeom>
          <a:noFill/>
        </p:spPr>
        <p:txBody>
          <a:bodyPr wrap="square" anchor="t"/>
          <a:lstStyle/>
          <a:p>
            <a:pPr algn="l">
              <a:defRPr sz="1400" b="1">
                <a:solidFill>
                  <a:srgbClr val="1E3A5F"/>
                </a:solidFill>
                <a:latin typeface="Calibri"/>
              </a:defRPr>
            </a:pPr>
            <a:r>
              <a:t>Token Usage by Agent Category</a:t>
            </a:r>
          </a:p>
        </p:txBody>
      </p:sp>
      <p:graphicFrame>
        <p:nvGraphicFramePr>
          <p:cNvPr id="7" name="Table 6"/>
          <p:cNvGraphicFramePr>
            <a:graphicFrameLocks noGrp="1"/>
          </p:cNvGraphicFramePr>
          <p:nvPr/>
        </p:nvGraphicFramePr>
        <p:xfrm>
          <a:off x="548640" y="1463040"/>
          <a:ext cx="5303520" cy="3657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pPr algn="l">
                        <a:defRPr sz="1000" b="1">
                          <a:solidFill>
                            <a:srgbClr val="FFFFFF"/>
                          </a:solidFill>
                          <a:latin typeface="Calibri"/>
                        </a:defRPr>
                      </a:pPr>
                      <a:r>
                        <a:t>Agent Category</a:t>
                      </a:r>
                    </a:p>
                  </a:txBody>
                  <a:tcPr>
                    <a:solidFill>
                      <a:srgbClr val="1A56DB"/>
                    </a:solidFill>
                  </a:tcPr>
                </a:tc>
                <a:tc>
                  <a:txBody>
                    <a:bodyPr/>
                    <a:lstStyle/>
                    <a:p>
                      <a:pPr algn="l">
                        <a:defRPr sz="1000" b="1">
                          <a:solidFill>
                            <a:srgbClr val="FFFFFF"/>
                          </a:solidFill>
                          <a:latin typeface="Calibri"/>
                        </a:defRPr>
                      </a:pPr>
                      <a:r>
                        <a:t>Monthly Tokens</a:t>
                      </a:r>
                    </a:p>
                  </a:txBody>
                  <a:tcPr>
                    <a:solidFill>
                      <a:srgbClr val="1A56DB"/>
                    </a:solidFill>
                  </a:tcPr>
                </a:tc>
                <a:tc>
                  <a:txBody>
                    <a:bodyPr/>
                    <a:lstStyle/>
                    <a:p>
                      <a:pPr algn="l">
                        <a:defRPr sz="1000" b="1">
                          <a:solidFill>
                            <a:srgbClr val="FFFFFF"/>
                          </a:solidFill>
                          <a:latin typeface="Calibri"/>
                        </a:defRPr>
                      </a:pPr>
                      <a:r>
                        <a:t>Est. Cost</a:t>
                      </a:r>
                    </a:p>
                  </a:txBody>
                  <a:tcPr>
                    <a:solidFill>
                      <a:srgbClr val="1A56DB"/>
                    </a:solidFill>
                  </a:tcPr>
                </a:tc>
                <a:extLst>
                  <a:ext uri="{0D108BD9-81ED-4DB2-BD59-A6C34878D82A}">
                    <a16:rowId xmlns:a16="http://schemas.microsoft.com/office/drawing/2014/main" val="10000"/>
                  </a:ext>
                </a:extLst>
              </a:tr>
              <a:tr h="365760">
                <a:tc>
                  <a:txBody>
                    <a:bodyPr/>
                    <a:lstStyle/>
                    <a:p>
                      <a:pPr algn="l">
                        <a:defRPr sz="1100" b="0">
                          <a:solidFill>
                            <a:srgbClr val="374151"/>
                          </a:solidFill>
                          <a:latin typeface="Calibri"/>
                        </a:defRPr>
                      </a:pPr>
                      <a:r>
                        <a:t>Define Agents (spec, stories)</a:t>
                      </a:r>
                    </a:p>
                  </a:txBody>
                  <a:tcPr>
                    <a:solidFill>
                      <a:srgbClr val="FFFFFF"/>
                    </a:solidFill>
                  </a:tcPr>
                </a:tc>
                <a:tc>
                  <a:txBody>
                    <a:bodyPr/>
                    <a:lstStyle/>
                    <a:p>
                      <a:pPr algn="ctr">
                        <a:defRPr sz="1100" b="0">
                          <a:solidFill>
                            <a:srgbClr val="374151"/>
                          </a:solidFill>
                          <a:latin typeface="Calibri"/>
                        </a:defRPr>
                      </a:pPr>
                      <a:r>
                        <a:t>~8M tokens</a:t>
                      </a:r>
                    </a:p>
                  </a:txBody>
                  <a:tcPr>
                    <a:solidFill>
                      <a:srgbClr val="FFFFFF"/>
                    </a:solidFill>
                  </a:tcPr>
                </a:tc>
                <a:tc>
                  <a:txBody>
                    <a:bodyPr/>
                    <a:lstStyle/>
                    <a:p>
                      <a:pPr algn="r">
                        <a:defRPr sz="1100" b="0">
                          <a:solidFill>
                            <a:srgbClr val="374151"/>
                          </a:solidFill>
                          <a:latin typeface="Calibri"/>
                        </a:defRPr>
                      </a:pPr>
                      <a:r>
                        <a:t>$200–$350</a:t>
                      </a:r>
                    </a:p>
                  </a:txBody>
                  <a:tcPr>
                    <a:solidFill>
                      <a:srgbClr val="FFFFFF"/>
                    </a:solidFill>
                  </a:tcPr>
                </a:tc>
                <a:extLst>
                  <a:ext uri="{0D108BD9-81ED-4DB2-BD59-A6C34878D82A}">
                    <a16:rowId xmlns:a16="http://schemas.microsoft.com/office/drawing/2014/main" val="10001"/>
                  </a:ext>
                </a:extLst>
              </a:tr>
              <a:tr h="365760">
                <a:tc>
                  <a:txBody>
                    <a:bodyPr/>
                    <a:lstStyle/>
                    <a:p>
                      <a:pPr algn="l">
                        <a:defRPr sz="1100" b="0">
                          <a:solidFill>
                            <a:srgbClr val="374151"/>
                          </a:solidFill>
                          <a:latin typeface="Calibri"/>
                        </a:defRPr>
                      </a:pPr>
                      <a:r>
                        <a:t>Architecture Agent</a:t>
                      </a:r>
                    </a:p>
                  </a:txBody>
                  <a:tcPr>
                    <a:solidFill>
                      <a:srgbClr val="EFF6FF"/>
                    </a:solidFill>
                  </a:tcPr>
                </a:tc>
                <a:tc>
                  <a:txBody>
                    <a:bodyPr/>
                    <a:lstStyle/>
                    <a:p>
                      <a:pPr algn="ctr">
                        <a:defRPr sz="1100" b="0">
                          <a:solidFill>
                            <a:srgbClr val="374151"/>
                          </a:solidFill>
                          <a:latin typeface="Calibri"/>
                        </a:defRPr>
                      </a:pPr>
                      <a:r>
                        <a:t>~5M tokens</a:t>
                      </a:r>
                    </a:p>
                  </a:txBody>
                  <a:tcPr>
                    <a:solidFill>
                      <a:srgbClr val="EFF6FF"/>
                    </a:solidFill>
                  </a:tcPr>
                </a:tc>
                <a:tc>
                  <a:txBody>
                    <a:bodyPr/>
                    <a:lstStyle/>
                    <a:p>
                      <a:pPr algn="r">
                        <a:defRPr sz="1100" b="0">
                          <a:solidFill>
                            <a:srgbClr val="374151"/>
                          </a:solidFill>
                          <a:latin typeface="Calibri"/>
                        </a:defRPr>
                      </a:pPr>
                      <a:r>
                        <a:t>$150–$250</a:t>
                      </a:r>
                    </a:p>
                  </a:txBody>
                  <a:tcPr>
                    <a:solidFill>
                      <a:srgbClr val="EFF6FF"/>
                    </a:solidFill>
                  </a:tcPr>
                </a:tc>
                <a:extLst>
                  <a:ext uri="{0D108BD9-81ED-4DB2-BD59-A6C34878D82A}">
                    <a16:rowId xmlns:a16="http://schemas.microsoft.com/office/drawing/2014/main" val="10002"/>
                  </a:ext>
                </a:extLst>
              </a:tr>
              <a:tr h="365760">
                <a:tc>
                  <a:txBody>
                    <a:bodyPr/>
                    <a:lstStyle/>
                    <a:p>
                      <a:pPr algn="l">
                        <a:defRPr sz="1100" b="0">
                          <a:solidFill>
                            <a:srgbClr val="374151"/>
                          </a:solidFill>
                          <a:latin typeface="Calibri"/>
                        </a:defRPr>
                      </a:pPr>
                      <a:r>
                        <a:t>CodeGen Agents</a:t>
                      </a:r>
                    </a:p>
                  </a:txBody>
                  <a:tcPr>
                    <a:solidFill>
                      <a:srgbClr val="FFFFFF"/>
                    </a:solidFill>
                  </a:tcPr>
                </a:tc>
                <a:tc>
                  <a:txBody>
                    <a:bodyPr/>
                    <a:lstStyle/>
                    <a:p>
                      <a:pPr algn="ctr">
                        <a:defRPr sz="1100" b="0">
                          <a:solidFill>
                            <a:srgbClr val="374151"/>
                          </a:solidFill>
                          <a:latin typeface="Calibri"/>
                        </a:defRPr>
                      </a:pPr>
                      <a:r>
                        <a:t>~25M tokens</a:t>
                      </a:r>
                    </a:p>
                  </a:txBody>
                  <a:tcPr>
                    <a:solidFill>
                      <a:srgbClr val="FFFFFF"/>
                    </a:solidFill>
                  </a:tcPr>
                </a:tc>
                <a:tc>
                  <a:txBody>
                    <a:bodyPr/>
                    <a:lstStyle/>
                    <a:p>
                      <a:pPr algn="r">
                        <a:defRPr sz="1100" b="0">
                          <a:solidFill>
                            <a:srgbClr val="374151"/>
                          </a:solidFill>
                          <a:latin typeface="Calibri"/>
                        </a:defRPr>
                      </a:pPr>
                      <a:r>
                        <a:t>$500–$900</a:t>
                      </a:r>
                    </a:p>
                  </a:txBody>
                  <a:tcPr>
                    <a:solidFill>
                      <a:srgbClr val="FFFFFF"/>
                    </a:solidFill>
                  </a:tcPr>
                </a:tc>
                <a:extLst>
                  <a:ext uri="{0D108BD9-81ED-4DB2-BD59-A6C34878D82A}">
                    <a16:rowId xmlns:a16="http://schemas.microsoft.com/office/drawing/2014/main" val="10003"/>
                  </a:ext>
                </a:extLst>
              </a:tr>
              <a:tr h="365760">
                <a:tc>
                  <a:txBody>
                    <a:bodyPr/>
                    <a:lstStyle/>
                    <a:p>
                      <a:pPr algn="l">
                        <a:defRPr sz="1100" b="0">
                          <a:solidFill>
                            <a:srgbClr val="374151"/>
                          </a:solidFill>
                          <a:latin typeface="Calibri"/>
                        </a:defRPr>
                      </a:pPr>
                      <a:r>
                        <a:t>Test Agents (gen + run)</a:t>
                      </a:r>
                    </a:p>
                  </a:txBody>
                  <a:tcPr>
                    <a:solidFill>
                      <a:srgbClr val="EFF6FF"/>
                    </a:solidFill>
                  </a:tcPr>
                </a:tc>
                <a:tc>
                  <a:txBody>
                    <a:bodyPr/>
                    <a:lstStyle/>
                    <a:p>
                      <a:pPr algn="ctr">
                        <a:defRPr sz="1100" b="0">
                          <a:solidFill>
                            <a:srgbClr val="374151"/>
                          </a:solidFill>
                          <a:latin typeface="Calibri"/>
                        </a:defRPr>
                      </a:pPr>
                      <a:r>
                        <a:t>~15M tokens</a:t>
                      </a:r>
                    </a:p>
                  </a:txBody>
                  <a:tcPr>
                    <a:solidFill>
                      <a:srgbClr val="EFF6FF"/>
                    </a:solidFill>
                  </a:tcPr>
                </a:tc>
                <a:tc>
                  <a:txBody>
                    <a:bodyPr/>
                    <a:lstStyle/>
                    <a:p>
                      <a:pPr algn="r">
                        <a:defRPr sz="1100" b="0">
                          <a:solidFill>
                            <a:srgbClr val="374151"/>
                          </a:solidFill>
                          <a:latin typeface="Calibri"/>
                        </a:defRPr>
                      </a:pPr>
                      <a:r>
                        <a:t>$300–$550</a:t>
                      </a:r>
                    </a:p>
                  </a:txBody>
                  <a:tcPr>
                    <a:solidFill>
                      <a:srgbClr val="EFF6FF"/>
                    </a:solidFill>
                  </a:tcPr>
                </a:tc>
                <a:extLst>
                  <a:ext uri="{0D108BD9-81ED-4DB2-BD59-A6C34878D82A}">
                    <a16:rowId xmlns:a16="http://schemas.microsoft.com/office/drawing/2014/main" val="10004"/>
                  </a:ext>
                </a:extLst>
              </a:tr>
              <a:tr h="365760">
                <a:tc>
                  <a:txBody>
                    <a:bodyPr/>
                    <a:lstStyle/>
                    <a:p>
                      <a:pPr algn="l">
                        <a:defRPr sz="1100" b="0">
                          <a:solidFill>
                            <a:srgbClr val="374151"/>
                          </a:solidFill>
                          <a:latin typeface="Calibri"/>
                        </a:defRPr>
                      </a:pPr>
                      <a:r>
                        <a:t>Security &amp; Compliance</a:t>
                      </a:r>
                    </a:p>
                  </a:txBody>
                  <a:tcPr>
                    <a:solidFill>
                      <a:srgbClr val="FFFFFF"/>
                    </a:solidFill>
                  </a:tcPr>
                </a:tc>
                <a:tc>
                  <a:txBody>
                    <a:bodyPr/>
                    <a:lstStyle/>
                    <a:p>
                      <a:pPr algn="ctr">
                        <a:defRPr sz="1100" b="0">
                          <a:solidFill>
                            <a:srgbClr val="374151"/>
                          </a:solidFill>
                          <a:latin typeface="Calibri"/>
                        </a:defRPr>
                      </a:pPr>
                      <a:r>
                        <a:t>~4M tokens</a:t>
                      </a:r>
                    </a:p>
                  </a:txBody>
                  <a:tcPr>
                    <a:solidFill>
                      <a:srgbClr val="FFFFFF"/>
                    </a:solidFill>
                  </a:tcPr>
                </a:tc>
                <a:tc>
                  <a:txBody>
                    <a:bodyPr/>
                    <a:lstStyle/>
                    <a:p>
                      <a:pPr algn="r">
                        <a:defRPr sz="1100" b="0">
                          <a:solidFill>
                            <a:srgbClr val="374151"/>
                          </a:solidFill>
                          <a:latin typeface="Calibri"/>
                        </a:defRPr>
                      </a:pPr>
                      <a:r>
                        <a:t>$100–$200</a:t>
                      </a:r>
                    </a:p>
                  </a:txBody>
                  <a:tcPr>
                    <a:solidFill>
                      <a:srgbClr val="FFFFFF"/>
                    </a:solidFill>
                  </a:tcPr>
                </a:tc>
                <a:extLst>
                  <a:ext uri="{0D108BD9-81ED-4DB2-BD59-A6C34878D82A}">
                    <a16:rowId xmlns:a16="http://schemas.microsoft.com/office/drawing/2014/main" val="10005"/>
                  </a:ext>
                </a:extLst>
              </a:tr>
              <a:tr h="365760">
                <a:tc>
                  <a:txBody>
                    <a:bodyPr/>
                    <a:lstStyle/>
                    <a:p>
                      <a:pPr algn="l">
                        <a:defRPr sz="1100" b="0">
                          <a:solidFill>
                            <a:srgbClr val="374151"/>
                          </a:solidFill>
                          <a:latin typeface="Calibri"/>
                        </a:defRPr>
                      </a:pPr>
                      <a:r>
                        <a:t>Deploy &amp; Release</a:t>
                      </a:r>
                    </a:p>
                  </a:txBody>
                  <a:tcPr>
                    <a:solidFill>
                      <a:srgbClr val="EFF6FF"/>
                    </a:solidFill>
                  </a:tcPr>
                </a:tc>
                <a:tc>
                  <a:txBody>
                    <a:bodyPr/>
                    <a:lstStyle/>
                    <a:p>
                      <a:pPr algn="ctr">
                        <a:defRPr sz="1100" b="0">
                          <a:solidFill>
                            <a:srgbClr val="374151"/>
                          </a:solidFill>
                          <a:latin typeface="Calibri"/>
                        </a:defRPr>
                      </a:pPr>
                      <a:r>
                        <a:t>~3M tokens</a:t>
                      </a:r>
                    </a:p>
                  </a:txBody>
                  <a:tcPr>
                    <a:solidFill>
                      <a:srgbClr val="EFF6FF"/>
                    </a:solidFill>
                  </a:tcPr>
                </a:tc>
                <a:tc>
                  <a:txBody>
                    <a:bodyPr/>
                    <a:lstStyle/>
                    <a:p>
                      <a:pPr algn="r">
                        <a:defRPr sz="1100" b="0">
                          <a:solidFill>
                            <a:srgbClr val="374151"/>
                          </a:solidFill>
                          <a:latin typeface="Calibri"/>
                        </a:defRPr>
                      </a:pPr>
                      <a:r>
                        <a:t>$80–$150</a:t>
                      </a:r>
                    </a:p>
                  </a:txBody>
                  <a:tcPr>
                    <a:solidFill>
                      <a:srgbClr val="EFF6FF"/>
                    </a:solidFill>
                  </a:tcPr>
                </a:tc>
                <a:extLst>
                  <a:ext uri="{0D108BD9-81ED-4DB2-BD59-A6C34878D82A}">
                    <a16:rowId xmlns:a16="http://schemas.microsoft.com/office/drawing/2014/main" val="10006"/>
                  </a:ext>
                </a:extLst>
              </a:tr>
              <a:tr h="365760">
                <a:tc>
                  <a:txBody>
                    <a:bodyPr/>
                    <a:lstStyle/>
                    <a:p>
                      <a:pPr algn="l">
                        <a:defRPr sz="1100" b="0">
                          <a:solidFill>
                            <a:srgbClr val="374151"/>
                          </a:solidFill>
                          <a:latin typeface="Calibri"/>
                        </a:defRPr>
                      </a:pPr>
                      <a:r>
                        <a:t>Monitor &amp; Feedback</a:t>
                      </a:r>
                    </a:p>
                  </a:txBody>
                  <a:tcPr>
                    <a:solidFill>
                      <a:srgbClr val="FFFFFF"/>
                    </a:solidFill>
                  </a:tcPr>
                </a:tc>
                <a:tc>
                  <a:txBody>
                    <a:bodyPr/>
                    <a:lstStyle/>
                    <a:p>
                      <a:pPr algn="ctr">
                        <a:defRPr sz="1100" b="0">
                          <a:solidFill>
                            <a:srgbClr val="374151"/>
                          </a:solidFill>
                          <a:latin typeface="Calibri"/>
                        </a:defRPr>
                      </a:pPr>
                      <a:r>
                        <a:t>~5M tokens</a:t>
                      </a:r>
                    </a:p>
                  </a:txBody>
                  <a:tcPr>
                    <a:solidFill>
                      <a:srgbClr val="FFFFFF"/>
                    </a:solidFill>
                  </a:tcPr>
                </a:tc>
                <a:tc>
                  <a:txBody>
                    <a:bodyPr/>
                    <a:lstStyle/>
                    <a:p>
                      <a:pPr algn="r">
                        <a:defRPr sz="1100" b="0">
                          <a:solidFill>
                            <a:srgbClr val="374151"/>
                          </a:solidFill>
                          <a:latin typeface="Calibri"/>
                        </a:defRPr>
                      </a:pPr>
                      <a:r>
                        <a:t>$120–$250</a:t>
                      </a:r>
                    </a:p>
                  </a:txBody>
                  <a:tcPr>
                    <a:solidFill>
                      <a:srgbClr val="FFFFFF"/>
                    </a:solidFill>
                  </a:tcPr>
                </a:tc>
                <a:extLst>
                  <a:ext uri="{0D108BD9-81ED-4DB2-BD59-A6C34878D82A}">
                    <a16:rowId xmlns:a16="http://schemas.microsoft.com/office/drawing/2014/main" val="10007"/>
                  </a:ext>
                </a:extLst>
              </a:tr>
              <a:tr h="365760">
                <a:tc>
                  <a:txBody>
                    <a:bodyPr/>
                    <a:lstStyle/>
                    <a:p>
                      <a:pPr algn="l">
                        <a:defRPr sz="1100" b="0">
                          <a:solidFill>
                            <a:srgbClr val="374151"/>
                          </a:solidFill>
                          <a:latin typeface="Calibri"/>
                        </a:defRPr>
                      </a:pPr>
                      <a:r>
                        <a:t>Governance &amp; Audit</a:t>
                      </a:r>
                    </a:p>
                  </a:txBody>
                  <a:tcPr>
                    <a:solidFill>
                      <a:srgbClr val="EFF6FF"/>
                    </a:solidFill>
                  </a:tcPr>
                </a:tc>
                <a:tc>
                  <a:txBody>
                    <a:bodyPr/>
                    <a:lstStyle/>
                    <a:p>
                      <a:pPr algn="ctr">
                        <a:defRPr sz="1100" b="0">
                          <a:solidFill>
                            <a:srgbClr val="374151"/>
                          </a:solidFill>
                          <a:latin typeface="Calibri"/>
                        </a:defRPr>
                      </a:pPr>
                      <a:r>
                        <a:t>~3M tokens</a:t>
                      </a:r>
                    </a:p>
                  </a:txBody>
                  <a:tcPr>
                    <a:solidFill>
                      <a:srgbClr val="EFF6FF"/>
                    </a:solidFill>
                  </a:tcPr>
                </a:tc>
                <a:tc>
                  <a:txBody>
                    <a:bodyPr/>
                    <a:lstStyle/>
                    <a:p>
                      <a:pPr algn="r">
                        <a:defRPr sz="1100" b="0">
                          <a:solidFill>
                            <a:srgbClr val="374151"/>
                          </a:solidFill>
                          <a:latin typeface="Calibri"/>
                        </a:defRPr>
                      </a:pPr>
                      <a:r>
                        <a:t>$80–$150</a:t>
                      </a:r>
                    </a:p>
                  </a:txBody>
                  <a:tcPr>
                    <a:solidFill>
                      <a:srgbClr val="EFF6FF"/>
                    </a:solidFill>
                  </a:tcPr>
                </a:tc>
                <a:extLst>
                  <a:ext uri="{0D108BD9-81ED-4DB2-BD59-A6C34878D82A}">
                    <a16:rowId xmlns:a16="http://schemas.microsoft.com/office/drawing/2014/main" val="10008"/>
                  </a:ext>
                </a:extLst>
              </a:tr>
              <a:tr h="365760">
                <a:tc>
                  <a:txBody>
                    <a:bodyPr/>
                    <a:lstStyle/>
                    <a:p>
                      <a:pPr algn="l">
                        <a:defRPr sz="1100" b="1">
                          <a:solidFill>
                            <a:srgbClr val="374151"/>
                          </a:solidFill>
                          <a:latin typeface="Calibri"/>
                        </a:defRPr>
                      </a:pPr>
                      <a:r>
                        <a:t>Total</a:t>
                      </a:r>
                    </a:p>
                  </a:txBody>
                  <a:tcPr>
                    <a:solidFill>
                      <a:srgbClr val="DBEAFE"/>
                    </a:solidFill>
                  </a:tcPr>
                </a:tc>
                <a:tc>
                  <a:txBody>
                    <a:bodyPr/>
                    <a:lstStyle/>
                    <a:p>
                      <a:pPr algn="ctr">
                        <a:defRPr sz="1100" b="1">
                          <a:solidFill>
                            <a:srgbClr val="374151"/>
                          </a:solidFill>
                          <a:latin typeface="Calibri"/>
                        </a:defRPr>
                      </a:pPr>
                      <a:r>
                        <a:t>~68M tokens</a:t>
                      </a:r>
                    </a:p>
                  </a:txBody>
                  <a:tcPr>
                    <a:solidFill>
                      <a:srgbClr val="DBEAFE"/>
                    </a:solidFill>
                  </a:tcPr>
                </a:tc>
                <a:tc>
                  <a:txBody>
                    <a:bodyPr/>
                    <a:lstStyle/>
                    <a:p>
                      <a:pPr algn="r">
                        <a:defRPr sz="1100" b="1">
                          <a:solidFill>
                            <a:srgbClr val="374151"/>
                          </a:solidFill>
                          <a:latin typeface="Calibri"/>
                        </a:defRPr>
                      </a:pPr>
                      <a:r>
                        <a:t>$1.5K–$3K</a:t>
                      </a:r>
                    </a:p>
                  </a:txBody>
                  <a:tcPr>
                    <a:solidFill>
                      <a:srgbClr val="DBEAFE"/>
                    </a:solidFill>
                  </a:tcPr>
                </a:tc>
                <a:extLst>
                  <a:ext uri="{0D108BD9-81ED-4DB2-BD59-A6C34878D82A}">
                    <a16:rowId xmlns:a16="http://schemas.microsoft.com/office/drawing/2014/main" val="10009"/>
                  </a:ext>
                </a:extLst>
              </a:tr>
            </a:tbl>
          </a:graphicData>
        </a:graphic>
      </p:graphicFrame>
      <p:sp>
        <p:nvSpPr>
          <p:cNvPr id="8" name="TextBox 7"/>
          <p:cNvSpPr txBox="1"/>
          <p:nvPr/>
        </p:nvSpPr>
        <p:spPr>
          <a:xfrm>
            <a:off x="6217920" y="1143000"/>
            <a:ext cx="4572000" cy="274320"/>
          </a:xfrm>
          <a:prstGeom prst="rect">
            <a:avLst/>
          </a:prstGeom>
          <a:noFill/>
        </p:spPr>
        <p:txBody>
          <a:bodyPr wrap="square" anchor="t"/>
          <a:lstStyle/>
          <a:p>
            <a:pPr algn="l">
              <a:defRPr sz="1400" b="1">
                <a:solidFill>
                  <a:srgbClr val="1E3A5F"/>
                </a:solidFill>
                <a:latin typeface="Calibri"/>
              </a:defRPr>
            </a:pPr>
            <a:r>
              <a:t>Compute &amp; Infrastructure</a:t>
            </a:r>
          </a:p>
        </p:txBody>
      </p:sp>
      <p:graphicFrame>
        <p:nvGraphicFramePr>
          <p:cNvPr id="9" name="Table 8"/>
          <p:cNvGraphicFramePr>
            <a:graphicFrameLocks noGrp="1"/>
          </p:cNvGraphicFramePr>
          <p:nvPr/>
        </p:nvGraphicFramePr>
        <p:xfrm>
          <a:off x="6217920" y="1463040"/>
          <a:ext cx="5303520" cy="219456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13508">
                <a:tc>
                  <a:txBody>
                    <a:bodyPr/>
                    <a:lstStyle/>
                    <a:p>
                      <a:pPr algn="l">
                        <a:defRPr sz="1000" b="1">
                          <a:solidFill>
                            <a:srgbClr val="FFFFFF"/>
                          </a:solidFill>
                          <a:latin typeface="Calibri"/>
                        </a:defRPr>
                      </a:pPr>
                      <a:r>
                        <a:t>Item</a:t>
                      </a:r>
                    </a:p>
                  </a:txBody>
                  <a:tcPr>
                    <a:solidFill>
                      <a:srgbClr val="1A56DB"/>
                    </a:solidFill>
                  </a:tcPr>
                </a:tc>
                <a:tc>
                  <a:txBody>
                    <a:bodyPr/>
                    <a:lstStyle/>
                    <a:p>
                      <a:pPr algn="l">
                        <a:defRPr sz="1000" b="1">
                          <a:solidFill>
                            <a:srgbClr val="FFFFFF"/>
                          </a:solidFill>
                          <a:latin typeface="Calibri"/>
                        </a:defRPr>
                      </a:pPr>
                      <a:r>
                        <a:t>Est. Cost/mo</a:t>
                      </a:r>
                    </a:p>
                  </a:txBody>
                  <a:tcPr>
                    <a:solidFill>
                      <a:srgbClr val="1A56DB"/>
                    </a:solidFill>
                  </a:tcPr>
                </a:tc>
                <a:extLst>
                  <a:ext uri="{0D108BD9-81ED-4DB2-BD59-A6C34878D82A}">
                    <a16:rowId xmlns:a16="http://schemas.microsoft.com/office/drawing/2014/main" val="10000"/>
                  </a:ext>
                </a:extLst>
              </a:tr>
              <a:tr h="313508">
                <a:tc>
                  <a:txBody>
                    <a:bodyPr/>
                    <a:lstStyle/>
                    <a:p>
                      <a:pPr algn="l">
                        <a:defRPr sz="1100" b="0">
                          <a:solidFill>
                            <a:srgbClr val="374151"/>
                          </a:solidFill>
                          <a:latin typeface="Calibri"/>
                        </a:defRPr>
                      </a:pPr>
                      <a:r>
                        <a:t>Agent orchestration (LangGraph / custom)</a:t>
                      </a:r>
                    </a:p>
                  </a:txBody>
                  <a:tcPr>
                    <a:solidFill>
                      <a:srgbClr val="FFFFFF"/>
                    </a:solidFill>
                  </a:tcPr>
                </a:tc>
                <a:tc>
                  <a:txBody>
                    <a:bodyPr/>
                    <a:lstStyle/>
                    <a:p>
                      <a:pPr algn="r">
                        <a:defRPr sz="1100" b="0">
                          <a:solidFill>
                            <a:srgbClr val="374151"/>
                          </a:solidFill>
                          <a:latin typeface="Calibri"/>
                        </a:defRPr>
                      </a:pPr>
                      <a:r>
                        <a:t>$400–$600</a:t>
                      </a:r>
                    </a:p>
                  </a:txBody>
                  <a:tcPr>
                    <a:solidFill>
                      <a:srgbClr val="FFFFFF"/>
                    </a:solidFill>
                  </a:tcPr>
                </a:tc>
                <a:extLst>
                  <a:ext uri="{0D108BD9-81ED-4DB2-BD59-A6C34878D82A}">
                    <a16:rowId xmlns:a16="http://schemas.microsoft.com/office/drawing/2014/main" val="10001"/>
                  </a:ext>
                </a:extLst>
              </a:tr>
              <a:tr h="313508">
                <a:tc>
                  <a:txBody>
                    <a:bodyPr/>
                    <a:lstStyle/>
                    <a:p>
                      <a:pPr algn="l">
                        <a:defRPr sz="1100" b="0">
                          <a:solidFill>
                            <a:srgbClr val="374151"/>
                          </a:solidFill>
                          <a:latin typeface="Calibri"/>
                        </a:defRPr>
                      </a:pPr>
                      <a:r>
                        <a:t>Vector DB (embeddings, RAG)</a:t>
                      </a:r>
                    </a:p>
                  </a:txBody>
                  <a:tcPr>
                    <a:solidFill>
                      <a:srgbClr val="EFF6FF"/>
                    </a:solidFill>
                  </a:tcPr>
                </a:tc>
                <a:tc>
                  <a:txBody>
                    <a:bodyPr/>
                    <a:lstStyle/>
                    <a:p>
                      <a:pPr algn="r">
                        <a:defRPr sz="1100" b="0">
                          <a:solidFill>
                            <a:srgbClr val="374151"/>
                          </a:solidFill>
                          <a:latin typeface="Calibri"/>
                        </a:defRPr>
                      </a:pPr>
                      <a:r>
                        <a:t>$200–$400</a:t>
                      </a:r>
                    </a:p>
                  </a:txBody>
                  <a:tcPr>
                    <a:solidFill>
                      <a:srgbClr val="EFF6FF"/>
                    </a:solidFill>
                  </a:tcPr>
                </a:tc>
                <a:extLst>
                  <a:ext uri="{0D108BD9-81ED-4DB2-BD59-A6C34878D82A}">
                    <a16:rowId xmlns:a16="http://schemas.microsoft.com/office/drawing/2014/main" val="10002"/>
                  </a:ext>
                </a:extLst>
              </a:tr>
              <a:tr h="313508">
                <a:tc>
                  <a:txBody>
                    <a:bodyPr/>
                    <a:lstStyle/>
                    <a:p>
                      <a:pPr algn="l">
                        <a:defRPr sz="1100" b="0">
                          <a:solidFill>
                            <a:srgbClr val="374151"/>
                          </a:solidFill>
                          <a:latin typeface="Calibri"/>
                        </a:defRPr>
                      </a:pPr>
                      <a:r>
                        <a:t>Agent execution compute (GPU/CPU)</a:t>
                      </a:r>
                    </a:p>
                  </a:txBody>
                  <a:tcPr>
                    <a:solidFill>
                      <a:srgbClr val="FFFFFF"/>
                    </a:solidFill>
                  </a:tcPr>
                </a:tc>
                <a:tc>
                  <a:txBody>
                    <a:bodyPr/>
                    <a:lstStyle/>
                    <a:p>
                      <a:pPr algn="r">
                        <a:defRPr sz="1100" b="0">
                          <a:solidFill>
                            <a:srgbClr val="374151"/>
                          </a:solidFill>
                          <a:latin typeface="Calibri"/>
                        </a:defRPr>
                      </a:pPr>
                      <a:r>
                        <a:t>$300–$500</a:t>
                      </a:r>
                    </a:p>
                  </a:txBody>
                  <a:tcPr>
                    <a:solidFill>
                      <a:srgbClr val="FFFFFF"/>
                    </a:solidFill>
                  </a:tcPr>
                </a:tc>
                <a:extLst>
                  <a:ext uri="{0D108BD9-81ED-4DB2-BD59-A6C34878D82A}">
                    <a16:rowId xmlns:a16="http://schemas.microsoft.com/office/drawing/2014/main" val="10003"/>
                  </a:ext>
                </a:extLst>
              </a:tr>
              <a:tr h="313508">
                <a:tc>
                  <a:txBody>
                    <a:bodyPr/>
                    <a:lstStyle/>
                    <a:p>
                      <a:pPr algn="l">
                        <a:defRPr sz="1100" b="0">
                          <a:solidFill>
                            <a:srgbClr val="374151"/>
                          </a:solidFill>
                          <a:latin typeface="Calibri"/>
                        </a:defRPr>
                      </a:pPr>
                      <a:r>
                        <a:t>Logging, tracing, observability</a:t>
                      </a:r>
                    </a:p>
                  </a:txBody>
                  <a:tcPr>
                    <a:solidFill>
                      <a:srgbClr val="EFF6FF"/>
                    </a:solidFill>
                  </a:tcPr>
                </a:tc>
                <a:tc>
                  <a:txBody>
                    <a:bodyPr/>
                    <a:lstStyle/>
                    <a:p>
                      <a:pPr algn="r">
                        <a:defRPr sz="1100" b="0">
                          <a:solidFill>
                            <a:srgbClr val="374151"/>
                          </a:solidFill>
                          <a:latin typeface="Calibri"/>
                        </a:defRPr>
                      </a:pPr>
                      <a:r>
                        <a:t>$150–$300</a:t>
                      </a:r>
                    </a:p>
                  </a:txBody>
                  <a:tcPr>
                    <a:solidFill>
                      <a:srgbClr val="EFF6FF"/>
                    </a:solidFill>
                  </a:tcPr>
                </a:tc>
                <a:extLst>
                  <a:ext uri="{0D108BD9-81ED-4DB2-BD59-A6C34878D82A}">
                    <a16:rowId xmlns:a16="http://schemas.microsoft.com/office/drawing/2014/main" val="10004"/>
                  </a:ext>
                </a:extLst>
              </a:tr>
              <a:tr h="313508">
                <a:tc>
                  <a:txBody>
                    <a:bodyPr/>
                    <a:lstStyle/>
                    <a:p>
                      <a:pPr algn="l">
                        <a:defRPr sz="1100" b="0">
                          <a:solidFill>
                            <a:srgbClr val="374151"/>
                          </a:solidFill>
                          <a:latin typeface="Calibri"/>
                        </a:defRPr>
                      </a:pPr>
                      <a:r>
                        <a:t>Fine-tuning cycles (amortised)</a:t>
                      </a:r>
                    </a:p>
                  </a:txBody>
                  <a:tcPr>
                    <a:solidFill>
                      <a:srgbClr val="FFFFFF"/>
                    </a:solidFill>
                  </a:tcPr>
                </a:tc>
                <a:tc>
                  <a:txBody>
                    <a:bodyPr/>
                    <a:lstStyle/>
                    <a:p>
                      <a:pPr algn="r">
                        <a:defRPr sz="1100" b="0">
                          <a:solidFill>
                            <a:srgbClr val="374151"/>
                          </a:solidFill>
                          <a:latin typeface="Calibri"/>
                        </a:defRPr>
                      </a:pPr>
                      <a:r>
                        <a:t>$400–$800</a:t>
                      </a:r>
                    </a:p>
                  </a:txBody>
                  <a:tcPr>
                    <a:solidFill>
                      <a:srgbClr val="FFFFFF"/>
                    </a:solidFill>
                  </a:tcPr>
                </a:tc>
                <a:extLst>
                  <a:ext uri="{0D108BD9-81ED-4DB2-BD59-A6C34878D82A}">
                    <a16:rowId xmlns:a16="http://schemas.microsoft.com/office/drawing/2014/main" val="10005"/>
                  </a:ext>
                </a:extLst>
              </a:tr>
              <a:tr h="313512">
                <a:tc>
                  <a:txBody>
                    <a:bodyPr/>
                    <a:lstStyle/>
                    <a:p>
                      <a:pPr algn="l">
                        <a:defRPr sz="1100" b="0">
                          <a:solidFill>
                            <a:srgbClr val="374151"/>
                          </a:solidFill>
                          <a:latin typeface="Calibri"/>
                        </a:defRPr>
                      </a:pPr>
                      <a:r>
                        <a:t>Safety &amp; guardrails infrastructure</a:t>
                      </a:r>
                    </a:p>
                  </a:txBody>
                  <a:tcPr>
                    <a:solidFill>
                      <a:srgbClr val="EFF6FF"/>
                    </a:solidFill>
                  </a:tcPr>
                </a:tc>
                <a:tc>
                  <a:txBody>
                    <a:bodyPr/>
                    <a:lstStyle/>
                    <a:p>
                      <a:pPr algn="r">
                        <a:defRPr sz="1100" b="0">
                          <a:solidFill>
                            <a:srgbClr val="374151"/>
                          </a:solidFill>
                          <a:latin typeface="Calibri"/>
                        </a:defRPr>
                      </a:pPr>
                      <a:r>
                        <a:t>$100–$200</a:t>
                      </a:r>
                    </a:p>
                  </a:txBody>
                  <a:tcPr>
                    <a:solidFill>
                      <a:srgbClr val="EFF6FF"/>
                    </a:solidFill>
                  </a:tcPr>
                </a:tc>
                <a:extLst>
                  <a:ext uri="{0D108BD9-81ED-4DB2-BD59-A6C34878D82A}">
                    <a16:rowId xmlns:a16="http://schemas.microsoft.com/office/drawing/2014/main" val="10006"/>
                  </a:ext>
                </a:extLst>
              </a:tr>
            </a:tbl>
          </a:graphicData>
        </a:graphic>
      </p:graphicFrame>
      <p:sp>
        <p:nvSpPr>
          <p:cNvPr id="10" name="Rounded Rectangle 9"/>
          <p:cNvSpPr/>
          <p:nvPr/>
        </p:nvSpPr>
        <p:spPr>
          <a:xfrm>
            <a:off x="6217920" y="3840480"/>
            <a:ext cx="5303520" cy="1645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3886200"/>
            <a:ext cx="4937760" cy="228600"/>
          </a:xfrm>
          <a:prstGeom prst="rect">
            <a:avLst/>
          </a:prstGeom>
          <a:noFill/>
        </p:spPr>
        <p:txBody>
          <a:bodyPr wrap="square" anchor="t"/>
          <a:lstStyle/>
          <a:p>
            <a:pPr algn="l">
              <a:defRPr sz="1200" b="1">
                <a:solidFill>
                  <a:srgbClr val="1A4A7A"/>
                </a:solidFill>
                <a:latin typeface="Calibri"/>
              </a:defRPr>
            </a:pPr>
            <a:r>
              <a:t>Cost Optimisation Levers</a:t>
            </a:r>
          </a:p>
        </p:txBody>
      </p:sp>
      <p:sp>
        <p:nvSpPr>
          <p:cNvPr id="12" name="TextBox 11"/>
          <p:cNvSpPr txBox="1"/>
          <p:nvPr/>
        </p:nvSpPr>
        <p:spPr>
          <a:xfrm>
            <a:off x="6400800" y="4160520"/>
            <a:ext cx="4937760" cy="1280160"/>
          </a:xfrm>
          <a:prstGeom prst="rect">
            <a:avLst/>
          </a:prstGeom>
          <a:noFill/>
        </p:spPr>
        <p:txBody>
          <a:bodyPr wrap="square"/>
          <a:lstStyle/>
          <a:p>
            <a:endParaRPr/>
          </a:p>
          <a:p>
            <a:pPr>
              <a:spcAft>
                <a:spcPts val="200"/>
              </a:spcAft>
              <a:defRPr sz="1000" b="0">
                <a:solidFill>
                  <a:srgbClr val="374151"/>
                </a:solidFill>
                <a:latin typeface="Calibri"/>
              </a:defRPr>
            </a:pPr>
            <a:r>
              <a:t>Prompt caching — reduce repeat token usage by 40–60%</a:t>
            </a:r>
          </a:p>
          <a:p>
            <a:pPr>
              <a:spcAft>
                <a:spcPts val="200"/>
              </a:spcAft>
              <a:defRPr sz="1000" b="0">
                <a:solidFill>
                  <a:srgbClr val="374151"/>
                </a:solidFill>
                <a:latin typeface="Calibri"/>
              </a:defRPr>
            </a:pPr>
            <a:r>
              <a:t>Model tiering — use smaller models for routine tasks</a:t>
            </a:r>
          </a:p>
          <a:p>
            <a:pPr>
              <a:spcAft>
                <a:spcPts val="200"/>
              </a:spcAft>
              <a:defRPr sz="1000" b="0">
                <a:solidFill>
                  <a:srgbClr val="374151"/>
                </a:solidFill>
                <a:latin typeface="Calibri"/>
              </a:defRPr>
            </a:pPr>
            <a:r>
              <a:t>Batch processing — reduce per-request overhead</a:t>
            </a:r>
          </a:p>
          <a:p>
            <a:pPr>
              <a:spcAft>
                <a:spcPts val="200"/>
              </a:spcAft>
              <a:defRPr sz="1000" b="0">
                <a:solidFill>
                  <a:srgbClr val="374151"/>
                </a:solidFill>
                <a:latin typeface="Calibri"/>
              </a:defRPr>
            </a:pPr>
            <a:r>
              <a:t>Fine-tuning — fewer tokens per completion over time</a:t>
            </a:r>
          </a:p>
          <a:p>
            <a:pPr>
              <a:spcAft>
                <a:spcPts val="200"/>
              </a:spcAft>
              <a:defRPr sz="1000" b="0">
                <a:solidFill>
                  <a:srgbClr val="374151"/>
                </a:solidFill>
                <a:latin typeface="Calibri"/>
              </a:defRPr>
            </a:pPr>
            <a:r>
              <a:t>Agent reuse — shared agents across pods</a:t>
            </a:r>
          </a:p>
        </p:txBody>
      </p:sp>
      <p:sp>
        <p:nvSpPr>
          <p:cNvPr id="13" name="Rectangle 12"/>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15" name="TextBox 14"/>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1828800" y="2011680"/>
            <a:ext cx="8229600" cy="1097280"/>
          </a:xfrm>
          <a:prstGeom prst="rect">
            <a:avLst/>
          </a:prstGeom>
          <a:noFill/>
        </p:spPr>
        <p:txBody>
          <a:bodyPr wrap="square" anchor="t"/>
          <a:lstStyle/>
          <a:p>
            <a:pPr algn="ctr">
              <a:defRPr sz="4200" b="1">
                <a:solidFill>
                  <a:srgbClr val="FFFFFF"/>
                </a:solidFill>
                <a:latin typeface="Calibri"/>
              </a:defRPr>
            </a:pPr>
            <a:r>
              <a:t>Value Realization Framework</a:t>
            </a:r>
          </a:p>
        </p:txBody>
      </p:sp>
      <p:sp>
        <p:nvSpPr>
          <p:cNvPr id="3" name="TextBox 2"/>
          <p:cNvSpPr txBox="1"/>
          <p:nvPr/>
        </p:nvSpPr>
        <p:spPr>
          <a:xfrm>
            <a:off x="1828800" y="3200400"/>
            <a:ext cx="8229600" cy="914400"/>
          </a:xfrm>
          <a:prstGeom prst="rect">
            <a:avLst/>
          </a:prstGeom>
          <a:noFill/>
        </p:spPr>
        <p:txBody>
          <a:bodyPr wrap="square" anchor="t"/>
          <a:lstStyle/>
          <a:p>
            <a:pPr algn="ctr">
              <a:defRPr sz="1800" b="0">
                <a:solidFill>
                  <a:srgbClr val="93C5FD"/>
                </a:solidFill>
                <a:latin typeface="Calibri"/>
              </a:defRPr>
            </a:pPr>
            <a:r>
              <a:rPr dirty="0">
                <a:solidFill>
                  <a:schemeClr val="bg1"/>
                </a:solidFill>
              </a:rPr>
              <a:t>Measure, Report &amp; Improve</a:t>
            </a:r>
            <a:br>
              <a:rPr dirty="0">
                <a:solidFill>
                  <a:schemeClr val="bg1"/>
                </a:solidFill>
              </a:rPr>
            </a:br>
            <a:endParaRPr dirty="0">
              <a:solidFill>
                <a:schemeClr val="bg1"/>
              </a:solidFill>
            </a:endParaRPr>
          </a:p>
          <a:p>
            <a:pPr algn="ctr"/>
            <a:r>
              <a:rPr dirty="0">
                <a:solidFill>
                  <a:schemeClr val="bg1"/>
                </a:solidFill>
              </a:rPr>
              <a:t>Cost, Productivity, Time to Market, Product &amp; Business Outcomes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Value Realization Framework — Overview</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FRAMEWORK</a:t>
            </a:r>
          </a:p>
        </p:txBody>
      </p:sp>
      <p:sp>
        <p:nvSpPr>
          <p:cNvPr id="5" name="TextBox 4"/>
          <p:cNvSpPr txBox="1"/>
          <p:nvPr/>
        </p:nvSpPr>
        <p:spPr>
          <a:xfrm>
            <a:off x="548640" y="822960"/>
            <a:ext cx="10972800" cy="365760"/>
          </a:xfrm>
          <a:prstGeom prst="rect">
            <a:avLst/>
          </a:prstGeom>
          <a:noFill/>
        </p:spPr>
        <p:txBody>
          <a:bodyPr wrap="square" anchor="t"/>
          <a:lstStyle/>
          <a:p>
            <a:pPr algn="l">
              <a:defRPr sz="1400" b="0">
                <a:solidFill>
                  <a:srgbClr val="374151"/>
                </a:solidFill>
                <a:latin typeface="Calibri"/>
              </a:defRPr>
            </a:pPr>
            <a:r>
              <a:t>A structured approach to measure, report, and continuously improve the outcomes of the SDLC → ADLC transformation — from operational delivery through to product and business value.</a:t>
            </a:r>
          </a:p>
        </p:txBody>
      </p:sp>
      <p:sp>
        <p:nvSpPr>
          <p:cNvPr id="6" name="Rounded Rectangle 5"/>
          <p:cNvSpPr/>
          <p:nvPr/>
        </p:nvSpPr>
        <p:spPr>
          <a:xfrm>
            <a:off x="548640" y="1463040"/>
            <a:ext cx="2286000" cy="731520"/>
          </a:xfrm>
          <a:prstGeom prst="round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81328"/>
            <a:ext cx="2286000" cy="320040"/>
          </a:xfrm>
          <a:prstGeom prst="rect">
            <a:avLst/>
          </a:prstGeom>
          <a:noFill/>
        </p:spPr>
        <p:txBody>
          <a:bodyPr wrap="square" anchor="t"/>
          <a:lstStyle/>
          <a:p>
            <a:pPr algn="ctr">
              <a:defRPr sz="1400" b="1">
                <a:solidFill>
                  <a:srgbClr val="FFFFFF"/>
                </a:solidFill>
                <a:latin typeface="Calibri"/>
              </a:defRPr>
            </a:pPr>
            <a:r>
              <a:t>MEASURE</a:t>
            </a:r>
          </a:p>
        </p:txBody>
      </p:sp>
      <p:sp>
        <p:nvSpPr>
          <p:cNvPr id="8" name="TextBox 7"/>
          <p:cNvSpPr txBox="1"/>
          <p:nvPr/>
        </p:nvSpPr>
        <p:spPr>
          <a:xfrm>
            <a:off x="548640" y="1810512"/>
            <a:ext cx="2286000" cy="274320"/>
          </a:xfrm>
          <a:prstGeom prst="rect">
            <a:avLst/>
          </a:prstGeom>
          <a:noFill/>
        </p:spPr>
        <p:txBody>
          <a:bodyPr wrap="square" anchor="t"/>
          <a:lstStyle/>
          <a:p>
            <a:pPr algn="ctr">
              <a:defRPr sz="900" b="0">
                <a:solidFill>
                  <a:srgbClr val="BFDBFE"/>
                </a:solidFill>
                <a:latin typeface="Calibri"/>
              </a:defRPr>
            </a:pPr>
            <a:r>
              <a:t>KPIs &amp; Metrics</a:t>
            </a:r>
          </a:p>
        </p:txBody>
      </p:sp>
      <p:sp>
        <p:nvSpPr>
          <p:cNvPr id="9" name="TextBox 8"/>
          <p:cNvSpPr txBox="1"/>
          <p:nvPr/>
        </p:nvSpPr>
        <p:spPr>
          <a:xfrm>
            <a:off x="2834640" y="1508760"/>
            <a:ext cx="411480" cy="548640"/>
          </a:xfrm>
          <a:prstGeom prst="rect">
            <a:avLst/>
          </a:prstGeom>
          <a:noFill/>
        </p:spPr>
        <p:txBody>
          <a:bodyPr wrap="square" anchor="ctr"/>
          <a:lstStyle/>
          <a:p>
            <a:pPr algn="ctr">
              <a:defRPr sz="2200" b="0">
                <a:solidFill>
                  <a:srgbClr val="60A5FA"/>
                </a:solidFill>
                <a:latin typeface="Calibri"/>
              </a:defRPr>
            </a:pPr>
            <a:r>
              <a:t>→</a:t>
            </a:r>
          </a:p>
        </p:txBody>
      </p:sp>
      <p:sp>
        <p:nvSpPr>
          <p:cNvPr id="10" name="Rounded Rectangle 9"/>
          <p:cNvSpPr/>
          <p:nvPr/>
        </p:nvSpPr>
        <p:spPr>
          <a:xfrm>
            <a:off x="3246120" y="1463040"/>
            <a:ext cx="2286000" cy="7315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46120" y="1481328"/>
            <a:ext cx="2286000" cy="320040"/>
          </a:xfrm>
          <a:prstGeom prst="rect">
            <a:avLst/>
          </a:prstGeom>
          <a:noFill/>
        </p:spPr>
        <p:txBody>
          <a:bodyPr wrap="square" anchor="t"/>
          <a:lstStyle/>
          <a:p>
            <a:pPr algn="ctr">
              <a:defRPr sz="1400" b="1">
                <a:solidFill>
                  <a:srgbClr val="FFFFFF"/>
                </a:solidFill>
                <a:latin typeface="Calibri"/>
              </a:defRPr>
            </a:pPr>
            <a:r>
              <a:t>REPORT</a:t>
            </a:r>
          </a:p>
        </p:txBody>
      </p:sp>
      <p:sp>
        <p:nvSpPr>
          <p:cNvPr id="12" name="TextBox 11"/>
          <p:cNvSpPr txBox="1"/>
          <p:nvPr/>
        </p:nvSpPr>
        <p:spPr>
          <a:xfrm>
            <a:off x="3246120" y="1810512"/>
            <a:ext cx="2286000" cy="274320"/>
          </a:xfrm>
          <a:prstGeom prst="rect">
            <a:avLst/>
          </a:prstGeom>
          <a:noFill/>
        </p:spPr>
        <p:txBody>
          <a:bodyPr wrap="square" anchor="t"/>
          <a:lstStyle/>
          <a:p>
            <a:pPr algn="ctr">
              <a:defRPr sz="900" b="0">
                <a:solidFill>
                  <a:srgbClr val="BFDBFE"/>
                </a:solidFill>
                <a:latin typeface="Calibri"/>
              </a:defRPr>
            </a:pPr>
            <a:r>
              <a:t>Dashboards &amp; Reviews</a:t>
            </a:r>
          </a:p>
        </p:txBody>
      </p:sp>
      <p:sp>
        <p:nvSpPr>
          <p:cNvPr id="13" name="TextBox 12"/>
          <p:cNvSpPr txBox="1"/>
          <p:nvPr/>
        </p:nvSpPr>
        <p:spPr>
          <a:xfrm>
            <a:off x="5532120" y="1508760"/>
            <a:ext cx="411480" cy="548640"/>
          </a:xfrm>
          <a:prstGeom prst="rect">
            <a:avLst/>
          </a:prstGeom>
          <a:noFill/>
        </p:spPr>
        <p:txBody>
          <a:bodyPr wrap="square" anchor="ctr"/>
          <a:lstStyle/>
          <a:p>
            <a:pPr algn="ctr">
              <a:defRPr sz="2200" b="0">
                <a:solidFill>
                  <a:srgbClr val="60A5FA"/>
                </a:solidFill>
                <a:latin typeface="Calibri"/>
              </a:defRPr>
            </a:pPr>
            <a:r>
              <a:t>→</a:t>
            </a:r>
          </a:p>
        </p:txBody>
      </p:sp>
      <p:sp>
        <p:nvSpPr>
          <p:cNvPr id="14" name="Rounded Rectangle 13"/>
          <p:cNvSpPr/>
          <p:nvPr/>
        </p:nvSpPr>
        <p:spPr>
          <a:xfrm>
            <a:off x="5943600" y="1463040"/>
            <a:ext cx="2286000" cy="7315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0" y="1481328"/>
            <a:ext cx="2286000" cy="320040"/>
          </a:xfrm>
          <a:prstGeom prst="rect">
            <a:avLst/>
          </a:prstGeom>
          <a:noFill/>
        </p:spPr>
        <p:txBody>
          <a:bodyPr wrap="square" anchor="t"/>
          <a:lstStyle/>
          <a:p>
            <a:pPr algn="ctr">
              <a:defRPr sz="1400" b="1">
                <a:solidFill>
                  <a:srgbClr val="FFFFFF"/>
                </a:solidFill>
                <a:latin typeface="Calibri"/>
              </a:defRPr>
            </a:pPr>
            <a:r>
              <a:t>IMPROVE</a:t>
            </a:r>
          </a:p>
        </p:txBody>
      </p:sp>
      <p:sp>
        <p:nvSpPr>
          <p:cNvPr id="16" name="TextBox 15"/>
          <p:cNvSpPr txBox="1"/>
          <p:nvPr/>
        </p:nvSpPr>
        <p:spPr>
          <a:xfrm>
            <a:off x="5943600" y="1810512"/>
            <a:ext cx="2286000" cy="274320"/>
          </a:xfrm>
          <a:prstGeom prst="rect">
            <a:avLst/>
          </a:prstGeom>
          <a:noFill/>
        </p:spPr>
        <p:txBody>
          <a:bodyPr wrap="square" anchor="t"/>
          <a:lstStyle/>
          <a:p>
            <a:pPr algn="ctr">
              <a:defRPr sz="900" b="0">
                <a:solidFill>
                  <a:srgbClr val="BFDBFE"/>
                </a:solidFill>
                <a:latin typeface="Calibri"/>
              </a:defRPr>
            </a:pPr>
            <a:r>
              <a:t>Optimise &amp; Scale</a:t>
            </a:r>
          </a:p>
        </p:txBody>
      </p:sp>
      <p:sp>
        <p:nvSpPr>
          <p:cNvPr id="17" name="TextBox 16"/>
          <p:cNvSpPr txBox="1"/>
          <p:nvPr/>
        </p:nvSpPr>
        <p:spPr>
          <a:xfrm>
            <a:off x="8229600" y="1508760"/>
            <a:ext cx="411480" cy="548640"/>
          </a:xfrm>
          <a:prstGeom prst="rect">
            <a:avLst/>
          </a:prstGeom>
          <a:noFill/>
        </p:spPr>
        <p:txBody>
          <a:bodyPr wrap="square" anchor="ctr"/>
          <a:lstStyle/>
          <a:p>
            <a:pPr algn="ctr">
              <a:defRPr sz="2200" b="0">
                <a:solidFill>
                  <a:srgbClr val="60A5FA"/>
                </a:solidFill>
                <a:latin typeface="Calibri"/>
              </a:defRPr>
            </a:pPr>
            <a:r>
              <a:t>→</a:t>
            </a:r>
          </a:p>
        </p:txBody>
      </p:sp>
      <p:sp>
        <p:nvSpPr>
          <p:cNvPr id="18" name="Rounded Rectangle 17"/>
          <p:cNvSpPr/>
          <p:nvPr/>
        </p:nvSpPr>
        <p:spPr>
          <a:xfrm>
            <a:off x="8641080" y="1463040"/>
            <a:ext cx="2286000" cy="73152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41080" y="1481328"/>
            <a:ext cx="2286000" cy="320040"/>
          </a:xfrm>
          <a:prstGeom prst="rect">
            <a:avLst/>
          </a:prstGeom>
          <a:noFill/>
        </p:spPr>
        <p:txBody>
          <a:bodyPr wrap="square" anchor="t"/>
          <a:lstStyle/>
          <a:p>
            <a:pPr algn="ctr">
              <a:defRPr sz="1400" b="1">
                <a:solidFill>
                  <a:srgbClr val="FFFFFF"/>
                </a:solidFill>
                <a:latin typeface="Calibri"/>
              </a:defRPr>
            </a:pPr>
            <a:r>
              <a:t>COMPOUND</a:t>
            </a:r>
          </a:p>
        </p:txBody>
      </p:sp>
      <p:sp>
        <p:nvSpPr>
          <p:cNvPr id="20" name="TextBox 19"/>
          <p:cNvSpPr txBox="1"/>
          <p:nvPr/>
        </p:nvSpPr>
        <p:spPr>
          <a:xfrm>
            <a:off x="8641080" y="1810512"/>
            <a:ext cx="2286000" cy="274320"/>
          </a:xfrm>
          <a:prstGeom prst="rect">
            <a:avLst/>
          </a:prstGeom>
          <a:noFill/>
        </p:spPr>
        <p:txBody>
          <a:bodyPr wrap="square" anchor="t"/>
          <a:lstStyle/>
          <a:p>
            <a:pPr algn="ctr">
              <a:defRPr sz="900" b="0">
                <a:solidFill>
                  <a:srgbClr val="BFDBFE"/>
                </a:solidFill>
                <a:latin typeface="Calibri"/>
              </a:defRPr>
            </a:pPr>
            <a:r>
              <a:t>Flywheel Effect</a:t>
            </a:r>
          </a:p>
        </p:txBody>
      </p:sp>
      <p:sp>
        <p:nvSpPr>
          <p:cNvPr id="21" name="Rounded Rectangle 20"/>
          <p:cNvSpPr/>
          <p:nvPr/>
        </p:nvSpPr>
        <p:spPr>
          <a:xfrm>
            <a:off x="548640" y="2470000"/>
            <a:ext cx="3400000" cy="12000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2500000"/>
            <a:ext cx="3400000" cy="365760"/>
          </a:xfrm>
          <a:prstGeom prst="rect">
            <a:avLst/>
          </a:prstGeom>
          <a:noFill/>
        </p:spPr>
        <p:txBody>
          <a:bodyPr wrap="square" anchor="t"/>
          <a:lstStyle/>
          <a:p>
            <a:pPr algn="ctr">
              <a:defRPr sz="2400" b="1">
                <a:solidFill>
                  <a:srgbClr val="1A56DB"/>
                </a:solidFill>
                <a:latin typeface="Calibri"/>
              </a:defRPr>
            </a:pPr>
            <a:r>
              <a:t>$</a:t>
            </a:r>
          </a:p>
        </p:txBody>
      </p:sp>
      <p:sp>
        <p:nvSpPr>
          <p:cNvPr id="23" name="TextBox 22"/>
          <p:cNvSpPr txBox="1"/>
          <p:nvPr/>
        </p:nvSpPr>
        <p:spPr>
          <a:xfrm>
            <a:off x="548640" y="2790000"/>
            <a:ext cx="3400000" cy="228600"/>
          </a:xfrm>
          <a:prstGeom prst="rect">
            <a:avLst/>
          </a:prstGeom>
          <a:noFill/>
        </p:spPr>
        <p:txBody>
          <a:bodyPr wrap="square" anchor="t"/>
          <a:lstStyle/>
          <a:p>
            <a:pPr algn="ctr">
              <a:defRPr sz="1200" b="1">
                <a:solidFill>
                  <a:srgbClr val="1A4A7A"/>
                </a:solidFill>
                <a:latin typeface="Calibri"/>
              </a:defRPr>
            </a:pPr>
            <a:r>
              <a:t>Cost Efficiency</a:t>
            </a:r>
          </a:p>
        </p:txBody>
      </p:sp>
      <p:sp>
        <p:nvSpPr>
          <p:cNvPr id="24" name="TextBox 23"/>
          <p:cNvSpPr txBox="1"/>
          <p:nvPr/>
        </p:nvSpPr>
        <p:spPr>
          <a:xfrm>
            <a:off x="648640" y="3010000"/>
            <a:ext cx="3400000" cy="640080"/>
          </a:xfrm>
          <a:prstGeom prst="rect">
            <a:avLst/>
          </a:prstGeom>
          <a:noFill/>
        </p:spPr>
        <p:txBody>
          <a:bodyPr wrap="square" anchor="t"/>
          <a:lstStyle/>
          <a:p>
            <a:pPr algn="ctr">
              <a:defRPr sz="1000" b="0">
                <a:solidFill>
                  <a:srgbClr val="6B7280"/>
                </a:solidFill>
                <a:latin typeface="Calibri"/>
              </a:defRPr>
            </a:pPr>
            <a:r>
              <a:t>Total cost of delivery, cost per capability, infrastructure spend</a:t>
            </a:r>
          </a:p>
        </p:txBody>
      </p:sp>
      <p:sp>
        <p:nvSpPr>
          <p:cNvPr id="25" name="Rounded Rectangle 24"/>
          <p:cNvSpPr/>
          <p:nvPr/>
        </p:nvSpPr>
        <p:spPr>
          <a:xfrm>
            <a:off x="4148640" y="2470000"/>
            <a:ext cx="3400000" cy="12000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48640" y="2500000"/>
            <a:ext cx="3400000" cy="365760"/>
          </a:xfrm>
          <a:prstGeom prst="rect">
            <a:avLst/>
          </a:prstGeom>
          <a:noFill/>
        </p:spPr>
        <p:txBody>
          <a:bodyPr wrap="square" anchor="t"/>
          <a:lstStyle/>
          <a:p>
            <a:pPr algn="ctr">
              <a:defRPr sz="2400" b="1">
                <a:solidFill>
                  <a:srgbClr val="1A56DB"/>
                </a:solidFill>
                <a:latin typeface="Calibri"/>
              </a:defRPr>
            </a:pPr>
            <a:r>
              <a:t>↑</a:t>
            </a:r>
          </a:p>
        </p:txBody>
      </p:sp>
      <p:sp>
        <p:nvSpPr>
          <p:cNvPr id="27" name="TextBox 26"/>
          <p:cNvSpPr txBox="1"/>
          <p:nvPr/>
        </p:nvSpPr>
        <p:spPr>
          <a:xfrm>
            <a:off x="4148640" y="2790000"/>
            <a:ext cx="3400000" cy="228600"/>
          </a:xfrm>
          <a:prstGeom prst="rect">
            <a:avLst/>
          </a:prstGeom>
          <a:noFill/>
        </p:spPr>
        <p:txBody>
          <a:bodyPr wrap="square" anchor="t"/>
          <a:lstStyle/>
          <a:p>
            <a:pPr algn="ctr">
              <a:defRPr sz="1200" b="1">
                <a:solidFill>
                  <a:srgbClr val="1A4A7A"/>
                </a:solidFill>
                <a:latin typeface="Calibri"/>
              </a:defRPr>
            </a:pPr>
            <a:r>
              <a:t>Productivity</a:t>
            </a:r>
          </a:p>
        </p:txBody>
      </p:sp>
      <p:sp>
        <p:nvSpPr>
          <p:cNvPr id="28" name="TextBox 27"/>
          <p:cNvSpPr txBox="1"/>
          <p:nvPr/>
        </p:nvSpPr>
        <p:spPr>
          <a:xfrm>
            <a:off x="4248640" y="3010000"/>
            <a:ext cx="3400000" cy="640080"/>
          </a:xfrm>
          <a:prstGeom prst="rect">
            <a:avLst/>
          </a:prstGeom>
          <a:noFill/>
        </p:spPr>
        <p:txBody>
          <a:bodyPr wrap="square" anchor="t"/>
          <a:lstStyle/>
          <a:p>
            <a:pPr algn="ctr">
              <a:defRPr sz="1000" b="0">
                <a:solidFill>
                  <a:srgbClr val="6B7280"/>
                </a:solidFill>
                <a:latin typeface="Calibri"/>
              </a:defRPr>
            </a:pPr>
            <a:r>
              <a:t>Throughput per person, agent automation rate, productive time ratio</a:t>
            </a:r>
          </a:p>
        </p:txBody>
      </p:sp>
      <p:sp>
        <p:nvSpPr>
          <p:cNvPr id="29" name="Rounded Rectangle 28"/>
          <p:cNvSpPr/>
          <p:nvPr/>
        </p:nvSpPr>
        <p:spPr>
          <a:xfrm>
            <a:off x="7748640" y="2470000"/>
            <a:ext cx="3400000" cy="12000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48640" y="2500000"/>
            <a:ext cx="3400000" cy="365760"/>
          </a:xfrm>
          <a:prstGeom prst="rect">
            <a:avLst/>
          </a:prstGeom>
          <a:noFill/>
        </p:spPr>
        <p:txBody>
          <a:bodyPr wrap="square" anchor="t"/>
          <a:lstStyle/>
          <a:p>
            <a:pPr algn="ctr">
              <a:defRPr sz="2400" b="1">
                <a:solidFill>
                  <a:srgbClr val="1A56DB"/>
                </a:solidFill>
                <a:latin typeface="Calibri"/>
              </a:defRPr>
            </a:pPr>
            <a:r>
              <a:t>«</a:t>
            </a:r>
          </a:p>
        </p:txBody>
      </p:sp>
      <p:sp>
        <p:nvSpPr>
          <p:cNvPr id="31" name="TextBox 30"/>
          <p:cNvSpPr txBox="1"/>
          <p:nvPr/>
        </p:nvSpPr>
        <p:spPr>
          <a:xfrm>
            <a:off x="7748640" y="2790000"/>
            <a:ext cx="3400000" cy="228600"/>
          </a:xfrm>
          <a:prstGeom prst="rect">
            <a:avLst/>
          </a:prstGeom>
          <a:noFill/>
        </p:spPr>
        <p:txBody>
          <a:bodyPr wrap="square" anchor="t"/>
          <a:lstStyle/>
          <a:p>
            <a:pPr algn="ctr">
              <a:defRPr sz="1200" b="1">
                <a:solidFill>
                  <a:srgbClr val="1A4A7A"/>
                </a:solidFill>
                <a:latin typeface="Calibri"/>
              </a:defRPr>
            </a:pPr>
            <a:r>
              <a:t>Time to Market</a:t>
            </a:r>
          </a:p>
        </p:txBody>
      </p:sp>
      <p:sp>
        <p:nvSpPr>
          <p:cNvPr id="32" name="TextBox 31"/>
          <p:cNvSpPr txBox="1"/>
          <p:nvPr/>
        </p:nvSpPr>
        <p:spPr>
          <a:xfrm>
            <a:off x="7848640" y="3010000"/>
            <a:ext cx="3400000" cy="640080"/>
          </a:xfrm>
          <a:prstGeom prst="rect">
            <a:avLst/>
          </a:prstGeom>
          <a:noFill/>
        </p:spPr>
        <p:txBody>
          <a:bodyPr wrap="square" anchor="t"/>
          <a:lstStyle/>
          <a:p>
            <a:pPr algn="ctr">
              <a:defRPr sz="1000" b="0">
                <a:solidFill>
                  <a:srgbClr val="6B7280"/>
                </a:solidFill>
                <a:latin typeface="Calibri"/>
              </a:defRPr>
            </a:pPr>
            <a:r>
              <a:t>Lead time, cycle time, deployment frequency, idea-to-production</a:t>
            </a:r>
          </a:p>
        </p:txBody>
      </p:sp>
      <p:sp>
        <p:nvSpPr>
          <p:cNvPr id="33" name="Rounded Rectangle 32"/>
          <p:cNvSpPr/>
          <p:nvPr/>
        </p:nvSpPr>
        <p:spPr>
          <a:xfrm>
            <a:off x="548640" y="3850000"/>
            <a:ext cx="3400000" cy="12000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3880000"/>
            <a:ext cx="3400000" cy="365760"/>
          </a:xfrm>
          <a:prstGeom prst="rect">
            <a:avLst/>
          </a:prstGeom>
          <a:noFill/>
        </p:spPr>
        <p:txBody>
          <a:bodyPr wrap="square" anchor="t"/>
          <a:lstStyle/>
          <a:p>
            <a:pPr algn="ctr">
              <a:defRPr sz="2400" b="1">
                <a:solidFill>
                  <a:srgbClr val="1A56DB"/>
                </a:solidFill>
                <a:latin typeface="Calibri"/>
              </a:defRPr>
            </a:pPr>
            <a:r>
              <a:t>✓</a:t>
            </a:r>
          </a:p>
        </p:txBody>
      </p:sp>
      <p:sp>
        <p:nvSpPr>
          <p:cNvPr id="35" name="TextBox 34"/>
          <p:cNvSpPr txBox="1"/>
          <p:nvPr/>
        </p:nvSpPr>
        <p:spPr>
          <a:xfrm>
            <a:off x="548640" y="4170000"/>
            <a:ext cx="3400000" cy="228600"/>
          </a:xfrm>
          <a:prstGeom prst="rect">
            <a:avLst/>
          </a:prstGeom>
          <a:noFill/>
        </p:spPr>
        <p:txBody>
          <a:bodyPr wrap="square" anchor="t"/>
          <a:lstStyle/>
          <a:p>
            <a:pPr algn="ctr">
              <a:defRPr sz="1200" b="1">
                <a:solidFill>
                  <a:srgbClr val="1A4A7A"/>
                </a:solidFill>
                <a:latin typeface="Calibri"/>
              </a:defRPr>
            </a:pPr>
            <a:r>
              <a:t>Quality &amp; Risk</a:t>
            </a:r>
          </a:p>
        </p:txBody>
      </p:sp>
      <p:sp>
        <p:nvSpPr>
          <p:cNvPr id="36" name="TextBox 35"/>
          <p:cNvSpPr txBox="1"/>
          <p:nvPr/>
        </p:nvSpPr>
        <p:spPr>
          <a:xfrm>
            <a:off x="648640" y="4390000"/>
            <a:ext cx="3400000" cy="640080"/>
          </a:xfrm>
          <a:prstGeom prst="rect">
            <a:avLst/>
          </a:prstGeom>
          <a:noFill/>
        </p:spPr>
        <p:txBody>
          <a:bodyPr wrap="square" anchor="t"/>
          <a:lstStyle/>
          <a:p>
            <a:pPr algn="ctr">
              <a:defRPr sz="1000" b="0">
                <a:solidFill>
                  <a:srgbClr val="6B7280"/>
                </a:solidFill>
                <a:latin typeface="Calibri"/>
              </a:defRPr>
            </a:pPr>
            <a:r>
              <a:t>Test coverage, change failure rate, security posture, MTTR</a:t>
            </a:r>
          </a:p>
        </p:txBody>
      </p:sp>
      <p:sp>
        <p:nvSpPr>
          <p:cNvPr id="37" name="Rectangle 36"/>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39" name="TextBox 38"/>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24</a:t>
            </a:r>
          </a:p>
        </p:txBody>
      </p:sp>
      <p:sp>
        <p:nvSpPr>
          <p:cNvPr id="40" name="Rounded Rectangle 39"/>
          <p:cNvSpPr/>
          <p:nvPr/>
        </p:nvSpPr>
        <p:spPr>
          <a:xfrm>
            <a:off x="4148640" y="3850000"/>
            <a:ext cx="3400000" cy="120000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148640" y="3880000"/>
            <a:ext cx="3400000" cy="365760"/>
          </a:xfrm>
          <a:prstGeom prst="rect">
            <a:avLst/>
          </a:prstGeom>
          <a:noFill/>
        </p:spPr>
        <p:txBody>
          <a:bodyPr wrap="square">
            <a:spAutoFit/>
          </a:bodyPr>
          <a:lstStyle/>
          <a:p>
            <a:r>
              <a:rPr sz="2400">
                <a:solidFill>
                  <a:srgbClr val="1A56DB"/>
                </a:solidFill>
              </a:rPr>
              <a:t>◎</a:t>
            </a:r>
          </a:p>
        </p:txBody>
      </p:sp>
      <p:sp>
        <p:nvSpPr>
          <p:cNvPr id="42" name="TextBox 41"/>
          <p:cNvSpPr txBox="1"/>
          <p:nvPr/>
        </p:nvSpPr>
        <p:spPr>
          <a:xfrm>
            <a:off x="4148640" y="4170000"/>
            <a:ext cx="3400000" cy="228600"/>
          </a:xfrm>
          <a:prstGeom prst="rect">
            <a:avLst/>
          </a:prstGeom>
          <a:noFill/>
        </p:spPr>
        <p:txBody>
          <a:bodyPr wrap="square">
            <a:spAutoFit/>
          </a:bodyPr>
          <a:lstStyle/>
          <a:p>
            <a:r>
              <a:rPr sz="1400" b="1">
                <a:solidFill>
                  <a:srgbClr val="1E293B"/>
                </a:solidFill>
              </a:rPr>
              <a:t>Product Outcomes</a:t>
            </a:r>
          </a:p>
        </p:txBody>
      </p:sp>
      <p:sp>
        <p:nvSpPr>
          <p:cNvPr id="43" name="TextBox 42"/>
          <p:cNvSpPr txBox="1"/>
          <p:nvPr/>
        </p:nvSpPr>
        <p:spPr>
          <a:xfrm>
            <a:off x="4248640" y="4390000"/>
            <a:ext cx="3200000" cy="640080"/>
          </a:xfrm>
          <a:prstGeom prst="rect">
            <a:avLst/>
          </a:prstGeom>
          <a:noFill/>
        </p:spPr>
        <p:txBody>
          <a:bodyPr wrap="square">
            <a:spAutoFit/>
          </a:bodyPr>
          <a:lstStyle/>
          <a:p>
            <a:r>
              <a:rPr sz="1000">
                <a:solidFill>
                  <a:srgbClr val="475569"/>
                </a:solidFill>
              </a:rPr>
              <a:t>Feature adoption, product OKRs, value stream predictability, team &amp; group velocity</a:t>
            </a:r>
          </a:p>
        </p:txBody>
      </p:sp>
      <p:sp>
        <p:nvSpPr>
          <p:cNvPr id="44" name="Rounded Rectangle 43"/>
          <p:cNvSpPr/>
          <p:nvPr/>
        </p:nvSpPr>
        <p:spPr>
          <a:xfrm>
            <a:off x="7748640" y="3850000"/>
            <a:ext cx="3400000" cy="120000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48640" y="3880000"/>
            <a:ext cx="3400000" cy="365760"/>
          </a:xfrm>
          <a:prstGeom prst="rect">
            <a:avLst/>
          </a:prstGeom>
          <a:noFill/>
        </p:spPr>
        <p:txBody>
          <a:bodyPr wrap="square">
            <a:spAutoFit/>
          </a:bodyPr>
          <a:lstStyle/>
          <a:p>
            <a:r>
              <a:rPr sz="2400">
                <a:solidFill>
                  <a:srgbClr val="1A56DB"/>
                </a:solidFill>
              </a:rPr>
              <a:t>▲</a:t>
            </a:r>
          </a:p>
        </p:txBody>
      </p:sp>
      <p:sp>
        <p:nvSpPr>
          <p:cNvPr id="46" name="TextBox 45"/>
          <p:cNvSpPr txBox="1"/>
          <p:nvPr/>
        </p:nvSpPr>
        <p:spPr>
          <a:xfrm>
            <a:off x="7748640" y="4170000"/>
            <a:ext cx="3400000" cy="228600"/>
          </a:xfrm>
          <a:prstGeom prst="rect">
            <a:avLst/>
          </a:prstGeom>
          <a:noFill/>
        </p:spPr>
        <p:txBody>
          <a:bodyPr wrap="square">
            <a:spAutoFit/>
          </a:bodyPr>
          <a:lstStyle/>
          <a:p>
            <a:r>
              <a:rPr sz="1400" b="1">
                <a:solidFill>
                  <a:srgbClr val="1E293B"/>
                </a:solidFill>
              </a:rPr>
              <a:t>Business Outcomes</a:t>
            </a:r>
          </a:p>
        </p:txBody>
      </p:sp>
      <p:sp>
        <p:nvSpPr>
          <p:cNvPr id="47" name="TextBox 46"/>
          <p:cNvSpPr txBox="1"/>
          <p:nvPr/>
        </p:nvSpPr>
        <p:spPr>
          <a:xfrm>
            <a:off x="7848640" y="4390000"/>
            <a:ext cx="3200000" cy="640080"/>
          </a:xfrm>
          <a:prstGeom prst="rect">
            <a:avLst/>
          </a:prstGeom>
          <a:noFill/>
        </p:spPr>
        <p:txBody>
          <a:bodyPr wrap="square">
            <a:spAutoFit/>
          </a:bodyPr>
          <a:lstStyle/>
          <a:p>
            <a:r>
              <a:rPr sz="1000">
                <a:solidFill>
                  <a:srgbClr val="475569"/>
                </a:solidFill>
              </a:rPr>
              <a:t>Revenue growth, customer NPS, acquisition rate, cost-to-serve, market share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Measurement Framework — KPIs &amp; Metrics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MEASURE</a:t>
            </a:r>
          </a:p>
        </p:txBody>
      </p:sp>
      <p:graphicFrame>
        <p:nvGraphicFramePr>
          <p:cNvPr id="5" name="Table 4"/>
          <p:cNvGraphicFramePr>
            <a:graphicFrameLocks noGrp="1"/>
          </p:cNvGraphicFramePr>
          <p:nvPr/>
        </p:nvGraphicFramePr>
        <p:xfrm>
          <a:off x="548640" y="822960"/>
          <a:ext cx="10972800" cy="50292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457200">
                <a:tc>
                  <a:txBody>
                    <a:bodyPr/>
                    <a:lstStyle/>
                    <a:p>
                      <a:pPr algn="l">
                        <a:defRPr sz="1000" b="1">
                          <a:solidFill>
                            <a:srgbClr val="FFFFFF"/>
                          </a:solidFill>
                          <a:latin typeface="Calibri"/>
                        </a:defRPr>
                      </a:pPr>
                      <a:r>
                        <a:t>Dimension</a:t>
                      </a:r>
                    </a:p>
                  </a:txBody>
                  <a:tcPr>
                    <a:solidFill>
                      <a:srgbClr val="1A56DB"/>
                    </a:solidFill>
                  </a:tcPr>
                </a:tc>
                <a:tc>
                  <a:txBody>
                    <a:bodyPr/>
                    <a:lstStyle/>
                    <a:p>
                      <a:pPr algn="l">
                        <a:defRPr sz="1000" b="1">
                          <a:solidFill>
                            <a:srgbClr val="FFFFFF"/>
                          </a:solidFill>
                          <a:latin typeface="Calibri"/>
                        </a:defRPr>
                      </a:pPr>
                      <a:r>
                        <a:t>KPI</a:t>
                      </a:r>
                    </a:p>
                  </a:txBody>
                  <a:tcPr>
                    <a:solidFill>
                      <a:srgbClr val="1A56DB"/>
                    </a:solidFill>
                  </a:tcPr>
                </a:tc>
                <a:tc>
                  <a:txBody>
                    <a:bodyPr/>
                    <a:lstStyle/>
                    <a:p>
                      <a:pPr algn="l">
                        <a:defRPr sz="1000" b="1">
                          <a:solidFill>
                            <a:srgbClr val="FFFFFF"/>
                          </a:solidFill>
                          <a:latin typeface="Calibri"/>
                        </a:defRPr>
                      </a:pPr>
                      <a:r>
                        <a:t>SDLC Baseline</a:t>
                      </a:r>
                    </a:p>
                  </a:txBody>
                  <a:tcPr>
                    <a:solidFill>
                      <a:srgbClr val="1A56DB"/>
                    </a:solidFill>
                  </a:tcPr>
                </a:tc>
                <a:tc>
                  <a:txBody>
                    <a:bodyPr/>
                    <a:lstStyle/>
                    <a:p>
                      <a:pPr algn="l">
                        <a:defRPr sz="1000" b="1">
                          <a:solidFill>
                            <a:srgbClr val="FFFFFF"/>
                          </a:solidFill>
                          <a:latin typeface="Calibri"/>
                        </a:defRPr>
                      </a:pPr>
                      <a:r>
                        <a:t>ADLC Target</a:t>
                      </a:r>
                    </a:p>
                  </a:txBody>
                  <a:tcPr>
                    <a:solidFill>
                      <a:srgbClr val="1A56DB"/>
                    </a:solidFill>
                  </a:tcPr>
                </a:tc>
                <a:tc>
                  <a:txBody>
                    <a:bodyPr/>
                    <a:lstStyle/>
                    <a:p>
                      <a:pPr algn="l">
                        <a:defRPr sz="1000" b="1">
                          <a:solidFill>
                            <a:srgbClr val="FFFFFF"/>
                          </a:solidFill>
                          <a:latin typeface="Calibri"/>
                        </a:defRPr>
                      </a:pPr>
                      <a:r>
                        <a:t>How to Measure</a:t>
                      </a:r>
                    </a:p>
                  </a:txBody>
                  <a:tcPr>
                    <a:solidFill>
                      <a:srgbClr val="1A56DB"/>
                    </a:solidFill>
                  </a:tcPr>
                </a:tc>
                <a:extLst>
                  <a:ext uri="{0D108BD9-81ED-4DB2-BD59-A6C34878D82A}">
                    <a16:rowId xmlns:a16="http://schemas.microsoft.com/office/drawing/2014/main" val="10000"/>
                  </a:ext>
                </a:extLst>
              </a:tr>
              <a:tr h="457200">
                <a:tc>
                  <a:txBody>
                    <a:bodyPr/>
                    <a:lstStyle/>
                    <a:p>
                      <a:pPr algn="l">
                        <a:defRPr sz="1100" b="1">
                          <a:solidFill>
                            <a:srgbClr val="1A4A7A"/>
                          </a:solidFill>
                          <a:latin typeface="Calibri"/>
                        </a:defRPr>
                      </a:pPr>
                      <a:r>
                        <a:t>Cost</a:t>
                      </a:r>
                    </a:p>
                    <a:p>
                      <a:pPr algn="l">
                        <a:defRPr sz="1100" b="1">
                          <a:solidFill>
                            <a:srgbClr val="1A4A7A"/>
                          </a:solidFill>
                          <a:latin typeface="Calibri"/>
                        </a:defRPr>
                      </a:pPr>
                      <a:r>
                        <a:t>Efficiency</a:t>
                      </a:r>
                    </a:p>
                  </a:txBody>
                  <a:tcPr>
                    <a:solidFill>
                      <a:srgbClr val="EFF6FF"/>
                    </a:solidFill>
                  </a:tcPr>
                </a:tc>
                <a:tc>
                  <a:txBody>
                    <a:bodyPr/>
                    <a:lstStyle/>
                    <a:p>
                      <a:pPr algn="l">
                        <a:defRPr sz="1100" b="0">
                          <a:solidFill>
                            <a:srgbClr val="374151"/>
                          </a:solidFill>
                          <a:latin typeface="Calibri"/>
                        </a:defRPr>
                      </a:pPr>
                      <a:r>
                        <a:t>Cost per capability delivered</a:t>
                      </a:r>
                    </a:p>
                  </a:txBody>
                  <a:tcPr>
                    <a:solidFill>
                      <a:srgbClr val="FFFFFF"/>
                    </a:solidFill>
                  </a:tcPr>
                </a:tc>
                <a:tc>
                  <a:txBody>
                    <a:bodyPr/>
                    <a:lstStyle/>
                    <a:p>
                      <a:pPr algn="l">
                        <a:defRPr sz="1100" b="0">
                          <a:solidFill>
                            <a:srgbClr val="374151"/>
                          </a:solidFill>
                          <a:latin typeface="Calibri"/>
                        </a:defRPr>
                      </a:pPr>
                      <a:r>
                        <a:t>$300K–$600K</a:t>
                      </a:r>
                    </a:p>
                  </a:txBody>
                  <a:tcPr>
                    <a:solidFill>
                      <a:srgbClr val="FFFFFF"/>
                    </a:solidFill>
                  </a:tcPr>
                </a:tc>
                <a:tc>
                  <a:txBody>
                    <a:bodyPr/>
                    <a:lstStyle/>
                    <a:p>
                      <a:pPr algn="l">
                        <a:defRPr sz="1100" b="1">
                          <a:solidFill>
                            <a:srgbClr val="1A56DB"/>
                          </a:solidFill>
                          <a:latin typeface="Calibri"/>
                        </a:defRPr>
                      </a:pPr>
                      <a:r>
                        <a:t>$5K–$15K</a:t>
                      </a:r>
                    </a:p>
                  </a:txBody>
                  <a:tcPr>
                    <a:solidFill>
                      <a:srgbClr val="FFFFFF"/>
                    </a:solidFill>
                  </a:tcPr>
                </a:tc>
                <a:tc>
                  <a:txBody>
                    <a:bodyPr/>
                    <a:lstStyle/>
                    <a:p>
                      <a:pPr algn="l">
                        <a:defRPr sz="1000" b="0">
                          <a:solidFill>
                            <a:srgbClr val="374151"/>
                          </a:solidFill>
                          <a:latin typeface="Calibri"/>
                        </a:defRPr>
                      </a:pPr>
                      <a:r>
                        <a:t>Total spend / features shipped</a:t>
                      </a:r>
                    </a:p>
                  </a:txBody>
                  <a:tcPr>
                    <a:solidFill>
                      <a:srgbClr val="FFFFFF"/>
                    </a:solidFill>
                  </a:tcPr>
                </a:tc>
                <a:extLst>
                  <a:ext uri="{0D108BD9-81ED-4DB2-BD59-A6C34878D82A}">
                    <a16:rowId xmlns:a16="http://schemas.microsoft.com/office/drawing/2014/main" val="10001"/>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Labour cost ratio</a:t>
                      </a:r>
                    </a:p>
                  </a:txBody>
                  <a:tcPr>
                    <a:solidFill>
                      <a:srgbClr val="EFF6FF"/>
                    </a:solidFill>
                  </a:tcPr>
                </a:tc>
                <a:tc>
                  <a:txBody>
                    <a:bodyPr/>
                    <a:lstStyle/>
                    <a:p>
                      <a:pPr algn="l">
                        <a:defRPr sz="1100" b="0">
                          <a:solidFill>
                            <a:srgbClr val="374151"/>
                          </a:solidFill>
                          <a:latin typeface="Calibri"/>
                        </a:defRPr>
                      </a:pPr>
                      <a:r>
                        <a:t>~85%</a:t>
                      </a:r>
                    </a:p>
                  </a:txBody>
                  <a:tcPr>
                    <a:solidFill>
                      <a:srgbClr val="EFF6FF"/>
                    </a:solidFill>
                  </a:tcPr>
                </a:tc>
                <a:tc>
                  <a:txBody>
                    <a:bodyPr/>
                    <a:lstStyle/>
                    <a:p>
                      <a:pPr algn="l">
                        <a:defRPr sz="1100" b="1">
                          <a:solidFill>
                            <a:srgbClr val="1A56DB"/>
                          </a:solidFill>
                          <a:latin typeface="Calibri"/>
                        </a:defRPr>
                      </a:pPr>
                      <a:r>
                        <a:t>~45%</a:t>
                      </a:r>
                    </a:p>
                  </a:txBody>
                  <a:tcPr>
                    <a:solidFill>
                      <a:srgbClr val="EFF6FF"/>
                    </a:solidFill>
                  </a:tcPr>
                </a:tc>
                <a:tc>
                  <a:txBody>
                    <a:bodyPr/>
                    <a:lstStyle/>
                    <a:p>
                      <a:pPr algn="l">
                        <a:defRPr sz="1000" b="0">
                          <a:solidFill>
                            <a:srgbClr val="374151"/>
                          </a:solidFill>
                          <a:latin typeface="Calibri"/>
                        </a:defRPr>
                      </a:pPr>
                      <a:r>
                        <a:t>Labour spend / total pod spend</a:t>
                      </a:r>
                    </a:p>
                  </a:txBody>
                  <a:tcPr>
                    <a:solidFill>
                      <a:srgbClr val="EFF6FF"/>
                    </a:solidFill>
                  </a:tcPr>
                </a:tc>
                <a:extLst>
                  <a:ext uri="{0D108BD9-81ED-4DB2-BD59-A6C34878D82A}">
                    <a16:rowId xmlns:a16="http://schemas.microsoft.com/office/drawing/2014/main" val="10002"/>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Token cost per feature</a:t>
                      </a:r>
                    </a:p>
                  </a:txBody>
                  <a:tcPr>
                    <a:solidFill>
                      <a:srgbClr val="FFFFFF"/>
                    </a:solidFill>
                  </a:tcPr>
                </a:tc>
                <a:tc>
                  <a:txBody>
                    <a:bodyPr/>
                    <a:lstStyle/>
                    <a:p>
                      <a:pPr algn="l">
                        <a:defRPr sz="1100" b="0">
                          <a:solidFill>
                            <a:srgbClr val="374151"/>
                          </a:solidFill>
                          <a:latin typeface="Calibri"/>
                        </a:defRPr>
                      </a:pPr>
                      <a:r>
                        <a:t>N/A</a:t>
                      </a:r>
                    </a:p>
                  </a:txBody>
                  <a:tcPr>
                    <a:solidFill>
                      <a:srgbClr val="FFFFFF"/>
                    </a:solidFill>
                  </a:tcPr>
                </a:tc>
                <a:tc>
                  <a:txBody>
                    <a:bodyPr/>
                    <a:lstStyle/>
                    <a:p>
                      <a:pPr algn="l">
                        <a:defRPr sz="1100" b="1">
                          <a:solidFill>
                            <a:srgbClr val="1A56DB"/>
                          </a:solidFill>
                          <a:latin typeface="Calibri"/>
                        </a:defRPr>
                      </a:pPr>
                      <a:r>
                        <a:t>$500–$2K</a:t>
                      </a:r>
                    </a:p>
                  </a:txBody>
                  <a:tcPr>
                    <a:solidFill>
                      <a:srgbClr val="FFFFFF"/>
                    </a:solidFill>
                  </a:tcPr>
                </a:tc>
                <a:tc>
                  <a:txBody>
                    <a:bodyPr/>
                    <a:lstStyle/>
                    <a:p>
                      <a:pPr algn="l">
                        <a:defRPr sz="1000" b="0">
                          <a:solidFill>
                            <a:srgbClr val="374151"/>
                          </a:solidFill>
                          <a:latin typeface="Calibri"/>
                        </a:defRPr>
                      </a:pPr>
                      <a:r>
                        <a:t>Token spend / features shipped</a:t>
                      </a:r>
                    </a:p>
                  </a:txBody>
                  <a:tcPr>
                    <a:solidFill>
                      <a:srgbClr val="FFFFFF"/>
                    </a:solidFill>
                  </a:tcPr>
                </a:tc>
                <a:extLst>
                  <a:ext uri="{0D108BD9-81ED-4DB2-BD59-A6C34878D82A}">
                    <a16:rowId xmlns:a16="http://schemas.microsoft.com/office/drawing/2014/main" val="10003"/>
                  </a:ext>
                </a:extLst>
              </a:tr>
              <a:tr h="457200">
                <a:tc>
                  <a:txBody>
                    <a:bodyPr/>
                    <a:lstStyle/>
                    <a:p>
                      <a:pPr algn="l">
                        <a:defRPr sz="1100" b="1">
                          <a:solidFill>
                            <a:srgbClr val="1A4A7A"/>
                          </a:solidFill>
                          <a:latin typeface="Calibri"/>
                        </a:defRPr>
                      </a:pPr>
                      <a:r>
                        <a:t>Productivity</a:t>
                      </a:r>
                    </a:p>
                  </a:txBody>
                  <a:tcPr>
                    <a:solidFill>
                      <a:srgbClr val="EFF6FF"/>
                    </a:solidFill>
                  </a:tcPr>
                </a:tc>
                <a:tc>
                  <a:txBody>
                    <a:bodyPr/>
                    <a:lstStyle/>
                    <a:p>
                      <a:pPr algn="l">
                        <a:defRPr sz="1100" b="0">
                          <a:solidFill>
                            <a:srgbClr val="374151"/>
                          </a:solidFill>
                          <a:latin typeface="Calibri"/>
                        </a:defRPr>
                      </a:pPr>
                      <a:r>
                        <a:t>Capabilities / person / month</a:t>
                      </a:r>
                    </a:p>
                  </a:txBody>
                  <a:tcPr>
                    <a:solidFill>
                      <a:srgbClr val="EFF6FF"/>
                    </a:solidFill>
                  </a:tcPr>
                </a:tc>
                <a:tc>
                  <a:txBody>
                    <a:bodyPr/>
                    <a:lstStyle/>
                    <a:p>
                      <a:pPr algn="l">
                        <a:defRPr sz="1100" b="0">
                          <a:solidFill>
                            <a:srgbClr val="374151"/>
                          </a:solidFill>
                          <a:latin typeface="Calibri"/>
                        </a:defRPr>
                      </a:pPr>
                      <a:r>
                        <a:t>0.1–0.3</a:t>
                      </a:r>
                    </a:p>
                  </a:txBody>
                  <a:tcPr>
                    <a:solidFill>
                      <a:srgbClr val="EFF6FF"/>
                    </a:solidFill>
                  </a:tcPr>
                </a:tc>
                <a:tc>
                  <a:txBody>
                    <a:bodyPr/>
                    <a:lstStyle/>
                    <a:p>
                      <a:pPr algn="l">
                        <a:defRPr sz="1100" b="1">
                          <a:solidFill>
                            <a:srgbClr val="1A56DB"/>
                          </a:solidFill>
                          <a:latin typeface="Calibri"/>
                        </a:defRPr>
                      </a:pPr>
                      <a:r>
                        <a:t>3–8</a:t>
                      </a:r>
                    </a:p>
                  </a:txBody>
                  <a:tcPr>
                    <a:solidFill>
                      <a:srgbClr val="EFF6FF"/>
                    </a:solidFill>
                  </a:tcPr>
                </a:tc>
                <a:tc>
                  <a:txBody>
                    <a:bodyPr/>
                    <a:lstStyle/>
                    <a:p>
                      <a:pPr algn="l">
                        <a:defRPr sz="1000" b="0">
                          <a:solidFill>
                            <a:srgbClr val="374151"/>
                          </a:solidFill>
                          <a:latin typeface="Calibri"/>
                        </a:defRPr>
                      </a:pPr>
                      <a:r>
                        <a:t>Features shipped / pod headcount</a:t>
                      </a:r>
                    </a:p>
                  </a:txBody>
                  <a:tcPr>
                    <a:solidFill>
                      <a:srgbClr val="EFF6FF"/>
                    </a:solidFill>
                  </a:tcPr>
                </a:tc>
                <a:extLst>
                  <a:ext uri="{0D108BD9-81ED-4DB2-BD59-A6C34878D82A}">
                    <a16:rowId xmlns:a16="http://schemas.microsoft.com/office/drawing/2014/main" val="10004"/>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Agent automation rate</a:t>
                      </a:r>
                    </a:p>
                  </a:txBody>
                  <a:tcPr>
                    <a:solidFill>
                      <a:srgbClr val="FFFFFF"/>
                    </a:solidFill>
                  </a:tcPr>
                </a:tc>
                <a:tc>
                  <a:txBody>
                    <a:bodyPr/>
                    <a:lstStyle/>
                    <a:p>
                      <a:pPr algn="l">
                        <a:defRPr sz="1100" b="0">
                          <a:solidFill>
                            <a:srgbClr val="374151"/>
                          </a:solidFill>
                          <a:latin typeface="Calibri"/>
                        </a:defRPr>
                      </a:pPr>
                      <a:r>
                        <a:t>0%</a:t>
                      </a:r>
                    </a:p>
                  </a:txBody>
                  <a:tcPr>
                    <a:solidFill>
                      <a:srgbClr val="FFFFFF"/>
                    </a:solidFill>
                  </a:tcPr>
                </a:tc>
                <a:tc>
                  <a:txBody>
                    <a:bodyPr/>
                    <a:lstStyle/>
                    <a:p>
                      <a:pPr algn="l">
                        <a:defRPr sz="1100" b="1">
                          <a:solidFill>
                            <a:srgbClr val="1A56DB"/>
                          </a:solidFill>
                          <a:latin typeface="Calibri"/>
                        </a:defRPr>
                      </a:pPr>
                      <a:r>
                        <a:t>80–85%</a:t>
                      </a:r>
                    </a:p>
                  </a:txBody>
                  <a:tcPr>
                    <a:solidFill>
                      <a:srgbClr val="FFFFFF"/>
                    </a:solidFill>
                  </a:tcPr>
                </a:tc>
                <a:tc>
                  <a:txBody>
                    <a:bodyPr/>
                    <a:lstStyle/>
                    <a:p>
                      <a:pPr algn="l">
                        <a:defRPr sz="1000" b="0">
                          <a:solidFill>
                            <a:srgbClr val="374151"/>
                          </a:solidFill>
                          <a:latin typeface="Calibri"/>
                        </a:defRPr>
                      </a:pPr>
                      <a:r>
                        <a:t>Agent tasks / total tasks</a:t>
                      </a:r>
                    </a:p>
                  </a:txBody>
                  <a:tcPr>
                    <a:solidFill>
                      <a:srgbClr val="FFFFFF"/>
                    </a:solidFill>
                  </a:tcPr>
                </a:tc>
                <a:extLst>
                  <a:ext uri="{0D108BD9-81ED-4DB2-BD59-A6C34878D82A}">
                    <a16:rowId xmlns:a16="http://schemas.microsoft.com/office/drawing/2014/main" val="10005"/>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Productive time ratio</a:t>
                      </a:r>
                    </a:p>
                  </a:txBody>
                  <a:tcPr>
                    <a:solidFill>
                      <a:srgbClr val="EFF6FF"/>
                    </a:solidFill>
                  </a:tcPr>
                </a:tc>
                <a:tc>
                  <a:txBody>
                    <a:bodyPr/>
                    <a:lstStyle/>
                    <a:p>
                      <a:pPr algn="l">
                        <a:defRPr sz="1100" b="0">
                          <a:solidFill>
                            <a:srgbClr val="374151"/>
                          </a:solidFill>
                          <a:latin typeface="Calibri"/>
                        </a:defRPr>
                      </a:pPr>
                      <a:r>
                        <a:t>5–12%</a:t>
                      </a:r>
                    </a:p>
                  </a:txBody>
                  <a:tcPr>
                    <a:solidFill>
                      <a:srgbClr val="EFF6FF"/>
                    </a:solidFill>
                  </a:tcPr>
                </a:tc>
                <a:tc>
                  <a:txBody>
                    <a:bodyPr/>
                    <a:lstStyle/>
                    <a:p>
                      <a:pPr algn="l">
                        <a:defRPr sz="1100" b="1">
                          <a:solidFill>
                            <a:srgbClr val="1A56DB"/>
                          </a:solidFill>
                          <a:latin typeface="Calibri"/>
                        </a:defRPr>
                      </a:pPr>
                      <a:r>
                        <a:t>60–80%</a:t>
                      </a:r>
                    </a:p>
                  </a:txBody>
                  <a:tcPr>
                    <a:solidFill>
                      <a:srgbClr val="EFF6FF"/>
                    </a:solidFill>
                  </a:tcPr>
                </a:tc>
                <a:tc>
                  <a:txBody>
                    <a:bodyPr/>
                    <a:lstStyle/>
                    <a:p>
                      <a:pPr algn="l">
                        <a:defRPr sz="1000" b="0">
                          <a:solidFill>
                            <a:srgbClr val="374151"/>
                          </a:solidFill>
                          <a:latin typeface="Calibri"/>
                        </a:defRPr>
                      </a:pPr>
                      <a:r>
                        <a:t>Value-add time / total elapsed</a:t>
                      </a:r>
                    </a:p>
                  </a:txBody>
                  <a:tcPr>
                    <a:solidFill>
                      <a:srgbClr val="EFF6FF"/>
                    </a:solidFill>
                  </a:tcPr>
                </a:tc>
                <a:extLst>
                  <a:ext uri="{0D108BD9-81ED-4DB2-BD59-A6C34878D82A}">
                    <a16:rowId xmlns:a16="http://schemas.microsoft.com/office/drawing/2014/main" val="10006"/>
                  </a:ext>
                </a:extLst>
              </a:tr>
              <a:tr h="457200">
                <a:tc>
                  <a:txBody>
                    <a:bodyPr/>
                    <a:lstStyle/>
                    <a:p>
                      <a:pPr algn="l">
                        <a:defRPr sz="1100" b="1">
                          <a:solidFill>
                            <a:srgbClr val="1A4A7A"/>
                          </a:solidFill>
                          <a:latin typeface="Calibri"/>
                        </a:defRPr>
                      </a:pPr>
                      <a:r>
                        <a:t>Time to</a:t>
                      </a:r>
                    </a:p>
                    <a:p>
                      <a:pPr algn="l">
                        <a:defRPr sz="1100" b="1">
                          <a:solidFill>
                            <a:srgbClr val="1A4A7A"/>
                          </a:solidFill>
                          <a:latin typeface="Calibri"/>
                        </a:defRPr>
                      </a:pPr>
                      <a:r>
                        <a:t>Market</a:t>
                      </a:r>
                    </a:p>
                  </a:txBody>
                  <a:tcPr>
                    <a:solidFill>
                      <a:srgbClr val="EFF6FF"/>
                    </a:solidFill>
                  </a:tcPr>
                </a:tc>
                <a:tc>
                  <a:txBody>
                    <a:bodyPr/>
                    <a:lstStyle/>
                    <a:p>
                      <a:pPr algn="l">
                        <a:defRPr sz="1100" b="0">
                          <a:solidFill>
                            <a:srgbClr val="374151"/>
                          </a:solidFill>
                          <a:latin typeface="Calibri"/>
                        </a:defRPr>
                      </a:pPr>
                      <a:r>
                        <a:t>Idea-to-production lead time</a:t>
                      </a:r>
                    </a:p>
                  </a:txBody>
                  <a:tcPr>
                    <a:solidFill>
                      <a:srgbClr val="FFFFFF"/>
                    </a:solidFill>
                  </a:tcPr>
                </a:tc>
                <a:tc>
                  <a:txBody>
                    <a:bodyPr/>
                    <a:lstStyle/>
                    <a:p>
                      <a:pPr algn="l">
                        <a:defRPr sz="1100" b="0">
                          <a:solidFill>
                            <a:srgbClr val="374151"/>
                          </a:solidFill>
                          <a:latin typeface="Calibri"/>
                        </a:defRPr>
                      </a:pPr>
                      <a:r>
                        <a:t>3–6 months</a:t>
                      </a:r>
                    </a:p>
                  </a:txBody>
                  <a:tcPr>
                    <a:solidFill>
                      <a:srgbClr val="FFFFFF"/>
                    </a:solidFill>
                  </a:tcPr>
                </a:tc>
                <a:tc>
                  <a:txBody>
                    <a:bodyPr/>
                    <a:lstStyle/>
                    <a:p>
                      <a:pPr algn="l">
                        <a:defRPr sz="1100" b="1">
                          <a:solidFill>
                            <a:srgbClr val="1A56DB"/>
                          </a:solidFill>
                          <a:latin typeface="Calibri"/>
                        </a:defRPr>
                      </a:pPr>
                      <a:r>
                        <a:t>3–5 days</a:t>
                      </a:r>
                    </a:p>
                  </a:txBody>
                  <a:tcPr>
                    <a:solidFill>
                      <a:srgbClr val="FFFFFF"/>
                    </a:solidFill>
                  </a:tcPr>
                </a:tc>
                <a:tc>
                  <a:txBody>
                    <a:bodyPr/>
                    <a:lstStyle/>
                    <a:p>
                      <a:pPr algn="l">
                        <a:defRPr sz="1000" b="0">
                          <a:solidFill>
                            <a:srgbClr val="374151"/>
                          </a:solidFill>
                          <a:latin typeface="Calibri"/>
                        </a:defRPr>
                      </a:pPr>
                      <a:r>
                        <a:t>Timestamp: request → live</a:t>
                      </a:r>
                    </a:p>
                  </a:txBody>
                  <a:tcPr>
                    <a:solidFill>
                      <a:srgbClr val="FFFFFF"/>
                    </a:solidFill>
                  </a:tcPr>
                </a:tc>
                <a:extLst>
                  <a:ext uri="{0D108BD9-81ED-4DB2-BD59-A6C34878D82A}">
                    <a16:rowId xmlns:a16="http://schemas.microsoft.com/office/drawing/2014/main" val="10007"/>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Deployment frequency</a:t>
                      </a:r>
                    </a:p>
                  </a:txBody>
                  <a:tcPr>
                    <a:solidFill>
                      <a:srgbClr val="EFF6FF"/>
                    </a:solidFill>
                  </a:tcPr>
                </a:tc>
                <a:tc>
                  <a:txBody>
                    <a:bodyPr/>
                    <a:lstStyle/>
                    <a:p>
                      <a:pPr algn="l">
                        <a:defRPr sz="1100" b="0">
                          <a:solidFill>
                            <a:srgbClr val="374151"/>
                          </a:solidFill>
                          <a:latin typeface="Calibri"/>
                        </a:defRPr>
                      </a:pPr>
                      <a:r>
                        <a:t>Monthly / quarterly</a:t>
                      </a:r>
                    </a:p>
                  </a:txBody>
                  <a:tcPr>
                    <a:solidFill>
                      <a:srgbClr val="EFF6FF"/>
                    </a:solidFill>
                  </a:tcPr>
                </a:tc>
                <a:tc>
                  <a:txBody>
                    <a:bodyPr/>
                    <a:lstStyle/>
                    <a:p>
                      <a:pPr algn="l">
                        <a:defRPr sz="1100" b="1">
                          <a:solidFill>
                            <a:srgbClr val="1A56DB"/>
                          </a:solidFill>
                          <a:latin typeface="Calibri"/>
                        </a:defRPr>
                      </a:pPr>
                      <a:r>
                        <a:t>Daily / on-demand</a:t>
                      </a:r>
                    </a:p>
                  </a:txBody>
                  <a:tcPr>
                    <a:solidFill>
                      <a:srgbClr val="EFF6FF"/>
                    </a:solidFill>
                  </a:tcPr>
                </a:tc>
                <a:tc>
                  <a:txBody>
                    <a:bodyPr/>
                    <a:lstStyle/>
                    <a:p>
                      <a:pPr algn="l">
                        <a:defRPr sz="1000" b="0">
                          <a:solidFill>
                            <a:srgbClr val="374151"/>
                          </a:solidFill>
                          <a:latin typeface="Calibri"/>
                        </a:defRPr>
                      </a:pPr>
                      <a:r>
                        <a:t>Deploys / time period</a:t>
                      </a:r>
                    </a:p>
                  </a:txBody>
                  <a:tcPr>
                    <a:solidFill>
                      <a:srgbClr val="EFF6FF"/>
                    </a:solidFill>
                  </a:tcPr>
                </a:tc>
                <a:extLst>
                  <a:ext uri="{0D108BD9-81ED-4DB2-BD59-A6C34878D82A}">
                    <a16:rowId xmlns:a16="http://schemas.microsoft.com/office/drawing/2014/main" val="10008"/>
                  </a:ext>
                </a:extLst>
              </a:tr>
              <a:tr h="457200">
                <a:tc>
                  <a:txBody>
                    <a:bodyPr/>
                    <a:lstStyle/>
                    <a:p>
                      <a:pPr algn="l">
                        <a:defRPr sz="1100" b="1">
                          <a:solidFill>
                            <a:srgbClr val="1A4A7A"/>
                          </a:solidFill>
                          <a:latin typeface="Calibri"/>
                        </a:defRPr>
                      </a:pPr>
                      <a:r>
                        <a:t>Quality</a:t>
                      </a:r>
                    </a:p>
                    <a:p>
                      <a:pPr algn="l">
                        <a:defRPr sz="1100" b="1">
                          <a:solidFill>
                            <a:srgbClr val="1A4A7A"/>
                          </a:solidFill>
                          <a:latin typeface="Calibri"/>
                        </a:defRPr>
                      </a:pPr>
                      <a:r>
                        <a:t>&amp; Risk</a:t>
                      </a:r>
                    </a:p>
                  </a:txBody>
                  <a:tcPr>
                    <a:solidFill>
                      <a:srgbClr val="EFF6FF"/>
                    </a:solidFill>
                  </a:tcPr>
                </a:tc>
                <a:tc>
                  <a:txBody>
                    <a:bodyPr/>
                    <a:lstStyle/>
                    <a:p>
                      <a:pPr algn="l">
                        <a:defRPr sz="1100" b="0">
                          <a:solidFill>
                            <a:srgbClr val="374151"/>
                          </a:solidFill>
                          <a:latin typeface="Calibri"/>
                        </a:defRPr>
                      </a:pPr>
                      <a:r>
                        <a:t>Test coverage</a:t>
                      </a:r>
                    </a:p>
                  </a:txBody>
                  <a:tcPr>
                    <a:solidFill>
                      <a:srgbClr val="FFFFFF"/>
                    </a:solidFill>
                  </a:tcPr>
                </a:tc>
                <a:tc>
                  <a:txBody>
                    <a:bodyPr/>
                    <a:lstStyle/>
                    <a:p>
                      <a:pPr algn="l">
                        <a:defRPr sz="1100" b="0">
                          <a:solidFill>
                            <a:srgbClr val="374151"/>
                          </a:solidFill>
                          <a:latin typeface="Calibri"/>
                        </a:defRPr>
                      </a:pPr>
                      <a:r>
                        <a:t>40–55%</a:t>
                      </a:r>
                    </a:p>
                  </a:txBody>
                  <a:tcPr>
                    <a:solidFill>
                      <a:srgbClr val="FFFFFF"/>
                    </a:solidFill>
                  </a:tcPr>
                </a:tc>
                <a:tc>
                  <a:txBody>
                    <a:bodyPr/>
                    <a:lstStyle/>
                    <a:p>
                      <a:pPr algn="l">
                        <a:defRPr sz="1100" b="1">
                          <a:solidFill>
                            <a:srgbClr val="1A56DB"/>
                          </a:solidFill>
                          <a:latin typeface="Calibri"/>
                        </a:defRPr>
                      </a:pPr>
                      <a:r>
                        <a:t>90–95%</a:t>
                      </a:r>
                    </a:p>
                  </a:txBody>
                  <a:tcPr>
                    <a:solidFill>
                      <a:srgbClr val="FFFFFF"/>
                    </a:solidFill>
                  </a:tcPr>
                </a:tc>
                <a:tc>
                  <a:txBody>
                    <a:bodyPr/>
                    <a:lstStyle/>
                    <a:p>
                      <a:pPr algn="l">
                        <a:defRPr sz="1000" b="0">
                          <a:solidFill>
                            <a:srgbClr val="374151"/>
                          </a:solidFill>
                          <a:latin typeface="Calibri"/>
                        </a:defRPr>
                      </a:pPr>
                      <a:r>
                        <a:t>Automated coverage reports</a:t>
                      </a:r>
                    </a:p>
                  </a:txBody>
                  <a:tcPr>
                    <a:solidFill>
                      <a:srgbClr val="FFFFFF"/>
                    </a:solidFill>
                  </a:tcPr>
                </a:tc>
                <a:extLst>
                  <a:ext uri="{0D108BD9-81ED-4DB2-BD59-A6C34878D82A}">
                    <a16:rowId xmlns:a16="http://schemas.microsoft.com/office/drawing/2014/main" val="10009"/>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Change failure rate</a:t>
                      </a:r>
                    </a:p>
                  </a:txBody>
                  <a:tcPr>
                    <a:solidFill>
                      <a:srgbClr val="EFF6FF"/>
                    </a:solidFill>
                  </a:tcPr>
                </a:tc>
                <a:tc>
                  <a:txBody>
                    <a:bodyPr/>
                    <a:lstStyle/>
                    <a:p>
                      <a:pPr algn="l">
                        <a:defRPr sz="1100" b="0">
                          <a:solidFill>
                            <a:srgbClr val="374151"/>
                          </a:solidFill>
                          <a:latin typeface="Calibri"/>
                        </a:defRPr>
                      </a:pPr>
                      <a:r>
                        <a:t>15–30%</a:t>
                      </a:r>
                    </a:p>
                  </a:txBody>
                  <a:tcPr>
                    <a:solidFill>
                      <a:srgbClr val="EFF6FF"/>
                    </a:solidFill>
                  </a:tcPr>
                </a:tc>
                <a:tc>
                  <a:txBody>
                    <a:bodyPr/>
                    <a:lstStyle/>
                    <a:p>
                      <a:pPr algn="l">
                        <a:defRPr sz="1100" b="1">
                          <a:solidFill>
                            <a:srgbClr val="1A56DB"/>
                          </a:solidFill>
                          <a:latin typeface="Calibri"/>
                        </a:defRPr>
                      </a:pPr>
                      <a:r>
                        <a:t>&lt;5%</a:t>
                      </a:r>
                    </a:p>
                  </a:txBody>
                  <a:tcPr>
                    <a:solidFill>
                      <a:srgbClr val="EFF6FF"/>
                    </a:solidFill>
                  </a:tcPr>
                </a:tc>
                <a:tc>
                  <a:txBody>
                    <a:bodyPr/>
                    <a:lstStyle/>
                    <a:p>
                      <a:pPr algn="l">
                        <a:defRPr sz="1000" b="0">
                          <a:solidFill>
                            <a:srgbClr val="374151"/>
                          </a:solidFill>
                          <a:latin typeface="Calibri"/>
                        </a:defRPr>
                      </a:pPr>
                      <a:r>
                        <a:t>Failed deploys / total deploys</a:t>
                      </a:r>
                    </a:p>
                  </a:txBody>
                  <a:tcPr>
                    <a:solidFill>
                      <a:srgbClr val="EFF6FF"/>
                    </a:solidFill>
                  </a:tcPr>
                </a:tc>
                <a:extLst>
                  <a:ext uri="{0D108BD9-81ED-4DB2-BD59-A6C34878D82A}">
                    <a16:rowId xmlns:a16="http://schemas.microsoft.com/office/drawing/2014/main" val="10010"/>
                  </a:ext>
                </a:extLst>
              </a:tr>
            </a:tbl>
          </a:graphicData>
        </a:graphic>
      </p:graphicFrame>
      <p:sp>
        <p:nvSpPr>
          <p:cNvPr id="6" name="Rectangle 5"/>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8" name="TextBox 7"/>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7315200" cy="457200"/>
          </a:xfrm>
          <a:prstGeom prst="rect">
            <a:avLst/>
          </a:prstGeom>
          <a:noFill/>
        </p:spPr>
        <p:txBody>
          <a:bodyPr wrap="none">
            <a:spAutoFit/>
          </a:bodyPr>
          <a:lstStyle/>
          <a:p>
            <a:r>
              <a:rPr sz="2200" b="1">
                <a:solidFill>
                  <a:srgbClr val="FFFFFF"/>
                </a:solidFill>
              </a:rPr>
              <a:t>Measurement Framework — Product &amp; Business Outcomes</a:t>
            </a:r>
          </a:p>
        </p:txBody>
      </p:sp>
      <p:sp>
        <p:nvSpPr>
          <p:cNvPr id="4" name="TextBox 3"/>
          <p:cNvSpPr txBox="1"/>
          <p:nvPr/>
        </p:nvSpPr>
        <p:spPr>
          <a:xfrm>
            <a:off x="9601200" y="137160"/>
            <a:ext cx="2286000" cy="365760"/>
          </a:xfrm>
          <a:prstGeom prst="rect">
            <a:avLst/>
          </a:prstGeom>
          <a:noFill/>
        </p:spPr>
        <p:txBody>
          <a:bodyPr wrap="none">
            <a:spAutoFit/>
          </a:bodyPr>
          <a:lstStyle/>
          <a:p>
            <a:pPr algn="r"/>
            <a:r>
              <a:rPr sz="1100" b="1">
                <a:solidFill>
                  <a:srgbClr val="93C5FD"/>
                </a:solidFill>
              </a:rPr>
              <a:t>MEASURE</a:t>
            </a:r>
          </a:p>
        </p:txBody>
      </p:sp>
      <p:sp>
        <p:nvSpPr>
          <p:cNvPr id="5" name="TextBox 4"/>
          <p:cNvSpPr txBox="1"/>
          <p:nvPr/>
        </p:nvSpPr>
        <p:spPr>
          <a:xfrm>
            <a:off x="548640" y="700000"/>
            <a:ext cx="10972800" cy="274320"/>
          </a:xfrm>
          <a:prstGeom prst="rect">
            <a:avLst/>
          </a:prstGeom>
          <a:noFill/>
        </p:spPr>
        <p:txBody>
          <a:bodyPr wrap="none">
            <a:spAutoFit/>
          </a:bodyPr>
          <a:lstStyle/>
          <a:p>
            <a:r>
              <a:rPr sz="1100">
                <a:solidFill>
                  <a:srgbClr val="6B7280"/>
                </a:solidFill>
              </a:rPr>
              <a:t>Lagging indicators cascading from product team operations to value stream and business outcomes</a:t>
            </a:r>
          </a:p>
        </p:txBody>
      </p:sp>
      <p:sp>
        <p:nvSpPr>
          <p:cNvPr id="6" name="Rectangle 5"/>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37960"/>
            <a:ext cx="5486400" cy="274320"/>
          </a:xfrm>
          <a:prstGeom prst="rect">
            <a:avLst/>
          </a:prstGeom>
          <a:noFill/>
        </p:spPr>
        <p:txBody>
          <a:bodyPr wrap="none">
            <a:spAutoFit/>
          </a:bodyPr>
          <a:lstStyle/>
          <a:p>
            <a:r>
              <a:rPr sz="800">
                <a:solidFill>
                  <a:srgbClr val="6B7280"/>
                </a:solidFill>
              </a:rPr>
              <a:t>Frontier Professional &amp; ADLC POV</a:t>
            </a:r>
          </a:p>
        </p:txBody>
      </p:sp>
      <p:graphicFrame>
        <p:nvGraphicFramePr>
          <p:cNvPr id="5" name="Table 4"/>
          <p:cNvGraphicFramePr>
            <a:graphicFrameLocks noGrp="1"/>
          </p:cNvGraphicFramePr>
          <p:nvPr/>
        </p:nvGraphicFramePr>
        <p:xfrm>
          <a:off x="548640" y="1050000"/>
          <a:ext cx="10972800" cy="45000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457200">
                <a:tc>
                  <a:txBody>
                    <a:bodyPr/>
                    <a:lstStyle/>
                    <a:p>
                      <a:pPr algn="l">
                        <a:defRPr sz="1000" b="1">
                          <a:solidFill>
                            <a:srgbClr val="FFFFFF"/>
                          </a:solidFill>
                          <a:latin typeface="Calibri"/>
                        </a:defRPr>
                      </a:pPr>
                      <a:r>
                        <a:t>Dimension</a:t>
                      </a:r>
                    </a:p>
                  </a:txBody>
                  <a:tcPr>
                    <a:solidFill>
                      <a:srgbClr val="1A56DB"/>
                    </a:solidFill>
                  </a:tcPr>
                </a:tc>
                <a:tc>
                  <a:txBody>
                    <a:bodyPr/>
                    <a:lstStyle/>
                    <a:p>
                      <a:pPr algn="l">
                        <a:defRPr sz="1000" b="1">
                          <a:solidFill>
                            <a:srgbClr val="FFFFFF"/>
                          </a:solidFill>
                          <a:latin typeface="Calibri"/>
                        </a:defRPr>
                      </a:pPr>
                      <a:r>
                        <a:t>KPI</a:t>
                      </a:r>
                    </a:p>
                  </a:txBody>
                  <a:tcPr>
                    <a:solidFill>
                      <a:srgbClr val="1A56DB"/>
                    </a:solidFill>
                  </a:tcPr>
                </a:tc>
                <a:tc>
                  <a:txBody>
                    <a:bodyPr/>
                    <a:lstStyle/>
                    <a:p>
                      <a:pPr algn="l">
                        <a:defRPr sz="1000" b="1">
                          <a:solidFill>
                            <a:srgbClr val="FFFFFF"/>
                          </a:solidFill>
                          <a:latin typeface="Calibri"/>
                        </a:defRPr>
                      </a:pPr>
                      <a:r>
                        <a:t>SDLC Baseline</a:t>
                      </a:r>
                    </a:p>
                  </a:txBody>
                  <a:tcPr>
                    <a:solidFill>
                      <a:srgbClr val="1A56DB"/>
                    </a:solidFill>
                  </a:tcPr>
                </a:tc>
                <a:tc>
                  <a:txBody>
                    <a:bodyPr/>
                    <a:lstStyle/>
                    <a:p>
                      <a:pPr algn="l">
                        <a:defRPr sz="1000" b="1">
                          <a:solidFill>
                            <a:srgbClr val="FFFFFF"/>
                          </a:solidFill>
                          <a:latin typeface="Calibri"/>
                        </a:defRPr>
                      </a:pPr>
                      <a:r>
                        <a:t>ADLC Target</a:t>
                      </a:r>
                    </a:p>
                  </a:txBody>
                  <a:tcPr>
                    <a:solidFill>
                      <a:srgbClr val="1A56DB"/>
                    </a:solidFill>
                  </a:tcPr>
                </a:tc>
                <a:tc>
                  <a:txBody>
                    <a:bodyPr/>
                    <a:lstStyle/>
                    <a:p>
                      <a:pPr algn="l">
                        <a:defRPr sz="1000" b="1">
                          <a:solidFill>
                            <a:srgbClr val="FFFFFF"/>
                          </a:solidFill>
                          <a:latin typeface="Calibri"/>
                        </a:defRPr>
                      </a:pPr>
                      <a:r>
                        <a:t>How to Measure</a:t>
                      </a:r>
                    </a:p>
                  </a:txBody>
                  <a:tcPr>
                    <a:solidFill>
                      <a:srgbClr val="1A56DB"/>
                    </a:solidFill>
                  </a:tcPr>
                </a:tc>
                <a:extLst>
                  <a:ext uri="{0D108BD9-81ED-4DB2-BD59-A6C34878D82A}">
                    <a16:rowId xmlns:a16="http://schemas.microsoft.com/office/drawing/2014/main" val="10000"/>
                  </a:ext>
                </a:extLst>
              </a:tr>
              <a:tr h="457200">
                <a:tc>
                  <a:txBody>
                    <a:bodyPr/>
                    <a:lstStyle/>
                    <a:p>
                      <a:r>
                        <a:t>Product
Outcomes</a:t>
                      </a:r>
                    </a:p>
                  </a:txBody>
                  <a:tcPr>
                    <a:solidFill>
                      <a:srgbClr val="EFF6FF"/>
                    </a:solidFill>
                  </a:tcPr>
                </a:tc>
                <a:tc>
                  <a:txBody>
                    <a:bodyPr/>
                    <a:lstStyle/>
                    <a:p>
                      <a:pPr algn="l">
                        <a:defRPr sz="1100" b="0">
                          <a:solidFill>
                            <a:srgbClr val="374151"/>
                          </a:solidFill>
                          <a:latin typeface="Calibri"/>
                        </a:defRPr>
                      </a:pPr>
                      <a:r>
                        <a:t>Sprint / group velocity</a:t>
                      </a:r>
                    </a:p>
                  </a:txBody>
                  <a:tcPr>
                    <a:solidFill>
                      <a:srgbClr val="EFF6FF"/>
                    </a:solidFill>
                  </a:tcPr>
                </a:tc>
                <a:tc>
                  <a:txBody>
                    <a:bodyPr/>
                    <a:lstStyle/>
                    <a:p>
                      <a:pPr algn="l">
                        <a:defRPr sz="1100" b="0">
                          <a:solidFill>
                            <a:srgbClr val="374151"/>
                          </a:solidFill>
                          <a:latin typeface="Calibri"/>
                        </a:defRPr>
                      </a:pPr>
                      <a:r>
                        <a:t>Ad-hoc</a:t>
                      </a:r>
                    </a:p>
                  </a:txBody>
                  <a:tcPr>
                    <a:solidFill>
                      <a:srgbClr val="EFF6FF"/>
                    </a:solidFill>
                  </a:tcPr>
                </a:tc>
                <a:tc>
                  <a:txBody>
                    <a:bodyPr/>
                    <a:lstStyle/>
                    <a:p>
                      <a:pPr algn="l">
                        <a:defRPr sz="1100" b="1">
                          <a:solidFill>
                            <a:srgbClr val="1A56DB"/>
                          </a:solidFill>
                          <a:latin typeface="Calibri"/>
                        </a:defRPr>
                      </a:pPr>
                      <a:r>
                        <a:t>Tracked per sprint &amp; quarter</a:t>
                      </a:r>
                    </a:p>
                  </a:txBody>
                  <a:tcPr>
                    <a:solidFill>
                      <a:srgbClr val="EFF6FF"/>
                    </a:solidFill>
                  </a:tcPr>
                </a:tc>
                <a:tc>
                  <a:txBody>
                    <a:bodyPr/>
                    <a:lstStyle/>
                    <a:p>
                      <a:pPr algn="l">
                        <a:defRPr sz="1000" b="0">
                          <a:solidFill>
                            <a:srgbClr val="374151"/>
                          </a:solidFill>
                          <a:latin typeface="Calibri"/>
                        </a:defRPr>
                      </a:pPr>
                      <a:r>
                        <a:t>SP delivered / sprint &amp; group quarter</a:t>
                      </a:r>
                    </a:p>
                  </a:txBody>
                  <a:tcPr>
                    <a:solidFill>
                      <a:srgbClr val="EFF6FF"/>
                    </a:solidFill>
                  </a:tcPr>
                </a:tc>
                <a:extLst>
                  <a:ext uri="{0D108BD9-81ED-4DB2-BD59-A6C34878D82A}">
                    <a16:rowId xmlns:a16="http://schemas.microsoft.com/office/drawing/2014/main" val="1096411990"/>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Epics planned vs. accepted</a:t>
                      </a:r>
                    </a:p>
                  </a:txBody>
                  <a:tcPr>
                    <a:solidFill>
                      <a:srgbClr val="EFF6FF"/>
                    </a:solidFill>
                  </a:tcPr>
                </a:tc>
                <a:tc>
                  <a:txBody>
                    <a:bodyPr/>
                    <a:lstStyle/>
                    <a:p>
                      <a:pPr algn="l">
                        <a:defRPr sz="1100" b="0">
                          <a:solidFill>
                            <a:srgbClr val="374151"/>
                          </a:solidFill>
                          <a:latin typeface="Calibri"/>
                        </a:defRPr>
                      </a:pPr>
                      <a:r>
                        <a:t>Unmeasured</a:t>
                      </a:r>
                    </a:p>
                  </a:txBody>
                  <a:tcPr>
                    <a:solidFill>
                      <a:srgbClr val="EFF6FF"/>
                    </a:solidFill>
                  </a:tcPr>
                </a:tc>
                <a:tc>
                  <a:txBody>
                    <a:bodyPr/>
                    <a:lstStyle/>
                    <a:p>
                      <a:pPr algn="l">
                        <a:defRPr sz="1100" b="1">
                          <a:solidFill>
                            <a:srgbClr val="1A56DB"/>
                          </a:solidFill>
                          <a:latin typeface="Calibri"/>
                        </a:defRPr>
                      </a:pPr>
                      <a:r>
                        <a:t>≥ 80% acceptance</a:t>
                      </a:r>
                    </a:p>
                  </a:txBody>
                  <a:tcPr>
                    <a:solidFill>
                      <a:srgbClr val="EFF6FF"/>
                    </a:solidFill>
                  </a:tcPr>
                </a:tc>
                <a:tc>
                  <a:txBody>
                    <a:bodyPr/>
                    <a:lstStyle/>
                    <a:p>
                      <a:pPr algn="l">
                        <a:defRPr sz="1000" b="0">
                          <a:solidFill>
                            <a:srgbClr val="374151"/>
                          </a:solidFill>
                          <a:latin typeface="Calibri"/>
                        </a:defRPr>
                      </a:pPr>
                      <a:r>
                        <a:t>Accepted epics / planned epics</a:t>
                      </a:r>
                    </a:p>
                  </a:txBody>
                  <a:tcPr>
                    <a:solidFill>
                      <a:srgbClr val="EFF6FF"/>
                    </a:solidFill>
                  </a:tcPr>
                </a:tc>
                <a:extLst>
                  <a:ext uri="{0D108BD9-81ED-4DB2-BD59-A6C34878D82A}">
                    <a16:rowId xmlns:a16="http://schemas.microsoft.com/office/drawing/2014/main" val="1965124363"/>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Feature adoption rate</a:t>
                      </a:r>
                    </a:p>
                  </a:txBody>
                  <a:tcPr>
                    <a:solidFill>
                      <a:srgbClr val="EFF6FF"/>
                    </a:solidFill>
                  </a:tcPr>
                </a:tc>
                <a:tc>
                  <a:txBody>
                    <a:bodyPr/>
                    <a:lstStyle/>
                    <a:p>
                      <a:pPr algn="l">
                        <a:defRPr sz="1100" b="0">
                          <a:solidFill>
                            <a:srgbClr val="374151"/>
                          </a:solidFill>
                          <a:latin typeface="Calibri"/>
                        </a:defRPr>
                      </a:pPr>
                      <a:r>
                        <a:t>Unknown</a:t>
                      </a:r>
                    </a:p>
                  </a:txBody>
                  <a:tcPr>
                    <a:solidFill>
                      <a:srgbClr val="EFF6FF"/>
                    </a:solidFill>
                  </a:tcPr>
                </a:tc>
                <a:tc>
                  <a:txBody>
                    <a:bodyPr/>
                    <a:lstStyle/>
                    <a:p>
                      <a:pPr algn="l">
                        <a:defRPr sz="1100" b="1">
                          <a:solidFill>
                            <a:srgbClr val="1A56DB"/>
                          </a:solidFill>
                          <a:latin typeface="Calibri"/>
                        </a:defRPr>
                      </a:pPr>
                      <a:r>
                        <a:t>≥ 60% in 90 days</a:t>
                      </a:r>
                    </a:p>
                  </a:txBody>
                  <a:tcPr>
                    <a:solidFill>
                      <a:srgbClr val="EFF6FF"/>
                    </a:solidFill>
                  </a:tcPr>
                </a:tc>
                <a:tc>
                  <a:txBody>
                    <a:bodyPr/>
                    <a:lstStyle/>
                    <a:p>
                      <a:pPr algn="l">
                        <a:defRPr sz="1000" b="0">
                          <a:solidFill>
                            <a:srgbClr val="374151"/>
                          </a:solidFill>
                          <a:latin typeface="Calibri"/>
                        </a:defRPr>
                      </a:pPr>
                      <a:r>
                        <a:t>% active users on new features</a:t>
                      </a:r>
                    </a:p>
                  </a:txBody>
                  <a:tcPr>
                    <a:solidFill>
                      <a:srgbClr val="EFF6FF"/>
                    </a:solidFill>
                  </a:tcPr>
                </a:tc>
                <a:extLst>
                  <a:ext uri="{0D108BD9-81ED-4DB2-BD59-A6C34878D82A}">
                    <a16:rowId xmlns:a16="http://schemas.microsoft.com/office/drawing/2014/main" val="3668937133"/>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Product OKR attainment</a:t>
                      </a:r>
                    </a:p>
                  </a:txBody>
                  <a:tcPr>
                    <a:solidFill>
                      <a:srgbClr val="EFF6FF"/>
                    </a:solidFill>
                  </a:tcPr>
                </a:tc>
                <a:tc>
                  <a:txBody>
                    <a:bodyPr/>
                    <a:lstStyle/>
                    <a:p>
                      <a:pPr algn="l">
                        <a:defRPr sz="1100" b="0">
                          <a:solidFill>
                            <a:srgbClr val="374151"/>
                          </a:solidFill>
                          <a:latin typeface="Calibri"/>
                        </a:defRPr>
                      </a:pPr>
                      <a:r>
                        <a:t>N/A</a:t>
                      </a:r>
                    </a:p>
                  </a:txBody>
                  <a:tcPr>
                    <a:solidFill>
                      <a:srgbClr val="EFF6FF"/>
                    </a:solidFill>
                  </a:tcPr>
                </a:tc>
                <a:tc>
                  <a:txBody>
                    <a:bodyPr/>
                    <a:lstStyle/>
                    <a:p>
                      <a:pPr algn="l">
                        <a:defRPr sz="1100" b="1">
                          <a:solidFill>
                            <a:srgbClr val="1A56DB"/>
                          </a:solidFill>
                          <a:latin typeface="Calibri"/>
                        </a:defRPr>
                      </a:pPr>
                      <a:r>
                        <a:t>≥ 70% on-target</a:t>
                      </a:r>
                    </a:p>
                  </a:txBody>
                  <a:tcPr>
                    <a:solidFill>
                      <a:srgbClr val="EFF6FF"/>
                    </a:solidFill>
                  </a:tcPr>
                </a:tc>
                <a:tc>
                  <a:txBody>
                    <a:bodyPr/>
                    <a:lstStyle/>
                    <a:p>
                      <a:pPr algn="l">
                        <a:defRPr sz="1000" b="0">
                          <a:solidFill>
                            <a:srgbClr val="374151"/>
                          </a:solidFill>
                          <a:latin typeface="Calibri"/>
                        </a:defRPr>
                      </a:pPr>
                      <a:r>
                        <a:t>OKR scoring per value stream</a:t>
                      </a:r>
                    </a:p>
                  </a:txBody>
                  <a:tcPr>
                    <a:solidFill>
                      <a:srgbClr val="EFF6FF"/>
                    </a:solidFill>
                  </a:tcPr>
                </a:tc>
                <a:extLst>
                  <a:ext uri="{0D108BD9-81ED-4DB2-BD59-A6C34878D82A}">
                    <a16:rowId xmlns:a16="http://schemas.microsoft.com/office/drawing/2014/main" val="2692903228"/>
                  </a:ext>
                </a:extLst>
              </a:tr>
              <a:tr h="457200">
                <a:tc>
                  <a:txBody>
                    <a:bodyPr/>
                    <a:lstStyle/>
                    <a:p>
                      <a:r>
                        <a:t>Business
Outcomes</a:t>
                      </a:r>
                    </a:p>
                  </a:txBody>
                  <a:tcPr>
                    <a:solidFill>
                      <a:srgbClr val="EFF6FF"/>
                    </a:solidFill>
                  </a:tcPr>
                </a:tc>
                <a:tc>
                  <a:txBody>
                    <a:bodyPr/>
                    <a:lstStyle/>
                    <a:p>
                      <a:pPr algn="l">
                        <a:defRPr sz="1100" b="0">
                          <a:solidFill>
                            <a:srgbClr val="374151"/>
                          </a:solidFill>
                          <a:latin typeface="Calibri"/>
                        </a:defRPr>
                      </a:pPr>
                      <a:r>
                        <a:t>Revenue (QoQ growth)</a:t>
                      </a:r>
                    </a:p>
                  </a:txBody>
                  <a:tcPr>
                    <a:solidFill>
                      <a:srgbClr val="EFF6FF"/>
                    </a:solidFill>
                  </a:tcPr>
                </a:tc>
                <a:tc>
                  <a:txBody>
                    <a:bodyPr/>
                    <a:lstStyle/>
                    <a:p>
                      <a:pPr algn="l">
                        <a:defRPr sz="1100" b="0">
                          <a:solidFill>
                            <a:srgbClr val="374151"/>
                          </a:solidFill>
                          <a:latin typeface="Calibri"/>
                        </a:defRPr>
                      </a:pPr>
                      <a:r>
                        <a:t>Baseline QoQ</a:t>
                      </a:r>
                    </a:p>
                  </a:txBody>
                  <a:tcPr>
                    <a:solidFill>
                      <a:srgbClr val="EFF6FF"/>
                    </a:solidFill>
                  </a:tcPr>
                </a:tc>
                <a:tc>
                  <a:txBody>
                    <a:bodyPr/>
                    <a:lstStyle/>
                    <a:p>
                      <a:pPr algn="l">
                        <a:defRPr sz="1100" b="1">
                          <a:solidFill>
                            <a:srgbClr val="1A56DB"/>
                          </a:solidFill>
                          <a:latin typeface="Calibri"/>
                        </a:defRPr>
                      </a:pPr>
                      <a:r>
                        <a:t>≥ 5% uplift</a:t>
                      </a:r>
                    </a:p>
                  </a:txBody>
                  <a:tcPr>
                    <a:solidFill>
                      <a:srgbClr val="EFF6FF"/>
                    </a:solidFill>
                  </a:tcPr>
                </a:tc>
                <a:tc>
                  <a:txBody>
                    <a:bodyPr/>
                    <a:lstStyle/>
                    <a:p>
                      <a:pPr algn="l">
                        <a:defRPr sz="1000" b="0">
                          <a:solidFill>
                            <a:srgbClr val="374151"/>
                          </a:solidFill>
                          <a:latin typeface="Calibri"/>
                        </a:defRPr>
                      </a:pPr>
                      <a:r>
                        <a:t>Finance reporting</a:t>
                      </a:r>
                    </a:p>
                  </a:txBody>
                  <a:tcPr>
                    <a:solidFill>
                      <a:srgbClr val="EFF6FF"/>
                    </a:solidFill>
                  </a:tcPr>
                </a:tc>
                <a:extLst>
                  <a:ext uri="{0D108BD9-81ED-4DB2-BD59-A6C34878D82A}">
                    <a16:rowId xmlns:a16="http://schemas.microsoft.com/office/drawing/2014/main" val="510814419"/>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Customer NPS</a:t>
                      </a:r>
                    </a:p>
                  </a:txBody>
                  <a:tcPr>
                    <a:solidFill>
                      <a:srgbClr val="EFF6FF"/>
                    </a:solidFill>
                  </a:tcPr>
                </a:tc>
                <a:tc>
                  <a:txBody>
                    <a:bodyPr/>
                    <a:lstStyle/>
                    <a:p>
                      <a:pPr algn="l">
                        <a:defRPr sz="1100" b="0">
                          <a:solidFill>
                            <a:srgbClr val="374151"/>
                          </a:solidFill>
                          <a:latin typeface="Calibri"/>
                        </a:defRPr>
                      </a:pPr>
                      <a:r>
                        <a:t>Current NPS</a:t>
                      </a:r>
                    </a:p>
                  </a:txBody>
                  <a:tcPr>
                    <a:solidFill>
                      <a:srgbClr val="EFF6FF"/>
                    </a:solidFill>
                  </a:tcPr>
                </a:tc>
                <a:tc>
                  <a:txBody>
                    <a:bodyPr/>
                    <a:lstStyle/>
                    <a:p>
                      <a:pPr algn="l">
                        <a:defRPr sz="1100" b="1">
                          <a:solidFill>
                            <a:srgbClr val="1A56DB"/>
                          </a:solidFill>
                          <a:latin typeface="Calibri"/>
                        </a:defRPr>
                      </a:pPr>
                      <a:r>
                        <a:t>+10 pts improvement</a:t>
                      </a:r>
                    </a:p>
                  </a:txBody>
                  <a:tcPr>
                    <a:solidFill>
                      <a:srgbClr val="EFF6FF"/>
                    </a:solidFill>
                  </a:tcPr>
                </a:tc>
                <a:tc>
                  <a:txBody>
                    <a:bodyPr/>
                    <a:lstStyle/>
                    <a:p>
                      <a:pPr algn="l">
                        <a:defRPr sz="1000" b="0">
                          <a:solidFill>
                            <a:srgbClr val="374151"/>
                          </a:solidFill>
                          <a:latin typeface="Calibri"/>
                        </a:defRPr>
                      </a:pPr>
                      <a:r>
                        <a:t>Quarterly NPS survey</a:t>
                      </a:r>
                    </a:p>
                  </a:txBody>
                  <a:tcPr>
                    <a:solidFill>
                      <a:srgbClr val="EFF6FF"/>
                    </a:solidFill>
                  </a:tcPr>
                </a:tc>
                <a:extLst>
                  <a:ext uri="{0D108BD9-81ED-4DB2-BD59-A6C34878D82A}">
                    <a16:rowId xmlns:a16="http://schemas.microsoft.com/office/drawing/2014/main" val="3745364267"/>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Customer acquisition / onboarding TAT</a:t>
                      </a:r>
                    </a:p>
                  </a:txBody>
                  <a:tcPr>
                    <a:solidFill>
                      <a:srgbClr val="EFF6FF"/>
                    </a:solidFill>
                  </a:tcPr>
                </a:tc>
                <a:tc>
                  <a:txBody>
                    <a:bodyPr/>
                    <a:lstStyle/>
                    <a:p>
                      <a:pPr algn="l">
                        <a:defRPr sz="1100" b="0">
                          <a:solidFill>
                            <a:srgbClr val="374151"/>
                          </a:solidFill>
                          <a:latin typeface="Calibri"/>
                        </a:defRPr>
                      </a:pPr>
                      <a:r>
                        <a:t>Current TAT</a:t>
                      </a:r>
                    </a:p>
                  </a:txBody>
                  <a:tcPr>
                    <a:solidFill>
                      <a:srgbClr val="EFF6FF"/>
                    </a:solidFill>
                  </a:tcPr>
                </a:tc>
                <a:tc>
                  <a:txBody>
                    <a:bodyPr/>
                    <a:lstStyle/>
                    <a:p>
                      <a:pPr algn="l">
                        <a:defRPr sz="1100" b="1">
                          <a:solidFill>
                            <a:srgbClr val="1A56DB"/>
                          </a:solidFill>
                          <a:latin typeface="Calibri"/>
                        </a:defRPr>
                      </a:pPr>
                      <a:r>
                        <a:t>≥ 30% reduction</a:t>
                      </a:r>
                    </a:p>
                  </a:txBody>
                  <a:tcPr>
                    <a:solidFill>
                      <a:srgbClr val="EFF6FF"/>
                    </a:solidFill>
                  </a:tcPr>
                </a:tc>
                <a:tc>
                  <a:txBody>
                    <a:bodyPr/>
                    <a:lstStyle/>
                    <a:p>
                      <a:pPr algn="l">
                        <a:defRPr sz="1000" b="0">
                          <a:solidFill>
                            <a:srgbClr val="374151"/>
                          </a:solidFill>
                          <a:latin typeface="Calibri"/>
                        </a:defRPr>
                      </a:pPr>
                      <a:r>
                        <a:t>CRM / onboarding system timestamps</a:t>
                      </a:r>
                    </a:p>
                  </a:txBody>
                  <a:tcPr>
                    <a:solidFill>
                      <a:srgbClr val="EFF6FF"/>
                    </a:solidFill>
                  </a:tcPr>
                </a:tc>
                <a:extLst>
                  <a:ext uri="{0D108BD9-81ED-4DB2-BD59-A6C34878D82A}">
                    <a16:rowId xmlns:a16="http://schemas.microsoft.com/office/drawing/2014/main" val="2222060757"/>
                  </a:ext>
                </a:extLst>
              </a:tr>
              <a:tr h="457200">
                <a:tc>
                  <a:txBody>
                    <a:bodyPr/>
                    <a:lstStyle/>
                    <a:p>
                      <a:endParaRPr/>
                    </a:p>
                  </a:txBody>
                  <a:tcPr>
                    <a:solidFill>
                      <a:srgbClr val="EFF6FF"/>
                    </a:solidFill>
                  </a:tcPr>
                </a:tc>
                <a:tc>
                  <a:txBody>
                    <a:bodyPr/>
                    <a:lstStyle/>
                    <a:p>
                      <a:pPr algn="l">
                        <a:defRPr sz="1100" b="0">
                          <a:solidFill>
                            <a:srgbClr val="374151"/>
                          </a:solidFill>
                          <a:latin typeface="Calibri"/>
                        </a:defRPr>
                      </a:pPr>
                      <a:r>
                        <a:t>Cost-to-serve per customer</a:t>
                      </a:r>
                    </a:p>
                  </a:txBody>
                  <a:tcPr>
                    <a:solidFill>
                      <a:srgbClr val="EFF6FF"/>
                    </a:solidFill>
                  </a:tcPr>
                </a:tc>
                <a:tc>
                  <a:txBody>
                    <a:bodyPr/>
                    <a:lstStyle/>
                    <a:p>
                      <a:pPr algn="l">
                        <a:defRPr sz="1100" b="0">
                          <a:solidFill>
                            <a:srgbClr val="374151"/>
                          </a:solidFill>
                          <a:latin typeface="Calibri"/>
                        </a:defRPr>
                      </a:pPr>
                      <a:r>
                        <a:t>Current CTS</a:t>
                      </a:r>
                    </a:p>
                  </a:txBody>
                  <a:tcPr>
                    <a:solidFill>
                      <a:srgbClr val="EFF6FF"/>
                    </a:solidFill>
                  </a:tcPr>
                </a:tc>
                <a:tc>
                  <a:txBody>
                    <a:bodyPr/>
                    <a:lstStyle/>
                    <a:p>
                      <a:pPr algn="l">
                        <a:defRPr sz="1100" b="1">
                          <a:solidFill>
                            <a:srgbClr val="1A56DB"/>
                          </a:solidFill>
                          <a:latin typeface="Calibri"/>
                        </a:defRPr>
                      </a:pPr>
                      <a:r>
                        <a:t>≥ 20% reduction</a:t>
                      </a:r>
                    </a:p>
                  </a:txBody>
                  <a:tcPr>
                    <a:solidFill>
                      <a:srgbClr val="EFF6FF"/>
                    </a:solidFill>
                  </a:tcPr>
                </a:tc>
                <a:tc>
                  <a:txBody>
                    <a:bodyPr/>
                    <a:lstStyle/>
                    <a:p>
                      <a:pPr algn="l">
                        <a:defRPr sz="1000" b="0">
                          <a:solidFill>
                            <a:srgbClr val="374151"/>
                          </a:solidFill>
                          <a:latin typeface="Calibri"/>
                        </a:defRPr>
                      </a:pPr>
                      <a:r>
                        <a:t>Total ops cost / active customers</a:t>
                      </a:r>
                    </a:p>
                  </a:txBody>
                  <a:tcPr>
                    <a:solidFill>
                      <a:srgbClr val="EFF6FF"/>
                    </a:solidFill>
                  </a:tcPr>
                </a:tc>
                <a:extLst>
                  <a:ext uri="{0D108BD9-81ED-4DB2-BD59-A6C34878D82A}">
                    <a16:rowId xmlns:a16="http://schemas.microsoft.com/office/drawing/2014/main" val="412315021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7315200" cy="457200"/>
          </a:xfrm>
          <a:prstGeom prst="rect">
            <a:avLst/>
          </a:prstGeom>
          <a:noFill/>
        </p:spPr>
        <p:txBody>
          <a:bodyPr wrap="square">
            <a:spAutoFit/>
          </a:bodyPr>
          <a:lstStyle/>
          <a:p>
            <a:pPr algn="l"/>
            <a:r>
              <a:rPr sz="2200" b="1">
                <a:solidFill>
                  <a:srgbClr val="FFFFFF"/>
                </a:solidFill>
              </a:rPr>
              <a:t>Reporting Framework — Dashboards &amp; Cadence</a:t>
            </a:r>
          </a:p>
        </p:txBody>
      </p:sp>
      <p:sp>
        <p:nvSpPr>
          <p:cNvPr id="4" name="TextBox 3"/>
          <p:cNvSpPr txBox="1"/>
          <p:nvPr/>
        </p:nvSpPr>
        <p:spPr>
          <a:xfrm>
            <a:off x="9601200" y="137160"/>
            <a:ext cx="2286000" cy="365760"/>
          </a:xfrm>
          <a:prstGeom prst="rect">
            <a:avLst/>
          </a:prstGeom>
          <a:noFill/>
        </p:spPr>
        <p:txBody>
          <a:bodyPr wrap="square">
            <a:spAutoFit/>
          </a:bodyPr>
          <a:lstStyle/>
          <a:p>
            <a:pPr algn="r"/>
            <a:r>
              <a:rPr sz="1100" b="1">
                <a:solidFill>
                  <a:srgbClr val="93C5FD"/>
                </a:solidFill>
              </a:rPr>
              <a:t>REPORT</a:t>
            </a:r>
          </a:p>
        </p:txBody>
      </p:sp>
      <p:sp>
        <p:nvSpPr>
          <p:cNvPr id="5" name="TextBox 4"/>
          <p:cNvSpPr txBox="1"/>
          <p:nvPr/>
        </p:nvSpPr>
        <p:spPr>
          <a:xfrm>
            <a:off x="548640" y="750000"/>
            <a:ext cx="5000000" cy="300000"/>
          </a:xfrm>
          <a:prstGeom prst="rect">
            <a:avLst/>
          </a:prstGeom>
          <a:noFill/>
        </p:spPr>
        <p:txBody>
          <a:bodyPr wrap="square">
            <a:spAutoFit/>
          </a:bodyPr>
          <a:lstStyle/>
          <a:p>
            <a:pPr algn="l"/>
            <a:r>
              <a:rPr sz="1600" b="1">
                <a:solidFill>
                  <a:srgbClr val="1E293B"/>
                </a:solidFill>
              </a:rPr>
              <a:t>Dashboard Layers</a:t>
            </a:r>
          </a:p>
        </p:txBody>
      </p:sp>
      <p:sp>
        <p:nvSpPr>
          <p:cNvPr id="6" name="Rounded Rectangle 5"/>
          <p:cNvSpPr/>
          <p:nvPr/>
        </p:nvSpPr>
        <p:spPr>
          <a:xfrm>
            <a:off x="548640" y="1100000"/>
            <a:ext cx="10972800" cy="155000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100000"/>
            <a:ext cx="50000" cy="15500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8640" y="1180000"/>
            <a:ext cx="5000000" cy="300000"/>
          </a:xfrm>
          <a:prstGeom prst="rect">
            <a:avLst/>
          </a:prstGeom>
          <a:noFill/>
        </p:spPr>
        <p:txBody>
          <a:bodyPr wrap="square">
            <a:spAutoFit/>
          </a:bodyPr>
          <a:lstStyle/>
          <a:p>
            <a:pPr algn="l"/>
            <a:r>
              <a:rPr sz="1300" b="1">
                <a:solidFill>
                  <a:srgbClr val="1A56DB"/>
                </a:solidFill>
              </a:rPr>
              <a:t>Executive Dashboard  (Monthly)</a:t>
            </a:r>
          </a:p>
        </p:txBody>
      </p:sp>
      <p:sp>
        <p:nvSpPr>
          <p:cNvPr id="9" name="TextBox 8"/>
          <p:cNvSpPr txBox="1"/>
          <p:nvPr/>
        </p:nvSpPr>
        <p:spPr>
          <a:xfrm>
            <a:off x="688640" y="1530000"/>
            <a:ext cx="5200000" cy="900000"/>
          </a:xfrm>
          <a:prstGeom prst="rect">
            <a:avLst/>
          </a:prstGeom>
          <a:noFill/>
        </p:spPr>
        <p:txBody>
          <a:bodyPr wrap="square">
            <a:spAutoFit/>
          </a:bodyPr>
          <a:lstStyle/>
          <a:p>
            <a:pPr>
              <a:spcAft>
                <a:spcPts val="300"/>
              </a:spcAft>
            </a:pPr>
            <a:r>
              <a:rPr sz="1100">
                <a:solidFill>
                  <a:srgbClr val="1E293B"/>
                </a:solidFill>
              </a:rPr>
              <a:t>• Total transformation ROI (cost saved vs invested)</a:t>
            </a:r>
          </a:p>
          <a:p>
            <a:pPr>
              <a:spcAft>
                <a:spcPts val="300"/>
              </a:spcAft>
            </a:pPr>
            <a:r>
              <a:rPr sz="1100">
                <a:solidFill>
                  <a:srgbClr val="1E293B"/>
                </a:solidFill>
              </a:rPr>
              <a:t>• Revenue per person trend</a:t>
            </a:r>
          </a:p>
        </p:txBody>
      </p:sp>
      <p:sp>
        <p:nvSpPr>
          <p:cNvPr id="10" name="TextBox 9"/>
          <p:cNvSpPr txBox="1"/>
          <p:nvPr/>
        </p:nvSpPr>
        <p:spPr>
          <a:xfrm>
            <a:off x="6000000" y="1530000"/>
            <a:ext cx="5200000" cy="900000"/>
          </a:xfrm>
          <a:prstGeom prst="rect">
            <a:avLst/>
          </a:prstGeom>
          <a:noFill/>
        </p:spPr>
        <p:txBody>
          <a:bodyPr wrap="square">
            <a:spAutoFit/>
          </a:bodyPr>
          <a:lstStyle/>
          <a:p>
            <a:pPr>
              <a:spcAft>
                <a:spcPts val="300"/>
              </a:spcAft>
            </a:pPr>
            <a:r>
              <a:rPr sz="1100">
                <a:solidFill>
                  <a:srgbClr val="1E293B"/>
                </a:solidFill>
              </a:rPr>
              <a:t>• Pod count &amp; scale trajectory</a:t>
            </a:r>
          </a:p>
          <a:p>
            <a:pPr>
              <a:spcAft>
                <a:spcPts val="300"/>
              </a:spcAft>
            </a:pPr>
            <a:r>
              <a:rPr sz="1100">
                <a:solidFill>
                  <a:srgbClr val="1E293B"/>
                </a:solidFill>
              </a:rPr>
              <a:t>• Client satisfaction &amp; NPS impact</a:t>
            </a:r>
          </a:p>
        </p:txBody>
      </p:sp>
      <p:sp>
        <p:nvSpPr>
          <p:cNvPr id="11" name="Rounded Rectangle 10"/>
          <p:cNvSpPr/>
          <p:nvPr/>
        </p:nvSpPr>
        <p:spPr>
          <a:xfrm>
            <a:off x="548640" y="2750000"/>
            <a:ext cx="10972800" cy="155000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750000"/>
            <a:ext cx="50000" cy="1550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640" y="2830000"/>
            <a:ext cx="5000000" cy="300000"/>
          </a:xfrm>
          <a:prstGeom prst="rect">
            <a:avLst/>
          </a:prstGeom>
          <a:noFill/>
        </p:spPr>
        <p:txBody>
          <a:bodyPr wrap="square">
            <a:spAutoFit/>
          </a:bodyPr>
          <a:lstStyle/>
          <a:p>
            <a:pPr algn="l"/>
            <a:r>
              <a:rPr sz="1300" b="1">
                <a:solidFill>
                  <a:srgbClr val="2563EB"/>
                </a:solidFill>
              </a:rPr>
              <a:t>Pod Performance Dashboard  (Weekly)</a:t>
            </a:r>
          </a:p>
        </p:txBody>
      </p:sp>
      <p:sp>
        <p:nvSpPr>
          <p:cNvPr id="14" name="TextBox 13"/>
          <p:cNvSpPr txBox="1"/>
          <p:nvPr/>
        </p:nvSpPr>
        <p:spPr>
          <a:xfrm>
            <a:off x="688640" y="3180000"/>
            <a:ext cx="5200000" cy="900000"/>
          </a:xfrm>
          <a:prstGeom prst="rect">
            <a:avLst/>
          </a:prstGeom>
          <a:noFill/>
        </p:spPr>
        <p:txBody>
          <a:bodyPr wrap="square">
            <a:spAutoFit/>
          </a:bodyPr>
          <a:lstStyle/>
          <a:p>
            <a:pPr>
              <a:spcAft>
                <a:spcPts val="300"/>
              </a:spcAft>
            </a:pPr>
            <a:r>
              <a:rPr sz="1100">
                <a:solidFill>
                  <a:srgbClr val="1E293B"/>
                </a:solidFill>
              </a:rPr>
              <a:t>• Capabilities delivered this cycle</a:t>
            </a:r>
          </a:p>
          <a:p>
            <a:pPr>
              <a:spcAft>
                <a:spcPts val="300"/>
              </a:spcAft>
            </a:pPr>
            <a:r>
              <a:rPr sz="1100">
                <a:solidFill>
                  <a:srgbClr val="1E293B"/>
                </a:solidFill>
              </a:rPr>
              <a:t>• Cost per capability (trend line)</a:t>
            </a:r>
          </a:p>
        </p:txBody>
      </p:sp>
      <p:sp>
        <p:nvSpPr>
          <p:cNvPr id="15" name="TextBox 14"/>
          <p:cNvSpPr txBox="1"/>
          <p:nvPr/>
        </p:nvSpPr>
        <p:spPr>
          <a:xfrm>
            <a:off x="6000000" y="3180000"/>
            <a:ext cx="5200000" cy="900000"/>
          </a:xfrm>
          <a:prstGeom prst="rect">
            <a:avLst/>
          </a:prstGeom>
          <a:noFill/>
        </p:spPr>
        <p:txBody>
          <a:bodyPr wrap="square">
            <a:spAutoFit/>
          </a:bodyPr>
          <a:lstStyle/>
          <a:p>
            <a:pPr>
              <a:spcAft>
                <a:spcPts val="300"/>
              </a:spcAft>
            </a:pPr>
            <a:r>
              <a:rPr sz="1100">
                <a:solidFill>
                  <a:srgbClr val="1E293B"/>
                </a:solidFill>
              </a:rPr>
              <a:t>• Agent automation rate</a:t>
            </a:r>
          </a:p>
          <a:p>
            <a:pPr>
              <a:spcAft>
                <a:spcPts val="300"/>
              </a:spcAft>
            </a:pPr>
            <a:r>
              <a:rPr sz="1100">
                <a:solidFill>
                  <a:srgbClr val="1E293B"/>
                </a:solidFill>
              </a:rPr>
              <a:t>• Token usage &amp; cost breakdown</a:t>
            </a:r>
          </a:p>
        </p:txBody>
      </p:sp>
      <p:sp>
        <p:nvSpPr>
          <p:cNvPr id="16" name="Rounded Rectangle 15"/>
          <p:cNvSpPr/>
          <p:nvPr/>
        </p:nvSpPr>
        <p:spPr>
          <a:xfrm>
            <a:off x="548640" y="4400000"/>
            <a:ext cx="10972800" cy="155000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400000"/>
            <a:ext cx="50000" cy="1550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8640" y="4480000"/>
            <a:ext cx="5000000" cy="300000"/>
          </a:xfrm>
          <a:prstGeom prst="rect">
            <a:avLst/>
          </a:prstGeom>
          <a:noFill/>
        </p:spPr>
        <p:txBody>
          <a:bodyPr wrap="square">
            <a:spAutoFit/>
          </a:bodyPr>
          <a:lstStyle/>
          <a:p>
            <a:pPr algn="l"/>
            <a:r>
              <a:rPr sz="1300" b="1">
                <a:solidFill>
                  <a:srgbClr val="3B82F6"/>
                </a:solidFill>
              </a:rPr>
              <a:t>Agent Operations Dashboard  (Real-Time)</a:t>
            </a:r>
          </a:p>
        </p:txBody>
      </p:sp>
      <p:sp>
        <p:nvSpPr>
          <p:cNvPr id="19" name="TextBox 18"/>
          <p:cNvSpPr txBox="1"/>
          <p:nvPr/>
        </p:nvSpPr>
        <p:spPr>
          <a:xfrm>
            <a:off x="688640" y="4830000"/>
            <a:ext cx="5200000" cy="900000"/>
          </a:xfrm>
          <a:prstGeom prst="rect">
            <a:avLst/>
          </a:prstGeom>
          <a:noFill/>
        </p:spPr>
        <p:txBody>
          <a:bodyPr wrap="square">
            <a:spAutoFit/>
          </a:bodyPr>
          <a:lstStyle/>
          <a:p>
            <a:pPr>
              <a:spcAft>
                <a:spcPts val="300"/>
              </a:spcAft>
            </a:pPr>
            <a:r>
              <a:rPr sz="1100">
                <a:solidFill>
                  <a:srgbClr val="1E293B"/>
                </a:solidFill>
              </a:rPr>
              <a:t>• Agent health &amp; uptime</a:t>
            </a:r>
          </a:p>
          <a:p>
            <a:pPr>
              <a:spcAft>
                <a:spcPts val="300"/>
              </a:spcAft>
            </a:pPr>
            <a:r>
              <a:rPr sz="1100">
                <a:solidFill>
                  <a:srgbClr val="1E293B"/>
                </a:solidFill>
              </a:rPr>
              <a:t>• Token consumption (real-time burn rate)</a:t>
            </a:r>
          </a:p>
        </p:txBody>
      </p:sp>
      <p:sp>
        <p:nvSpPr>
          <p:cNvPr id="20" name="TextBox 19"/>
          <p:cNvSpPr txBox="1"/>
          <p:nvPr/>
        </p:nvSpPr>
        <p:spPr>
          <a:xfrm>
            <a:off x="6000000" y="4830000"/>
            <a:ext cx="5200000" cy="900000"/>
          </a:xfrm>
          <a:prstGeom prst="rect">
            <a:avLst/>
          </a:prstGeom>
          <a:noFill/>
        </p:spPr>
        <p:txBody>
          <a:bodyPr wrap="square">
            <a:spAutoFit/>
          </a:bodyPr>
          <a:lstStyle/>
          <a:p>
            <a:pPr>
              <a:spcAft>
                <a:spcPts val="300"/>
              </a:spcAft>
            </a:pPr>
            <a:r>
              <a:rPr sz="1100">
                <a:solidFill>
                  <a:srgbClr val="1E293B"/>
                </a:solidFill>
              </a:rPr>
              <a:t>• Escalation rate (agent → human)</a:t>
            </a:r>
          </a:p>
          <a:p>
            <a:pPr>
              <a:spcAft>
                <a:spcPts val="300"/>
              </a:spcAft>
            </a:pPr>
            <a:r>
              <a:rPr sz="1100">
                <a:solidFill>
                  <a:srgbClr val="1E293B"/>
                </a:solidFill>
              </a:rPr>
              <a:t>• Error rate &amp; retry patterns</a:t>
            </a:r>
          </a:p>
        </p:txBody>
      </p:sp>
      <p:sp>
        <p:nvSpPr>
          <p:cNvPr id="21" name="Rectangle 20"/>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37960"/>
            <a:ext cx="5486400" cy="274320"/>
          </a:xfrm>
          <a:prstGeom prst="rect">
            <a:avLst/>
          </a:prstGeom>
          <a:noFill/>
        </p:spPr>
        <p:txBody>
          <a:bodyPr wrap="square">
            <a:spAutoFit/>
          </a:bodyPr>
          <a:lstStyle/>
          <a:p>
            <a:pPr algn="l"/>
            <a:r>
              <a:rPr sz="800" b="0">
                <a:solidFill>
                  <a:srgbClr val="6B7280"/>
                </a:solidFill>
              </a:rPr>
              <a:t>Frontier Professional &amp; ADLC POV</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7315200" cy="457200"/>
          </a:xfrm>
          <a:prstGeom prst="rect">
            <a:avLst/>
          </a:prstGeom>
          <a:noFill/>
        </p:spPr>
        <p:txBody>
          <a:bodyPr wrap="none">
            <a:spAutoFit/>
          </a:bodyPr>
          <a:lstStyle/>
          <a:p>
            <a:r>
              <a:rPr sz="2200" b="1">
                <a:solidFill>
                  <a:srgbClr val="FFFFFF"/>
                </a:solidFill>
              </a:rPr>
              <a:t>Reporting — Review Cadence &amp; Outcome Tracking</a:t>
            </a:r>
          </a:p>
        </p:txBody>
      </p:sp>
      <p:sp>
        <p:nvSpPr>
          <p:cNvPr id="4" name="TextBox 3"/>
          <p:cNvSpPr txBox="1"/>
          <p:nvPr/>
        </p:nvSpPr>
        <p:spPr>
          <a:xfrm>
            <a:off x="9601200" y="137160"/>
            <a:ext cx="2286000" cy="365760"/>
          </a:xfrm>
          <a:prstGeom prst="rect">
            <a:avLst/>
          </a:prstGeom>
          <a:noFill/>
        </p:spPr>
        <p:txBody>
          <a:bodyPr wrap="none">
            <a:spAutoFit/>
          </a:bodyPr>
          <a:lstStyle/>
          <a:p>
            <a:pPr algn="r"/>
            <a:r>
              <a:rPr sz="1100" b="1">
                <a:solidFill>
                  <a:srgbClr val="93C5FD"/>
                </a:solidFill>
              </a:rPr>
              <a:t>REPORT</a:t>
            </a:r>
          </a:p>
        </p:txBody>
      </p:sp>
      <p:sp>
        <p:nvSpPr>
          <p:cNvPr id="5" name="Rectangle 4"/>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37960"/>
            <a:ext cx="5486400" cy="274320"/>
          </a:xfrm>
          <a:prstGeom prst="rect">
            <a:avLst/>
          </a:prstGeom>
          <a:noFill/>
        </p:spPr>
        <p:txBody>
          <a:bodyPr wrap="none">
            <a:spAutoFit/>
          </a:bodyPr>
          <a:lstStyle/>
          <a:p>
            <a:r>
              <a:rPr sz="800">
                <a:solidFill>
                  <a:srgbClr val="6B7280"/>
                </a:solidFill>
              </a:rPr>
              <a:t>Frontier Professional &amp; ADLC POV</a:t>
            </a:r>
          </a:p>
        </p:txBody>
      </p:sp>
      <p:sp>
        <p:nvSpPr>
          <p:cNvPr id="7" name="TextBox 6"/>
          <p:cNvSpPr txBox="1"/>
          <p:nvPr/>
        </p:nvSpPr>
        <p:spPr>
          <a:xfrm>
            <a:off x="548640" y="700000"/>
            <a:ext cx="5000000" cy="300000"/>
          </a:xfrm>
          <a:prstGeom prst="rect">
            <a:avLst/>
          </a:prstGeom>
          <a:noFill/>
        </p:spPr>
        <p:txBody>
          <a:bodyPr wrap="none">
            <a:spAutoFit/>
          </a:bodyPr>
          <a:lstStyle/>
          <a:p>
            <a:r>
              <a:rPr sz="1600" b="1">
                <a:solidFill>
                  <a:srgbClr val="1E293B"/>
                </a:solidFill>
              </a:rPr>
              <a:t>Review Cadence</a:t>
            </a:r>
          </a:p>
        </p:txBody>
      </p:sp>
      <p:graphicFrame>
        <p:nvGraphicFramePr>
          <p:cNvPr id="22" name="Table 21"/>
          <p:cNvGraphicFramePr>
            <a:graphicFrameLocks noGrp="1"/>
          </p:cNvGraphicFramePr>
          <p:nvPr/>
        </p:nvGraphicFramePr>
        <p:xfrm>
          <a:off x="548640" y="1050000"/>
          <a:ext cx="10972800" cy="22800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1000">
                <a:tc>
                  <a:txBody>
                    <a:bodyPr/>
                    <a:lstStyle/>
                    <a:p>
                      <a:pPr algn="l">
                        <a:defRPr sz="1000" b="1">
                          <a:solidFill>
                            <a:srgbClr val="FFFFFF"/>
                          </a:solidFill>
                          <a:latin typeface="Calibri"/>
                        </a:defRPr>
                      </a:pPr>
                      <a:r>
                        <a:t>Cadence</a:t>
                      </a:r>
                    </a:p>
                  </a:txBody>
                  <a:tcPr>
                    <a:solidFill>
                      <a:srgbClr val="1A56DB"/>
                    </a:solidFill>
                  </a:tcPr>
                </a:tc>
                <a:tc>
                  <a:txBody>
                    <a:bodyPr/>
                    <a:lstStyle/>
                    <a:p>
                      <a:pPr algn="l">
                        <a:defRPr sz="1000" b="1">
                          <a:solidFill>
                            <a:srgbClr val="FFFFFF"/>
                          </a:solidFill>
                          <a:latin typeface="Calibri"/>
                        </a:defRPr>
                      </a:pPr>
                      <a:r>
                        <a:t>Forum</a:t>
                      </a:r>
                    </a:p>
                  </a:txBody>
                  <a:tcPr>
                    <a:solidFill>
                      <a:srgbClr val="1A56DB"/>
                    </a:solidFill>
                  </a:tcPr>
                </a:tc>
                <a:tc>
                  <a:txBody>
                    <a:bodyPr/>
                    <a:lstStyle/>
                    <a:p>
                      <a:pPr algn="l">
                        <a:defRPr sz="1000" b="1">
                          <a:solidFill>
                            <a:srgbClr val="FFFFFF"/>
                          </a:solidFill>
                          <a:latin typeface="Calibri"/>
                        </a:defRPr>
                      </a:pPr>
                      <a:r>
                        <a:t>Focus</a:t>
                      </a:r>
                    </a:p>
                  </a:txBody>
                  <a:tcPr>
                    <a:solidFill>
                      <a:srgbClr val="1A56DB"/>
                    </a:solidFill>
                  </a:tcPr>
                </a:tc>
                <a:extLst>
                  <a:ext uri="{0D108BD9-81ED-4DB2-BD59-A6C34878D82A}">
                    <a16:rowId xmlns:a16="http://schemas.microsoft.com/office/drawing/2014/main" val="10000"/>
                  </a:ext>
                </a:extLst>
              </a:tr>
              <a:tr h="381000">
                <a:tc>
                  <a:txBody>
                    <a:bodyPr/>
                    <a:lstStyle/>
                    <a:p>
                      <a:pPr algn="l">
                        <a:defRPr sz="1100" b="1">
                          <a:solidFill>
                            <a:srgbClr val="374151"/>
                          </a:solidFill>
                          <a:latin typeface="Calibri"/>
                        </a:defRPr>
                      </a:pPr>
                      <a:r>
                        <a:t>Daily</a:t>
                      </a:r>
                    </a:p>
                  </a:txBody>
                  <a:tcPr>
                    <a:solidFill>
                      <a:srgbClr val="FFFFFF"/>
                    </a:solidFill>
                  </a:tcPr>
                </a:tc>
                <a:tc>
                  <a:txBody>
                    <a:bodyPr/>
                    <a:lstStyle/>
                    <a:p>
                      <a:pPr algn="l">
                        <a:defRPr sz="1100" b="0">
                          <a:solidFill>
                            <a:srgbClr val="374151"/>
                          </a:solidFill>
                          <a:latin typeface="Calibri"/>
                        </a:defRPr>
                      </a:pPr>
                      <a:r>
                        <a:t>Pod Standup</a:t>
                      </a:r>
                    </a:p>
                  </a:txBody>
                  <a:tcPr>
                    <a:solidFill>
                      <a:srgbClr val="FFFFFF"/>
                    </a:solidFill>
                  </a:tcPr>
                </a:tc>
                <a:tc>
                  <a:txBody>
                    <a:bodyPr/>
                    <a:lstStyle/>
                    <a:p>
                      <a:pPr algn="l">
                        <a:defRPr sz="1000" b="0">
                          <a:solidFill>
                            <a:srgbClr val="374151"/>
                          </a:solidFill>
                          <a:latin typeface="Calibri"/>
                        </a:defRPr>
                      </a:pPr>
                      <a:r>
                        <a:t>Agent output quality, blockers, escalations</a:t>
                      </a:r>
                    </a:p>
                  </a:txBody>
                  <a:tcPr>
                    <a:solidFill>
                      <a:srgbClr val="FFFFFF"/>
                    </a:solidFill>
                  </a:tcPr>
                </a:tc>
                <a:extLst>
                  <a:ext uri="{0D108BD9-81ED-4DB2-BD59-A6C34878D82A}">
                    <a16:rowId xmlns:a16="http://schemas.microsoft.com/office/drawing/2014/main" val="10001"/>
                  </a:ext>
                </a:extLst>
              </a:tr>
              <a:tr h="381000">
                <a:tc>
                  <a:txBody>
                    <a:bodyPr/>
                    <a:lstStyle/>
                    <a:p>
                      <a:pPr algn="l">
                        <a:defRPr sz="1100" b="1">
                          <a:solidFill>
                            <a:srgbClr val="374151"/>
                          </a:solidFill>
                          <a:latin typeface="Calibri"/>
                        </a:defRPr>
                      </a:pPr>
                      <a:r>
                        <a:t>Weekly</a:t>
                      </a:r>
                    </a:p>
                  </a:txBody>
                  <a:tcPr>
                    <a:solidFill>
                      <a:srgbClr val="EFF6FF"/>
                    </a:solidFill>
                  </a:tcPr>
                </a:tc>
                <a:tc>
                  <a:txBody>
                    <a:bodyPr/>
                    <a:lstStyle/>
                    <a:p>
                      <a:pPr algn="l">
                        <a:defRPr sz="1100" b="0">
                          <a:solidFill>
                            <a:srgbClr val="374151"/>
                          </a:solidFill>
                          <a:latin typeface="Calibri"/>
                        </a:defRPr>
                      </a:pPr>
                      <a:r>
                        <a:t>Pod Review</a:t>
                      </a:r>
                    </a:p>
                  </a:txBody>
                  <a:tcPr>
                    <a:solidFill>
                      <a:srgbClr val="EFF6FF"/>
                    </a:solidFill>
                  </a:tcPr>
                </a:tc>
                <a:tc>
                  <a:txBody>
                    <a:bodyPr/>
                    <a:lstStyle/>
                    <a:p>
                      <a:pPr algn="l">
                        <a:defRPr sz="1000" b="0">
                          <a:solidFill>
                            <a:srgbClr val="374151"/>
                          </a:solidFill>
                          <a:latin typeface="Calibri"/>
                        </a:defRPr>
                      </a:pPr>
                      <a:r>
                        <a:t>Productivity KPIs, cost trend, token optimisation</a:t>
                      </a:r>
                    </a:p>
                  </a:txBody>
                  <a:tcPr>
                    <a:solidFill>
                      <a:srgbClr val="EFF6FF"/>
                    </a:solidFill>
                  </a:tcPr>
                </a:tc>
                <a:extLst>
                  <a:ext uri="{0D108BD9-81ED-4DB2-BD59-A6C34878D82A}">
                    <a16:rowId xmlns:a16="http://schemas.microsoft.com/office/drawing/2014/main" val="10002"/>
                  </a:ext>
                </a:extLst>
              </a:tr>
              <a:tr h="381000">
                <a:tc>
                  <a:txBody>
                    <a:bodyPr/>
                    <a:lstStyle/>
                    <a:p>
                      <a:pPr algn="l">
                        <a:defRPr sz="1100" b="1">
                          <a:solidFill>
                            <a:srgbClr val="374151"/>
                          </a:solidFill>
                          <a:latin typeface="Calibri"/>
                        </a:defRPr>
                      </a:pPr>
                      <a:r>
                        <a:t>Bi-weekly</a:t>
                      </a:r>
                    </a:p>
                  </a:txBody>
                  <a:tcPr>
                    <a:solidFill>
                      <a:srgbClr val="FFFFFF"/>
                    </a:solidFill>
                  </a:tcPr>
                </a:tc>
                <a:tc>
                  <a:txBody>
                    <a:bodyPr/>
                    <a:lstStyle/>
                    <a:p>
                      <a:pPr algn="l">
                        <a:defRPr sz="1100" b="0">
                          <a:solidFill>
                            <a:srgbClr val="374151"/>
                          </a:solidFill>
                          <a:latin typeface="Calibri"/>
                        </a:defRPr>
                      </a:pPr>
                      <a:r>
                        <a:t>Client Sync</a:t>
                      </a:r>
                    </a:p>
                  </a:txBody>
                  <a:tcPr>
                    <a:solidFill>
                      <a:srgbClr val="FFFFFF"/>
                    </a:solidFill>
                  </a:tcPr>
                </a:tc>
                <a:tc>
                  <a:txBody>
                    <a:bodyPr/>
                    <a:lstStyle/>
                    <a:p>
                      <a:pPr algn="l">
                        <a:defRPr sz="1000" b="0">
                          <a:solidFill>
                            <a:srgbClr val="374151"/>
                          </a:solidFill>
                          <a:latin typeface="Calibri"/>
                        </a:defRPr>
                      </a:pPr>
                      <a:r>
                        <a:t>Capability delivery, outcome achievement, feedback</a:t>
                      </a:r>
                    </a:p>
                  </a:txBody>
                  <a:tcPr>
                    <a:solidFill>
                      <a:srgbClr val="FFFFFF"/>
                    </a:solidFill>
                  </a:tcPr>
                </a:tc>
                <a:extLst>
                  <a:ext uri="{0D108BD9-81ED-4DB2-BD59-A6C34878D82A}">
                    <a16:rowId xmlns:a16="http://schemas.microsoft.com/office/drawing/2014/main" val="10003"/>
                  </a:ext>
                </a:extLst>
              </a:tr>
              <a:tr h="381000">
                <a:tc>
                  <a:txBody>
                    <a:bodyPr/>
                    <a:lstStyle/>
                    <a:p>
                      <a:pPr algn="l">
                        <a:defRPr sz="1100" b="1">
                          <a:solidFill>
                            <a:srgbClr val="374151"/>
                          </a:solidFill>
                          <a:latin typeface="Calibri"/>
                        </a:defRPr>
                      </a:pPr>
                      <a:r>
                        <a:t>Monthly</a:t>
                      </a:r>
                    </a:p>
                  </a:txBody>
                  <a:tcPr>
                    <a:solidFill>
                      <a:srgbClr val="EFF6FF"/>
                    </a:solidFill>
                  </a:tcPr>
                </a:tc>
                <a:tc>
                  <a:txBody>
                    <a:bodyPr/>
                    <a:lstStyle/>
                    <a:p>
                      <a:pPr algn="l">
                        <a:defRPr sz="1100" b="0">
                          <a:solidFill>
                            <a:srgbClr val="374151"/>
                          </a:solidFill>
                          <a:latin typeface="Calibri"/>
                        </a:defRPr>
                      </a:pPr>
                      <a:r>
                        <a:t>Exec Review</a:t>
                      </a:r>
                    </a:p>
                  </a:txBody>
                  <a:tcPr>
                    <a:solidFill>
                      <a:srgbClr val="EFF6FF"/>
                    </a:solidFill>
                  </a:tcPr>
                </a:tc>
                <a:tc>
                  <a:txBody>
                    <a:bodyPr/>
                    <a:lstStyle/>
                    <a:p>
                      <a:pPr algn="l">
                        <a:defRPr sz="1000" b="0">
                          <a:solidFill>
                            <a:srgbClr val="374151"/>
                          </a:solidFill>
                          <a:latin typeface="Calibri"/>
                        </a:defRPr>
                      </a:pPr>
                      <a:r>
                        <a:t>ROI, scale progress, strategic adjustments</a:t>
                      </a:r>
                    </a:p>
                  </a:txBody>
                  <a:tcPr>
                    <a:solidFill>
                      <a:srgbClr val="EFF6FF"/>
                    </a:solidFill>
                  </a:tcPr>
                </a:tc>
                <a:extLst>
                  <a:ext uri="{0D108BD9-81ED-4DB2-BD59-A6C34878D82A}">
                    <a16:rowId xmlns:a16="http://schemas.microsoft.com/office/drawing/2014/main" val="10004"/>
                  </a:ext>
                </a:extLst>
              </a:tr>
              <a:tr h="381000">
                <a:tc>
                  <a:txBody>
                    <a:bodyPr/>
                    <a:lstStyle/>
                    <a:p>
                      <a:pPr algn="l">
                        <a:defRPr sz="1100" b="1">
                          <a:solidFill>
                            <a:srgbClr val="374151"/>
                          </a:solidFill>
                          <a:latin typeface="Calibri"/>
                        </a:defRPr>
                      </a:pPr>
                      <a:r>
                        <a:t>Quarterly</a:t>
                      </a:r>
                    </a:p>
                  </a:txBody>
                  <a:tcPr>
                    <a:solidFill>
                      <a:srgbClr val="FFFFFF"/>
                    </a:solidFill>
                  </a:tcPr>
                </a:tc>
                <a:tc>
                  <a:txBody>
                    <a:bodyPr/>
                    <a:lstStyle/>
                    <a:p>
                      <a:pPr algn="l">
                        <a:defRPr sz="1100" b="0">
                          <a:solidFill>
                            <a:srgbClr val="374151"/>
                          </a:solidFill>
                          <a:latin typeface="Calibri"/>
                        </a:defRPr>
                      </a:pPr>
                      <a:r>
                        <a:t>Value Board</a:t>
                      </a:r>
                    </a:p>
                  </a:txBody>
                  <a:tcPr>
                    <a:solidFill>
                      <a:srgbClr val="FFFFFF"/>
                    </a:solidFill>
                  </a:tcPr>
                </a:tc>
                <a:tc>
                  <a:txBody>
                    <a:bodyPr/>
                    <a:lstStyle/>
                    <a:p>
                      <a:pPr algn="l">
                        <a:defRPr sz="1000" b="0">
                          <a:solidFill>
                            <a:srgbClr val="374151"/>
                          </a:solidFill>
                          <a:latin typeface="Calibri"/>
                        </a:defRPr>
                      </a:pPr>
                      <a:r>
                        <a:t>Transformation progress, pricing model, market position</a:t>
                      </a:r>
                    </a:p>
                  </a:txBody>
                  <a:tcPr>
                    <a:solidFill>
                      <a:srgbClr val="FFFFFF"/>
                    </a:solidFill>
                  </a:tcPr>
                </a:tc>
                <a:extLst>
                  <a:ext uri="{0D108BD9-81ED-4DB2-BD59-A6C34878D82A}">
                    <a16:rowId xmlns:a16="http://schemas.microsoft.com/office/drawing/2014/main" val="10005"/>
                  </a:ext>
                </a:extLst>
              </a:tr>
            </a:tbl>
          </a:graphicData>
        </a:graphic>
      </p:graphicFrame>
      <p:sp>
        <p:nvSpPr>
          <p:cNvPr id="23" name="Rounded Rectangle 22"/>
          <p:cNvSpPr/>
          <p:nvPr/>
        </p:nvSpPr>
        <p:spPr>
          <a:xfrm>
            <a:off x="548640" y="3600000"/>
            <a:ext cx="10972800" cy="240000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0000" y="3680000"/>
            <a:ext cx="10000000" cy="280000"/>
          </a:xfrm>
          <a:prstGeom prst="rect">
            <a:avLst/>
          </a:prstGeom>
          <a:noFill/>
        </p:spPr>
        <p:txBody>
          <a:bodyPr wrap="none">
            <a:spAutoFit/>
          </a:bodyPr>
          <a:lstStyle/>
          <a:p>
            <a:r>
              <a:rPr sz="1400" b="1">
                <a:solidFill>
                  <a:srgbClr val="1E293B"/>
                </a:solidFill>
              </a:rPr>
              <a:t>Product &amp; Business Outcomes Dashboard  (Monthly / Quarterly)</a:t>
            </a:r>
          </a:p>
        </p:txBody>
      </p:sp>
      <p:sp>
        <p:nvSpPr>
          <p:cNvPr id="25" name="TextBox 24"/>
          <p:cNvSpPr txBox="1"/>
          <p:nvPr/>
        </p:nvSpPr>
        <p:spPr>
          <a:xfrm>
            <a:off x="730000" y="4020000"/>
            <a:ext cx="5000000" cy="250000"/>
          </a:xfrm>
          <a:prstGeom prst="rect">
            <a:avLst/>
          </a:prstGeom>
          <a:noFill/>
        </p:spPr>
        <p:txBody>
          <a:bodyPr wrap="none">
            <a:spAutoFit/>
          </a:bodyPr>
          <a:lstStyle/>
          <a:p>
            <a:r>
              <a:rPr sz="1200" b="1">
                <a:solidFill>
                  <a:srgbClr val="1A56DB"/>
                </a:solidFill>
              </a:rPr>
              <a:t>Product Outcomes</a:t>
            </a:r>
          </a:p>
        </p:txBody>
      </p:sp>
      <p:sp>
        <p:nvSpPr>
          <p:cNvPr id="26" name="TextBox 25"/>
          <p:cNvSpPr txBox="1"/>
          <p:nvPr/>
        </p:nvSpPr>
        <p:spPr>
          <a:xfrm>
            <a:off x="730000" y="4300000"/>
            <a:ext cx="5000000" cy="1600000"/>
          </a:xfrm>
          <a:prstGeom prst="rect">
            <a:avLst/>
          </a:prstGeom>
          <a:noFill/>
        </p:spPr>
        <p:txBody>
          <a:bodyPr wrap="square">
            <a:spAutoFit/>
          </a:bodyPr>
          <a:lstStyle/>
          <a:p>
            <a:pPr>
              <a:spcAft>
                <a:spcPts val="400"/>
              </a:spcAft>
            </a:pPr>
            <a:r>
              <a:rPr sz="1000">
                <a:solidFill>
                  <a:srgbClr val="374151"/>
                </a:solidFill>
              </a:rPr>
              <a:t>• Sprint velocity &amp; predictability per product team</a:t>
            </a:r>
          </a:p>
          <a:p>
            <a:pPr>
              <a:spcAft>
                <a:spcPts val="400"/>
              </a:spcAft>
            </a:pPr>
            <a:r>
              <a:rPr sz="1000">
                <a:solidFill>
                  <a:srgbClr val="374151"/>
                </a:solidFill>
              </a:rPr>
              <a:t>• Group velocity — epics planned vs. accepted per ART</a:t>
            </a:r>
          </a:p>
          <a:p>
            <a:pPr>
              <a:spcAft>
                <a:spcPts val="400"/>
              </a:spcAft>
            </a:pPr>
            <a:r>
              <a:rPr sz="1000">
                <a:solidFill>
                  <a:srgbClr val="374151"/>
                </a:solidFill>
              </a:rPr>
              <a:t>• Feature adoption rate (% users on new capabilities)</a:t>
            </a:r>
          </a:p>
          <a:p>
            <a:pPr>
              <a:spcAft>
                <a:spcPts val="400"/>
              </a:spcAft>
            </a:pPr>
            <a:r>
              <a:rPr sz="1000">
                <a:solidFill>
                  <a:srgbClr val="374151"/>
                </a:solidFill>
              </a:rPr>
              <a:t>• Product OKR attainment per value stream</a:t>
            </a:r>
          </a:p>
        </p:txBody>
      </p:sp>
      <p:sp>
        <p:nvSpPr>
          <p:cNvPr id="27" name="TextBox 26"/>
          <p:cNvSpPr txBox="1"/>
          <p:nvPr/>
        </p:nvSpPr>
        <p:spPr>
          <a:xfrm>
            <a:off x="6200000" y="4020000"/>
            <a:ext cx="5000000" cy="250000"/>
          </a:xfrm>
          <a:prstGeom prst="rect">
            <a:avLst/>
          </a:prstGeom>
          <a:noFill/>
        </p:spPr>
        <p:txBody>
          <a:bodyPr wrap="none">
            <a:spAutoFit/>
          </a:bodyPr>
          <a:lstStyle/>
          <a:p>
            <a:r>
              <a:rPr sz="1200" b="1">
                <a:solidFill>
                  <a:srgbClr val="7C3AED"/>
                </a:solidFill>
              </a:rPr>
              <a:t>Business Outcomes</a:t>
            </a:r>
          </a:p>
        </p:txBody>
      </p:sp>
      <p:sp>
        <p:nvSpPr>
          <p:cNvPr id="28" name="TextBox 27"/>
          <p:cNvSpPr txBox="1"/>
          <p:nvPr/>
        </p:nvSpPr>
        <p:spPr>
          <a:xfrm>
            <a:off x="6200000" y="4300000"/>
            <a:ext cx="5000000" cy="1600000"/>
          </a:xfrm>
          <a:prstGeom prst="rect">
            <a:avLst/>
          </a:prstGeom>
          <a:noFill/>
        </p:spPr>
        <p:txBody>
          <a:bodyPr wrap="square">
            <a:spAutoFit/>
          </a:bodyPr>
          <a:lstStyle/>
          <a:p>
            <a:pPr>
              <a:spcAft>
                <a:spcPts val="400"/>
              </a:spcAft>
            </a:pPr>
            <a:r>
              <a:rPr sz="1000">
                <a:solidFill>
                  <a:srgbClr val="374151"/>
                </a:solidFill>
              </a:rPr>
              <a:t>• Revenue QoQ growth per business value stream</a:t>
            </a:r>
          </a:p>
          <a:p>
            <a:pPr>
              <a:spcAft>
                <a:spcPts val="400"/>
              </a:spcAft>
            </a:pPr>
            <a:r>
              <a:rPr sz="1000">
                <a:solidFill>
                  <a:srgbClr val="374151"/>
                </a:solidFill>
              </a:rPr>
              <a:t>• Customer NPS &amp; satisfaction trend</a:t>
            </a:r>
          </a:p>
          <a:p>
            <a:pPr>
              <a:spcAft>
                <a:spcPts val="400"/>
              </a:spcAft>
            </a:pPr>
            <a:r>
              <a:rPr sz="1000">
                <a:solidFill>
                  <a:srgbClr val="374151"/>
                </a:solidFill>
              </a:rPr>
              <a:t>• Customer onboarding TAT reduction</a:t>
            </a:r>
          </a:p>
          <a:p>
            <a:pPr>
              <a:spcAft>
                <a:spcPts val="400"/>
              </a:spcAft>
            </a:pPr>
            <a:r>
              <a:rPr sz="1000">
                <a:solidFill>
                  <a:srgbClr val="374151"/>
                </a:solidFill>
              </a:rPr>
              <a:t>• Cost-to-serve per customer reduction</a:t>
            </a:r>
          </a:p>
        </p:txBody>
      </p:sp>
      <p:sp>
        <p:nvSpPr>
          <p:cNvPr id="29" name="TextBox 28"/>
          <p:cNvSpPr txBox="1"/>
          <p:nvPr/>
        </p:nvSpPr>
        <p:spPr>
          <a:xfrm>
            <a:off x="548640" y="6150000"/>
            <a:ext cx="10972800" cy="350000"/>
          </a:xfrm>
          <a:prstGeom prst="rect">
            <a:avLst/>
          </a:prstGeom>
          <a:noFill/>
        </p:spPr>
        <p:txBody>
          <a:bodyPr wrap="square">
            <a:spAutoFit/>
          </a:bodyPr>
          <a:lstStyle/>
          <a:p>
            <a:r>
              <a:rPr sz="900" b="1">
                <a:solidFill>
                  <a:srgbClr val="1E293B"/>
                </a:solidFill>
              </a:rPr>
              <a:t>Key Principle: </a:t>
            </a:r>
            <a:r>
              <a:rPr sz="900">
                <a:solidFill>
                  <a:srgbClr val="6B7280"/>
                </a:solidFill>
              </a:rPr>
              <a:t>Every report answers: "What did we deliver, what did it cost, and how does that compare to the traditional alternative?"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Continuous Improvement — The Optimisation Loop</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IMPROVE</a:t>
            </a:r>
          </a:p>
        </p:txBody>
      </p:sp>
      <p:sp>
        <p:nvSpPr>
          <p:cNvPr id="5" name="TextBox 4"/>
          <p:cNvSpPr txBox="1"/>
          <p:nvPr/>
        </p:nvSpPr>
        <p:spPr>
          <a:xfrm>
            <a:off x="548640" y="822960"/>
            <a:ext cx="4572000" cy="274320"/>
          </a:xfrm>
          <a:prstGeom prst="rect">
            <a:avLst/>
          </a:prstGeom>
          <a:noFill/>
        </p:spPr>
        <p:txBody>
          <a:bodyPr wrap="square" anchor="t"/>
          <a:lstStyle/>
          <a:p>
            <a:pPr algn="l">
              <a:defRPr sz="1400" b="1">
                <a:solidFill>
                  <a:srgbClr val="1E3A5F"/>
                </a:solidFill>
                <a:latin typeface="Calibri"/>
              </a:defRPr>
            </a:pPr>
            <a:r>
              <a:t>Cost Optimisation Levers</a:t>
            </a:r>
          </a:p>
        </p:txBody>
      </p:sp>
      <p:sp>
        <p:nvSpPr>
          <p:cNvPr id="6" name="Rounded Rectangle 5"/>
          <p:cNvSpPr/>
          <p:nvPr/>
        </p:nvSpPr>
        <p:spPr>
          <a:xfrm>
            <a:off x="548640" y="1188720"/>
            <a:ext cx="5486400" cy="18288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234440"/>
            <a:ext cx="5120640" cy="182880"/>
          </a:xfrm>
          <a:prstGeom prst="rect">
            <a:avLst/>
          </a:prstGeom>
          <a:noFill/>
        </p:spPr>
        <p:txBody>
          <a:bodyPr wrap="square" anchor="t"/>
          <a:lstStyle/>
          <a:p>
            <a:pPr algn="l">
              <a:defRPr sz="1200" b="1">
                <a:solidFill>
                  <a:srgbClr val="1A4A7A"/>
                </a:solidFill>
                <a:latin typeface="Calibri"/>
              </a:defRPr>
            </a:pPr>
            <a:r>
              <a:t>Token Cost Reduction</a:t>
            </a:r>
          </a:p>
        </p:txBody>
      </p:sp>
      <p:sp>
        <p:nvSpPr>
          <p:cNvPr id="8" name="TextBox 7"/>
          <p:cNvSpPr txBox="1"/>
          <p:nvPr/>
        </p:nvSpPr>
        <p:spPr>
          <a:xfrm>
            <a:off x="731520" y="1508760"/>
            <a:ext cx="1371600" cy="228600"/>
          </a:xfrm>
          <a:prstGeom prst="rect">
            <a:avLst/>
          </a:prstGeom>
          <a:noFill/>
        </p:spPr>
        <p:txBody>
          <a:bodyPr wrap="square" anchor="t"/>
          <a:lstStyle/>
          <a:p>
            <a:pPr algn="l">
              <a:defRPr sz="900" b="1">
                <a:solidFill>
                  <a:srgbClr val="4B5563"/>
                </a:solidFill>
                <a:latin typeface="Calibri"/>
              </a:defRPr>
            </a:pPr>
            <a:r>
              <a:t>Prompt caching</a:t>
            </a:r>
          </a:p>
        </p:txBody>
      </p:sp>
      <p:sp>
        <p:nvSpPr>
          <p:cNvPr id="9" name="Rounded Rectangle 8"/>
          <p:cNvSpPr/>
          <p:nvPr/>
        </p:nvSpPr>
        <p:spPr>
          <a:xfrm>
            <a:off x="2286000" y="1527048"/>
            <a:ext cx="3200400" cy="20116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286000" y="1527048"/>
            <a:ext cx="1920240" cy="2011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0" y="1527048"/>
            <a:ext cx="1920240" cy="201168"/>
          </a:xfrm>
          <a:prstGeom prst="rect">
            <a:avLst/>
          </a:prstGeom>
          <a:noFill/>
        </p:spPr>
        <p:txBody>
          <a:bodyPr wrap="square" anchor="ctr"/>
          <a:lstStyle/>
          <a:p>
            <a:pPr algn="r">
              <a:defRPr sz="800" b="1">
                <a:solidFill>
                  <a:srgbClr val="FFFFFF"/>
                </a:solidFill>
                <a:latin typeface="Calibri"/>
              </a:defRPr>
            </a:pPr>
            <a:r>
              <a:t>40–60% saving</a:t>
            </a:r>
          </a:p>
        </p:txBody>
      </p:sp>
      <p:sp>
        <p:nvSpPr>
          <p:cNvPr id="12" name="TextBox 11"/>
          <p:cNvSpPr txBox="1"/>
          <p:nvPr/>
        </p:nvSpPr>
        <p:spPr>
          <a:xfrm>
            <a:off x="731520" y="1783080"/>
            <a:ext cx="1371600" cy="228600"/>
          </a:xfrm>
          <a:prstGeom prst="rect">
            <a:avLst/>
          </a:prstGeom>
          <a:noFill/>
        </p:spPr>
        <p:txBody>
          <a:bodyPr wrap="square" anchor="t"/>
          <a:lstStyle/>
          <a:p>
            <a:pPr algn="l">
              <a:defRPr sz="900" b="1">
                <a:solidFill>
                  <a:srgbClr val="4B5563"/>
                </a:solidFill>
                <a:latin typeface="Calibri"/>
              </a:defRPr>
            </a:pPr>
            <a:r>
              <a:t>Model tiering</a:t>
            </a:r>
          </a:p>
        </p:txBody>
      </p:sp>
      <p:sp>
        <p:nvSpPr>
          <p:cNvPr id="13" name="Rounded Rectangle 12"/>
          <p:cNvSpPr/>
          <p:nvPr/>
        </p:nvSpPr>
        <p:spPr>
          <a:xfrm>
            <a:off x="2286000" y="1801368"/>
            <a:ext cx="3200400" cy="20116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286000" y="1801368"/>
            <a:ext cx="1600200" cy="2011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0" y="1801368"/>
            <a:ext cx="1600200" cy="201168"/>
          </a:xfrm>
          <a:prstGeom prst="rect">
            <a:avLst/>
          </a:prstGeom>
          <a:noFill/>
        </p:spPr>
        <p:txBody>
          <a:bodyPr wrap="square" anchor="ctr"/>
          <a:lstStyle/>
          <a:p>
            <a:pPr algn="r">
              <a:defRPr sz="800" b="1">
                <a:solidFill>
                  <a:srgbClr val="FFFFFF"/>
                </a:solidFill>
                <a:latin typeface="Calibri"/>
              </a:defRPr>
            </a:pPr>
            <a:r>
              <a:t>30–50% saving</a:t>
            </a:r>
          </a:p>
        </p:txBody>
      </p:sp>
      <p:sp>
        <p:nvSpPr>
          <p:cNvPr id="16" name="TextBox 15"/>
          <p:cNvSpPr txBox="1"/>
          <p:nvPr/>
        </p:nvSpPr>
        <p:spPr>
          <a:xfrm>
            <a:off x="731520" y="2057400"/>
            <a:ext cx="1371600" cy="228600"/>
          </a:xfrm>
          <a:prstGeom prst="rect">
            <a:avLst/>
          </a:prstGeom>
          <a:noFill/>
        </p:spPr>
        <p:txBody>
          <a:bodyPr wrap="square" anchor="t"/>
          <a:lstStyle/>
          <a:p>
            <a:pPr algn="l">
              <a:defRPr sz="900" b="1">
                <a:solidFill>
                  <a:srgbClr val="4B5563"/>
                </a:solidFill>
                <a:latin typeface="Calibri"/>
              </a:defRPr>
            </a:pPr>
            <a:r>
              <a:t>Fine-tuning</a:t>
            </a:r>
          </a:p>
        </p:txBody>
      </p:sp>
      <p:sp>
        <p:nvSpPr>
          <p:cNvPr id="17" name="Rounded Rectangle 16"/>
          <p:cNvSpPr/>
          <p:nvPr/>
        </p:nvSpPr>
        <p:spPr>
          <a:xfrm>
            <a:off x="2286000" y="2075688"/>
            <a:ext cx="3200400" cy="20116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286000" y="2075688"/>
            <a:ext cx="1280160" cy="2011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286000" y="2075688"/>
            <a:ext cx="1280160" cy="201168"/>
          </a:xfrm>
          <a:prstGeom prst="rect">
            <a:avLst/>
          </a:prstGeom>
          <a:noFill/>
        </p:spPr>
        <p:txBody>
          <a:bodyPr wrap="square" anchor="ctr"/>
          <a:lstStyle/>
          <a:p>
            <a:pPr algn="r">
              <a:defRPr sz="800" b="1">
                <a:solidFill>
                  <a:srgbClr val="FFFFFF"/>
                </a:solidFill>
                <a:latin typeface="Calibri"/>
              </a:defRPr>
            </a:pPr>
            <a:r>
              <a:t>20–40% saving</a:t>
            </a:r>
          </a:p>
        </p:txBody>
      </p:sp>
      <p:sp>
        <p:nvSpPr>
          <p:cNvPr id="20" name="TextBox 19"/>
          <p:cNvSpPr txBox="1"/>
          <p:nvPr/>
        </p:nvSpPr>
        <p:spPr>
          <a:xfrm>
            <a:off x="731520" y="2331720"/>
            <a:ext cx="1371600" cy="228600"/>
          </a:xfrm>
          <a:prstGeom prst="rect">
            <a:avLst/>
          </a:prstGeom>
          <a:noFill/>
        </p:spPr>
        <p:txBody>
          <a:bodyPr wrap="square" anchor="t"/>
          <a:lstStyle/>
          <a:p>
            <a:pPr algn="l">
              <a:defRPr sz="900" b="1">
                <a:solidFill>
                  <a:srgbClr val="4B5563"/>
                </a:solidFill>
                <a:latin typeface="Calibri"/>
              </a:defRPr>
            </a:pPr>
            <a:r>
              <a:t>Batch processing</a:t>
            </a:r>
          </a:p>
        </p:txBody>
      </p:sp>
      <p:sp>
        <p:nvSpPr>
          <p:cNvPr id="21" name="Rounded Rectangle 20"/>
          <p:cNvSpPr/>
          <p:nvPr/>
        </p:nvSpPr>
        <p:spPr>
          <a:xfrm>
            <a:off x="2286000" y="2350008"/>
            <a:ext cx="3200400" cy="20116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286000" y="2350008"/>
            <a:ext cx="800100" cy="2011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86000" y="2350008"/>
            <a:ext cx="800100" cy="201168"/>
          </a:xfrm>
          <a:prstGeom prst="rect">
            <a:avLst/>
          </a:prstGeom>
          <a:noFill/>
        </p:spPr>
        <p:txBody>
          <a:bodyPr wrap="square" anchor="ctr"/>
          <a:lstStyle/>
          <a:p>
            <a:pPr algn="r">
              <a:defRPr sz="800" b="1">
                <a:solidFill>
                  <a:srgbClr val="FFFFFF"/>
                </a:solidFill>
                <a:latin typeface="Calibri"/>
              </a:defRPr>
            </a:pPr>
            <a:r>
              <a:t>15–25% saving</a:t>
            </a:r>
          </a:p>
        </p:txBody>
      </p:sp>
      <p:sp>
        <p:nvSpPr>
          <p:cNvPr id="24" name="Rounded Rectangle 23"/>
          <p:cNvSpPr/>
          <p:nvPr/>
        </p:nvSpPr>
        <p:spPr>
          <a:xfrm>
            <a:off x="548640" y="3200400"/>
            <a:ext cx="5486400" cy="146304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246120"/>
            <a:ext cx="5120640" cy="182880"/>
          </a:xfrm>
          <a:prstGeom prst="rect">
            <a:avLst/>
          </a:prstGeom>
          <a:noFill/>
        </p:spPr>
        <p:txBody>
          <a:bodyPr wrap="square" anchor="t"/>
          <a:lstStyle/>
          <a:p>
            <a:pPr algn="l">
              <a:defRPr sz="1200" b="1">
                <a:solidFill>
                  <a:srgbClr val="1A4A7A"/>
                </a:solidFill>
                <a:latin typeface="Calibri"/>
              </a:defRPr>
            </a:pPr>
            <a:r>
              <a:t>Productivity Amplifiers</a:t>
            </a:r>
          </a:p>
        </p:txBody>
      </p:sp>
      <p:sp>
        <p:nvSpPr>
          <p:cNvPr id="26" name="TextBox 25"/>
          <p:cNvSpPr txBox="1"/>
          <p:nvPr/>
        </p:nvSpPr>
        <p:spPr>
          <a:xfrm>
            <a:off x="731520" y="3474720"/>
            <a:ext cx="5120640" cy="1097280"/>
          </a:xfrm>
          <a:prstGeom prst="rect">
            <a:avLst/>
          </a:prstGeom>
          <a:noFill/>
        </p:spPr>
        <p:txBody>
          <a:bodyPr wrap="square"/>
          <a:lstStyle/>
          <a:p>
            <a:endParaRPr/>
          </a:p>
          <a:p>
            <a:pPr>
              <a:spcAft>
                <a:spcPts val="200"/>
              </a:spcAft>
              <a:defRPr sz="900" b="0">
                <a:solidFill>
                  <a:srgbClr val="374151"/>
                </a:solidFill>
                <a:latin typeface="Calibri"/>
              </a:defRPr>
            </a:pPr>
            <a:r>
              <a:t>Agent specialisation: Purpose-built agents vs generic — 2–3× faster</a:t>
            </a:r>
          </a:p>
          <a:p>
            <a:pPr>
              <a:spcAft>
                <a:spcPts val="200"/>
              </a:spcAft>
              <a:defRPr sz="900" b="0">
                <a:solidFill>
                  <a:srgbClr val="374151"/>
                </a:solidFill>
                <a:latin typeface="Calibri"/>
              </a:defRPr>
            </a:pPr>
            <a:r>
              <a:t>Context pre-loading: RAG pipeline tuning reduces agent latency 40%</a:t>
            </a:r>
          </a:p>
          <a:p>
            <a:pPr>
              <a:spcAft>
                <a:spcPts val="200"/>
              </a:spcAft>
              <a:defRPr sz="900" b="0">
                <a:solidFill>
                  <a:srgbClr val="374151"/>
                </a:solidFill>
                <a:latin typeface="Calibri"/>
              </a:defRPr>
            </a:pPr>
            <a:r>
              <a:t>Workflow automation: Remove remaining manual handoffs</a:t>
            </a:r>
          </a:p>
          <a:p>
            <a:pPr>
              <a:spcAft>
                <a:spcPts val="200"/>
              </a:spcAft>
              <a:defRPr sz="900" b="0">
                <a:solidFill>
                  <a:srgbClr val="374151"/>
                </a:solidFill>
                <a:latin typeface="Calibri"/>
              </a:defRPr>
            </a:pPr>
            <a:r>
              <a:t>Cross-pod learning: Best patterns propagated automatically</a:t>
            </a:r>
          </a:p>
        </p:txBody>
      </p:sp>
      <p:sp>
        <p:nvSpPr>
          <p:cNvPr id="27" name="TextBox 26"/>
          <p:cNvSpPr txBox="1"/>
          <p:nvPr/>
        </p:nvSpPr>
        <p:spPr>
          <a:xfrm>
            <a:off x="6217920" y="822960"/>
            <a:ext cx="4572000" cy="274320"/>
          </a:xfrm>
          <a:prstGeom prst="rect">
            <a:avLst/>
          </a:prstGeom>
          <a:noFill/>
        </p:spPr>
        <p:txBody>
          <a:bodyPr wrap="square" anchor="t"/>
          <a:lstStyle/>
          <a:p>
            <a:pPr algn="l">
              <a:defRPr sz="1400" b="1">
                <a:solidFill>
                  <a:srgbClr val="1E3A5F"/>
                </a:solidFill>
                <a:latin typeface="Calibri"/>
              </a:defRPr>
            </a:pPr>
            <a:r>
              <a:t>Time-to-Market Accelerators</a:t>
            </a:r>
          </a:p>
        </p:txBody>
      </p:sp>
      <p:graphicFrame>
        <p:nvGraphicFramePr>
          <p:cNvPr id="28" name="Table 27"/>
          <p:cNvGraphicFramePr>
            <a:graphicFrameLocks noGrp="1"/>
          </p:cNvGraphicFramePr>
          <p:nvPr/>
        </p:nvGraphicFramePr>
        <p:xfrm>
          <a:off x="6217920" y="1188720"/>
          <a:ext cx="5303520" cy="16459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29184">
                <a:tc>
                  <a:txBody>
                    <a:bodyPr/>
                    <a:lstStyle/>
                    <a:p>
                      <a:pPr algn="l">
                        <a:defRPr sz="1000" b="1">
                          <a:solidFill>
                            <a:srgbClr val="FFFFFF"/>
                          </a:solidFill>
                          <a:latin typeface="Calibri"/>
                        </a:defRPr>
                      </a:pPr>
                      <a:r>
                        <a:t>Phase</a:t>
                      </a:r>
                    </a:p>
                  </a:txBody>
                  <a:tcPr>
                    <a:solidFill>
                      <a:srgbClr val="1A56DB"/>
                    </a:solidFill>
                  </a:tcPr>
                </a:tc>
                <a:tc>
                  <a:txBody>
                    <a:bodyPr/>
                    <a:lstStyle/>
                    <a:p>
                      <a:pPr algn="l">
                        <a:defRPr sz="1000" b="1">
                          <a:solidFill>
                            <a:srgbClr val="FFFFFF"/>
                          </a:solidFill>
                          <a:latin typeface="Calibri"/>
                        </a:defRPr>
                      </a:pPr>
                      <a:r>
                        <a:t>Lead Time</a:t>
                      </a:r>
                    </a:p>
                  </a:txBody>
                  <a:tcPr>
                    <a:solidFill>
                      <a:srgbClr val="1A56DB"/>
                    </a:solidFill>
                  </a:tcPr>
                </a:tc>
                <a:tc>
                  <a:txBody>
                    <a:bodyPr/>
                    <a:lstStyle/>
                    <a:p>
                      <a:pPr algn="l">
                        <a:defRPr sz="1000" b="1">
                          <a:solidFill>
                            <a:srgbClr val="FFFFFF"/>
                          </a:solidFill>
                          <a:latin typeface="Calibri"/>
                        </a:defRPr>
                      </a:pPr>
                      <a:r>
                        <a:t>Deploy Freq</a:t>
                      </a:r>
                    </a:p>
                  </a:txBody>
                  <a:tcPr>
                    <a:solidFill>
                      <a:srgbClr val="1A56DB"/>
                    </a:solidFill>
                  </a:tcPr>
                </a:tc>
                <a:extLst>
                  <a:ext uri="{0D108BD9-81ED-4DB2-BD59-A6C34878D82A}">
                    <a16:rowId xmlns:a16="http://schemas.microsoft.com/office/drawing/2014/main" val="10000"/>
                  </a:ext>
                </a:extLst>
              </a:tr>
              <a:tr h="329184">
                <a:tc>
                  <a:txBody>
                    <a:bodyPr/>
                    <a:lstStyle/>
                    <a:p>
                      <a:pPr algn="l">
                        <a:defRPr sz="1100" b="1">
                          <a:solidFill>
                            <a:srgbClr val="374151"/>
                          </a:solidFill>
                          <a:latin typeface="Calibri"/>
                        </a:defRPr>
                      </a:pPr>
                      <a:r>
                        <a:t>Pilot (Month 1–2)</a:t>
                      </a:r>
                    </a:p>
                  </a:txBody>
                  <a:tcPr>
                    <a:solidFill>
                      <a:srgbClr val="FFFFFF"/>
                    </a:solidFill>
                  </a:tcPr>
                </a:tc>
                <a:tc>
                  <a:txBody>
                    <a:bodyPr/>
                    <a:lstStyle/>
                    <a:p>
                      <a:pPr algn="l">
                        <a:defRPr sz="1100" b="0">
                          <a:solidFill>
                            <a:srgbClr val="374151"/>
                          </a:solidFill>
                          <a:latin typeface="Calibri"/>
                        </a:defRPr>
                      </a:pPr>
                      <a:r>
                        <a:t>2–3 weeks</a:t>
                      </a:r>
                    </a:p>
                  </a:txBody>
                  <a:tcPr>
                    <a:solidFill>
                      <a:srgbClr val="FFFFFF"/>
                    </a:solidFill>
                  </a:tcPr>
                </a:tc>
                <a:tc>
                  <a:txBody>
                    <a:bodyPr/>
                    <a:lstStyle/>
                    <a:p>
                      <a:pPr algn="l">
                        <a:defRPr sz="1100" b="0">
                          <a:solidFill>
                            <a:srgbClr val="374151"/>
                          </a:solidFill>
                          <a:latin typeface="Calibri"/>
                        </a:defRPr>
                      </a:pPr>
                      <a:r>
                        <a:t>Weekly</a:t>
                      </a:r>
                    </a:p>
                  </a:txBody>
                  <a:tcPr>
                    <a:solidFill>
                      <a:srgbClr val="FFFFFF"/>
                    </a:solidFill>
                  </a:tcPr>
                </a:tc>
                <a:extLst>
                  <a:ext uri="{0D108BD9-81ED-4DB2-BD59-A6C34878D82A}">
                    <a16:rowId xmlns:a16="http://schemas.microsoft.com/office/drawing/2014/main" val="10001"/>
                  </a:ext>
                </a:extLst>
              </a:tr>
              <a:tr h="329184">
                <a:tc>
                  <a:txBody>
                    <a:bodyPr/>
                    <a:lstStyle/>
                    <a:p>
                      <a:pPr algn="l">
                        <a:defRPr sz="1100" b="1">
                          <a:solidFill>
                            <a:srgbClr val="374151"/>
                          </a:solidFill>
                          <a:latin typeface="Calibri"/>
                        </a:defRPr>
                      </a:pPr>
                      <a:r>
                        <a:t>Scale (Month 3–6)</a:t>
                      </a:r>
                    </a:p>
                  </a:txBody>
                  <a:tcPr>
                    <a:solidFill>
                      <a:srgbClr val="EFF6FF"/>
                    </a:solidFill>
                  </a:tcPr>
                </a:tc>
                <a:tc>
                  <a:txBody>
                    <a:bodyPr/>
                    <a:lstStyle/>
                    <a:p>
                      <a:pPr algn="l">
                        <a:defRPr sz="1100" b="0">
                          <a:solidFill>
                            <a:srgbClr val="374151"/>
                          </a:solidFill>
                          <a:latin typeface="Calibri"/>
                        </a:defRPr>
                      </a:pPr>
                      <a:r>
                        <a:t>5–10 days</a:t>
                      </a:r>
                    </a:p>
                  </a:txBody>
                  <a:tcPr>
                    <a:solidFill>
                      <a:srgbClr val="EFF6FF"/>
                    </a:solidFill>
                  </a:tcPr>
                </a:tc>
                <a:tc>
                  <a:txBody>
                    <a:bodyPr/>
                    <a:lstStyle/>
                    <a:p>
                      <a:pPr algn="l">
                        <a:defRPr sz="1100" b="0">
                          <a:solidFill>
                            <a:srgbClr val="374151"/>
                          </a:solidFill>
                          <a:latin typeface="Calibri"/>
                        </a:defRPr>
                      </a:pPr>
                      <a:r>
                        <a:t>2–3× / week</a:t>
                      </a:r>
                    </a:p>
                  </a:txBody>
                  <a:tcPr>
                    <a:solidFill>
                      <a:srgbClr val="EFF6FF"/>
                    </a:solidFill>
                  </a:tcPr>
                </a:tc>
                <a:extLst>
                  <a:ext uri="{0D108BD9-81ED-4DB2-BD59-A6C34878D82A}">
                    <a16:rowId xmlns:a16="http://schemas.microsoft.com/office/drawing/2014/main" val="10002"/>
                  </a:ext>
                </a:extLst>
              </a:tr>
              <a:tr h="329184">
                <a:tc>
                  <a:txBody>
                    <a:bodyPr/>
                    <a:lstStyle/>
                    <a:p>
                      <a:pPr algn="l">
                        <a:defRPr sz="1100" b="1">
                          <a:solidFill>
                            <a:srgbClr val="374151"/>
                          </a:solidFill>
                          <a:latin typeface="Calibri"/>
                        </a:defRPr>
                      </a:pPr>
                      <a:r>
                        <a:t>Mature (Month 6+)</a:t>
                      </a:r>
                    </a:p>
                  </a:txBody>
                  <a:tcPr>
                    <a:solidFill>
                      <a:srgbClr val="FFFFFF"/>
                    </a:solidFill>
                  </a:tcPr>
                </a:tc>
                <a:tc>
                  <a:txBody>
                    <a:bodyPr/>
                    <a:lstStyle/>
                    <a:p>
                      <a:pPr algn="l">
                        <a:defRPr sz="1100" b="0">
                          <a:solidFill>
                            <a:srgbClr val="374151"/>
                          </a:solidFill>
                          <a:latin typeface="Calibri"/>
                        </a:defRPr>
                      </a:pPr>
                      <a:r>
                        <a:t>3–5 days</a:t>
                      </a:r>
                    </a:p>
                  </a:txBody>
                  <a:tcPr>
                    <a:solidFill>
                      <a:srgbClr val="FFFFFF"/>
                    </a:solidFill>
                  </a:tcPr>
                </a:tc>
                <a:tc>
                  <a:txBody>
                    <a:bodyPr/>
                    <a:lstStyle/>
                    <a:p>
                      <a:pPr algn="l">
                        <a:defRPr sz="1100" b="0">
                          <a:solidFill>
                            <a:srgbClr val="374151"/>
                          </a:solidFill>
                          <a:latin typeface="Calibri"/>
                        </a:defRPr>
                      </a:pPr>
                      <a:r>
                        <a:t>Daily</a:t>
                      </a:r>
                    </a:p>
                  </a:txBody>
                  <a:tcPr>
                    <a:solidFill>
                      <a:srgbClr val="FFFFFF"/>
                    </a:solidFill>
                  </a:tcPr>
                </a:tc>
                <a:extLst>
                  <a:ext uri="{0D108BD9-81ED-4DB2-BD59-A6C34878D82A}">
                    <a16:rowId xmlns:a16="http://schemas.microsoft.com/office/drawing/2014/main" val="10003"/>
                  </a:ext>
                </a:extLst>
              </a:tr>
              <a:tr h="329184">
                <a:tc>
                  <a:txBody>
                    <a:bodyPr/>
                    <a:lstStyle/>
                    <a:p>
                      <a:pPr algn="l">
                        <a:defRPr sz="1100" b="1">
                          <a:solidFill>
                            <a:srgbClr val="374151"/>
                          </a:solidFill>
                          <a:latin typeface="Calibri"/>
                        </a:defRPr>
                      </a:pPr>
                      <a:r>
                        <a:t>Optimised (Year 2+)</a:t>
                      </a:r>
                    </a:p>
                  </a:txBody>
                  <a:tcPr>
                    <a:solidFill>
                      <a:srgbClr val="EFF6FF"/>
                    </a:solidFill>
                  </a:tcPr>
                </a:tc>
                <a:tc>
                  <a:txBody>
                    <a:bodyPr/>
                    <a:lstStyle/>
                    <a:p>
                      <a:pPr algn="l">
                        <a:defRPr sz="1100" b="0">
                          <a:solidFill>
                            <a:srgbClr val="374151"/>
                          </a:solidFill>
                          <a:latin typeface="Calibri"/>
                        </a:defRPr>
                      </a:pPr>
                      <a:r>
                        <a:t>1–2 days</a:t>
                      </a:r>
                    </a:p>
                  </a:txBody>
                  <a:tcPr>
                    <a:solidFill>
                      <a:srgbClr val="EFF6FF"/>
                    </a:solidFill>
                  </a:tcPr>
                </a:tc>
                <a:tc>
                  <a:txBody>
                    <a:bodyPr/>
                    <a:lstStyle/>
                    <a:p>
                      <a:pPr algn="l">
                        <a:defRPr sz="1100" b="0">
                          <a:solidFill>
                            <a:srgbClr val="374151"/>
                          </a:solidFill>
                          <a:latin typeface="Calibri"/>
                        </a:defRPr>
                      </a:pPr>
                      <a:r>
                        <a:t>On-demand</a:t>
                      </a:r>
                    </a:p>
                  </a:txBody>
                  <a:tcPr>
                    <a:solidFill>
                      <a:srgbClr val="EFF6FF"/>
                    </a:solidFill>
                  </a:tcPr>
                </a:tc>
                <a:extLst>
                  <a:ext uri="{0D108BD9-81ED-4DB2-BD59-A6C34878D82A}">
                    <a16:rowId xmlns:a16="http://schemas.microsoft.com/office/drawing/2014/main" val="10004"/>
                  </a:ext>
                </a:extLst>
              </a:tr>
            </a:tbl>
          </a:graphicData>
        </a:graphic>
      </p:graphicFrame>
      <p:sp>
        <p:nvSpPr>
          <p:cNvPr id="29" name="Rounded Rectangle 28"/>
          <p:cNvSpPr/>
          <p:nvPr/>
        </p:nvSpPr>
        <p:spPr>
          <a:xfrm>
            <a:off x="6217920" y="3017520"/>
            <a:ext cx="5303520" cy="11887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3063240"/>
            <a:ext cx="4937760" cy="182880"/>
          </a:xfrm>
          <a:prstGeom prst="rect">
            <a:avLst/>
          </a:prstGeom>
          <a:noFill/>
        </p:spPr>
        <p:txBody>
          <a:bodyPr wrap="square" anchor="t"/>
          <a:lstStyle/>
          <a:p>
            <a:pPr algn="l">
              <a:defRPr sz="1200" b="1">
                <a:solidFill>
                  <a:srgbClr val="1A4A7A"/>
                </a:solidFill>
                <a:latin typeface="Calibri"/>
              </a:defRPr>
            </a:pPr>
            <a:r>
              <a:t>Quality Improvement Cycle</a:t>
            </a:r>
          </a:p>
        </p:txBody>
      </p:sp>
      <p:sp>
        <p:nvSpPr>
          <p:cNvPr id="31" name="TextBox 30"/>
          <p:cNvSpPr txBox="1"/>
          <p:nvPr/>
        </p:nvSpPr>
        <p:spPr>
          <a:xfrm>
            <a:off x="6400800" y="3291840"/>
            <a:ext cx="4937760" cy="822960"/>
          </a:xfrm>
          <a:prstGeom prst="rect">
            <a:avLst/>
          </a:prstGeom>
          <a:noFill/>
        </p:spPr>
        <p:txBody>
          <a:bodyPr wrap="square"/>
          <a:lstStyle/>
          <a:p>
            <a:endParaRPr/>
          </a:p>
          <a:p>
            <a:pPr>
              <a:spcAft>
                <a:spcPts val="200"/>
              </a:spcAft>
              <a:defRPr sz="900" b="0">
                <a:solidFill>
                  <a:srgbClr val="374151"/>
                </a:solidFill>
                <a:latin typeface="Calibri"/>
              </a:defRPr>
            </a:pPr>
            <a:r>
              <a:t>Automated regression: Every agent output tested against golden datasets</a:t>
            </a:r>
          </a:p>
          <a:p>
            <a:pPr>
              <a:spcAft>
                <a:spcPts val="200"/>
              </a:spcAft>
              <a:defRPr sz="900" b="0">
                <a:solidFill>
                  <a:srgbClr val="374151"/>
                </a:solidFill>
                <a:latin typeface="Calibri"/>
              </a:defRPr>
            </a:pPr>
            <a:r>
              <a:t>Failure analysis: Each CFR incident feeds agent improvement</a:t>
            </a:r>
          </a:p>
          <a:p>
            <a:pPr>
              <a:spcAft>
                <a:spcPts val="200"/>
              </a:spcAft>
              <a:defRPr sz="900" b="0">
                <a:solidFill>
                  <a:srgbClr val="374151"/>
                </a:solidFill>
                <a:latin typeface="Calibri"/>
              </a:defRPr>
            </a:pPr>
            <a:r>
              <a:t>Security posture: Continuous scanning, not release-gate only</a:t>
            </a:r>
          </a:p>
          <a:p>
            <a:pPr>
              <a:spcAft>
                <a:spcPts val="200"/>
              </a:spcAft>
              <a:defRPr sz="900" b="0">
                <a:solidFill>
                  <a:srgbClr val="374151"/>
                </a:solidFill>
                <a:latin typeface="Calibri"/>
              </a:defRPr>
            </a:pPr>
            <a:r>
              <a:t>Human review sampling: Statistical sampling for governance, not full review</a:t>
            </a:r>
          </a:p>
        </p:txBody>
      </p:sp>
      <p:sp>
        <p:nvSpPr>
          <p:cNvPr id="32" name="Rounded Rectangle 31"/>
          <p:cNvSpPr/>
          <p:nvPr/>
        </p:nvSpPr>
        <p:spPr>
          <a:xfrm>
            <a:off x="6217920" y="4389120"/>
            <a:ext cx="5303520" cy="64008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4434840"/>
            <a:ext cx="4937760" cy="502920"/>
          </a:xfrm>
          <a:prstGeom prst="rect">
            <a:avLst/>
          </a:prstGeom>
          <a:noFill/>
        </p:spPr>
        <p:txBody>
          <a:bodyPr wrap="square" anchor="t"/>
          <a:lstStyle/>
          <a:p>
            <a:pPr algn="ctr">
              <a:defRPr sz="1000" b="0">
                <a:solidFill>
                  <a:srgbClr val="BFDBFE"/>
                </a:solidFill>
                <a:latin typeface="Calibri"/>
              </a:defRPr>
            </a:pPr>
            <a:r>
              <a:t>The compounding effect: Every improvement in cost, speed, or quality feeds back into the next cycle — and cascades upward into product adoption metrics and business outcomes. The flywheel that makes ADLC self-improving.</a:t>
            </a:r>
          </a:p>
        </p:txBody>
      </p:sp>
      <p:sp>
        <p:nvSpPr>
          <p:cNvPr id="34" name="Rectangle 33"/>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36" name="TextBox 35"/>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ROI Timeline — When Value Compounds</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VALUE REALIZATION</a:t>
            </a:r>
          </a:p>
        </p:txBody>
      </p:sp>
      <p:sp>
        <p:nvSpPr>
          <p:cNvPr id="5" name="TextBox 4"/>
          <p:cNvSpPr txBox="1"/>
          <p:nvPr/>
        </p:nvSpPr>
        <p:spPr>
          <a:xfrm>
            <a:off x="822960" y="1005840"/>
            <a:ext cx="1168400" cy="182880"/>
          </a:xfrm>
          <a:prstGeom prst="rect">
            <a:avLst/>
          </a:prstGeom>
          <a:noFill/>
        </p:spPr>
        <p:txBody>
          <a:bodyPr wrap="square" anchor="t"/>
          <a:lstStyle/>
          <a:p>
            <a:pPr algn="ctr">
              <a:defRPr sz="900" b="0">
                <a:solidFill>
                  <a:srgbClr val="6B7280"/>
                </a:solidFill>
                <a:latin typeface="Calibri"/>
              </a:defRPr>
            </a:pPr>
            <a:r>
              <a:t>M0</a:t>
            </a:r>
          </a:p>
        </p:txBody>
      </p:sp>
      <p:sp>
        <p:nvSpPr>
          <p:cNvPr id="6" name="TextBox 5"/>
          <p:cNvSpPr txBox="1"/>
          <p:nvPr/>
        </p:nvSpPr>
        <p:spPr>
          <a:xfrm>
            <a:off x="1991360" y="1005840"/>
            <a:ext cx="1168400" cy="182880"/>
          </a:xfrm>
          <a:prstGeom prst="rect">
            <a:avLst/>
          </a:prstGeom>
          <a:noFill/>
        </p:spPr>
        <p:txBody>
          <a:bodyPr wrap="square" anchor="t"/>
          <a:lstStyle/>
          <a:p>
            <a:pPr algn="ctr">
              <a:defRPr sz="900" b="0">
                <a:solidFill>
                  <a:srgbClr val="6B7280"/>
                </a:solidFill>
                <a:latin typeface="Calibri"/>
              </a:defRPr>
            </a:pPr>
            <a:r>
              <a:t>M1</a:t>
            </a:r>
          </a:p>
        </p:txBody>
      </p:sp>
      <p:sp>
        <p:nvSpPr>
          <p:cNvPr id="7" name="TextBox 6"/>
          <p:cNvSpPr txBox="1"/>
          <p:nvPr/>
        </p:nvSpPr>
        <p:spPr>
          <a:xfrm>
            <a:off x="3159760" y="1005840"/>
            <a:ext cx="1168400" cy="182880"/>
          </a:xfrm>
          <a:prstGeom prst="rect">
            <a:avLst/>
          </a:prstGeom>
          <a:noFill/>
        </p:spPr>
        <p:txBody>
          <a:bodyPr wrap="square" anchor="t"/>
          <a:lstStyle/>
          <a:p>
            <a:pPr algn="ctr">
              <a:defRPr sz="900" b="0">
                <a:solidFill>
                  <a:srgbClr val="6B7280"/>
                </a:solidFill>
                <a:latin typeface="Calibri"/>
              </a:defRPr>
            </a:pPr>
            <a:r>
              <a:t>M2</a:t>
            </a:r>
          </a:p>
        </p:txBody>
      </p:sp>
      <p:sp>
        <p:nvSpPr>
          <p:cNvPr id="8" name="TextBox 7"/>
          <p:cNvSpPr txBox="1"/>
          <p:nvPr/>
        </p:nvSpPr>
        <p:spPr>
          <a:xfrm>
            <a:off x="4328160" y="1005840"/>
            <a:ext cx="1168400" cy="182880"/>
          </a:xfrm>
          <a:prstGeom prst="rect">
            <a:avLst/>
          </a:prstGeom>
          <a:noFill/>
        </p:spPr>
        <p:txBody>
          <a:bodyPr wrap="square" anchor="t"/>
          <a:lstStyle/>
          <a:p>
            <a:pPr algn="ctr">
              <a:defRPr sz="900" b="0">
                <a:solidFill>
                  <a:srgbClr val="6B7280"/>
                </a:solidFill>
                <a:latin typeface="Calibri"/>
              </a:defRPr>
            </a:pPr>
            <a:r>
              <a:t>M3</a:t>
            </a:r>
          </a:p>
        </p:txBody>
      </p:sp>
      <p:sp>
        <p:nvSpPr>
          <p:cNvPr id="9" name="TextBox 8"/>
          <p:cNvSpPr txBox="1"/>
          <p:nvPr/>
        </p:nvSpPr>
        <p:spPr>
          <a:xfrm>
            <a:off x="5496560" y="1005840"/>
            <a:ext cx="1168400" cy="182880"/>
          </a:xfrm>
          <a:prstGeom prst="rect">
            <a:avLst/>
          </a:prstGeom>
          <a:noFill/>
        </p:spPr>
        <p:txBody>
          <a:bodyPr wrap="square" anchor="t"/>
          <a:lstStyle/>
          <a:p>
            <a:pPr algn="ctr">
              <a:defRPr sz="900" b="0">
                <a:solidFill>
                  <a:srgbClr val="6B7280"/>
                </a:solidFill>
                <a:latin typeface="Calibri"/>
              </a:defRPr>
            </a:pPr>
            <a:r>
              <a:t>M4</a:t>
            </a:r>
          </a:p>
        </p:txBody>
      </p:sp>
      <p:sp>
        <p:nvSpPr>
          <p:cNvPr id="10" name="TextBox 9"/>
          <p:cNvSpPr txBox="1"/>
          <p:nvPr/>
        </p:nvSpPr>
        <p:spPr>
          <a:xfrm>
            <a:off x="6664960" y="1005840"/>
            <a:ext cx="1168400" cy="182880"/>
          </a:xfrm>
          <a:prstGeom prst="rect">
            <a:avLst/>
          </a:prstGeom>
          <a:noFill/>
        </p:spPr>
        <p:txBody>
          <a:bodyPr wrap="square" anchor="t"/>
          <a:lstStyle/>
          <a:p>
            <a:pPr algn="ctr">
              <a:defRPr sz="900" b="0">
                <a:solidFill>
                  <a:srgbClr val="6B7280"/>
                </a:solidFill>
                <a:latin typeface="Calibri"/>
              </a:defRPr>
            </a:pPr>
            <a:r>
              <a:t>M6</a:t>
            </a:r>
          </a:p>
        </p:txBody>
      </p:sp>
      <p:sp>
        <p:nvSpPr>
          <p:cNvPr id="11" name="TextBox 10"/>
          <p:cNvSpPr txBox="1"/>
          <p:nvPr/>
        </p:nvSpPr>
        <p:spPr>
          <a:xfrm>
            <a:off x="7833360" y="1005840"/>
            <a:ext cx="1168400" cy="182880"/>
          </a:xfrm>
          <a:prstGeom prst="rect">
            <a:avLst/>
          </a:prstGeom>
          <a:noFill/>
        </p:spPr>
        <p:txBody>
          <a:bodyPr wrap="square" anchor="t"/>
          <a:lstStyle/>
          <a:p>
            <a:pPr algn="ctr">
              <a:defRPr sz="900" b="0">
                <a:solidFill>
                  <a:srgbClr val="6B7280"/>
                </a:solidFill>
                <a:latin typeface="Calibri"/>
              </a:defRPr>
            </a:pPr>
            <a:r>
              <a:t>M9</a:t>
            </a:r>
          </a:p>
        </p:txBody>
      </p:sp>
      <p:sp>
        <p:nvSpPr>
          <p:cNvPr id="12" name="TextBox 11"/>
          <p:cNvSpPr txBox="1"/>
          <p:nvPr/>
        </p:nvSpPr>
        <p:spPr>
          <a:xfrm>
            <a:off x="9001760" y="1005840"/>
            <a:ext cx="1168400" cy="182880"/>
          </a:xfrm>
          <a:prstGeom prst="rect">
            <a:avLst/>
          </a:prstGeom>
          <a:noFill/>
        </p:spPr>
        <p:txBody>
          <a:bodyPr wrap="square" anchor="t"/>
          <a:lstStyle/>
          <a:p>
            <a:pPr algn="ctr">
              <a:defRPr sz="900" b="0">
                <a:solidFill>
                  <a:srgbClr val="6B7280"/>
                </a:solidFill>
                <a:latin typeface="Calibri"/>
              </a:defRPr>
            </a:pPr>
            <a:r>
              <a:t>M12</a:t>
            </a:r>
          </a:p>
        </p:txBody>
      </p:sp>
      <p:sp>
        <p:nvSpPr>
          <p:cNvPr id="13" name="TextBox 12"/>
          <p:cNvSpPr txBox="1"/>
          <p:nvPr/>
        </p:nvSpPr>
        <p:spPr>
          <a:xfrm>
            <a:off x="10170160" y="1005840"/>
            <a:ext cx="1168400" cy="182880"/>
          </a:xfrm>
          <a:prstGeom prst="rect">
            <a:avLst/>
          </a:prstGeom>
          <a:noFill/>
        </p:spPr>
        <p:txBody>
          <a:bodyPr wrap="square" anchor="t"/>
          <a:lstStyle/>
          <a:p>
            <a:pPr algn="ctr">
              <a:defRPr sz="900" b="0">
                <a:solidFill>
                  <a:srgbClr val="6B7280"/>
                </a:solidFill>
                <a:latin typeface="Calibri"/>
              </a:defRPr>
            </a:pPr>
            <a:r>
              <a:t>M18+</a:t>
            </a:r>
          </a:p>
        </p:txBody>
      </p:sp>
      <p:sp>
        <p:nvSpPr>
          <p:cNvPr id="14" name="Rounded Rectangle 13"/>
          <p:cNvSpPr/>
          <p:nvPr/>
        </p:nvSpPr>
        <p:spPr>
          <a:xfrm>
            <a:off x="822960" y="1234440"/>
            <a:ext cx="3505200" cy="27432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1234440"/>
            <a:ext cx="3505200" cy="274320"/>
          </a:xfrm>
          <a:prstGeom prst="rect">
            <a:avLst/>
          </a:prstGeom>
          <a:noFill/>
        </p:spPr>
        <p:txBody>
          <a:bodyPr wrap="square" anchor="ctr"/>
          <a:lstStyle/>
          <a:p>
            <a:pPr algn="ctr">
              <a:defRPr sz="900" b="1">
                <a:solidFill>
                  <a:srgbClr val="FFFFFF"/>
                </a:solidFill>
                <a:latin typeface="Calibri"/>
              </a:defRPr>
            </a:pPr>
            <a:r>
              <a:t>Investment &amp; Setup</a:t>
            </a:r>
          </a:p>
        </p:txBody>
      </p:sp>
      <p:sp>
        <p:nvSpPr>
          <p:cNvPr id="16" name="Rounded Rectangle 15"/>
          <p:cNvSpPr/>
          <p:nvPr/>
        </p:nvSpPr>
        <p:spPr>
          <a:xfrm>
            <a:off x="4328160" y="1234440"/>
            <a:ext cx="1168400" cy="274320"/>
          </a:xfrm>
          <a:prstGeom prst="round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28160" y="1234440"/>
            <a:ext cx="1168400" cy="274320"/>
          </a:xfrm>
          <a:prstGeom prst="rect">
            <a:avLst/>
          </a:prstGeom>
          <a:noFill/>
        </p:spPr>
        <p:txBody>
          <a:bodyPr wrap="square" anchor="ctr"/>
          <a:lstStyle/>
          <a:p>
            <a:pPr algn="ctr">
              <a:defRPr sz="800" b="1">
                <a:solidFill>
                  <a:srgbClr val="1E3A5F"/>
                </a:solidFill>
                <a:latin typeface="Calibri"/>
              </a:defRPr>
            </a:pPr>
            <a:r>
              <a:t>Break even</a:t>
            </a:r>
          </a:p>
        </p:txBody>
      </p:sp>
      <p:sp>
        <p:nvSpPr>
          <p:cNvPr id="18" name="Rounded Rectangle 17"/>
          <p:cNvSpPr/>
          <p:nvPr/>
        </p:nvSpPr>
        <p:spPr>
          <a:xfrm>
            <a:off x="5496560" y="1234440"/>
            <a:ext cx="5842000" cy="2743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96560" y="1234440"/>
            <a:ext cx="5842000" cy="274320"/>
          </a:xfrm>
          <a:prstGeom prst="rect">
            <a:avLst/>
          </a:prstGeom>
          <a:noFill/>
        </p:spPr>
        <p:txBody>
          <a:bodyPr wrap="square" anchor="ctr"/>
          <a:lstStyle/>
          <a:p>
            <a:pPr algn="ctr">
              <a:defRPr sz="900" b="1">
                <a:solidFill>
                  <a:srgbClr val="FFFFFF"/>
                </a:solidFill>
                <a:latin typeface="Calibri"/>
              </a:defRPr>
            </a:pPr>
            <a:r>
              <a:t>Accelerating savings →</a:t>
            </a:r>
          </a:p>
        </p:txBody>
      </p:sp>
      <p:sp>
        <p:nvSpPr>
          <p:cNvPr id="20" name="Rounded Rectangle 19"/>
          <p:cNvSpPr/>
          <p:nvPr/>
        </p:nvSpPr>
        <p:spPr>
          <a:xfrm>
            <a:off x="548640" y="1828800"/>
            <a:ext cx="2606040" cy="1463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1874519"/>
            <a:ext cx="2606040" cy="228600"/>
          </a:xfrm>
          <a:prstGeom prst="rect">
            <a:avLst/>
          </a:prstGeom>
          <a:noFill/>
        </p:spPr>
        <p:txBody>
          <a:bodyPr wrap="square" anchor="t"/>
          <a:lstStyle/>
          <a:p>
            <a:pPr algn="ctr">
              <a:defRPr sz="1100" b="1">
                <a:solidFill>
                  <a:srgbClr val="1A4A7A"/>
                </a:solidFill>
                <a:latin typeface="Calibri"/>
              </a:defRPr>
            </a:pPr>
            <a:r>
              <a:t>Month 0–2</a:t>
            </a:r>
          </a:p>
        </p:txBody>
      </p:sp>
      <p:sp>
        <p:nvSpPr>
          <p:cNvPr id="22" name="TextBox 21"/>
          <p:cNvSpPr txBox="1"/>
          <p:nvPr/>
        </p:nvSpPr>
        <p:spPr>
          <a:xfrm>
            <a:off x="548640" y="2103120"/>
            <a:ext cx="2606040" cy="411480"/>
          </a:xfrm>
          <a:prstGeom prst="rect">
            <a:avLst/>
          </a:prstGeom>
          <a:noFill/>
        </p:spPr>
        <p:txBody>
          <a:bodyPr wrap="square" anchor="t"/>
          <a:lstStyle/>
          <a:p>
            <a:pPr algn="ctr">
              <a:defRPr sz="1800" b="1">
                <a:solidFill>
                  <a:srgbClr val="1A56DB"/>
                </a:solidFill>
                <a:latin typeface="Calibri"/>
              </a:defRPr>
            </a:pPr>
            <a:r>
              <a:t>-$120K to -$200K</a:t>
            </a:r>
          </a:p>
        </p:txBody>
      </p:sp>
      <p:sp>
        <p:nvSpPr>
          <p:cNvPr id="23" name="TextBox 22"/>
          <p:cNvSpPr txBox="1"/>
          <p:nvPr/>
        </p:nvSpPr>
        <p:spPr>
          <a:xfrm>
            <a:off x="685800" y="2606040"/>
            <a:ext cx="2331720" cy="548640"/>
          </a:xfrm>
          <a:prstGeom prst="rect">
            <a:avLst/>
          </a:prstGeom>
          <a:noFill/>
        </p:spPr>
        <p:txBody>
          <a:bodyPr wrap="square" anchor="t"/>
          <a:lstStyle/>
          <a:p>
            <a:pPr algn="ctr">
              <a:defRPr sz="900" b="0">
                <a:solidFill>
                  <a:srgbClr val="6B7280"/>
                </a:solidFill>
                <a:latin typeface="Calibri"/>
              </a:defRPr>
            </a:pPr>
            <a:r>
              <a:t>Transformation investment. Training, agent build, infra setup.</a:t>
            </a:r>
          </a:p>
        </p:txBody>
      </p:sp>
      <p:sp>
        <p:nvSpPr>
          <p:cNvPr id="24" name="Rounded Rectangle 23"/>
          <p:cNvSpPr/>
          <p:nvPr/>
        </p:nvSpPr>
        <p:spPr>
          <a:xfrm>
            <a:off x="3337560" y="1828800"/>
            <a:ext cx="2606040" cy="1463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37560" y="1874519"/>
            <a:ext cx="2606040" cy="228600"/>
          </a:xfrm>
          <a:prstGeom prst="rect">
            <a:avLst/>
          </a:prstGeom>
          <a:noFill/>
        </p:spPr>
        <p:txBody>
          <a:bodyPr wrap="square" anchor="t"/>
          <a:lstStyle/>
          <a:p>
            <a:pPr algn="ctr">
              <a:defRPr sz="1100" b="1">
                <a:solidFill>
                  <a:srgbClr val="1A4A7A"/>
                </a:solidFill>
                <a:latin typeface="Calibri"/>
              </a:defRPr>
            </a:pPr>
            <a:r>
              <a:t>Month 3–4</a:t>
            </a:r>
          </a:p>
        </p:txBody>
      </p:sp>
      <p:sp>
        <p:nvSpPr>
          <p:cNvPr id="26" name="TextBox 25"/>
          <p:cNvSpPr txBox="1"/>
          <p:nvPr/>
        </p:nvSpPr>
        <p:spPr>
          <a:xfrm>
            <a:off x="3337560" y="2103120"/>
            <a:ext cx="2606040" cy="411480"/>
          </a:xfrm>
          <a:prstGeom prst="rect">
            <a:avLst/>
          </a:prstGeom>
          <a:noFill/>
        </p:spPr>
        <p:txBody>
          <a:bodyPr wrap="square" anchor="t"/>
          <a:lstStyle/>
          <a:p>
            <a:pPr algn="ctr">
              <a:defRPr sz="1800" b="1">
                <a:solidFill>
                  <a:srgbClr val="1A56DB"/>
                </a:solidFill>
                <a:latin typeface="Calibri"/>
              </a:defRPr>
            </a:pPr>
            <a:r>
              <a:t>Break Even</a:t>
            </a:r>
          </a:p>
        </p:txBody>
      </p:sp>
      <p:sp>
        <p:nvSpPr>
          <p:cNvPr id="27" name="TextBox 26"/>
          <p:cNvSpPr txBox="1"/>
          <p:nvPr/>
        </p:nvSpPr>
        <p:spPr>
          <a:xfrm>
            <a:off x="3474720" y="2606040"/>
            <a:ext cx="2331720" cy="548640"/>
          </a:xfrm>
          <a:prstGeom prst="rect">
            <a:avLst/>
          </a:prstGeom>
          <a:noFill/>
        </p:spPr>
        <p:txBody>
          <a:bodyPr wrap="square" anchor="t"/>
          <a:lstStyle/>
          <a:p>
            <a:pPr algn="ctr">
              <a:defRPr sz="900" b="0">
                <a:solidFill>
                  <a:srgbClr val="6B7280"/>
                </a:solidFill>
                <a:latin typeface="Calibri"/>
              </a:defRPr>
            </a:pPr>
            <a:r>
              <a:t>Monthly savings ($55–97K) offset remaining investment.</a:t>
            </a:r>
          </a:p>
        </p:txBody>
      </p:sp>
      <p:sp>
        <p:nvSpPr>
          <p:cNvPr id="28" name="Rounded Rectangle 27"/>
          <p:cNvSpPr/>
          <p:nvPr/>
        </p:nvSpPr>
        <p:spPr>
          <a:xfrm>
            <a:off x="6126480" y="1828800"/>
            <a:ext cx="2606040" cy="1463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26480" y="1874519"/>
            <a:ext cx="2606040" cy="228600"/>
          </a:xfrm>
          <a:prstGeom prst="rect">
            <a:avLst/>
          </a:prstGeom>
          <a:noFill/>
        </p:spPr>
        <p:txBody>
          <a:bodyPr wrap="square" anchor="t"/>
          <a:lstStyle/>
          <a:p>
            <a:pPr algn="ctr">
              <a:defRPr sz="1100" b="1">
                <a:solidFill>
                  <a:srgbClr val="1A4A7A"/>
                </a:solidFill>
                <a:latin typeface="Calibri"/>
              </a:defRPr>
            </a:pPr>
            <a:r>
              <a:t>Month 6</a:t>
            </a:r>
          </a:p>
        </p:txBody>
      </p:sp>
      <p:sp>
        <p:nvSpPr>
          <p:cNvPr id="30" name="TextBox 29"/>
          <p:cNvSpPr txBox="1"/>
          <p:nvPr/>
        </p:nvSpPr>
        <p:spPr>
          <a:xfrm>
            <a:off x="6126480" y="2103120"/>
            <a:ext cx="2606040" cy="411480"/>
          </a:xfrm>
          <a:prstGeom prst="rect">
            <a:avLst/>
          </a:prstGeom>
          <a:noFill/>
        </p:spPr>
        <p:txBody>
          <a:bodyPr wrap="square" anchor="t"/>
          <a:lstStyle/>
          <a:p>
            <a:pPr algn="ctr">
              <a:defRPr sz="1800" b="1">
                <a:solidFill>
                  <a:srgbClr val="1A56DB"/>
                </a:solidFill>
                <a:latin typeface="Calibri"/>
              </a:defRPr>
            </a:pPr>
            <a:r>
              <a:t>+$150K–$290K</a:t>
            </a:r>
          </a:p>
        </p:txBody>
      </p:sp>
      <p:sp>
        <p:nvSpPr>
          <p:cNvPr id="31" name="TextBox 30"/>
          <p:cNvSpPr txBox="1"/>
          <p:nvPr/>
        </p:nvSpPr>
        <p:spPr>
          <a:xfrm>
            <a:off x="6263640" y="2606040"/>
            <a:ext cx="2331720" cy="548640"/>
          </a:xfrm>
          <a:prstGeom prst="rect">
            <a:avLst/>
          </a:prstGeom>
          <a:noFill/>
        </p:spPr>
        <p:txBody>
          <a:bodyPr wrap="square" anchor="t"/>
          <a:lstStyle/>
          <a:p>
            <a:pPr algn="ctr">
              <a:defRPr sz="900" b="0">
                <a:solidFill>
                  <a:srgbClr val="6B7280"/>
                </a:solidFill>
                <a:latin typeface="Calibri"/>
              </a:defRPr>
            </a:pPr>
            <a:r>
              <a:t>Net positive. First pod profitable. Ready to scale pod 2–3.</a:t>
            </a:r>
          </a:p>
        </p:txBody>
      </p:sp>
      <p:sp>
        <p:nvSpPr>
          <p:cNvPr id="32" name="Rounded Rectangle 31"/>
          <p:cNvSpPr/>
          <p:nvPr/>
        </p:nvSpPr>
        <p:spPr>
          <a:xfrm>
            <a:off x="8915400" y="1828800"/>
            <a:ext cx="2606040" cy="1463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15400" y="1874519"/>
            <a:ext cx="2606040" cy="228600"/>
          </a:xfrm>
          <a:prstGeom prst="rect">
            <a:avLst/>
          </a:prstGeom>
          <a:noFill/>
        </p:spPr>
        <p:txBody>
          <a:bodyPr wrap="square" anchor="t"/>
          <a:lstStyle/>
          <a:p>
            <a:pPr algn="ctr">
              <a:defRPr sz="1100" b="1">
                <a:solidFill>
                  <a:srgbClr val="1A4A7A"/>
                </a:solidFill>
                <a:latin typeface="Calibri"/>
              </a:defRPr>
            </a:pPr>
            <a:r>
              <a:t>Month 12</a:t>
            </a:r>
          </a:p>
        </p:txBody>
      </p:sp>
      <p:sp>
        <p:nvSpPr>
          <p:cNvPr id="34" name="TextBox 33"/>
          <p:cNvSpPr txBox="1"/>
          <p:nvPr/>
        </p:nvSpPr>
        <p:spPr>
          <a:xfrm>
            <a:off x="8915400" y="2103120"/>
            <a:ext cx="2606040" cy="411480"/>
          </a:xfrm>
          <a:prstGeom prst="rect">
            <a:avLst/>
          </a:prstGeom>
          <a:noFill/>
        </p:spPr>
        <p:txBody>
          <a:bodyPr wrap="square" anchor="t"/>
          <a:lstStyle/>
          <a:p>
            <a:pPr algn="ctr">
              <a:defRPr sz="1800" b="1">
                <a:solidFill>
                  <a:srgbClr val="1A56DB"/>
                </a:solidFill>
                <a:latin typeface="Calibri"/>
              </a:defRPr>
            </a:pPr>
            <a:r>
              <a:t>+$540K–$960K</a:t>
            </a:r>
          </a:p>
        </p:txBody>
      </p:sp>
      <p:sp>
        <p:nvSpPr>
          <p:cNvPr id="35" name="TextBox 34"/>
          <p:cNvSpPr txBox="1"/>
          <p:nvPr/>
        </p:nvSpPr>
        <p:spPr>
          <a:xfrm>
            <a:off x="9052560" y="2606040"/>
            <a:ext cx="2331720" cy="548640"/>
          </a:xfrm>
          <a:prstGeom prst="rect">
            <a:avLst/>
          </a:prstGeom>
          <a:noFill/>
        </p:spPr>
        <p:txBody>
          <a:bodyPr wrap="square" anchor="t"/>
          <a:lstStyle/>
          <a:p>
            <a:pPr algn="ctr">
              <a:defRPr sz="900" b="0">
                <a:solidFill>
                  <a:srgbClr val="6B7280"/>
                </a:solidFill>
                <a:latin typeface="Calibri"/>
              </a:defRPr>
            </a:pPr>
            <a:r>
              <a:t>Year 1 net savings per pod. Scale economics compound.</a:t>
            </a:r>
          </a:p>
        </p:txBody>
      </p:sp>
      <p:sp>
        <p:nvSpPr>
          <p:cNvPr id="36" name="Rounded Rectangle 35"/>
          <p:cNvSpPr/>
          <p:nvPr/>
        </p:nvSpPr>
        <p:spPr>
          <a:xfrm>
            <a:off x="914400" y="3566160"/>
            <a:ext cx="10058400" cy="73152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88720" y="3611880"/>
            <a:ext cx="9601200" cy="640080"/>
          </a:xfrm>
          <a:prstGeom prst="rect">
            <a:avLst/>
          </a:prstGeom>
          <a:noFill/>
        </p:spPr>
        <p:txBody>
          <a:bodyPr wrap="square"/>
          <a:lstStyle/>
          <a:p>
            <a:pPr algn="ctr">
              <a:spcBef>
                <a:spcPts val="0"/>
              </a:spcBef>
              <a:spcAft>
                <a:spcPts val="400"/>
              </a:spcAft>
              <a:defRPr sz="1300" b="0" i="0">
                <a:solidFill>
                  <a:srgbClr val="BFDBFE"/>
                </a:solidFill>
                <a:latin typeface="Calibri"/>
              </a:defRPr>
            </a:pPr>
            <a:r>
              <a:rPr sz="1300" b="0" i="0">
                <a:solidFill>
                  <a:srgbClr val="BFDBFE"/>
                </a:solidFill>
                <a:latin typeface="Calibri"/>
              </a:rPr>
              <a:t>At 10 pods (Year 2): </a:t>
            </a:r>
            <a:r>
              <a:rPr sz="1400" b="1" i="0">
                <a:solidFill>
                  <a:srgbClr val="93C5FD"/>
                </a:solidFill>
                <a:latin typeface="Calibri"/>
              </a:rPr>
              <a:t>Annual net savings of $5.4M–$9.6M</a:t>
            </a:r>
          </a:p>
          <a:p>
            <a:pPr algn="ctr">
              <a:spcBef>
                <a:spcPts val="0"/>
              </a:spcBef>
              <a:spcAft>
                <a:spcPts val="400"/>
              </a:spcAft>
              <a:defRPr sz="1200" b="0" i="0">
                <a:solidFill>
                  <a:srgbClr val="BFDBFE"/>
                </a:solidFill>
                <a:latin typeface="Calibri"/>
              </a:defRPr>
            </a:pPr>
            <a:r>
              <a:rPr sz="1200" b="0" i="0">
                <a:solidFill>
                  <a:srgbClr val="BFDBFE"/>
                </a:solidFill>
                <a:latin typeface="Calibri"/>
              </a:rPr>
              <a:t>Transformation investment fully recovered in Month 3–4 per pod</a:t>
            </a:r>
          </a:p>
        </p:txBody>
      </p:sp>
      <p:sp>
        <p:nvSpPr>
          <p:cNvPr id="38" name="Rectangle 37"/>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40" name="TextBox 39"/>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28</a:t>
            </a:r>
          </a:p>
        </p:txBody>
      </p:sp>
      <p:sp>
        <p:nvSpPr>
          <p:cNvPr id="41" name="TextBox 40"/>
          <p:cNvSpPr txBox="1"/>
          <p:nvPr/>
        </p:nvSpPr>
        <p:spPr>
          <a:xfrm>
            <a:off x="548640" y="4417680"/>
            <a:ext cx="10972800" cy="500000"/>
          </a:xfrm>
          <a:prstGeom prst="rect">
            <a:avLst/>
          </a:prstGeom>
          <a:noFill/>
        </p:spPr>
        <p:txBody>
          <a:bodyPr wrap="square">
            <a:spAutoFit/>
          </a:bodyPr>
          <a:lstStyle/>
          <a:p>
            <a:r>
              <a:rPr sz="1000" b="0">
                <a:solidFill>
                  <a:srgbClr val="1A56DB"/>
                </a:solidFill>
              </a:rPr>
              <a:t>Product &amp; Business Outcomes timeline:  M3 — first product OKRs baselined  ·  M6 — feature adoption tracked, NPS baseline set  ·  M9 — QoQ revenue impact measurable  ·  M12 — full business outcome scorecard live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7315200" cy="457200"/>
          </a:xfrm>
          <a:prstGeom prst="rect">
            <a:avLst/>
          </a:prstGeom>
          <a:noFill/>
        </p:spPr>
        <p:txBody>
          <a:bodyPr wrap="square" anchor="ctr"/>
          <a:lstStyle/>
          <a:p>
            <a:pPr algn="l">
              <a:defRPr sz="2200" b="1">
                <a:solidFill>
                  <a:srgbClr val="FFFFFF"/>
                </a:solidFill>
                <a:latin typeface="Calibri"/>
              </a:defRPr>
            </a:pPr>
            <a:r>
              <a:t>Value Realization Scorecard</a:t>
            </a:r>
          </a:p>
        </p:txBody>
      </p:sp>
      <p:sp>
        <p:nvSpPr>
          <p:cNvPr id="4" name="TextBox 3"/>
          <p:cNvSpPr txBox="1"/>
          <p:nvPr/>
        </p:nvSpPr>
        <p:spPr>
          <a:xfrm>
            <a:off x="9601200" y="137160"/>
            <a:ext cx="2286000" cy="365760"/>
          </a:xfrm>
          <a:prstGeom prst="rect">
            <a:avLst/>
          </a:prstGeom>
          <a:noFill/>
        </p:spPr>
        <p:txBody>
          <a:bodyPr wrap="square" anchor="ctr"/>
          <a:lstStyle/>
          <a:p>
            <a:pPr algn="r">
              <a:defRPr sz="1000" b="1">
                <a:solidFill>
                  <a:srgbClr val="BFDBFE"/>
                </a:solidFill>
                <a:latin typeface="Calibri"/>
              </a:defRPr>
            </a:pPr>
            <a:r>
              <a:t>TRACKING TEMPLATE</a:t>
            </a:r>
          </a:p>
        </p:txBody>
      </p:sp>
      <p:sp>
        <p:nvSpPr>
          <p:cNvPr id="5" name="TextBox 4"/>
          <p:cNvSpPr txBox="1"/>
          <p:nvPr/>
        </p:nvSpPr>
        <p:spPr>
          <a:xfrm>
            <a:off x="548640" y="777240"/>
            <a:ext cx="10972800" cy="274320"/>
          </a:xfrm>
          <a:prstGeom prst="rect">
            <a:avLst/>
          </a:prstGeom>
          <a:noFill/>
        </p:spPr>
        <p:txBody>
          <a:bodyPr wrap="square" anchor="t"/>
          <a:lstStyle/>
          <a:p>
            <a:pPr algn="l">
              <a:defRPr sz="1300" b="0">
                <a:solidFill>
                  <a:srgbClr val="4B5563"/>
                </a:solidFill>
                <a:latin typeface="Calibri"/>
              </a:defRPr>
            </a:pPr>
            <a:r>
              <a:t>Use this scorecard at each review cadence to track transformation value across all dimensions.</a:t>
            </a:r>
          </a:p>
        </p:txBody>
      </p:sp>
      <p:graphicFrame>
        <p:nvGraphicFramePr>
          <p:cNvPr id="6" name="Table 5"/>
          <p:cNvGraphicFramePr>
            <a:graphicFrameLocks noGrp="1"/>
          </p:cNvGraphicFramePr>
          <p:nvPr/>
        </p:nvGraphicFramePr>
        <p:xfrm>
          <a:off x="548640" y="1097280"/>
          <a:ext cx="10972800" cy="43891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926080">
                  <a:extLst>
                    <a:ext uri="{9D8B030D-6E8A-4147-A177-3AD203B41FA5}">
                      <a16:colId xmlns:a16="http://schemas.microsoft.com/office/drawing/2014/main" val="20005"/>
                    </a:ext>
                  </a:extLst>
                </a:gridCol>
              </a:tblGrid>
              <a:tr h="438912">
                <a:tc>
                  <a:txBody>
                    <a:bodyPr/>
                    <a:lstStyle/>
                    <a:p>
                      <a:pPr algn="l">
                        <a:defRPr sz="1000" b="1">
                          <a:solidFill>
                            <a:srgbClr val="FFFFFF"/>
                          </a:solidFill>
                          <a:latin typeface="Calibri"/>
                        </a:defRPr>
                      </a:pPr>
                      <a:r>
                        <a:t>Dimension</a:t>
                      </a:r>
                    </a:p>
                  </a:txBody>
                  <a:tcPr>
                    <a:solidFill>
                      <a:srgbClr val="1A56DB"/>
                    </a:solidFill>
                  </a:tcPr>
                </a:tc>
                <a:tc>
                  <a:txBody>
                    <a:bodyPr/>
                    <a:lstStyle/>
                    <a:p>
                      <a:pPr algn="l">
                        <a:defRPr sz="1000" b="1">
                          <a:solidFill>
                            <a:srgbClr val="FFFFFF"/>
                          </a:solidFill>
                          <a:latin typeface="Calibri"/>
                        </a:defRPr>
                      </a:pPr>
                      <a:r>
                        <a:t>Metric</a:t>
                      </a:r>
                    </a:p>
                  </a:txBody>
                  <a:tcPr>
                    <a:solidFill>
                      <a:srgbClr val="1A56DB"/>
                    </a:solidFill>
                  </a:tcPr>
                </a:tc>
                <a:tc>
                  <a:txBody>
                    <a:bodyPr/>
                    <a:lstStyle/>
                    <a:p>
                      <a:pPr algn="l">
                        <a:defRPr sz="1000" b="1">
                          <a:solidFill>
                            <a:srgbClr val="FFFFFF"/>
                          </a:solidFill>
                          <a:latin typeface="Calibri"/>
                        </a:defRPr>
                      </a:pPr>
                      <a:r>
                        <a:t>Baseline</a:t>
                      </a:r>
                    </a:p>
                  </a:txBody>
                  <a:tcPr>
                    <a:solidFill>
                      <a:srgbClr val="1A56DB"/>
                    </a:solidFill>
                  </a:tcPr>
                </a:tc>
                <a:tc>
                  <a:txBody>
                    <a:bodyPr/>
                    <a:lstStyle/>
                    <a:p>
                      <a:pPr algn="l">
                        <a:defRPr sz="1000" b="1">
                          <a:solidFill>
                            <a:srgbClr val="FFFFFF"/>
                          </a:solidFill>
                          <a:latin typeface="Calibri"/>
                        </a:defRPr>
                      </a:pPr>
                      <a:r>
                        <a:t>Current</a:t>
                      </a:r>
                    </a:p>
                  </a:txBody>
                  <a:tcPr>
                    <a:solidFill>
                      <a:srgbClr val="1A56DB"/>
                    </a:solidFill>
                  </a:tcPr>
                </a:tc>
                <a:tc>
                  <a:txBody>
                    <a:bodyPr/>
                    <a:lstStyle/>
                    <a:p>
                      <a:pPr algn="l">
                        <a:defRPr sz="1000" b="1">
                          <a:solidFill>
                            <a:srgbClr val="FFFFFF"/>
                          </a:solidFill>
                          <a:latin typeface="Calibri"/>
                        </a:defRPr>
                      </a:pPr>
                      <a:r>
                        <a:t>Target</a:t>
                      </a:r>
                    </a:p>
                  </a:txBody>
                  <a:tcPr>
                    <a:solidFill>
                      <a:srgbClr val="1A56DB"/>
                    </a:solidFill>
                  </a:tcPr>
                </a:tc>
                <a:tc>
                  <a:txBody>
                    <a:bodyPr/>
                    <a:lstStyle/>
                    <a:p>
                      <a:pPr algn="l">
                        <a:defRPr sz="1000" b="1">
                          <a:solidFill>
                            <a:srgbClr val="FFFFFF"/>
                          </a:solidFill>
                          <a:latin typeface="Calibri"/>
                        </a:defRPr>
                      </a:pPr>
                      <a:r>
                        <a:t>Status</a:t>
                      </a:r>
                    </a:p>
                  </a:txBody>
                  <a:tcPr>
                    <a:solidFill>
                      <a:srgbClr val="1A56DB"/>
                    </a:solidFill>
                  </a:tcPr>
                </a:tc>
                <a:extLst>
                  <a:ext uri="{0D108BD9-81ED-4DB2-BD59-A6C34878D82A}">
                    <a16:rowId xmlns:a16="http://schemas.microsoft.com/office/drawing/2014/main" val="10000"/>
                  </a:ext>
                </a:extLst>
              </a:tr>
              <a:tr h="438912">
                <a:tc>
                  <a:txBody>
                    <a:bodyPr/>
                    <a:lstStyle/>
                    <a:p>
                      <a:pPr algn="l">
                        <a:defRPr sz="1100" b="1">
                          <a:solidFill>
                            <a:srgbClr val="1A4A7A"/>
                          </a:solidFill>
                          <a:latin typeface="Calibri"/>
                        </a:defRPr>
                      </a:pPr>
                      <a:r>
                        <a:t>Cost</a:t>
                      </a:r>
                    </a:p>
                  </a:txBody>
                  <a:tcPr>
                    <a:solidFill>
                      <a:srgbClr val="EFF6FF"/>
                    </a:solidFill>
                  </a:tcPr>
                </a:tc>
                <a:tc>
                  <a:txBody>
                    <a:bodyPr/>
                    <a:lstStyle/>
                    <a:p>
                      <a:pPr algn="l">
                        <a:defRPr sz="1100" b="0">
                          <a:solidFill>
                            <a:srgbClr val="374151"/>
                          </a:solidFill>
                          <a:latin typeface="Calibri"/>
                        </a:defRPr>
                      </a:pPr>
                      <a:r>
                        <a:t>Monthly pod cost</a:t>
                      </a:r>
                    </a:p>
                  </a:txBody>
                  <a:tcPr>
                    <a:solidFill>
                      <a:srgbClr val="FFFFFF"/>
                    </a:solidFill>
                  </a:tcPr>
                </a:tc>
                <a:tc>
                  <a:txBody>
                    <a:bodyPr/>
                    <a:lstStyle/>
                    <a:p>
                      <a:pPr algn="ctr">
                        <a:defRPr sz="1100" b="0">
                          <a:solidFill>
                            <a:srgbClr val="374151"/>
                          </a:solidFill>
                          <a:latin typeface="Calibri"/>
                        </a:defRPr>
                      </a:pPr>
                      <a:r>
                        <a:t>$105K</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$23K</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10001"/>
                  </a:ext>
                </a:extLst>
              </a:tr>
              <a:tr h="438912">
                <a:tc>
                  <a:txBody>
                    <a:bodyPr/>
                    <a:lstStyle/>
                    <a:p>
                      <a:endParaRPr/>
                    </a:p>
                  </a:txBody>
                  <a:tcPr>
                    <a:solidFill>
                      <a:srgbClr val="EFF6FF"/>
                    </a:solidFill>
                  </a:tcPr>
                </a:tc>
                <a:tc>
                  <a:txBody>
                    <a:bodyPr/>
                    <a:lstStyle/>
                    <a:p>
                      <a:pPr algn="l">
                        <a:defRPr sz="1100" b="0">
                          <a:solidFill>
                            <a:srgbClr val="374151"/>
                          </a:solidFill>
                          <a:latin typeface="Calibri"/>
                        </a:defRPr>
                      </a:pPr>
                      <a:r>
                        <a:t>Cost per capability</a:t>
                      </a:r>
                    </a:p>
                  </a:txBody>
                  <a:tcPr>
                    <a:solidFill>
                      <a:srgbClr val="EFF6FF"/>
                    </a:solidFill>
                  </a:tcPr>
                </a:tc>
                <a:tc>
                  <a:txBody>
                    <a:bodyPr/>
                    <a:lstStyle/>
                    <a:p>
                      <a:pPr algn="ctr">
                        <a:defRPr sz="1100" b="0">
                          <a:solidFill>
                            <a:srgbClr val="374151"/>
                          </a:solidFill>
                          <a:latin typeface="Calibri"/>
                        </a:defRPr>
                      </a:pPr>
                      <a:r>
                        <a:t>$400K</a:t>
                      </a:r>
                    </a:p>
                  </a:txBody>
                  <a:tcPr>
                    <a:solidFill>
                      <a:srgbClr val="EFF6FF"/>
                    </a:solidFill>
                  </a:tcPr>
                </a:tc>
                <a:tc>
                  <a:txBody>
                    <a:bodyPr/>
                    <a:lstStyle/>
                    <a:p>
                      <a:pPr algn="ctr">
                        <a:defRPr sz="1100" b="1">
                          <a:solidFill>
                            <a:srgbClr val="1A56DB"/>
                          </a:solidFill>
                          <a:latin typeface="Calibri"/>
                        </a:defRPr>
                      </a:pPr>
                      <a:r>
                        <a:t>Track</a:t>
                      </a:r>
                    </a:p>
                  </a:txBody>
                  <a:tcPr>
                    <a:solidFill>
                      <a:srgbClr val="EFF6FF"/>
                    </a:solidFill>
                  </a:tcPr>
                </a:tc>
                <a:tc>
                  <a:txBody>
                    <a:bodyPr/>
                    <a:lstStyle/>
                    <a:p>
                      <a:pPr algn="ctr">
                        <a:defRPr sz="1100" b="0">
                          <a:solidFill>
                            <a:srgbClr val="374151"/>
                          </a:solidFill>
                          <a:latin typeface="Calibri"/>
                        </a:defRPr>
                      </a:pPr>
                      <a:r>
                        <a:t>$10K</a:t>
                      </a:r>
                    </a:p>
                  </a:txBody>
                  <a:tcPr>
                    <a:solidFill>
                      <a:srgbClr val="EFF6FF"/>
                    </a:solidFill>
                  </a:tcPr>
                </a:tc>
                <a:tc>
                  <a:txBody>
                    <a:bodyPr/>
                    <a:lstStyle/>
                    <a:p>
                      <a:pPr algn="ctr">
                        <a:defRPr sz="1100" b="1">
                          <a:solidFill>
                            <a:srgbClr val="1A56DB"/>
                          </a:solidFill>
                          <a:latin typeface="Calibri"/>
                        </a:defRPr>
                      </a:pPr>
                      <a:r>
                        <a:t>On Track</a:t>
                      </a:r>
                    </a:p>
                  </a:txBody>
                  <a:tcPr>
                    <a:solidFill>
                      <a:srgbClr val="EFF6FF"/>
                    </a:solidFill>
                  </a:tcPr>
                </a:tc>
                <a:extLst>
                  <a:ext uri="{0D108BD9-81ED-4DB2-BD59-A6C34878D82A}">
                    <a16:rowId xmlns:a16="http://schemas.microsoft.com/office/drawing/2014/main" val="10002"/>
                  </a:ext>
                </a:extLst>
              </a:tr>
              <a:tr h="438912">
                <a:tc>
                  <a:txBody>
                    <a:bodyPr/>
                    <a:lstStyle/>
                    <a:p>
                      <a:pPr algn="l">
                        <a:defRPr sz="1100" b="1">
                          <a:solidFill>
                            <a:srgbClr val="1A4A7A"/>
                          </a:solidFill>
                          <a:latin typeface="Calibri"/>
                        </a:defRPr>
                      </a:pPr>
                      <a:r>
                        <a:t>Productivity</a:t>
                      </a:r>
                    </a:p>
                  </a:txBody>
                  <a:tcPr>
                    <a:solidFill>
                      <a:srgbClr val="EFF6FF"/>
                    </a:solidFill>
                  </a:tcPr>
                </a:tc>
                <a:tc>
                  <a:txBody>
                    <a:bodyPr/>
                    <a:lstStyle/>
                    <a:p>
                      <a:pPr algn="l">
                        <a:defRPr sz="1100" b="0">
                          <a:solidFill>
                            <a:srgbClr val="374151"/>
                          </a:solidFill>
                          <a:latin typeface="Calibri"/>
                        </a:defRPr>
                      </a:pPr>
                      <a:r>
                        <a:t>Capabilities / person / month</a:t>
                      </a:r>
                    </a:p>
                  </a:txBody>
                  <a:tcPr>
                    <a:solidFill>
                      <a:srgbClr val="FFFFFF"/>
                    </a:solidFill>
                  </a:tcPr>
                </a:tc>
                <a:tc>
                  <a:txBody>
                    <a:bodyPr/>
                    <a:lstStyle/>
                    <a:p>
                      <a:pPr algn="ctr">
                        <a:defRPr sz="1100" b="0">
                          <a:solidFill>
                            <a:srgbClr val="374151"/>
                          </a:solidFill>
                          <a:latin typeface="Calibri"/>
                        </a:defRPr>
                      </a:pPr>
                      <a:r>
                        <a:t>0.2</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5</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10003"/>
                  </a:ext>
                </a:extLst>
              </a:tr>
              <a:tr h="438912">
                <a:tc>
                  <a:txBody>
                    <a:bodyPr/>
                    <a:lstStyle/>
                    <a:p>
                      <a:endParaRPr/>
                    </a:p>
                  </a:txBody>
                  <a:tcPr>
                    <a:solidFill>
                      <a:srgbClr val="EFF6FF"/>
                    </a:solidFill>
                  </a:tcPr>
                </a:tc>
                <a:tc>
                  <a:txBody>
                    <a:bodyPr/>
                    <a:lstStyle/>
                    <a:p>
                      <a:pPr algn="l">
                        <a:defRPr sz="1100" b="0">
                          <a:solidFill>
                            <a:srgbClr val="374151"/>
                          </a:solidFill>
                          <a:latin typeface="Calibri"/>
                        </a:defRPr>
                      </a:pPr>
                      <a:r>
                        <a:t>Automation rate</a:t>
                      </a:r>
                    </a:p>
                  </a:txBody>
                  <a:tcPr>
                    <a:solidFill>
                      <a:srgbClr val="EFF6FF"/>
                    </a:solidFill>
                  </a:tcPr>
                </a:tc>
                <a:tc>
                  <a:txBody>
                    <a:bodyPr/>
                    <a:lstStyle/>
                    <a:p>
                      <a:pPr algn="ctr">
                        <a:defRPr sz="1100" b="0">
                          <a:solidFill>
                            <a:srgbClr val="374151"/>
                          </a:solidFill>
                          <a:latin typeface="Calibri"/>
                        </a:defRPr>
                      </a:pPr>
                      <a:r>
                        <a:t>0%</a:t>
                      </a:r>
                    </a:p>
                  </a:txBody>
                  <a:tcPr>
                    <a:solidFill>
                      <a:srgbClr val="EFF6FF"/>
                    </a:solidFill>
                  </a:tcPr>
                </a:tc>
                <a:tc>
                  <a:txBody>
                    <a:bodyPr/>
                    <a:lstStyle/>
                    <a:p>
                      <a:pPr algn="ctr">
                        <a:defRPr sz="1100" b="1">
                          <a:solidFill>
                            <a:srgbClr val="1A56DB"/>
                          </a:solidFill>
                          <a:latin typeface="Calibri"/>
                        </a:defRPr>
                      </a:pPr>
                      <a:r>
                        <a:t>Track</a:t>
                      </a:r>
                    </a:p>
                  </a:txBody>
                  <a:tcPr>
                    <a:solidFill>
                      <a:srgbClr val="EFF6FF"/>
                    </a:solidFill>
                  </a:tcPr>
                </a:tc>
                <a:tc>
                  <a:txBody>
                    <a:bodyPr/>
                    <a:lstStyle/>
                    <a:p>
                      <a:pPr algn="ctr">
                        <a:defRPr sz="1100" b="0">
                          <a:solidFill>
                            <a:srgbClr val="374151"/>
                          </a:solidFill>
                          <a:latin typeface="Calibri"/>
                        </a:defRPr>
                      </a:pPr>
                      <a:r>
                        <a:t>85%</a:t>
                      </a:r>
                    </a:p>
                  </a:txBody>
                  <a:tcPr>
                    <a:solidFill>
                      <a:srgbClr val="EFF6FF"/>
                    </a:solidFill>
                  </a:tcPr>
                </a:tc>
                <a:tc>
                  <a:txBody>
                    <a:bodyPr/>
                    <a:lstStyle/>
                    <a:p>
                      <a:pPr algn="ctr">
                        <a:defRPr sz="1100" b="1">
                          <a:solidFill>
                            <a:srgbClr val="1A56DB"/>
                          </a:solidFill>
                          <a:latin typeface="Calibri"/>
                        </a:defRPr>
                      </a:pPr>
                      <a:r>
                        <a:t>On Track</a:t>
                      </a:r>
                    </a:p>
                  </a:txBody>
                  <a:tcPr>
                    <a:solidFill>
                      <a:srgbClr val="EFF6FF"/>
                    </a:solidFill>
                  </a:tcPr>
                </a:tc>
                <a:extLst>
                  <a:ext uri="{0D108BD9-81ED-4DB2-BD59-A6C34878D82A}">
                    <a16:rowId xmlns:a16="http://schemas.microsoft.com/office/drawing/2014/main" val="10004"/>
                  </a:ext>
                </a:extLst>
              </a:tr>
              <a:tr h="438912">
                <a:tc>
                  <a:txBody>
                    <a:bodyPr/>
                    <a:lstStyle/>
                    <a:p>
                      <a:pPr algn="l">
                        <a:defRPr sz="1100" b="1">
                          <a:solidFill>
                            <a:srgbClr val="1A4A7A"/>
                          </a:solidFill>
                          <a:latin typeface="Calibri"/>
                        </a:defRPr>
                      </a:pPr>
                      <a:r>
                        <a:t>Speed</a:t>
                      </a:r>
                    </a:p>
                  </a:txBody>
                  <a:tcPr>
                    <a:solidFill>
                      <a:srgbClr val="EFF6FF"/>
                    </a:solidFill>
                  </a:tcPr>
                </a:tc>
                <a:tc>
                  <a:txBody>
                    <a:bodyPr/>
                    <a:lstStyle/>
                    <a:p>
                      <a:pPr algn="l">
                        <a:defRPr sz="1100" b="0">
                          <a:solidFill>
                            <a:srgbClr val="374151"/>
                          </a:solidFill>
                          <a:latin typeface="Calibri"/>
                        </a:defRPr>
                      </a:pPr>
                      <a:r>
                        <a:t>Idea-to-production</a:t>
                      </a:r>
                    </a:p>
                  </a:txBody>
                  <a:tcPr>
                    <a:solidFill>
                      <a:srgbClr val="FFFFFF"/>
                    </a:solidFill>
                  </a:tcPr>
                </a:tc>
                <a:tc>
                  <a:txBody>
                    <a:bodyPr/>
                    <a:lstStyle/>
                    <a:p>
                      <a:pPr algn="ctr">
                        <a:defRPr sz="1100" b="0">
                          <a:solidFill>
                            <a:srgbClr val="374151"/>
                          </a:solidFill>
                          <a:latin typeface="Calibri"/>
                        </a:defRPr>
                      </a:pPr>
                      <a:r>
                        <a:t>4 months</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4 days</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10005"/>
                  </a:ext>
                </a:extLst>
              </a:tr>
              <a:tr h="438912">
                <a:tc>
                  <a:txBody>
                    <a:bodyPr/>
                    <a:lstStyle/>
                    <a:p>
                      <a:endParaRPr/>
                    </a:p>
                  </a:txBody>
                  <a:tcPr>
                    <a:solidFill>
                      <a:srgbClr val="EFF6FF"/>
                    </a:solidFill>
                  </a:tcPr>
                </a:tc>
                <a:tc>
                  <a:txBody>
                    <a:bodyPr/>
                    <a:lstStyle/>
                    <a:p>
                      <a:pPr algn="l">
                        <a:defRPr sz="1100" b="0">
                          <a:solidFill>
                            <a:srgbClr val="374151"/>
                          </a:solidFill>
                          <a:latin typeface="Calibri"/>
                        </a:defRPr>
                      </a:pPr>
                      <a:r>
                        <a:t>Deploy frequency</a:t>
                      </a:r>
                    </a:p>
                  </a:txBody>
                  <a:tcPr>
                    <a:solidFill>
                      <a:srgbClr val="EFF6FF"/>
                    </a:solidFill>
                  </a:tcPr>
                </a:tc>
                <a:tc>
                  <a:txBody>
                    <a:bodyPr/>
                    <a:lstStyle/>
                    <a:p>
                      <a:pPr algn="ctr">
                        <a:defRPr sz="1100" b="0">
                          <a:solidFill>
                            <a:srgbClr val="374151"/>
                          </a:solidFill>
                          <a:latin typeface="Calibri"/>
                        </a:defRPr>
                      </a:pPr>
                      <a:r>
                        <a:t>Monthly</a:t>
                      </a:r>
                    </a:p>
                  </a:txBody>
                  <a:tcPr>
                    <a:solidFill>
                      <a:srgbClr val="EFF6FF"/>
                    </a:solidFill>
                  </a:tcPr>
                </a:tc>
                <a:tc>
                  <a:txBody>
                    <a:bodyPr/>
                    <a:lstStyle/>
                    <a:p>
                      <a:pPr algn="ctr">
                        <a:defRPr sz="1100" b="1">
                          <a:solidFill>
                            <a:srgbClr val="1A56DB"/>
                          </a:solidFill>
                          <a:latin typeface="Calibri"/>
                        </a:defRPr>
                      </a:pPr>
                      <a:r>
                        <a:t>Track</a:t>
                      </a:r>
                    </a:p>
                  </a:txBody>
                  <a:tcPr>
                    <a:solidFill>
                      <a:srgbClr val="EFF6FF"/>
                    </a:solidFill>
                  </a:tcPr>
                </a:tc>
                <a:tc>
                  <a:txBody>
                    <a:bodyPr/>
                    <a:lstStyle/>
                    <a:p>
                      <a:pPr algn="ctr">
                        <a:defRPr sz="1100" b="0">
                          <a:solidFill>
                            <a:srgbClr val="374151"/>
                          </a:solidFill>
                          <a:latin typeface="Calibri"/>
                        </a:defRPr>
                      </a:pPr>
                      <a:r>
                        <a:t>Daily</a:t>
                      </a:r>
                    </a:p>
                  </a:txBody>
                  <a:tcPr>
                    <a:solidFill>
                      <a:srgbClr val="EFF6FF"/>
                    </a:solidFill>
                  </a:tcPr>
                </a:tc>
                <a:tc>
                  <a:txBody>
                    <a:bodyPr/>
                    <a:lstStyle/>
                    <a:p>
                      <a:pPr algn="ctr">
                        <a:defRPr sz="1100" b="1">
                          <a:solidFill>
                            <a:srgbClr val="1A56DB"/>
                          </a:solidFill>
                          <a:latin typeface="Calibri"/>
                        </a:defRPr>
                      </a:pPr>
                      <a:r>
                        <a:t>On Track</a:t>
                      </a:r>
                    </a:p>
                  </a:txBody>
                  <a:tcPr>
                    <a:solidFill>
                      <a:srgbClr val="EFF6FF"/>
                    </a:solidFill>
                  </a:tcPr>
                </a:tc>
                <a:extLst>
                  <a:ext uri="{0D108BD9-81ED-4DB2-BD59-A6C34878D82A}">
                    <a16:rowId xmlns:a16="http://schemas.microsoft.com/office/drawing/2014/main" val="10006"/>
                  </a:ext>
                </a:extLst>
              </a:tr>
              <a:tr h="438912">
                <a:tc>
                  <a:txBody>
                    <a:bodyPr/>
                    <a:lstStyle/>
                    <a:p>
                      <a:pPr algn="l">
                        <a:defRPr sz="1100" b="1">
                          <a:solidFill>
                            <a:srgbClr val="1A4A7A"/>
                          </a:solidFill>
                          <a:latin typeface="Calibri"/>
                        </a:defRPr>
                      </a:pPr>
                      <a:r>
                        <a:t>Quality</a:t>
                      </a:r>
                    </a:p>
                  </a:txBody>
                  <a:tcPr>
                    <a:solidFill>
                      <a:srgbClr val="EFF6FF"/>
                    </a:solidFill>
                  </a:tcPr>
                </a:tc>
                <a:tc>
                  <a:txBody>
                    <a:bodyPr/>
                    <a:lstStyle/>
                    <a:p>
                      <a:pPr algn="l">
                        <a:defRPr sz="1100" b="0">
                          <a:solidFill>
                            <a:srgbClr val="374151"/>
                          </a:solidFill>
                          <a:latin typeface="Calibri"/>
                        </a:defRPr>
                      </a:pPr>
                      <a:r>
                        <a:t>Test coverage</a:t>
                      </a:r>
                    </a:p>
                  </a:txBody>
                  <a:tcPr>
                    <a:solidFill>
                      <a:srgbClr val="FFFFFF"/>
                    </a:solidFill>
                  </a:tcPr>
                </a:tc>
                <a:tc>
                  <a:txBody>
                    <a:bodyPr/>
                    <a:lstStyle/>
                    <a:p>
                      <a:pPr algn="ctr">
                        <a:defRPr sz="1100" b="0">
                          <a:solidFill>
                            <a:srgbClr val="374151"/>
                          </a:solidFill>
                          <a:latin typeface="Calibri"/>
                        </a:defRPr>
                      </a:pPr>
                      <a:r>
                        <a:t>48%</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93%</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10007"/>
                  </a:ext>
                </a:extLst>
              </a:tr>
              <a:tr h="438912">
                <a:tc>
                  <a:txBody>
                    <a:bodyPr/>
                    <a:lstStyle/>
                    <a:p>
                      <a:endParaRPr/>
                    </a:p>
                  </a:txBody>
                  <a:tcPr>
                    <a:solidFill>
                      <a:srgbClr val="EFF6FF"/>
                    </a:solidFill>
                  </a:tcPr>
                </a:tc>
                <a:tc>
                  <a:txBody>
                    <a:bodyPr/>
                    <a:lstStyle/>
                    <a:p>
                      <a:pPr algn="l">
                        <a:defRPr sz="1100" b="0">
                          <a:solidFill>
                            <a:srgbClr val="374151"/>
                          </a:solidFill>
                          <a:latin typeface="Calibri"/>
                        </a:defRPr>
                      </a:pPr>
                      <a:r>
                        <a:t>Change failure rate</a:t>
                      </a:r>
                    </a:p>
                  </a:txBody>
                  <a:tcPr>
                    <a:solidFill>
                      <a:srgbClr val="EFF6FF"/>
                    </a:solidFill>
                  </a:tcPr>
                </a:tc>
                <a:tc>
                  <a:txBody>
                    <a:bodyPr/>
                    <a:lstStyle/>
                    <a:p>
                      <a:pPr algn="ctr">
                        <a:defRPr sz="1100" b="0">
                          <a:solidFill>
                            <a:srgbClr val="374151"/>
                          </a:solidFill>
                          <a:latin typeface="Calibri"/>
                        </a:defRPr>
                      </a:pPr>
                      <a:r>
                        <a:t>22%</a:t>
                      </a:r>
                    </a:p>
                  </a:txBody>
                  <a:tcPr>
                    <a:solidFill>
                      <a:srgbClr val="EFF6FF"/>
                    </a:solidFill>
                  </a:tcPr>
                </a:tc>
                <a:tc>
                  <a:txBody>
                    <a:bodyPr/>
                    <a:lstStyle/>
                    <a:p>
                      <a:pPr algn="ctr">
                        <a:defRPr sz="1100" b="1">
                          <a:solidFill>
                            <a:srgbClr val="1A56DB"/>
                          </a:solidFill>
                          <a:latin typeface="Calibri"/>
                        </a:defRPr>
                      </a:pPr>
                      <a:r>
                        <a:t>Track</a:t>
                      </a:r>
                    </a:p>
                  </a:txBody>
                  <a:tcPr>
                    <a:solidFill>
                      <a:srgbClr val="EFF6FF"/>
                    </a:solidFill>
                  </a:tcPr>
                </a:tc>
                <a:tc>
                  <a:txBody>
                    <a:bodyPr/>
                    <a:lstStyle/>
                    <a:p>
                      <a:pPr algn="ctr">
                        <a:defRPr sz="1100" b="0">
                          <a:solidFill>
                            <a:srgbClr val="374151"/>
                          </a:solidFill>
                          <a:latin typeface="Calibri"/>
                        </a:defRPr>
                      </a:pPr>
                      <a:r>
                        <a:t>&lt;5%</a:t>
                      </a:r>
                    </a:p>
                  </a:txBody>
                  <a:tcPr>
                    <a:solidFill>
                      <a:srgbClr val="EFF6FF"/>
                    </a:solidFill>
                  </a:tcPr>
                </a:tc>
                <a:tc>
                  <a:txBody>
                    <a:bodyPr/>
                    <a:lstStyle/>
                    <a:p>
                      <a:pPr algn="ctr">
                        <a:defRPr sz="1100" b="1">
                          <a:solidFill>
                            <a:srgbClr val="1A56DB"/>
                          </a:solidFill>
                          <a:latin typeface="Calibri"/>
                        </a:defRPr>
                      </a:pPr>
                      <a:r>
                        <a:t>On Track</a:t>
                      </a:r>
                    </a:p>
                  </a:txBody>
                  <a:tcPr>
                    <a:solidFill>
                      <a:srgbClr val="EFF6FF"/>
                    </a:solidFill>
                  </a:tcPr>
                </a:tc>
                <a:extLst>
                  <a:ext uri="{0D108BD9-81ED-4DB2-BD59-A6C34878D82A}">
                    <a16:rowId xmlns:a16="http://schemas.microsoft.com/office/drawing/2014/main" val="10008"/>
                  </a:ext>
                </a:extLst>
              </a:tr>
              <a:tr h="438912">
                <a:tc>
                  <a:txBody>
                    <a:bodyPr/>
                    <a:lstStyle/>
                    <a:p>
                      <a:pPr algn="l">
                        <a:defRPr sz="1100" b="1">
                          <a:solidFill>
                            <a:srgbClr val="1A4A7A"/>
                          </a:solidFill>
                          <a:latin typeface="Calibri"/>
                        </a:defRPr>
                      </a:pPr>
                      <a:r>
                        <a:t>Revenue</a:t>
                      </a:r>
                    </a:p>
                  </a:txBody>
                  <a:tcPr>
                    <a:solidFill>
                      <a:srgbClr val="EFF6FF"/>
                    </a:solidFill>
                  </a:tcPr>
                </a:tc>
                <a:tc>
                  <a:txBody>
                    <a:bodyPr/>
                    <a:lstStyle/>
                    <a:p>
                      <a:pPr algn="l">
                        <a:defRPr sz="1100" b="0">
                          <a:solidFill>
                            <a:srgbClr val="374151"/>
                          </a:solidFill>
                          <a:latin typeface="Calibri"/>
                        </a:defRPr>
                      </a:pPr>
                      <a:r>
                        <a:t>Revenue per person/year</a:t>
                      </a:r>
                    </a:p>
                  </a:txBody>
                  <a:tcPr>
                    <a:solidFill>
                      <a:srgbClr val="FFFFFF"/>
                    </a:solidFill>
                  </a:tcPr>
                </a:tc>
                <a:tc>
                  <a:txBody>
                    <a:bodyPr/>
                    <a:lstStyle/>
                    <a:p>
                      <a:pPr algn="ctr">
                        <a:defRPr sz="1100" b="0">
                          <a:solidFill>
                            <a:srgbClr val="374151"/>
                          </a:solidFill>
                          <a:latin typeface="Calibri"/>
                        </a:defRPr>
                      </a:pPr>
                      <a:r>
                        <a:t>$192K</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$840K</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10009"/>
                  </a:ext>
                </a:extLst>
              </a:tr>
            </a:tbl>
          </a:graphicData>
        </a:graphic>
      </p:graphicFrame>
      <p:sp>
        <p:nvSpPr>
          <p:cNvPr id="7" name="Rectangle 6"/>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37960"/>
            <a:ext cx="5486400" cy="274320"/>
          </a:xfrm>
          <a:prstGeom prst="rect">
            <a:avLst/>
          </a:prstGeom>
          <a:noFill/>
        </p:spPr>
        <p:txBody>
          <a:bodyPr wrap="square" anchor="t"/>
          <a:lstStyle/>
          <a:p>
            <a:pPr algn="l">
              <a:defRPr sz="900" b="0">
                <a:solidFill>
                  <a:srgbClr val="9CA3AF"/>
                </a:solidFill>
                <a:latin typeface="Calibri"/>
              </a:defRPr>
            </a:pPr>
            <a:r>
              <a:t>Frontier Professional &amp; ADLC POV</a:t>
            </a:r>
          </a:p>
        </p:txBody>
      </p:sp>
      <p:sp>
        <p:nvSpPr>
          <p:cNvPr id="9" name="TextBox 8"/>
          <p:cNvSpPr txBox="1"/>
          <p:nvPr/>
        </p:nvSpPr>
        <p:spPr>
          <a:xfrm>
            <a:off x="10058400" y="6537960"/>
            <a:ext cx="1828800" cy="274320"/>
          </a:xfrm>
          <a:prstGeom prst="rect">
            <a:avLst/>
          </a:prstGeom>
          <a:noFill/>
        </p:spPr>
        <p:txBody>
          <a:bodyPr wrap="square" anchor="t"/>
          <a:lstStyle/>
          <a:p>
            <a:pPr algn="r">
              <a:defRPr sz="900" b="1">
                <a:solidFill>
                  <a:srgbClr val="1A56DB"/>
                </a:solidFill>
                <a:latin typeface="Calibri"/>
              </a:defRPr>
            </a:pPr>
            <a:r>
              <a:t>29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7315200" cy="457200"/>
          </a:xfrm>
          <a:prstGeom prst="rect">
            <a:avLst/>
          </a:prstGeom>
          <a:noFill/>
        </p:spPr>
        <p:txBody>
          <a:bodyPr wrap="none">
            <a:spAutoFit/>
          </a:bodyPr>
          <a:lstStyle/>
          <a:p>
            <a:r>
              <a:rPr sz="2200" b="1">
                <a:solidFill>
                  <a:srgbClr val="FFFFFF"/>
                </a:solidFill>
              </a:rPr>
              <a:t>Value Realization Scorecard — Product &amp; Business</a:t>
            </a:r>
          </a:p>
        </p:txBody>
      </p:sp>
      <p:sp>
        <p:nvSpPr>
          <p:cNvPr id="4" name="TextBox 3"/>
          <p:cNvSpPr txBox="1"/>
          <p:nvPr/>
        </p:nvSpPr>
        <p:spPr>
          <a:xfrm>
            <a:off x="9601200" y="137160"/>
            <a:ext cx="2286000" cy="365760"/>
          </a:xfrm>
          <a:prstGeom prst="rect">
            <a:avLst/>
          </a:prstGeom>
          <a:noFill/>
        </p:spPr>
        <p:txBody>
          <a:bodyPr wrap="none">
            <a:spAutoFit/>
          </a:bodyPr>
          <a:lstStyle/>
          <a:p>
            <a:pPr algn="r"/>
            <a:r>
              <a:rPr sz="1100" b="1">
                <a:solidFill>
                  <a:srgbClr val="93C5FD"/>
                </a:solidFill>
              </a:rPr>
              <a:t>TRACKING TEMPLATE</a:t>
            </a:r>
          </a:p>
        </p:txBody>
      </p:sp>
      <p:sp>
        <p:nvSpPr>
          <p:cNvPr id="5" name="TextBox 4"/>
          <p:cNvSpPr txBox="1"/>
          <p:nvPr/>
        </p:nvSpPr>
        <p:spPr>
          <a:xfrm>
            <a:off x="548640" y="700000"/>
            <a:ext cx="10972800" cy="274320"/>
          </a:xfrm>
          <a:prstGeom prst="rect">
            <a:avLst/>
          </a:prstGeom>
          <a:noFill/>
        </p:spPr>
        <p:txBody>
          <a:bodyPr wrap="none">
            <a:spAutoFit/>
          </a:bodyPr>
          <a:lstStyle/>
          <a:p>
            <a:r>
              <a:rPr sz="1100">
                <a:solidFill>
                  <a:srgbClr val="6B7280"/>
                </a:solidFill>
              </a:rPr>
              <a:t>Track product adoption and business value metrics alongside operational delivery KPIs.</a:t>
            </a:r>
          </a:p>
        </p:txBody>
      </p:sp>
      <p:sp>
        <p:nvSpPr>
          <p:cNvPr id="6" name="Rectangle 5"/>
          <p:cNvSpPr/>
          <p:nvPr/>
        </p:nvSpPr>
        <p:spPr>
          <a:xfrm>
            <a:off x="0" y="6537960"/>
            <a:ext cx="12191695"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37960"/>
            <a:ext cx="5486400" cy="274320"/>
          </a:xfrm>
          <a:prstGeom prst="rect">
            <a:avLst/>
          </a:prstGeom>
          <a:noFill/>
        </p:spPr>
        <p:txBody>
          <a:bodyPr wrap="none">
            <a:spAutoFit/>
          </a:bodyPr>
          <a:lstStyle/>
          <a:p>
            <a:r>
              <a:rPr sz="800">
                <a:solidFill>
                  <a:srgbClr val="6B7280"/>
                </a:solidFill>
              </a:rPr>
              <a:t>Frontier Professional &amp; ADLC POV</a:t>
            </a:r>
          </a:p>
        </p:txBody>
      </p:sp>
      <p:graphicFrame>
        <p:nvGraphicFramePr>
          <p:cNvPr id="6" name="Table 5"/>
          <p:cNvGraphicFramePr>
            <a:graphicFrameLocks noGrp="1"/>
          </p:cNvGraphicFramePr>
          <p:nvPr/>
        </p:nvGraphicFramePr>
        <p:xfrm>
          <a:off x="548640" y="1050000"/>
          <a:ext cx="10972800" cy="3850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926080">
                  <a:extLst>
                    <a:ext uri="{9D8B030D-6E8A-4147-A177-3AD203B41FA5}">
                      <a16:colId xmlns:a16="http://schemas.microsoft.com/office/drawing/2014/main" val="20005"/>
                    </a:ext>
                  </a:extLst>
                </a:gridCol>
              </a:tblGrid>
              <a:tr h="438912">
                <a:tc>
                  <a:txBody>
                    <a:bodyPr/>
                    <a:lstStyle/>
                    <a:p>
                      <a:pPr algn="l">
                        <a:defRPr sz="1000" b="1">
                          <a:solidFill>
                            <a:srgbClr val="FFFFFF"/>
                          </a:solidFill>
                          <a:latin typeface="Calibri"/>
                        </a:defRPr>
                      </a:pPr>
                      <a:r>
                        <a:t>Dimension</a:t>
                      </a:r>
                    </a:p>
                  </a:txBody>
                  <a:tcPr>
                    <a:solidFill>
                      <a:srgbClr val="1A56DB"/>
                    </a:solidFill>
                  </a:tcPr>
                </a:tc>
                <a:tc>
                  <a:txBody>
                    <a:bodyPr/>
                    <a:lstStyle/>
                    <a:p>
                      <a:pPr algn="l">
                        <a:defRPr sz="1000" b="1">
                          <a:solidFill>
                            <a:srgbClr val="FFFFFF"/>
                          </a:solidFill>
                          <a:latin typeface="Calibri"/>
                        </a:defRPr>
                      </a:pPr>
                      <a:r>
                        <a:t>Metric</a:t>
                      </a:r>
                    </a:p>
                  </a:txBody>
                  <a:tcPr>
                    <a:solidFill>
                      <a:srgbClr val="1A56DB"/>
                    </a:solidFill>
                  </a:tcPr>
                </a:tc>
                <a:tc>
                  <a:txBody>
                    <a:bodyPr/>
                    <a:lstStyle/>
                    <a:p>
                      <a:pPr algn="l">
                        <a:defRPr sz="1000" b="1">
                          <a:solidFill>
                            <a:srgbClr val="FFFFFF"/>
                          </a:solidFill>
                          <a:latin typeface="Calibri"/>
                        </a:defRPr>
                      </a:pPr>
                      <a:r>
                        <a:t>Baseline</a:t>
                      </a:r>
                    </a:p>
                  </a:txBody>
                  <a:tcPr>
                    <a:solidFill>
                      <a:srgbClr val="1A56DB"/>
                    </a:solidFill>
                  </a:tcPr>
                </a:tc>
                <a:tc>
                  <a:txBody>
                    <a:bodyPr/>
                    <a:lstStyle/>
                    <a:p>
                      <a:pPr algn="l">
                        <a:defRPr sz="1000" b="1">
                          <a:solidFill>
                            <a:srgbClr val="FFFFFF"/>
                          </a:solidFill>
                          <a:latin typeface="Calibri"/>
                        </a:defRPr>
                      </a:pPr>
                      <a:r>
                        <a:t>Current</a:t>
                      </a:r>
                    </a:p>
                  </a:txBody>
                  <a:tcPr>
                    <a:solidFill>
                      <a:srgbClr val="1A56DB"/>
                    </a:solidFill>
                  </a:tcPr>
                </a:tc>
                <a:tc>
                  <a:txBody>
                    <a:bodyPr/>
                    <a:lstStyle/>
                    <a:p>
                      <a:pPr algn="l">
                        <a:defRPr sz="1000" b="1">
                          <a:solidFill>
                            <a:srgbClr val="FFFFFF"/>
                          </a:solidFill>
                          <a:latin typeface="Calibri"/>
                        </a:defRPr>
                      </a:pPr>
                      <a:r>
                        <a:t>Target</a:t>
                      </a:r>
                    </a:p>
                  </a:txBody>
                  <a:tcPr>
                    <a:solidFill>
                      <a:srgbClr val="1A56DB"/>
                    </a:solidFill>
                  </a:tcPr>
                </a:tc>
                <a:tc>
                  <a:txBody>
                    <a:bodyPr/>
                    <a:lstStyle/>
                    <a:p>
                      <a:pPr algn="l">
                        <a:defRPr sz="1000" b="1">
                          <a:solidFill>
                            <a:srgbClr val="FFFFFF"/>
                          </a:solidFill>
                          <a:latin typeface="Calibri"/>
                        </a:defRPr>
                      </a:pPr>
                      <a:r>
                        <a:t>Status</a:t>
                      </a:r>
                    </a:p>
                  </a:txBody>
                  <a:tcPr>
                    <a:solidFill>
                      <a:srgbClr val="1A56DB"/>
                    </a:solidFill>
                  </a:tcPr>
                </a:tc>
                <a:extLst>
                  <a:ext uri="{0D108BD9-81ED-4DB2-BD59-A6C34878D82A}">
                    <a16:rowId xmlns:a16="http://schemas.microsoft.com/office/drawing/2014/main" val="10000"/>
                  </a:ext>
                </a:extLst>
              </a:tr>
              <a:tr h="438912">
                <a:tc>
                  <a:txBody>
                    <a:bodyPr/>
                    <a:lstStyle/>
                    <a:p>
                      <a:pPr algn="l">
                        <a:defRPr sz="1100" b="1">
                          <a:solidFill>
                            <a:srgbClr val="1A4A7A"/>
                          </a:solidFill>
                          <a:latin typeface="Calibri"/>
                        </a:defRPr>
                      </a:pPr>
                      <a:r>
                        <a:t>Product
Outcomes</a:t>
                      </a:r>
                    </a:p>
                  </a:txBody>
                  <a:tcPr>
                    <a:solidFill>
                      <a:srgbClr val="EFF6FF"/>
                    </a:solidFill>
                  </a:tcPr>
                </a:tc>
                <a:tc>
                  <a:txBody>
                    <a:bodyPr/>
                    <a:lstStyle/>
                    <a:p>
                      <a:pPr algn="l">
                        <a:defRPr sz="1100" b="0">
                          <a:solidFill>
                            <a:srgbClr val="374151"/>
                          </a:solidFill>
                          <a:latin typeface="Calibri"/>
                        </a:defRPr>
                      </a:pPr>
                      <a:r>
                        <a:t>Feature adoption rate</a:t>
                      </a:r>
                    </a:p>
                  </a:txBody>
                  <a:tcPr>
                    <a:solidFill>
                      <a:srgbClr val="FFFFFF"/>
                    </a:solidFill>
                  </a:tcPr>
                </a:tc>
                <a:tc>
                  <a:txBody>
                    <a:bodyPr/>
                    <a:lstStyle/>
                    <a:p>
                      <a:pPr algn="ctr">
                        <a:defRPr sz="1100" b="0">
                          <a:solidFill>
                            <a:srgbClr val="374151"/>
                          </a:solidFill>
                          <a:latin typeface="Calibri"/>
                        </a:defRPr>
                      </a:pPr>
                      <a:r>
                        <a:t>Unknown</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 60%</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2784744134"/>
                  </a:ext>
                </a:extLst>
              </a:tr>
              <a:tr h="438912">
                <a:tc>
                  <a:txBody>
                    <a:bodyPr/>
                    <a:lstStyle/>
                    <a:p>
                      <a:pPr algn="l">
                        <a:defRPr sz="1100" b="1">
                          <a:solidFill>
                            <a:srgbClr val="1A4A7A"/>
                          </a:solidFill>
                          <a:latin typeface="Calibri"/>
                        </a:defRPr>
                      </a:pPr>
                      <a:endParaRPr/>
                    </a:p>
                  </a:txBody>
                  <a:tcPr>
                    <a:solidFill>
                      <a:srgbClr val="EFF6FF"/>
                    </a:solidFill>
                  </a:tcPr>
                </a:tc>
                <a:tc>
                  <a:txBody>
                    <a:bodyPr/>
                    <a:lstStyle/>
                    <a:p>
                      <a:pPr algn="l">
                        <a:defRPr sz="1100" b="0">
                          <a:solidFill>
                            <a:srgbClr val="374151"/>
                          </a:solidFill>
                          <a:latin typeface="Calibri"/>
                        </a:defRPr>
                      </a:pPr>
                      <a:r>
                        <a:t>Product OKR attainment</a:t>
                      </a:r>
                    </a:p>
                  </a:txBody>
                  <a:tcPr>
                    <a:solidFill>
                      <a:srgbClr val="FFFFFF"/>
                    </a:solidFill>
                  </a:tcPr>
                </a:tc>
                <a:tc>
                  <a:txBody>
                    <a:bodyPr/>
                    <a:lstStyle/>
                    <a:p>
                      <a:pPr algn="ctr">
                        <a:defRPr sz="1100" b="0">
                          <a:solidFill>
                            <a:srgbClr val="374151"/>
                          </a:solidFill>
                          <a:latin typeface="Calibri"/>
                        </a:defRPr>
                      </a:pPr>
                      <a:r>
                        <a:t>N/A</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 70%</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978186558"/>
                  </a:ext>
                </a:extLst>
              </a:tr>
              <a:tr h="438912">
                <a:tc>
                  <a:txBody>
                    <a:bodyPr/>
                    <a:lstStyle/>
                    <a:p>
                      <a:pPr algn="l">
                        <a:defRPr sz="1100" b="1">
                          <a:solidFill>
                            <a:srgbClr val="1A4A7A"/>
                          </a:solidFill>
                          <a:latin typeface="Calibri"/>
                        </a:defRPr>
                      </a:pPr>
                      <a:endParaRPr/>
                    </a:p>
                  </a:txBody>
                  <a:tcPr>
                    <a:solidFill>
                      <a:srgbClr val="EFF6FF"/>
                    </a:solidFill>
                  </a:tcPr>
                </a:tc>
                <a:tc>
                  <a:txBody>
                    <a:bodyPr/>
                    <a:lstStyle/>
                    <a:p>
                      <a:pPr algn="l">
                        <a:defRPr sz="1100" b="0">
                          <a:solidFill>
                            <a:srgbClr val="374151"/>
                          </a:solidFill>
                          <a:latin typeface="Calibri"/>
                        </a:defRPr>
                      </a:pPr>
                      <a:r>
                        <a:t>Sprint predictability</a:t>
                      </a:r>
                    </a:p>
                  </a:txBody>
                  <a:tcPr>
                    <a:solidFill>
                      <a:srgbClr val="FFFFFF"/>
                    </a:solidFill>
                  </a:tcPr>
                </a:tc>
                <a:tc>
                  <a:txBody>
                    <a:bodyPr/>
                    <a:lstStyle/>
                    <a:p>
                      <a:pPr algn="ctr">
                        <a:defRPr sz="1100" b="0">
                          <a:solidFill>
                            <a:srgbClr val="374151"/>
                          </a:solidFill>
                          <a:latin typeface="Calibri"/>
                        </a:defRPr>
                      </a:pPr>
                      <a:r>
                        <a:t>Ad-hoc</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 85%</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2553767205"/>
                  </a:ext>
                </a:extLst>
              </a:tr>
              <a:tr h="438912">
                <a:tc>
                  <a:txBody>
                    <a:bodyPr/>
                    <a:lstStyle/>
                    <a:p>
                      <a:pPr algn="l">
                        <a:defRPr sz="1100" b="1">
                          <a:solidFill>
                            <a:srgbClr val="1A4A7A"/>
                          </a:solidFill>
                          <a:latin typeface="Calibri"/>
                        </a:defRPr>
                      </a:pPr>
                      <a:r>
                        <a:t>Business
Outcomes</a:t>
                      </a:r>
                    </a:p>
                  </a:txBody>
                  <a:tcPr>
                    <a:solidFill>
                      <a:srgbClr val="EFF6FF"/>
                    </a:solidFill>
                  </a:tcPr>
                </a:tc>
                <a:tc>
                  <a:txBody>
                    <a:bodyPr/>
                    <a:lstStyle/>
                    <a:p>
                      <a:pPr algn="l">
                        <a:defRPr sz="1100" b="0">
                          <a:solidFill>
                            <a:srgbClr val="374151"/>
                          </a:solidFill>
                          <a:latin typeface="Calibri"/>
                        </a:defRPr>
                      </a:pPr>
                      <a:r>
                        <a:t>Revenue QoQ growth</a:t>
                      </a:r>
                    </a:p>
                  </a:txBody>
                  <a:tcPr>
                    <a:solidFill>
                      <a:srgbClr val="FFFFFF"/>
                    </a:solidFill>
                  </a:tcPr>
                </a:tc>
                <a:tc>
                  <a:txBody>
                    <a:bodyPr/>
                    <a:lstStyle/>
                    <a:p>
                      <a:pPr algn="ctr">
                        <a:defRPr sz="1100" b="0">
                          <a:solidFill>
                            <a:srgbClr val="374151"/>
                          </a:solidFill>
                          <a:latin typeface="Calibri"/>
                        </a:defRPr>
                      </a:pPr>
                      <a:r>
                        <a:t>Baseline</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 5%</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3311298380"/>
                  </a:ext>
                </a:extLst>
              </a:tr>
              <a:tr h="438912">
                <a:tc>
                  <a:txBody>
                    <a:bodyPr/>
                    <a:lstStyle/>
                    <a:p>
                      <a:pPr algn="l">
                        <a:defRPr sz="1100" b="1">
                          <a:solidFill>
                            <a:srgbClr val="1A4A7A"/>
                          </a:solidFill>
                          <a:latin typeface="Calibri"/>
                        </a:defRPr>
                      </a:pPr>
                      <a:endParaRPr/>
                    </a:p>
                  </a:txBody>
                  <a:tcPr>
                    <a:solidFill>
                      <a:srgbClr val="EFF6FF"/>
                    </a:solidFill>
                  </a:tcPr>
                </a:tc>
                <a:tc>
                  <a:txBody>
                    <a:bodyPr/>
                    <a:lstStyle/>
                    <a:p>
                      <a:pPr algn="l">
                        <a:defRPr sz="1100" b="0">
                          <a:solidFill>
                            <a:srgbClr val="374151"/>
                          </a:solidFill>
                          <a:latin typeface="Calibri"/>
                        </a:defRPr>
                      </a:pPr>
                      <a:r>
                        <a:t>Customer NPS</a:t>
                      </a:r>
                    </a:p>
                  </a:txBody>
                  <a:tcPr>
                    <a:solidFill>
                      <a:srgbClr val="FFFFFF"/>
                    </a:solidFill>
                  </a:tcPr>
                </a:tc>
                <a:tc>
                  <a:txBody>
                    <a:bodyPr/>
                    <a:lstStyle/>
                    <a:p>
                      <a:pPr algn="ctr">
                        <a:defRPr sz="1100" b="0">
                          <a:solidFill>
                            <a:srgbClr val="374151"/>
                          </a:solidFill>
                          <a:latin typeface="Calibri"/>
                        </a:defRPr>
                      </a:pPr>
                      <a:r>
                        <a:t>Current</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+10 pts</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877708831"/>
                  </a:ext>
                </a:extLst>
              </a:tr>
              <a:tr h="438912">
                <a:tc>
                  <a:txBody>
                    <a:bodyPr/>
                    <a:lstStyle/>
                    <a:p>
                      <a:pPr algn="l">
                        <a:defRPr sz="1100" b="1">
                          <a:solidFill>
                            <a:srgbClr val="1A4A7A"/>
                          </a:solidFill>
                          <a:latin typeface="Calibri"/>
                        </a:defRPr>
                      </a:pPr>
                      <a:endParaRPr/>
                    </a:p>
                  </a:txBody>
                  <a:tcPr>
                    <a:solidFill>
                      <a:srgbClr val="EFF6FF"/>
                    </a:solidFill>
                  </a:tcPr>
                </a:tc>
                <a:tc>
                  <a:txBody>
                    <a:bodyPr/>
                    <a:lstStyle/>
                    <a:p>
                      <a:pPr algn="l">
                        <a:defRPr sz="1100" b="0">
                          <a:solidFill>
                            <a:srgbClr val="374151"/>
                          </a:solidFill>
                          <a:latin typeface="Calibri"/>
                        </a:defRPr>
                      </a:pPr>
                      <a:r>
                        <a:t>Onboarding TAT reduction</a:t>
                      </a:r>
                    </a:p>
                  </a:txBody>
                  <a:tcPr>
                    <a:solidFill>
                      <a:srgbClr val="FFFFFF"/>
                    </a:solidFill>
                  </a:tcPr>
                </a:tc>
                <a:tc>
                  <a:txBody>
                    <a:bodyPr/>
                    <a:lstStyle/>
                    <a:p>
                      <a:pPr algn="ctr">
                        <a:defRPr sz="1100" b="0">
                          <a:solidFill>
                            <a:srgbClr val="374151"/>
                          </a:solidFill>
                          <a:latin typeface="Calibri"/>
                        </a:defRPr>
                      </a:pPr>
                      <a:r>
                        <a:t>Current</a:t>
                      </a:r>
                    </a:p>
                  </a:txBody>
                  <a:tcPr>
                    <a:solidFill>
                      <a:srgbClr val="FFFFFF"/>
                    </a:solidFill>
                  </a:tcPr>
                </a:tc>
                <a:tc>
                  <a:txBody>
                    <a:bodyPr/>
                    <a:lstStyle/>
                    <a:p>
                      <a:pPr algn="ctr">
                        <a:defRPr sz="1100" b="1">
                          <a:solidFill>
                            <a:srgbClr val="1A56DB"/>
                          </a:solidFill>
                          <a:latin typeface="Calibri"/>
                        </a:defRPr>
                      </a:pPr>
                      <a:r>
                        <a:t>Track</a:t>
                      </a:r>
                    </a:p>
                  </a:txBody>
                  <a:tcPr>
                    <a:solidFill>
                      <a:srgbClr val="FFFFFF"/>
                    </a:solidFill>
                  </a:tcPr>
                </a:tc>
                <a:tc>
                  <a:txBody>
                    <a:bodyPr/>
                    <a:lstStyle/>
                    <a:p>
                      <a:pPr algn="ctr">
                        <a:defRPr sz="1100" b="0">
                          <a:solidFill>
                            <a:srgbClr val="374151"/>
                          </a:solidFill>
                          <a:latin typeface="Calibri"/>
                        </a:defRPr>
                      </a:pPr>
                      <a:r>
                        <a:t>≥ 30%</a:t>
                      </a:r>
                    </a:p>
                  </a:txBody>
                  <a:tcPr>
                    <a:solidFill>
                      <a:srgbClr val="FFFFFF"/>
                    </a:solidFill>
                  </a:tcPr>
                </a:tc>
                <a:tc>
                  <a:txBody>
                    <a:bodyPr/>
                    <a:lstStyle/>
                    <a:p>
                      <a:pPr algn="ctr">
                        <a:defRPr sz="1100" b="1">
                          <a:solidFill>
                            <a:srgbClr val="1A56DB"/>
                          </a:solidFill>
                          <a:latin typeface="Calibri"/>
                        </a:defRPr>
                      </a:pPr>
                      <a:r>
                        <a:t>On Track</a:t>
                      </a:r>
                    </a:p>
                  </a:txBody>
                  <a:tcPr>
                    <a:solidFill>
                      <a:srgbClr val="FFFFFF"/>
                    </a:solidFill>
                  </a:tcPr>
                </a:tc>
                <a:extLst>
                  <a:ext uri="{0D108BD9-81ED-4DB2-BD59-A6C34878D82A}">
                    <a16:rowId xmlns:a16="http://schemas.microsoft.com/office/drawing/2014/main" val="146592534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TextBox 1"/>
          <p:cNvSpPr txBox="1"/>
          <p:nvPr/>
        </p:nvSpPr>
        <p:spPr>
          <a:xfrm>
            <a:off x="1371600" y="1097280"/>
            <a:ext cx="9144000" cy="731520"/>
          </a:xfrm>
          <a:prstGeom prst="rect">
            <a:avLst/>
          </a:prstGeom>
          <a:noFill/>
        </p:spPr>
        <p:txBody>
          <a:bodyPr wrap="square" anchor="t"/>
          <a:lstStyle/>
          <a:p>
            <a:pPr algn="ctr">
              <a:defRPr sz="4000" b="1">
                <a:solidFill>
                  <a:srgbClr val="FFFFFF"/>
                </a:solidFill>
                <a:latin typeface="Calibri"/>
              </a:defRPr>
            </a:pPr>
            <a:r>
              <a:t>The Ladder Is Open</a:t>
            </a:r>
          </a:p>
        </p:txBody>
      </p:sp>
      <p:sp>
        <p:nvSpPr>
          <p:cNvPr id="3" name="Rectangle 2"/>
          <p:cNvSpPr/>
          <p:nvPr/>
        </p:nvSpPr>
        <p:spPr>
          <a:xfrm>
            <a:off x="5303520" y="1920240"/>
            <a:ext cx="1371600" cy="381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194560"/>
            <a:ext cx="9144000" cy="1371600"/>
          </a:xfrm>
          <a:prstGeom prst="rect">
            <a:avLst/>
          </a:prstGeom>
          <a:noFill/>
        </p:spPr>
        <p:txBody>
          <a:bodyPr wrap="square"/>
          <a:lstStyle/>
          <a:p>
            <a:pPr algn="ctr">
              <a:spcBef>
                <a:spcPts val="0"/>
              </a:spcBef>
              <a:spcAft>
                <a:spcPts val="1200"/>
              </a:spcAft>
              <a:defRPr sz="1600" b="0" i="0">
                <a:solidFill>
                  <a:srgbClr val="BFDBFE"/>
                </a:solidFill>
                <a:latin typeface="Calibri"/>
              </a:defRPr>
            </a:pPr>
            <a:r>
              <a:t>The organisations that act now — training their people, building agent libraries, piloting pods, shifting to outcome-based pricing — will own the next era of technology services.</a:t>
            </a:r>
          </a:p>
          <a:p>
            <a:pPr algn="ctr">
              <a:spcBef>
                <a:spcPts val="0"/>
              </a:spcBef>
              <a:spcAft>
                <a:spcPts val="400"/>
              </a:spcAft>
              <a:defRPr sz="1400" b="0" i="0">
                <a:solidFill>
                  <a:srgbClr val="93C5FD"/>
                </a:solidFill>
                <a:latin typeface="Calibri"/>
              </a:defRPr>
            </a:pPr>
            <a:r>
              <a:t>Those that wait will find themselves competing for shrinking hourly-billing contracts in a market that has moved to outcomes.</a:t>
            </a:r>
          </a:p>
        </p:txBody>
      </p:sp>
      <p:sp>
        <p:nvSpPr>
          <p:cNvPr id="5" name="Rounded Rectangle 4"/>
          <p:cNvSpPr/>
          <p:nvPr/>
        </p:nvSpPr>
        <p:spPr>
          <a:xfrm>
            <a:off x="1828800" y="3931920"/>
            <a:ext cx="8229600" cy="1097280"/>
          </a:xfrm>
          <a:prstGeom prst="roundRect">
            <a:avLst/>
          </a:prstGeom>
          <a:solidFill>
            <a:srgbClr val="15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03120" y="3977639"/>
            <a:ext cx="7680960" cy="1005840"/>
          </a:xfrm>
          <a:prstGeom prst="rect">
            <a:avLst/>
          </a:prstGeom>
          <a:noFill/>
        </p:spPr>
        <p:txBody>
          <a:bodyPr wrap="square"/>
          <a:lstStyle/>
          <a:p>
            <a:pPr algn="ctr">
              <a:spcBef>
                <a:spcPts val="0"/>
              </a:spcBef>
              <a:spcAft>
                <a:spcPts val="400"/>
              </a:spcAft>
              <a:defRPr sz="1400" b="0" i="1">
                <a:solidFill>
                  <a:srgbClr val="BFDBFE"/>
                </a:solidFill>
                <a:latin typeface="Calibri"/>
              </a:defRPr>
            </a:pPr>
            <a:r>
              <a:t>"The gap between AI capability and real enterprise value is not getting narrower — it is getting wider. The bridge is built by people."</a:t>
            </a:r>
          </a:p>
          <a:p>
            <a:pPr algn="ctr">
              <a:spcBef>
                <a:spcPts val="0"/>
              </a:spcBef>
              <a:spcAft>
                <a:spcPts val="400"/>
              </a:spcAft>
              <a:defRPr sz="1000" b="0" i="0">
                <a:solidFill>
                  <a:srgbClr val="60A5FA"/>
                </a:solidFill>
                <a:latin typeface="Calibri"/>
              </a:defRPr>
            </a:pPr>
            <a:r>
              <a:t>Porkkovan Elangovan &amp; Khirthika V  ·  July 2026</a:t>
            </a:r>
          </a:p>
        </p:txBody>
      </p:sp>
      <p:sp>
        <p:nvSpPr>
          <p:cNvPr id="7" name="TextBox 6"/>
          <p:cNvSpPr txBox="1"/>
          <p:nvPr/>
        </p:nvSpPr>
        <p:spPr>
          <a:xfrm>
            <a:off x="1371600" y="5303520"/>
            <a:ext cx="9144000" cy="548640"/>
          </a:xfrm>
          <a:prstGeom prst="rect">
            <a:avLst/>
          </a:prstGeom>
          <a:noFill/>
        </p:spPr>
        <p:txBody>
          <a:bodyPr wrap="square" anchor="t"/>
          <a:lstStyle/>
          <a:p>
            <a:pPr algn="ctr">
              <a:defRPr sz="2200" b="1">
                <a:solidFill>
                  <a:srgbClr val="FFFFFF"/>
                </a:solidFill>
                <a:latin typeface="Calibri"/>
              </a:defRPr>
            </a:pPr>
            <a:r>
              <a:t>The only question is when you start climbing.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4763</Words>
  <Application>Microsoft Macintosh PowerPoint</Application>
  <PresentationFormat>Widescreen</PresentationFormat>
  <Paragraphs>975</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Elangovan, Porkkovan (Cognizant)</cp:lastModifiedBy>
  <cp:revision>2</cp:revision>
  <dcterms:created xsi:type="dcterms:W3CDTF">2013-01-27T09:14:16Z</dcterms:created>
  <dcterms:modified xsi:type="dcterms:W3CDTF">2026-08-11T04:32:36Z</dcterms:modified>
  <cp:category/>
</cp:coreProperties>
</file>